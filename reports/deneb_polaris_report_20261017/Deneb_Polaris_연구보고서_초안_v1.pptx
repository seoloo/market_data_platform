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7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8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9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4406224c554336" /><Relationship Type="http://schemas.openxmlformats.org/officeDocument/2006/relationships/extended-properties" Target="/docProps/app.xml" Id="R207d9782d62f4198" /><Relationship Type="http://schemas.openxmlformats.org/officeDocument/2006/relationships/officeDocument" Target="/ppt/presentation.xml" Id="Ra0b58381c76a43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ec1fa6c48e42cd"/>
  </p:sldMasterIdLst>
  <p:notesMasterIdLst>
    <p:notesMasterId xmlns:r="http://schemas.openxmlformats.org/officeDocument/2006/relationships" r:id="Rb78571b76d1a494d"/>
  </p:notesMasterIdLst>
  <p:sldIdLst>
    <p:sldId xmlns:r="http://schemas.openxmlformats.org/officeDocument/2006/relationships" id="256" r:id="R2900ccfb87114de0"/>
    <p:sldId xmlns:r="http://schemas.openxmlformats.org/officeDocument/2006/relationships" id="257" r:id="R6dcd58bcec744327"/>
    <p:sldId xmlns:r="http://schemas.openxmlformats.org/officeDocument/2006/relationships" id="258" r:id="Rf97b6cc63d764178"/>
    <p:sldId xmlns:r="http://schemas.openxmlformats.org/officeDocument/2006/relationships" id="259" r:id="R719ac871c7fb481e"/>
    <p:sldId xmlns:r="http://schemas.openxmlformats.org/officeDocument/2006/relationships" id="260" r:id="R3d502bef4ab349cc"/>
    <p:sldId xmlns:r="http://schemas.openxmlformats.org/officeDocument/2006/relationships" id="261" r:id="R6aa8be5f50fa4b5c"/>
    <p:sldId xmlns:r="http://schemas.openxmlformats.org/officeDocument/2006/relationships" id="262" r:id="R294ac3eb39c8485f"/>
    <p:sldId xmlns:r="http://schemas.openxmlformats.org/officeDocument/2006/relationships" id="263" r:id="Rbd809059058a401f"/>
    <p:sldId xmlns:r="http://schemas.openxmlformats.org/officeDocument/2006/relationships" id="264" r:id="Rc10adff088a043ad"/>
    <p:sldId xmlns:r="http://schemas.openxmlformats.org/officeDocument/2006/relationships" id="265" r:id="R75362bb2a45b4b1e"/>
    <p:sldId xmlns:r="http://schemas.openxmlformats.org/officeDocument/2006/relationships" id="266" r:id="R8a6ab92468934c4a"/>
    <p:sldId xmlns:r="http://schemas.openxmlformats.org/officeDocument/2006/relationships" id="267" r:id="R954cf1ab36a944f8"/>
    <p:sldId xmlns:r="http://schemas.openxmlformats.org/officeDocument/2006/relationships" id="268" r:id="R47558b27423a4cf0"/>
    <p:sldId xmlns:r="http://schemas.openxmlformats.org/officeDocument/2006/relationships" id="269" r:id="R3246d5b924674e40"/>
    <p:sldId xmlns:r="http://schemas.openxmlformats.org/officeDocument/2006/relationships" id="270" r:id="R6d1a6aad64fc4ad5"/>
    <p:sldId xmlns:r="http://schemas.openxmlformats.org/officeDocument/2006/relationships" id="271" r:id="R1606df555d1643bd"/>
    <p:sldId xmlns:r="http://schemas.openxmlformats.org/officeDocument/2006/relationships" id="272" r:id="Ref10757bb40a489e"/>
    <p:sldId xmlns:r="http://schemas.openxmlformats.org/officeDocument/2006/relationships" id="273" r:id="Rd38af034496b4f10"/>
    <p:sldId xmlns:r="http://schemas.openxmlformats.org/officeDocument/2006/relationships" id="274" r:id="R44a92fe7a5b94f7d"/>
    <p:sldId xmlns:r="http://schemas.openxmlformats.org/officeDocument/2006/relationships" id="275" r:id="Rda9efd44914f46bb"/>
    <p:sldId xmlns:r="http://schemas.openxmlformats.org/officeDocument/2006/relationships" id="276" r:id="R7e433e365dbb43f3"/>
    <p:sldId xmlns:r="http://schemas.openxmlformats.org/officeDocument/2006/relationships" id="277" r:id="Rf90a7fb7628e4145"/>
    <p:sldId xmlns:r="http://schemas.openxmlformats.org/officeDocument/2006/relationships" id="278" r:id="Rd689b07af26746e8"/>
    <p:sldId xmlns:r="http://schemas.openxmlformats.org/officeDocument/2006/relationships" id="279" r:id="R48fc4ab2818c4465"/>
    <p:sldId xmlns:r="http://schemas.openxmlformats.org/officeDocument/2006/relationships" id="280" r:id="R5f5f930543d0462c"/>
    <p:sldId xmlns:r="http://schemas.openxmlformats.org/officeDocument/2006/relationships" id="281" r:id="R76be04427a004ac2"/>
    <p:sldId xmlns:r="http://schemas.openxmlformats.org/officeDocument/2006/relationships" id="282" r:id="R27529bfc60a745b9"/>
    <p:sldId xmlns:r="http://schemas.openxmlformats.org/officeDocument/2006/relationships" id="283" r:id="R6b34f9acfbbe417f"/>
    <p:sldId xmlns:r="http://schemas.openxmlformats.org/officeDocument/2006/relationships" id="284" r:id="Rbc35c91294964d27"/>
    <p:sldId xmlns:r="http://schemas.openxmlformats.org/officeDocument/2006/relationships" id="285" r:id="R508de0f90b974941"/>
    <p:sldId xmlns:r="http://schemas.openxmlformats.org/officeDocument/2006/relationships" id="286" r:id="R984e34d7b9864578"/>
    <p:sldId xmlns:r="http://schemas.openxmlformats.org/officeDocument/2006/relationships" id="287" r:id="R8abf0b1140954367"/>
    <p:sldId xmlns:r="http://schemas.openxmlformats.org/officeDocument/2006/relationships" id="288" r:id="R96c4f5a0df574b56"/>
    <p:sldId xmlns:r="http://schemas.openxmlformats.org/officeDocument/2006/relationships" id="289" r:id="Rbffd05df5d654a59"/>
    <p:sldId xmlns:r="http://schemas.openxmlformats.org/officeDocument/2006/relationships" id="290" r:id="R97785dc3a7664482"/>
    <p:sldId xmlns:r="http://schemas.openxmlformats.org/officeDocument/2006/relationships" id="291" r:id="Rfd7b4d62933c42aa"/>
    <p:sldId xmlns:r="http://schemas.openxmlformats.org/officeDocument/2006/relationships" id="292" r:id="R043f02a63110468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e4a4e4e25247bf" /><Relationship Type="http://schemas.openxmlformats.org/officeDocument/2006/relationships/slideMaster" Target="/ppt/slideMasters/slideMaster1.xml" Id="Rcbec1fa6c48e42cd" /><Relationship Type="http://schemas.openxmlformats.org/officeDocument/2006/relationships/notesMaster" Target="/ppt/notesMasters/notesMaster1.xml" Id="Rb78571b76d1a494d" /><Relationship Type="http://schemas.openxmlformats.org/officeDocument/2006/relationships/presProps" Target="/ppt/presProps.xml" Id="R6c700ade0b5d4654" /><Relationship Type="http://schemas.openxmlformats.org/officeDocument/2006/relationships/tableStyles" Target="/ppt/tableStyles.xml" Id="Re1fab69a7fbd4fda" /><Relationship Type="http://schemas.openxmlformats.org/officeDocument/2006/relationships/slide" Target="/ppt/slides/slide1.xml" Id="R2900ccfb87114de0" /><Relationship Type="http://schemas.openxmlformats.org/officeDocument/2006/relationships/slide" Target="/ppt/slides/slide2.xml" Id="R6dcd58bcec744327" /><Relationship Type="http://schemas.openxmlformats.org/officeDocument/2006/relationships/slide" Target="/ppt/slides/slide3.xml" Id="Rf97b6cc63d764178" /><Relationship Type="http://schemas.openxmlformats.org/officeDocument/2006/relationships/slide" Target="/ppt/slides/slide4.xml" Id="R719ac871c7fb481e" /><Relationship Type="http://schemas.openxmlformats.org/officeDocument/2006/relationships/slide" Target="/ppt/slides/slide5.xml" Id="R3d502bef4ab349cc" /><Relationship Type="http://schemas.openxmlformats.org/officeDocument/2006/relationships/slide" Target="/ppt/slides/slide6.xml" Id="R6aa8be5f50fa4b5c" /><Relationship Type="http://schemas.openxmlformats.org/officeDocument/2006/relationships/slide" Target="/ppt/slides/slide7.xml" Id="R294ac3eb39c8485f" /><Relationship Type="http://schemas.openxmlformats.org/officeDocument/2006/relationships/slide" Target="/ppt/slides/slide8.xml" Id="Rbd809059058a401f" /><Relationship Type="http://schemas.openxmlformats.org/officeDocument/2006/relationships/slide" Target="/ppt/slides/slide9.xml" Id="Rc10adff088a043ad" /><Relationship Type="http://schemas.openxmlformats.org/officeDocument/2006/relationships/slide" Target="/ppt/slides/slide10.xml" Id="R75362bb2a45b4b1e" /><Relationship Type="http://schemas.openxmlformats.org/officeDocument/2006/relationships/slide" Target="/ppt/slides/slide11.xml" Id="R8a6ab92468934c4a" /><Relationship Type="http://schemas.openxmlformats.org/officeDocument/2006/relationships/slide" Target="/ppt/slides/slide12.xml" Id="R954cf1ab36a944f8" /><Relationship Type="http://schemas.openxmlformats.org/officeDocument/2006/relationships/slide" Target="/ppt/slides/slide13.xml" Id="R47558b27423a4cf0" /><Relationship Type="http://schemas.openxmlformats.org/officeDocument/2006/relationships/slide" Target="/ppt/slides/slide14.xml" Id="R3246d5b924674e40" /><Relationship Type="http://schemas.openxmlformats.org/officeDocument/2006/relationships/slide" Target="/ppt/slides/slide15.xml" Id="R6d1a6aad64fc4ad5" /><Relationship Type="http://schemas.openxmlformats.org/officeDocument/2006/relationships/slide" Target="/ppt/slides/slide16.xml" Id="R1606df555d1643bd" /><Relationship Type="http://schemas.openxmlformats.org/officeDocument/2006/relationships/slide" Target="/ppt/slides/slide17.xml" Id="Ref10757bb40a489e" /><Relationship Type="http://schemas.openxmlformats.org/officeDocument/2006/relationships/slide" Target="/ppt/slides/slide18.xml" Id="Rd38af034496b4f10" /><Relationship Type="http://schemas.openxmlformats.org/officeDocument/2006/relationships/slide" Target="/ppt/slides/slide19.xml" Id="R44a92fe7a5b94f7d" /><Relationship Type="http://schemas.openxmlformats.org/officeDocument/2006/relationships/slide" Target="/ppt/slides/slide20.xml" Id="Rda9efd44914f46bb" /><Relationship Type="http://schemas.openxmlformats.org/officeDocument/2006/relationships/slide" Target="/ppt/slides/slide21.xml" Id="R7e433e365dbb43f3" /><Relationship Type="http://schemas.openxmlformats.org/officeDocument/2006/relationships/slide" Target="/ppt/slides/slide22.xml" Id="Rf90a7fb7628e4145" /><Relationship Type="http://schemas.openxmlformats.org/officeDocument/2006/relationships/slide" Target="/ppt/slides/slide23.xml" Id="Rd689b07af26746e8" /><Relationship Type="http://schemas.openxmlformats.org/officeDocument/2006/relationships/slide" Target="/ppt/slides/slide24.xml" Id="R48fc4ab2818c4465" /><Relationship Type="http://schemas.openxmlformats.org/officeDocument/2006/relationships/slide" Target="/ppt/slides/slide25.xml" Id="R5f5f930543d0462c" /><Relationship Type="http://schemas.openxmlformats.org/officeDocument/2006/relationships/slide" Target="/ppt/slides/slide26.xml" Id="R76be04427a004ac2" /><Relationship Type="http://schemas.openxmlformats.org/officeDocument/2006/relationships/slide" Target="/ppt/slides/slide27.xml" Id="R27529bfc60a745b9" /><Relationship Type="http://schemas.openxmlformats.org/officeDocument/2006/relationships/slide" Target="/ppt/slides/slide28.xml" Id="R6b34f9acfbbe417f" /><Relationship Type="http://schemas.openxmlformats.org/officeDocument/2006/relationships/slide" Target="/ppt/slides/slide29.xml" Id="Rbc35c91294964d27" /><Relationship Type="http://schemas.openxmlformats.org/officeDocument/2006/relationships/slide" Target="/ppt/slides/slide30.xml" Id="R508de0f90b974941" /><Relationship Type="http://schemas.openxmlformats.org/officeDocument/2006/relationships/slide" Target="/ppt/slides/slide31.xml" Id="R984e34d7b9864578" /><Relationship Type="http://schemas.openxmlformats.org/officeDocument/2006/relationships/slide" Target="/ppt/slides/slide32.xml" Id="R8abf0b1140954367" /><Relationship Type="http://schemas.openxmlformats.org/officeDocument/2006/relationships/slide" Target="/ppt/slides/slide33.xml" Id="R96c4f5a0df574b56" /><Relationship Type="http://schemas.openxmlformats.org/officeDocument/2006/relationships/slide" Target="/ppt/slides/slide34.xml" Id="Rbffd05df5d654a59" /><Relationship Type="http://schemas.openxmlformats.org/officeDocument/2006/relationships/slide" Target="/ppt/slides/slide35.xml" Id="R97785dc3a7664482" /><Relationship Type="http://schemas.openxmlformats.org/officeDocument/2006/relationships/slide" Target="/ppt/slides/slide36.xml" Id="Rfd7b4d62933c42aa" /><Relationship Type="http://schemas.openxmlformats.org/officeDocument/2006/relationships/slide" Target="/ppt/slides/slide37.xml" Id="R043f02a63110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c7d992a9e341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2a9a16056a4513" /><Relationship Type="http://schemas.openxmlformats.org/officeDocument/2006/relationships/notesMaster" Target="/ppt/notesMasters/notesMaster1.xml" Id="R72fc3c9008e94e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8ba3be695492b" /><Relationship Type="http://schemas.openxmlformats.org/officeDocument/2006/relationships/notesMaster" Target="/ppt/notesMasters/notesMaster1.xml" Id="Ra3f3551860b146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ce10b85204003" /><Relationship Type="http://schemas.openxmlformats.org/officeDocument/2006/relationships/notesMaster" Target="/ppt/notesMasters/notesMaster1.xml" Id="R40fbf5bcee994a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051488d6744cd6" /><Relationship Type="http://schemas.openxmlformats.org/officeDocument/2006/relationships/notesMaster" Target="/ppt/notesMasters/notesMaster1.xml" Id="Rb81ed5622c3843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d868cb91804303" /><Relationship Type="http://schemas.openxmlformats.org/officeDocument/2006/relationships/notesMaster" Target="/ppt/notesMasters/notesMaster1.xml" Id="R31aa0b851a8247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3c0ac50e5046fe" /><Relationship Type="http://schemas.openxmlformats.org/officeDocument/2006/relationships/notesMaster" Target="/ppt/notesMasters/notesMaster1.xml" Id="R06f99cfb3fb444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f34680e04e4938" /><Relationship Type="http://schemas.openxmlformats.org/officeDocument/2006/relationships/notesMaster" Target="/ppt/notesMasters/notesMaster1.xml" Id="R3873e1bfebda45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348ddb426b4cab" /><Relationship Type="http://schemas.openxmlformats.org/officeDocument/2006/relationships/notesMaster" Target="/ppt/notesMasters/notesMaster1.xml" Id="R5c96c9f4a93345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80d9b181084e03" /><Relationship Type="http://schemas.openxmlformats.org/officeDocument/2006/relationships/notesMaster" Target="/ppt/notesMasters/notesMaster1.xml" Id="R153d7f0174bb48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a92ca1a0114f00" /><Relationship Type="http://schemas.openxmlformats.org/officeDocument/2006/relationships/notesMaster" Target="/ppt/notesMasters/notesMaster1.xml" Id="Rfd458a414bc540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3dbb4b90884a9e" /><Relationship Type="http://schemas.openxmlformats.org/officeDocument/2006/relationships/notesMaster" Target="/ppt/notesMasters/notesMaster1.xml" Id="R14213153875745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9d70409c44902" /><Relationship Type="http://schemas.openxmlformats.org/officeDocument/2006/relationships/notesMaster" Target="/ppt/notesMasters/notesMaster1.xml" Id="R0526ff2a572245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c68219451445a7" /><Relationship Type="http://schemas.openxmlformats.org/officeDocument/2006/relationships/notesMaster" Target="/ppt/notesMasters/notesMaster1.xml" Id="Rbb1455dcf3e74a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d86e5afc914359" /><Relationship Type="http://schemas.openxmlformats.org/officeDocument/2006/relationships/notesMaster" Target="/ppt/notesMasters/notesMaster1.xml" Id="R64f445fcb20941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072ce0d18a4a00" /><Relationship Type="http://schemas.openxmlformats.org/officeDocument/2006/relationships/notesMaster" Target="/ppt/notesMasters/notesMaster1.xml" Id="R5bfff12dc5b04a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0f9b1dd1f64181" /><Relationship Type="http://schemas.openxmlformats.org/officeDocument/2006/relationships/notesMaster" Target="/ppt/notesMasters/notesMaster1.xml" Id="R218667c3c67e48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60512d6d5843f1" /><Relationship Type="http://schemas.openxmlformats.org/officeDocument/2006/relationships/notesMaster" Target="/ppt/notesMasters/notesMaster1.xml" Id="R3941413df86348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462af384534c1a" /><Relationship Type="http://schemas.openxmlformats.org/officeDocument/2006/relationships/notesMaster" Target="/ppt/notesMasters/notesMaster1.xml" Id="Re822123cbd7740b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a95f5bceef4484" /><Relationship Type="http://schemas.openxmlformats.org/officeDocument/2006/relationships/notesMaster" Target="/ppt/notesMasters/notesMaster1.xml" Id="Rb669791d9c204f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b0c6d9350c4195" /><Relationship Type="http://schemas.openxmlformats.org/officeDocument/2006/relationships/notesMaster" Target="/ppt/notesMasters/notesMaster1.xml" Id="R7de1b31ba2f04a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9837b4ec8c481c" /><Relationship Type="http://schemas.openxmlformats.org/officeDocument/2006/relationships/notesMaster" Target="/ppt/notesMasters/notesMaster1.xml" Id="Reb2f348de8f240a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577ed217a84ca3" /><Relationship Type="http://schemas.openxmlformats.org/officeDocument/2006/relationships/notesMaster" Target="/ppt/notesMasters/notesMaster1.xml" Id="R0afe1d76182a4f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dcf0bf34e04f80" /><Relationship Type="http://schemas.openxmlformats.org/officeDocument/2006/relationships/notesMaster" Target="/ppt/notesMasters/notesMaster1.xml" Id="R8f59ad9e1cbe46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5bcdb144084cf9" /><Relationship Type="http://schemas.openxmlformats.org/officeDocument/2006/relationships/notesMaster" Target="/ppt/notesMasters/notesMaster1.xml" Id="R1051555b137141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871c0bcc72d4d5a" /><Relationship Type="http://schemas.openxmlformats.org/officeDocument/2006/relationships/notesMaster" Target="/ppt/notesMasters/notesMaster1.xml" Id="R82c32a6b46e64a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2765ce29e7458d" /><Relationship Type="http://schemas.openxmlformats.org/officeDocument/2006/relationships/notesMaster" Target="/ppt/notesMasters/notesMaster1.xml" Id="Rc89bce873b6f4e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c17003789546ce" /><Relationship Type="http://schemas.openxmlformats.org/officeDocument/2006/relationships/notesMaster" Target="/ppt/notesMasters/notesMaster1.xml" Id="R12a0041a0c4446b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38e5ad139d42dd" /><Relationship Type="http://schemas.openxmlformats.org/officeDocument/2006/relationships/notesMaster" Target="/ppt/notesMasters/notesMaster1.xml" Id="R7df6c18403a949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4415b238e714235" /><Relationship Type="http://schemas.openxmlformats.org/officeDocument/2006/relationships/notesMaster" Target="/ppt/notesMasters/notesMaster1.xml" Id="R61ce9db9c79d4b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a5f6729ea4148c4" /><Relationship Type="http://schemas.openxmlformats.org/officeDocument/2006/relationships/notesMaster" Target="/ppt/notesMasters/notesMaster1.xml" Id="Rbacd4271f04b490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cf92584019b498f" /><Relationship Type="http://schemas.openxmlformats.org/officeDocument/2006/relationships/notesMaster" Target="/ppt/notesMasters/notesMaster1.xml" Id="R0e4b182f807f4b9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2b1784143c5487a" /><Relationship Type="http://schemas.openxmlformats.org/officeDocument/2006/relationships/notesMaster" Target="/ppt/notesMasters/notesMaster1.xml" Id="R7a8ed9dcc7924a1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ca8fb44613d45f0" /><Relationship Type="http://schemas.openxmlformats.org/officeDocument/2006/relationships/notesMaster" Target="/ppt/notesMasters/notesMaster1.xml" Id="R4b9a03938e8446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89a1aed7dc1416c" /><Relationship Type="http://schemas.openxmlformats.org/officeDocument/2006/relationships/notesMaster" Target="/ppt/notesMasters/notesMaster1.xml" Id="R0817030bb6d7458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583047cbb254bde" /><Relationship Type="http://schemas.openxmlformats.org/officeDocument/2006/relationships/notesMaster" Target="/ppt/notesMasters/notesMaster1.xml" Id="R50a977ace45c4f0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baf5bb39f4a48cf" /><Relationship Type="http://schemas.openxmlformats.org/officeDocument/2006/relationships/notesMaster" Target="/ppt/notesMasters/notesMaster1.xml" Id="R69ed4beb05974d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078e7716b66401f" /><Relationship Type="http://schemas.openxmlformats.org/officeDocument/2006/relationships/notesMaster" Target="/ppt/notesMasters/notesMaster1.xml" Id="R2ac5fd0a6e294c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기준 커밋 6eb208b. 기존 연구 결과를 재구성한 설명용 보고서. 새 백테스트·새 OOS·새 판정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C:/Users/seolh/Documents/GitHub/Auto_Trading/scripts/toss_accumulate.py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C:/Users/seolh/Documents/GitHub/Auto_Trading/docs/research/180-nasdaq-dividend-mix-preregistration.md</a:t>
            </a:r>
          </a:p>
          <a:p xmlns:a="http://schemas.openxmlformats.org/drawingml/2006/main">
            <a:r>
              <a:t>C:/Users/seolh/Documents/GitHub/Auto_Trading/reports/div_mix_180/result.json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  <a:p xmlns:a="http://schemas.openxmlformats.org/drawingml/2006/main">
            <a:r>
              <a:t>C:/Users/seolh/Documents/GitHub/Auto_Trading/docs/research/182-leveraged-dividend-drawdown-control-preregistration.md</a:t>
            </a:r>
          </a:p>
          <a:p xmlns:a="http://schemas.openxmlformats.org/drawingml/2006/main">
            <a:r>
              <a:t>C:/Users/seolh/Documents/GitHub/Auto_Trading/reports/dd_control_182/result.json</a:t>
            </a:r>
          </a:p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  <a:p xmlns:a="http://schemas.openxmlformats.org/drawingml/2006/main">
            <a:r>
              <a:t>C:/Users/seolh/Documents/GitHub/Auto_Trading/docs/research/189-m3-rebalance-schd-no-sell-preregistration.md</a:t>
            </a:r>
          </a:p>
          <a:p xmlns:a="http://schemas.openxmlformats.org/drawingml/2006/main">
            <a:r>
              <a:t>C:/Users/seolh/Documents/GitHub/Auto_Trading/reports/rebal_189/result.json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C:/Users/seolh/Documents/GitHub/Auto_Trading/scripts/toss_accumulate.py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C:/Users/seolh/Documents/GitHub/Auto_Trading/PROGRESS.md</a:t>
            </a:r>
          </a:p>
          <a:p xmlns:a="http://schemas.openxmlformats.org/drawingml/2006/main">
            <a:r>
              <a:t>https://www.proshares.com/our-etfs/leveraged-and-inverse/tqqq</a:t>
            </a:r>
          </a:p>
          <a:p xmlns:a="http://schemas.openxmlformats.org/drawingml/2006/main">
            <a:r>
              <a:t>https://www.schwabassetmanagement.com/products/schd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C:/Users/seolh/Documents/GitHub/Auto_Trading/scripts/toss_accumulate.py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C:/Users/seolh/Documents/GitHub/Auto_Trading/docs/research/180-nasdaq-dividend-mix-preregistration.md</a:t>
            </a:r>
          </a:p>
          <a:p xmlns:a="http://schemas.openxmlformats.org/drawingml/2006/main">
            <a:r>
              <a:t>C:/Users/seolh/Documents/GitHub/Auto_Trading/reports/div_mix_180/result.json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C:/Users/seolh/Documents/GitHub/Auto_Trading/docs/research/180-nasdaq-dividend-mix-preregistration.md</a:t>
            </a:r>
          </a:p>
          <a:p xmlns:a="http://schemas.openxmlformats.org/drawingml/2006/main">
            <a:r>
              <a:t>C:/Users/seolh/Documents/GitHub/Auto_Trading/reports/div_mix_180/result.json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C:/Users/seolh/Documents/GitHub/Auto_Trading/docs/research/180-nasdaq-dividend-mix-preregistration.md</a:t>
            </a:r>
          </a:p>
          <a:p xmlns:a="http://schemas.openxmlformats.org/drawingml/2006/main">
            <a:r>
              <a:t>C:/Users/seolh/Documents/GitHub/Auto_Trading/reports/div_mix_180/result.json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C:/Users/seolh/Documents/GitHub/Auto_Trading/docs/research/182-leveraged-dividend-drawdown-control-preregistration.md</a:t>
            </a:r>
          </a:p>
          <a:p xmlns:a="http://schemas.openxmlformats.org/drawingml/2006/main">
            <a:r>
              <a:t>C:/Users/seolh/Documents/GitHub/Auto_Trading/reports/dd_control_182/result.json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C:/Users/seolh/Documents/GitHub/Auto_Trading/scripts/toss_accumulate.py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C:/Users/seolh/Documents/GitHub/Auto_Trading/docs/research/189-m3-rebalance-schd-no-sell-preregistration.md</a:t>
            </a:r>
          </a:p>
          <a:p xmlns:a="http://schemas.openxmlformats.org/drawingml/2006/main">
            <a:r>
              <a:t>C:/Users/seolh/Documents/GitHub/Auto_Trading/reports/rebal_189/result.json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C:/Users/seolh/Documents/GitHub/Auto_Trading/docs/research/185-t-brake-missed-rebound-oos-preregistration.md</a:t>
            </a:r>
          </a:p>
          <a:p xmlns:a="http://schemas.openxmlformats.org/drawingml/2006/main">
            <a:r>
              <a:t>C:/Users/seolh/Documents/GitHub/Auto_Trading/docs/research/186-t-brake-indicator-rebuy-preregistration.md</a:t>
            </a:r>
          </a:p>
          <a:p xmlns:a="http://schemas.openxmlformats.org/drawingml/2006/main">
            <a:r>
              <a:t>C:/Users/seolh/Documents/GitHub/Auto_Trading/docs/research/187-coin-indicators-on-nasdaq-dip-buy-preregistration.md</a:t>
            </a:r>
          </a:p>
          <a:p xmlns:a="http://schemas.openxmlformats.org/drawingml/2006/main">
            <a:r>
              <a:t>C:/Users/seolh/Documents/GitHub/Auto_Trading/docs/research/188-t-brake-rebuy-lookback-20-50-100-preregistration.md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C:/Users/seolh/Documents/GitHub/Auto_Trading/src/auto_trading/ops/polaris.py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C:/Users/seolh/Documents/GitHub/Auto_Trading/reports/namu_core_compare/result.json</a:t>
            </a:r>
          </a:p>
          <a:p xmlns:a="http://schemas.openxmlformats.org/drawingml/2006/main">
            <a:r>
              <a:t>C:/Users/seolh/Documents/GitHub/Auto_Trading/reports/namu_core_compare/result_half.json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C:/Users/seolh/Documents/GitHub/Auto_Trading/reports/namu_core_compare/result.json</a:t>
            </a:r>
          </a:p>
          <a:p xmlns:a="http://schemas.openxmlformats.org/drawingml/2006/main">
            <a:r>
              <a:t>C:/Users/seolh/Documents/GitHub/Auto_Trading/reports/namu_core_compare/result_half.json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C:/Users/seolh/Documents/GitHub/Auto_Trading/reports/namu_core_compare/result_lev6.json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C:/Users/seolh/Documents/GitHub/Auto_Trading/reports/namu_core_compare/result.json</a:t>
            </a:r>
          </a:p>
          <a:p xmlns:a="http://schemas.openxmlformats.org/drawingml/2006/main">
            <a:r>
              <a:t>C:/Users/seolh/Documents/GitHub/Auto_Trading/reports/namu_core_compare/result_half.json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C:/Users/seolh/Documents/GitHub/Auto_Trading/reports/namu_core_compare/result_rebal.json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C:/Users/seolh/Documents/GitHub/Auto_Trading/reports/namu_core_compare/result_rebal.json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C:/Users/seolh/Documents/GitHub/Auto_Trading/reports/namu_core_compare/result_split.json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C:/Users/seolh/Documents/GitHub/Auto_Trading/scripts/toss_accumulate.py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C:/Users/seolh/Documents/GitHub/Auto_Trading/reports/namu_core_compare/result.json</a:t>
            </a:r>
          </a:p>
          <a:p xmlns:a="http://schemas.openxmlformats.org/drawingml/2006/main">
            <a:r>
              <a:t>C:/Users/seolh/Documents/GitHub/Auto_Trading/reports/namu_core_compare/result_half.json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  <a:p xmlns:a="http://schemas.openxmlformats.org/drawingml/2006/main">
            <a:r>
              <a:t>C:/Users/seolh/Documents/GitHub/Auto_Trading/docs/research/189-m3-rebalance-schd-no-sell-preregistration.md</a:t>
            </a:r>
          </a:p>
          <a:p xmlns:a="http://schemas.openxmlformats.org/drawingml/2006/main">
            <a:r>
              <a:t>C:/Users/seolh/Documents/GitHub/Auto_Trading/reports/rebal_189/result.json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C:/Users/seolh/Documents/GitHub/Auto_Trading/reports/namu_core_compare/result.json</a:t>
            </a:r>
          </a:p>
          <a:p xmlns:a="http://schemas.openxmlformats.org/drawingml/2006/main">
            <a:r>
              <a:t>C:/Users/seolh/Documents/GitHub/Auto_Trading/reports/namu_core_compare/result_half.json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C:/Users/seolh/Documents/GitHub/Auto_Trading/scripts/toss_accumulate.py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C:/Users/seolh/Documents/GitHub/Auto_Trading/src/auto_trading/ops/deneb_live.py</a:t>
            </a:r>
          </a:p>
          <a:p xmlns:a="http://schemas.openxmlformats.org/drawingml/2006/main">
            <a:r>
              <a:t>C:/Users/seolh/Documents/GitHub/Auto_Trading/src/auto_trading/ops/deneb_guard.py</a:t>
            </a:r>
          </a:p>
          <a:p xmlns:a="http://schemas.openxmlformats.org/drawingml/2006/main">
            <a:r>
              <a:t>C:/Users/seolh/Documents/GitHub/Auto_Trading/scripts/toss_accumulate.py</a:t>
            </a:r>
          </a:p>
          <a:p xmlns:a="http://schemas.openxmlformats.org/drawingml/2006/main">
            <a:r>
              <a:t>C:/Users/seolh/Documents/GitHub/Auto_Trading/src/auto_trading/ops/polaris.py</a:t>
            </a:r>
          </a:p>
          <a:p xmlns:a="http://schemas.openxmlformats.org/drawingml/2006/main">
            <a:r>
              <a:t>C:/Users/seolh/Documents/GitHub/Auto_Trading/PROGRESS.md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C:/Users/seolh/Documents/GitHub/Auto_Trading/docs/research/180-nasdaq-dividend-mix-preregistration.md</a:t>
            </a:r>
          </a:p>
          <a:p xmlns:a="http://schemas.openxmlformats.org/drawingml/2006/main">
            <a:r>
              <a:t>C:/Users/seolh/Documents/GitHub/Auto_Trading/reports/div_mix_180/result.json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C:/Users/seolh/Documents/GitHub/Auto_Trading/reports/namu_core_compare/result_dca20.json</a:t>
            </a:r>
          </a:p>
          <a:p xmlns:a="http://schemas.openxmlformats.org/drawingml/2006/main">
            <a:r>
              <a:t>C:/Users/seolh/Documents/GitHub/Auto_Trading/scripts/run_namu_core_compare.py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C:/Users/seolh/Documents/GitHub/Auto_Trading/docs/research/180-nasdaq-dividend-mix-preregistration.md</a:t>
            </a:r>
          </a:p>
          <a:p xmlns:a="http://schemas.openxmlformats.org/drawingml/2006/main">
            <a:r>
              <a:t>C:/Users/seolh/Documents/GitHub/Auto_Trading/reports/div_mix_180/result.json</a:t>
            </a:r>
          </a:p>
          <a:p xmlns:a="http://schemas.openxmlformats.org/drawingml/2006/main">
            <a:r>
              <a:t>C:/Users/seolh/Documents/GitHub/Auto_Trading/docs/research/181-leveraged-nasdaq-dividend-mix-preregistration.md</a:t>
            </a:r>
          </a:p>
          <a:p xmlns:a="http://schemas.openxmlformats.org/drawingml/2006/main">
            <a:r>
              <a:t>C:/Users/seolh/Documents/GitHub/Auto_Trading/reports/lev_div_181/result.json</a:t>
            </a:r>
          </a:p>
          <a:p xmlns:a="http://schemas.openxmlformats.org/drawingml/2006/main">
            <a:r>
              <a:t>C:/Users/seolh/Documents/GitHub/Auto_Trading/docs/research/182-leveraged-dividend-drawdown-control-preregistration.md</a:t>
            </a:r>
          </a:p>
          <a:p xmlns:a="http://schemas.openxmlformats.org/drawingml/2006/main">
            <a:r>
              <a:t>C:/Users/seolh/Documents/GitHub/Auto_Trading/reports/dd_control_182/result.json</a:t>
            </a:r>
          </a:p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  <a:p xmlns:a="http://schemas.openxmlformats.org/drawingml/2006/main">
            <a:r>
              <a:t>C:/Users/seolh/Documents/GitHub/Auto_Trading/docs/research/189-m3-rebalance-schd-no-sell-preregistration.md</a:t>
            </a:r>
          </a:p>
          <a:p xmlns:a="http://schemas.openxmlformats.org/drawingml/2006/main">
            <a:r>
              <a:t>C:/Users/seolh/Documents/GitHub/Auto_Trading/reports/rebal_189/result.json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C:/Users/seolh/Documents/GitHub/Auto_Trading/scripts/run_namu_core_compare.py</a:t>
            </a:r>
          </a:p>
          <a:p xmlns:a="http://schemas.openxmlformats.org/drawingml/2006/main">
            <a:r>
              <a:t>C:/Users/seolh/Documents/GitHub/Auto_Trading/reports/namu_core_compare/result.json</a:t>
            </a:r>
          </a:p>
          <a:p xmlns:a="http://schemas.openxmlformats.org/drawingml/2006/main">
            <a:r>
              <a:t>C:/Users/seolh/Documents/GitHub/Auto_Trading/reports/namu_core_compare/result_half.json</a:t>
            </a:r>
          </a:p>
          <a:p xmlns:a="http://schemas.openxmlformats.org/drawingml/2006/main">
            <a:r>
              <a:t>C:/Users/seolh/Documents/GitHub/Auto_Trading/docs/research/184-m3-brake-after-tax-parking-preregistration.md</a:t>
            </a:r>
          </a:p>
          <a:p xmlns:a="http://schemas.openxmlformats.org/drawingml/2006/main">
            <a:r>
              <a:t>C:/Users/seolh/Documents/GitHub/Auto_Trading/reports/brake_184/result.json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src/auto_trading/ops/deneb_live.py</a:t>
            </a:r>
          </a:p>
          <a:p xmlns:a="http://schemas.openxmlformats.org/drawingml/2006/main">
            <a:r>
              <a:t>src/auto_trading/ops/deneb_guard.py</a:t>
            </a:r>
          </a:p>
          <a:p xmlns:a="http://schemas.openxmlformats.org/drawingml/2006/main">
            <a:r>
              <a:t>scripts/toss_accumulate.py</a:t>
            </a:r>
          </a:p>
          <a:p xmlns:a="http://schemas.openxmlformats.org/drawingml/2006/main">
            <a:r>
              <a:t>src/auto_trading/ops/polaris.py</a:t>
            </a:r>
          </a:p>
          <a:p xmlns:a="http://schemas.openxmlformats.org/drawingml/2006/main">
            <a:r>
              <a:t>PROGRESS.md</a:t>
            </a:r>
          </a:p>
          <a:p xmlns:a="http://schemas.openxmlformats.org/drawingml/2006/main">
            <a:r>
              <a:t>docs/research/180-nasdaq-dividend-mix-preregistration.md</a:t>
            </a:r>
          </a:p>
          <a:p xmlns:a="http://schemas.openxmlformats.org/drawingml/2006/main">
            <a:r>
              <a:t>reports/div_mix_180/result.json</a:t>
            </a:r>
          </a:p>
          <a:p xmlns:a="http://schemas.openxmlformats.org/drawingml/2006/main">
            <a:r>
              <a:t>docs/research/181-leveraged-nasdaq-dividend-mix-preregistration.md</a:t>
            </a:r>
          </a:p>
          <a:p xmlns:a="http://schemas.openxmlformats.org/drawingml/2006/main">
            <a:r>
              <a:t>reports/lev_div_181/result.json</a:t>
            </a:r>
          </a:p>
          <a:p xmlns:a="http://schemas.openxmlformats.org/drawingml/2006/main">
            <a:r>
              <a:t>docs/research/182-leveraged-dividend-drawdown-control-preregistration.md</a:t>
            </a:r>
          </a:p>
          <a:p xmlns:a="http://schemas.openxmlformats.org/drawingml/2006/main">
            <a:r>
              <a:t>reports/dd_control_182/result.json</a:t>
            </a:r>
          </a:p>
          <a:p xmlns:a="http://schemas.openxmlformats.org/drawingml/2006/main">
            <a:r>
              <a:t>docs/research/184-m3-brake-after-tax-parking-preregistration.md</a:t>
            </a:r>
          </a:p>
          <a:p xmlns:a="http://schemas.openxmlformats.org/drawingml/2006/main">
            <a:r>
              <a:t>reports/brake_184/result.json</a:t>
            </a:r>
          </a:p>
          <a:p xmlns:a="http://schemas.openxmlformats.org/drawingml/2006/main">
            <a:r>
              <a:t>docs/research/189-m3-rebalance-schd-no-sell-preregistration.md</a:t>
            </a:r>
          </a:p>
          <a:p xmlns:a="http://schemas.openxmlformats.org/drawingml/2006/main">
            <a:r>
              <a:t>reports/rebal_189/result.json</a:t>
            </a:r>
          </a:p>
          <a:p xmlns:a="http://schemas.openxmlformats.org/drawingml/2006/main">
            <a:r>
              <a:t>scripts/run_namu_core_compare.py</a:t>
            </a:r>
          </a:p>
          <a:p xmlns:a="http://schemas.openxmlformats.org/drawingml/2006/main">
            <a:r>
              <a:t>reports/namu_core_compare/result.json</a:t>
            </a:r>
          </a:p>
          <a:p xmlns:a="http://schemas.openxmlformats.org/drawingml/2006/main">
            <a:r>
              <a:t>reports/namu_core_compare/result_half.json</a:t>
            </a:r>
          </a:p>
          <a:p xmlns:a="http://schemas.openxmlformats.org/drawingml/2006/main">
            <a:r>
              <a:t>reports/namu_core_compare/result_lev6.json</a:t>
            </a:r>
          </a:p>
          <a:p xmlns:a="http://schemas.openxmlformats.org/drawingml/2006/main">
            <a:r>
              <a:t>reports/namu_core_compare/result_rebal.json</a:t>
            </a:r>
          </a:p>
          <a:p xmlns:a="http://schemas.openxmlformats.org/drawingml/2006/main">
            <a:r>
              <a:t>reports/namu_core_compare/result_split.json</a:t>
            </a:r>
          </a:p>
          <a:p xmlns:a="http://schemas.openxmlformats.org/drawingml/2006/main">
            <a:r>
              <a:t>reports/namu_core_compare/result_dca20.json</a:t>
            </a:r>
          </a:p>
          <a:p xmlns:a="http://schemas.openxmlformats.org/drawingml/2006/main">
            <a:r>
              <a:t>https://www.proshares.com/our-etfs/leveraged-and-inverse/tqqq</a:t>
            </a:r>
          </a:p>
          <a:p xmlns:a="http://schemas.openxmlformats.org/drawingml/2006/main">
            <a:r>
              <a:t>https://www.schwabassetmanagement.com/products/schd</a:t>
            </a:r>
          </a:p>
          <a:p xmlns:a="http://schemas.openxmlformats.org/drawingml/2006/main">
            <a:r>
              <a:t>디자인 참고: https://cdn.jpmorganfunds.com/content/dam/jpm-am-aem/global/en/insights/market-insights/guide-to-the-markets/mi-guide-to-the-markets-us.pdf</a:t>
            </a:r>
          </a:p>
          <a:p xmlns:a="http://schemas.openxmlformats.org/drawingml/2006/main">
            <a:r>
              <a:t>디자인 참고: https://www.ubs.com/content/dam/assets/wm/static/noindex/gwr-2025-digital-updated.pdf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607b52b2f43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7da6d819f44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fcb441a2b47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2a3955d074c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6334054a843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ab6242e16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C34862-7158-46EA-A186-7B82CB54D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732549-684C-4A10-B3F9-CFA6A600A7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55647F-2688-4604-8E3F-04B2937E5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B7C1A-DBD9-4684-ACAE-FFE2428858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E581E1-E88A-4643-ACA7-4DAEDF1C5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1B3C12-377F-458D-8612-83638DBD34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814872-44C5-4EA6-A97B-E2F51A3C43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BA9E61-4C15-4FDD-8A3C-EC26FB4BF3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326092-4E5C-4D35-8D76-7D7BFFF3A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774BED-5EE2-4777-8965-E8876DE2F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8a4005c504354" /><Relationship Type="http://schemas.openxmlformats.org/officeDocument/2006/relationships/slideLayout" Target="/ppt/slideLayouts/slideLayout1.xml" Id="R542aeb6ce9bc4e2b" /><Relationship Type="http://schemas.openxmlformats.org/officeDocument/2006/relationships/slideLayout" Target="/ppt/slideLayouts/slideLayout2.xml" Id="Rfaf6b9fffa7f4ce4" /><Relationship Type="http://schemas.openxmlformats.org/officeDocument/2006/relationships/slideLayout" Target="/ppt/slideLayouts/slideLayout3.xml" Id="R4ba524bdddc04020" /><Relationship Type="http://schemas.openxmlformats.org/officeDocument/2006/relationships/slideLayout" Target="/ppt/slideLayouts/slideLayout4.xml" Id="R878358d3ffa54776" /><Relationship Type="http://schemas.openxmlformats.org/officeDocument/2006/relationships/slideLayout" Target="/ppt/slideLayouts/slideLayout5.xml" Id="R0a3688d866244e76" /><Relationship Type="http://schemas.openxmlformats.org/officeDocument/2006/relationships/slideLayout" Target="/ppt/slideLayouts/slideLayout6.xml" Id="Raca044e333fd48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aeb6ce9bc4e2b"/>
    <p:sldLayoutId xmlns:r="http://schemas.openxmlformats.org/officeDocument/2006/relationships" id="2147483650" r:id="Rfaf6b9fffa7f4ce4"/>
    <p:sldLayoutId xmlns:r="http://schemas.openxmlformats.org/officeDocument/2006/relationships" id="2147483651" r:id="R4ba524bdddc04020"/>
    <p:sldLayoutId xmlns:r="http://schemas.openxmlformats.org/officeDocument/2006/relationships" id="2147483652" r:id="R878358d3ffa54776"/>
    <p:sldLayoutId xmlns:r="http://schemas.openxmlformats.org/officeDocument/2006/relationships" id="2147483653" r:id="R0a3688d866244e76"/>
    <p:sldLayoutId xmlns:r="http://schemas.openxmlformats.org/officeDocument/2006/relationships" id="2147483654" r:id="Raca044e333fd48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f9ce80fbe4471" /><Relationship Type="http://schemas.openxmlformats.org/officeDocument/2006/relationships/notesSlide" Target="/ppt/notesSlides/notesSlide1.xml" Id="Rd4cc09253bb347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50c8958954a62" /><Relationship Type="http://schemas.openxmlformats.org/officeDocument/2006/relationships/notesSlide" Target="/ppt/notesSlides/notesSlide2.xml" Id="R78b641f02fd04f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15c7b023240d0" /><Relationship Type="http://schemas.openxmlformats.org/officeDocument/2006/relationships/notesSlide" Target="/ppt/notesSlides/notesSlide3.xml" Id="Ra8209396f1fc4a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72051e8fe45a2" /><Relationship Type="http://schemas.openxmlformats.org/officeDocument/2006/relationships/notesSlide" Target="/ppt/notesSlides/notesSlide4.xml" Id="Rbe49066ecc6a4d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d67f6ff844ce8" /><Relationship Type="http://schemas.openxmlformats.org/officeDocument/2006/relationships/notesSlide" Target="/ppt/notesSlides/notesSlide5.xml" Id="Rfbbec8689e024a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a6368a4564009" /><Relationship Type="http://schemas.openxmlformats.org/officeDocument/2006/relationships/notesSlide" Target="/ppt/notesSlides/notesSlide6.xml" Id="Ra8b167d6bb4642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fc43587ff4196" /><Relationship Type="http://schemas.openxmlformats.org/officeDocument/2006/relationships/chart" Target="/ppt/slides/charts/chart1.xml" Id="Rd8e560bc44e042e1" /><Relationship Type="http://schemas.openxmlformats.org/officeDocument/2006/relationships/notesSlide" Target="/ppt/notesSlides/notesSlide7.xml" Id="R7d7b88a44ff84c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400ed081a444c" /><Relationship Type="http://schemas.openxmlformats.org/officeDocument/2006/relationships/notesSlide" Target="/ppt/notesSlides/notesSlide8.xml" Id="R06d5127d32a741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19dc3d0504954" /><Relationship Type="http://schemas.openxmlformats.org/officeDocument/2006/relationships/chart" Target="/ppt/slides/charts/chart2.xml" Id="R514158bfb5574607" /><Relationship Type="http://schemas.openxmlformats.org/officeDocument/2006/relationships/notesSlide" Target="/ppt/notesSlides/notesSlide9.xml" Id="Rb44208b3a0e44b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e1a4107fb4393" /><Relationship Type="http://schemas.openxmlformats.org/officeDocument/2006/relationships/chart" Target="/ppt/slides/charts/chart3.xml" Id="Rc23a0209f3214a32" /><Relationship Type="http://schemas.openxmlformats.org/officeDocument/2006/relationships/notesSlide" Target="/ppt/notesSlides/notesSlide10.xml" Id="R5c6b8cdebf2347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15ff1fc274ca6" /><Relationship Type="http://schemas.openxmlformats.org/officeDocument/2006/relationships/notesSlide" Target="/ppt/notesSlides/notesSlide11.xml" Id="Rebb8499f124549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9a328b8d54aa2" /><Relationship Type="http://schemas.openxmlformats.org/officeDocument/2006/relationships/notesSlide" Target="/ppt/notesSlides/notesSlide12.xml" Id="R0bff660d9a7243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3f7a5e65743cd" /><Relationship Type="http://schemas.openxmlformats.org/officeDocument/2006/relationships/notesSlide" Target="/ppt/notesSlides/notesSlide13.xml" Id="R96fd555e934846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745e564814420" /><Relationship Type="http://schemas.openxmlformats.org/officeDocument/2006/relationships/chart" Target="/ppt/slides/charts/chart4.xml" Id="R8cc85b0ce9e5474d" /><Relationship Type="http://schemas.openxmlformats.org/officeDocument/2006/relationships/notesSlide" Target="/ppt/notesSlides/notesSlide14.xml" Id="Ra943c80b95714c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ede0d89a0432b" /><Relationship Type="http://schemas.openxmlformats.org/officeDocument/2006/relationships/chart" Target="/ppt/slides/charts/chart5.xml" Id="R8c879738a8194647" /><Relationship Type="http://schemas.openxmlformats.org/officeDocument/2006/relationships/notesSlide" Target="/ppt/notesSlides/notesSlide15.xml" Id="R6f501c2f6d5f4d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d7984c1904bd0" /><Relationship Type="http://schemas.openxmlformats.org/officeDocument/2006/relationships/notesSlide" Target="/ppt/notesSlides/notesSlide16.xml" Id="R8104271027d94a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e0673f3364eac" /><Relationship Type="http://schemas.openxmlformats.org/officeDocument/2006/relationships/notesSlide" Target="/ppt/notesSlides/notesSlide17.xml" Id="R0c99e1a8134d43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bcaab479c4f44" /><Relationship Type="http://schemas.openxmlformats.org/officeDocument/2006/relationships/notesSlide" Target="/ppt/notesSlides/notesSlide18.xml" Id="R954572fa8c4742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325db5e4447ee" /><Relationship Type="http://schemas.openxmlformats.org/officeDocument/2006/relationships/chart" Target="/ppt/slides/charts/chart6.xml" Id="R32f0ed89ae544ee1" /><Relationship Type="http://schemas.openxmlformats.org/officeDocument/2006/relationships/notesSlide" Target="/ppt/notesSlides/notesSlide19.xml" Id="R49113dffc82541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efe2f97754cff" /><Relationship Type="http://schemas.openxmlformats.org/officeDocument/2006/relationships/notesSlide" Target="/ppt/notesSlides/notesSlide20.xml" Id="Racc07eac388246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e797ab2374496" /><Relationship Type="http://schemas.openxmlformats.org/officeDocument/2006/relationships/notesSlide" Target="/ppt/notesSlides/notesSlide21.xml" Id="R8ffe8ccf8df448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f69a4ad1d40be" /><Relationship Type="http://schemas.openxmlformats.org/officeDocument/2006/relationships/chart" Target="/ppt/slides/charts/chart7.xml" Id="Ra85910fde4bc49c4" /><Relationship Type="http://schemas.openxmlformats.org/officeDocument/2006/relationships/notesSlide" Target="/ppt/notesSlides/notesSlide22.xml" Id="R0c4ce9677ef8468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19901e88f44c1" /><Relationship Type="http://schemas.openxmlformats.org/officeDocument/2006/relationships/chart" Target="/ppt/slides/charts/chart8.xml" Id="Rd5d1edaaba304839" /><Relationship Type="http://schemas.openxmlformats.org/officeDocument/2006/relationships/notesSlide" Target="/ppt/notesSlides/notesSlide23.xml" Id="R028e153281794c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e6736bcaa40a5" /><Relationship Type="http://schemas.openxmlformats.org/officeDocument/2006/relationships/notesSlide" Target="/ppt/notesSlides/notesSlide24.xml" Id="R088d852727754eb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bf0b6660c4f93" /><Relationship Type="http://schemas.openxmlformats.org/officeDocument/2006/relationships/chart" Target="/ppt/slides/charts/chart9.xml" Id="R18b1256c7e6043a2" /><Relationship Type="http://schemas.openxmlformats.org/officeDocument/2006/relationships/notesSlide" Target="/ppt/notesSlides/notesSlide25.xml" Id="R9a909ac3e0dd4a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480979cd44a5f" /><Relationship Type="http://schemas.openxmlformats.org/officeDocument/2006/relationships/notesSlide" Target="/ppt/notesSlides/notesSlide26.xml" Id="R778f63e421494c5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e090b9cff4fe6" /><Relationship Type="http://schemas.openxmlformats.org/officeDocument/2006/relationships/notesSlide" Target="/ppt/notesSlides/notesSlide27.xml" Id="R0fa3b478e66140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ef06d04524b13" /><Relationship Type="http://schemas.openxmlformats.org/officeDocument/2006/relationships/notesSlide" Target="/ppt/notesSlides/notesSlide28.xml" Id="R9939085dbf2143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b3d70b7214108" /><Relationship Type="http://schemas.openxmlformats.org/officeDocument/2006/relationships/notesSlide" Target="/ppt/notesSlides/notesSlide29.xml" Id="Rca49cf8409c94b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1552240824250" /><Relationship Type="http://schemas.openxmlformats.org/officeDocument/2006/relationships/notesSlide" Target="/ppt/notesSlides/notesSlide30.xml" Id="Rb30e7f3246f7454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cc0a62fc548a0" /><Relationship Type="http://schemas.openxmlformats.org/officeDocument/2006/relationships/notesSlide" Target="/ppt/notesSlides/notesSlide31.xml" Id="R18542ec5beab47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23c50a8df4796" /><Relationship Type="http://schemas.openxmlformats.org/officeDocument/2006/relationships/notesSlide" Target="/ppt/notesSlides/notesSlide32.xml" Id="Rf7b642ad4667488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61ec7b7d340b7" /><Relationship Type="http://schemas.openxmlformats.org/officeDocument/2006/relationships/notesSlide" Target="/ppt/notesSlides/notesSlide33.xml" Id="R96b49f0bac38455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79e3ee3da4434" /><Relationship Type="http://schemas.openxmlformats.org/officeDocument/2006/relationships/notesSlide" Target="/ppt/notesSlides/notesSlide34.xml" Id="Rb6bdf0f3dac14c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cc996e94540f0" /><Relationship Type="http://schemas.openxmlformats.org/officeDocument/2006/relationships/notesSlide" Target="/ppt/notesSlides/notesSlide35.xml" Id="R451952e73c2e41e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aa59dee8246e3" /><Relationship Type="http://schemas.openxmlformats.org/officeDocument/2006/relationships/notesSlide" Target="/ppt/notesSlides/notesSlide36.xml" Id="R091f99731ff8491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56fa603e04a3c" /><Relationship Type="http://schemas.openxmlformats.org/officeDocument/2006/relationships/notesSlide" Target="/ppt/notesSlides/notesSlide37.xml" Id="R37ec5260739c424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TQQQ 목표</c:v>
          </c:tx>
          <c:spPr>
            <a:solidFill xmlns:a="http://schemas.openxmlformats.org/drawingml/2006/main">
              <a:srgbClr val="2458A6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10%</c:v>
                </c:pt>
                <c:pt idx="1">
                  <c:v>20%</c:v>
                </c:pt>
                <c:pt idx="2">
                  <c:v>30%</c:v>
                </c:pt>
                <c:pt idx="3">
                  <c:v>40%</c:v>
                </c:pt>
                <c:pt idx="4">
                  <c:v>60%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0.6</c:v>
                </c:pt>
                <c:pt idx="1">
                  <c:v>0.6</c:v>
                </c:pt>
                <c:pt idx="2">
                  <c:v>0.4</c:v>
                </c:pt>
                <c:pt idx="3">
                  <c:v>0.3</c:v>
                </c:pt>
                <c:pt idx="4">
                  <c:v>0.2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CAGR</c:v>
          </c:tx>
          <c:spPr>
            <a:solidFill xmlns:a="http://schemas.openxmlformats.org/drawingml/2006/main">
              <a:srgbClr val="2458A6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QQQ 단독</c:v>
                </c:pt>
                <c:pt idx="1">
                  <c:v>QLD 단독</c:v>
                </c:pt>
                <c:pt idx="2">
                  <c:v>TQQQ 단독</c:v>
                </c:pt>
                <c:pt idx="3">
                  <c:v>QQQ 혼합</c:v>
                </c:pt>
                <c:pt idx="4">
                  <c:v>QLD 혼합</c:v>
                </c:pt>
                <c:pt idx="5">
                  <c:v>TQQQ 혼합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0.2006</c:v>
                </c:pt>
                <c:pt idx="1">
                  <c:v>0.3205</c:v>
                </c:pt>
                <c:pt idx="2">
                  <c:v>0.3903</c:v>
                </c:pt>
                <c:pt idx="3">
                  <c:v>0.1734</c:v>
                </c:pt>
                <c:pt idx="4">
                  <c:v>0.2532</c:v>
                </c:pt>
                <c:pt idx="5">
                  <c:v>0.317</c:v>
                </c:pt>
              </c:numCache>
            </c:numRef>
          </c:val>
        </c:ser>
        <c:ser>
          <c:idx val="1"/>
          <c:order val="1"/>
          <c:tx>
            <c:v>최대 낙폭의 크기</c:v>
          </c:tx>
          <c:spPr>
            <a:solidFill xmlns:a="http://schemas.openxmlformats.org/drawingml/2006/main">
              <a:srgbClr val="7B8794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QQQ 단독</c:v>
                </c:pt>
                <c:pt idx="1">
                  <c:v>QLD 단독</c:v>
                </c:pt>
                <c:pt idx="2">
                  <c:v>TQQQ 단독</c:v>
                </c:pt>
                <c:pt idx="3">
                  <c:v>QQQ 혼합</c:v>
                </c:pt>
                <c:pt idx="4">
                  <c:v>QLD 혼합</c:v>
                </c:pt>
                <c:pt idx="5">
                  <c:v>TQQQ 혼합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0.3258</c:v>
                </c:pt>
                <c:pt idx="1">
                  <c:v>0.6052</c:v>
                </c:pt>
                <c:pt idx="2">
                  <c:v>0.7909</c:v>
                </c:pt>
                <c:pt idx="3">
                  <c:v>0.26</c:v>
                </c:pt>
                <c:pt idx="4">
                  <c:v>0.4391</c:v>
                </c:pt>
                <c:pt idx="5">
                  <c:v>0.585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CAGR</c:v>
          </c:tx>
          <c:spPr>
            <a:solidFill xmlns:a="http://schemas.openxmlformats.org/drawingml/2006/main">
              <a:srgbClr val="2458A6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100/0</c:v>
                </c:pt>
                <c:pt idx="1">
                  <c:v>80/20</c:v>
                </c:pt>
                <c:pt idx="2">
                  <c:v>70/30</c:v>
                </c:pt>
                <c:pt idx="3">
                  <c:v>60/40</c:v>
                </c:pt>
                <c:pt idx="4">
                  <c:v>50/50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0.3903</c:v>
                </c:pt>
                <c:pt idx="1">
                  <c:v>0.3599</c:v>
                </c:pt>
                <c:pt idx="2">
                  <c:v>0.3399</c:v>
                </c:pt>
                <c:pt idx="3">
                  <c:v>0.317</c:v>
                </c:pt>
                <c:pt idx="4">
                  <c:v>0.2912</c:v>
                </c:pt>
              </c:numCache>
            </c:numRef>
          </c:val>
        </c:ser>
        <c:ser>
          <c:idx val="1"/>
          <c:order val="1"/>
          <c:tx>
            <c:v>최대 낙폭의 크기</c:v>
          </c:tx>
          <c:spPr>
            <a:solidFill xmlns:a="http://schemas.openxmlformats.org/drawingml/2006/main">
              <a:srgbClr val="7B8794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100/0</c:v>
                </c:pt>
                <c:pt idx="1">
                  <c:v>80/20</c:v>
                </c:pt>
                <c:pt idx="2">
                  <c:v>70/30</c:v>
                </c:pt>
                <c:pt idx="3">
                  <c:v>60/40</c:v>
                </c:pt>
                <c:pt idx="4">
                  <c:v>50/50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0.7909</c:v>
                </c:pt>
                <c:pt idx="1">
                  <c:v>0.7012</c:v>
                </c:pt>
                <c:pt idx="2">
                  <c:v>0.6466</c:v>
                </c:pt>
                <c:pt idx="3">
                  <c:v>0.585</c:v>
                </c:pt>
                <c:pt idx="4">
                  <c:v>0.5271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방어 없음</c:v>
          </c:tx>
          <c:spPr>
            <a:ln xmlns:a="http://schemas.openxmlformats.org/drawingml/2006/main" w="28575">
              <a:solidFill>
                <a:srgbClr val="7B8794"/>
              </a:solidFill>
              <a:prstDash val="solid"/>
            </a:ln>
          </c:spPr>
          <c:marker>
            <c:symbol val="none"/>
          </c:marker>
          <c:cat>
            <c:strRef>
              <c:f>'Chart Data'!$A$2:$A$16</c:f>
              <c:strCache>
                <c:ptCount val="15"/>
                <c:pt idx="0">
                  <c:v>2011말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  <c:pt idx="14">
                  <c:v>2025</c:v>
                </c:pt>
              </c:strCache>
            </c:strRef>
          </c:cat>
          <c:val>
            <c:numRef>
              <c:f>'Chart Data'!$B$2:$B$16</c:f>
              <c:numCache>
                <c:formatCode>#,##0</c:formatCode>
                <c:ptCount val="15"/>
                <c:pt idx="0">
                  <c:v>100</c:v>
                </c:pt>
                <c:pt idx="1">
                  <c:v>132.34</c:v>
                </c:pt>
                <c:pt idx="2">
                  <c:v>252.345912</c:v>
                </c:pt>
                <c:pt idx="3">
                  <c:v>348.262593151</c:v>
                </c:pt>
                <c:pt idx="4">
                  <c:v>383.4022888</c:v>
                </c:pt>
                <c:pt idx="5">
                  <c:v>434.663174813</c:v>
                </c:pt>
                <c:pt idx="6">
                  <c:v>756.618188397</c:v>
                </c:pt>
                <c:pt idx="7">
                  <c:v>708.497271615</c:v>
                </c:pt>
                <c:pt idx="8">
                  <c:v>1262.89638665</c:v>
                </c:pt>
                <c:pt idx="9">
                  <c:v>1969.10804607</c:v>
                </c:pt>
                <c:pt idx="10">
                  <c:v>3181.29095923</c:v>
                </c:pt>
                <c:pt idx="11">
                  <c:v>1731.8947982</c:v>
                </c:pt>
                <c:pt idx="12">
                  <c:v>3377.1948565</c:v>
                </c:pt>
                <c:pt idx="13">
                  <c:v>4735.50262778</c:v>
                </c:pt>
                <c:pt idx="14">
                  <c:v>5354.9063715</c:v>
                </c:pt>
              </c:numCache>
            </c:numRef>
          </c:val>
          <c:smooth val="0"/>
        </c:ser>
        <c:ser>
          <c:idx val="1"/>
          <c:order val="1"/>
          <c:tx>
            <c:v>TQQQ 고점 방어 T</c:v>
          </c:tx>
          <c:spPr>
            <a:ln xmlns:a="http://schemas.openxmlformats.org/drawingml/2006/main" w="28575">
              <a:solidFill>
                <a:srgbClr val="2458A6"/>
              </a:solidFill>
              <a:prstDash val="solid"/>
            </a:ln>
          </c:spPr>
          <c:marker>
            <c:symbol val="none"/>
          </c:marker>
          <c:cat>
            <c:strRef>
              <c:f>'Chart Data'!$C$2:$C$16</c:f>
              <c:strCache>
                <c:ptCount val="15"/>
                <c:pt idx="0">
                  <c:v>2011말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  <c:pt idx="13">
                  <c:v>2024</c:v>
                </c:pt>
                <c:pt idx="14">
                  <c:v>2025</c:v>
                </c:pt>
              </c:strCache>
            </c:strRef>
          </c:cat>
          <c:val>
            <c:numRef>
              <c:f>'Chart Data'!$D$2:$D$16</c:f>
              <c:numCache>
                <c:formatCode>#,##0</c:formatCode>
                <c:ptCount val="15"/>
                <c:pt idx="0">
                  <c:v>100</c:v>
                </c:pt>
                <c:pt idx="1">
                  <c:v>133.08</c:v>
                </c:pt>
                <c:pt idx="2">
                  <c:v>202.81392</c:v>
                </c:pt>
                <c:pt idx="3">
                  <c:v>258.202401552</c:v>
                </c:pt>
                <c:pt idx="4">
                  <c:v>268.453036894</c:v>
                </c:pt>
                <c:pt idx="5">
                  <c:v>288.774931786</c:v>
                </c:pt>
                <c:pt idx="6">
                  <c:v>502.670523761</c:v>
                </c:pt>
                <c:pt idx="7">
                  <c:v>481.206492396</c:v>
                </c:pt>
                <c:pt idx="8">
                  <c:v>797.98472634</c:v>
                </c:pt>
                <c:pt idx="9">
                  <c:v>1596.84723588</c:v>
                </c:pt>
                <c:pt idx="10">
                  <c:v>2613.87924041</c:v>
                </c:pt>
                <c:pt idx="11">
                  <c:v>1935.05480168</c:v>
                </c:pt>
                <c:pt idx="12">
                  <c:v>3515.60756369</c:v>
                </c:pt>
                <c:pt idx="13">
                  <c:v>4850.48375562</c:v>
                </c:pt>
                <c:pt idx="14">
                  <c:v>6017.02509884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방어 없음</c:v>
          </c:tx>
          <c:spPr>
            <a:solidFill xmlns:a="http://schemas.openxmlformats.org/drawingml/2006/main">
              <a:srgbClr val="7B8794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2018 4분기</c:v>
                </c:pt>
                <c:pt idx="1">
                  <c:v>2020 코로나</c:v>
                </c:pt>
                <c:pt idx="2">
                  <c:v>2022 금리 인상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-0.3083</c:v>
                </c:pt>
                <c:pt idx="1">
                  <c:v>-0.345</c:v>
                </c:pt>
                <c:pt idx="2">
                  <c:v>-0.4647</c:v>
                </c:pt>
              </c:numCache>
            </c:numRef>
          </c:val>
        </c:ser>
        <c:ser>
          <c:idx val="1"/>
          <c:order val="1"/>
          <c:tx>
            <c:v>TQQQ 고점 방어 T</c:v>
          </c:tx>
          <c:spPr>
            <a:solidFill xmlns:a="http://schemas.openxmlformats.org/drawingml/2006/main">
              <a:srgbClr val="2458A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2018 4분기</c:v>
                </c:pt>
                <c:pt idx="1">
                  <c:v>2020 코로나</c:v>
                </c:pt>
                <c:pt idx="2">
                  <c:v>2022 금리 인상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-0.2815</c:v>
                </c:pt>
                <c:pt idx="1">
                  <c:v>-0.1772</c:v>
                </c:pt>
                <c:pt idx="2">
                  <c:v>-0.2658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목표 비중</c:v>
          </c:tx>
          <c:dPt>
            <c:idx val="0"/>
            <c:spPr>
              <a:solidFill xmlns:a="http://schemas.openxmlformats.org/drawingml/2006/main">
                <a:srgbClr val="2458A6"/>
              </a:solidFill>
            </c:spPr>
          </c:dPt>
          <c:dPt>
            <c:idx val="1"/>
            <c:spPr>
              <a:solidFill xmlns:a="http://schemas.openxmlformats.org/drawingml/2006/main">
                <a:srgbClr val="6D8DCD"/>
              </a:solidFill>
            </c:spPr>
          </c:dPt>
          <c:dPt>
            <c:idx val="2"/>
            <c:spPr>
              <a:solidFill xmlns:a="http://schemas.openxmlformats.org/drawingml/2006/main">
                <a:srgbClr val="087F78"/>
              </a:solidFill>
            </c:spPr>
          </c:dPt>
          <c:dPt>
            <c:idx val="3"/>
            <c:spPr>
              <a:solidFill xmlns:a="http://schemas.openxmlformats.org/drawingml/2006/main">
                <a:srgbClr val="A17C3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SPYM 30%</c:v>
                </c:pt>
                <c:pt idx="1">
                  <c:v>QQQM 30%</c:v>
                </c:pt>
                <c:pt idx="2">
                  <c:v>IEF 20%</c:v>
                </c:pt>
                <c:pt idx="3">
                  <c:v>GLDM 20%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0.2</c:v>
                </c:pt>
                <c:pt idx="3">
                  <c:v>0.2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holeSize val="66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CAGR</c:v>
          </c:tx>
          <c:spPr>
            <a:solidFill xmlns:a="http://schemas.openxmlformats.org/drawingml/2006/main">
              <a:srgbClr val="087F78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S&amp;P 1배</c:v>
                </c:pt>
                <c:pt idx="1">
                  <c:v>S&amp;P 2배</c:v>
                </c:pt>
                <c:pt idx="2">
                  <c:v>S&amp;P 3배</c:v>
                </c:pt>
                <c:pt idx="3">
                  <c:v>나스닥 1배</c:v>
                </c:pt>
                <c:pt idx="4">
                  <c:v>나스닥 2배</c:v>
                </c:pt>
                <c:pt idx="5">
                  <c:v>나스닥 3배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0.0980920950811</c:v>
                </c:pt>
                <c:pt idx="1">
                  <c:v>0.134138284011</c:v>
                </c:pt>
                <c:pt idx="2">
                  <c:v>0.167094374585</c:v>
                </c:pt>
                <c:pt idx="3">
                  <c:v>0.125668598954</c:v>
                </c:pt>
                <c:pt idx="4">
                  <c:v>0.186945629284</c:v>
                </c:pt>
                <c:pt idx="5">
                  <c:v>0.241474416262</c:v>
                </c:pt>
              </c:numCache>
            </c:numRef>
          </c:val>
        </c:ser>
        <c:ser>
          <c:idx val="1"/>
          <c:order val="1"/>
          <c:tx>
            <c:v>최대 낙폭의 크기</c:v>
          </c:tx>
          <c:spPr>
            <a:solidFill xmlns:a="http://schemas.openxmlformats.org/drawingml/2006/main">
              <a:srgbClr val="7B8794"/>
            </a:solidFill>
          </c:spPr>
          <c:invertIfNegative val="0"/>
          <c:cat>
            <c:strRef>
              <c:f>'Chart Data'!$C$2:$C$7</c:f>
              <c:strCache>
                <c:ptCount val="6"/>
                <c:pt idx="0">
                  <c:v>S&amp;P 1배</c:v>
                </c:pt>
                <c:pt idx="1">
                  <c:v>S&amp;P 2배</c:v>
                </c:pt>
                <c:pt idx="2">
                  <c:v>S&amp;P 3배</c:v>
                </c:pt>
                <c:pt idx="3">
                  <c:v>나스닥 1배</c:v>
                </c:pt>
                <c:pt idx="4">
                  <c:v>나스닥 2배</c:v>
                </c:pt>
                <c:pt idx="5">
                  <c:v>나스닥 3배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0.323530134189</c:v>
                </c:pt>
                <c:pt idx="1">
                  <c:v>0.616377547313</c:v>
                </c:pt>
                <c:pt idx="2">
                  <c:v>0.789653444872</c:v>
                </c:pt>
                <c:pt idx="3">
                  <c:v>0.340728756134</c:v>
                </c:pt>
                <c:pt idx="4">
                  <c:v>0.601613447387</c:v>
                </c:pt>
                <c:pt idx="5">
                  <c:v>0.765087612064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2B45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2022년 수익률</c:v>
          </c:tx>
          <c:spPr>
            <a:solidFill xmlns:a="http://schemas.openxmlformats.org/drawingml/2006/main">
              <a:srgbClr val="087F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S&amp;P 60 + 국채·금</c:v>
                </c:pt>
                <c:pt idx="1">
                  <c:v>각 지수 30 + 국채·금</c:v>
                </c:pt>
                <c:pt idx="2">
                  <c:v>나스닥 60 + 국채·금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-0.138371071172</c:v>
                </c:pt>
                <c:pt idx="1">
                  <c:v>-0.185401048551</c:v>
                </c:pt>
                <c:pt idx="2">
                  <c:v>-0.230486609936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"/>
          <c:min val="-0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끝의 주식 비중</c:v>
          </c:tx>
          <c:spPr>
            <a:solidFill xmlns:a="http://schemas.openxmlformats.org/drawingml/2006/main">
              <a:srgbClr val="087F7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사기만</c:v>
                </c:pt>
                <c:pt idx="1">
                  <c:v>매년 12월</c:v>
                </c:pt>
                <c:pt idx="2">
                  <c:v>5%p 이탈</c:v>
                </c:pt>
                <c:pt idx="3">
                  <c:v>매월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0.903123120913</c:v>
                </c:pt>
                <c:pt idx="1">
                  <c:v>0.645133345243</c:v>
                </c:pt>
                <c:pt idx="2">
                  <c:v>0.607389264629</c:v>
                </c:pt>
                <c:pt idx="3">
                  <c:v>0.614445026726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B4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6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AF7"/>
        </a:solidFill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0E0A8-1357-4062-A1A3-241B90C2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84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4BD44-C6C5-4E6A-A2D0-3C0808FA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84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rPr>
              <a:t>&amp; POLARIS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978B3-2D97-4AF9-9098-192741F4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333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자산배분 선택과 수익·위험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4CCD8-5895-488D-B558-D896F111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98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왜 이 자산을, 이 비중으로 보유하는가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B7FFC-F910-4CDB-AC31-D63E7617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5332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연구 보고서 초안  /  2026.10.17</a:t>
            </a:r>
          </a:p>
        </p:txBody>
      </p:sp>
    </p:spTree>
    <p:extLst>
      <p:ext uri="{BB962C8B-B14F-4D97-AF65-F5344CB8AC3E}">
        <p14:creationId xmlns:p14="http://schemas.microsoft.com/office/powerpoint/2010/main" val="256496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1ADA0-5B84-4475-8563-21B8E028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두 전략의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72A24-D6C3-4CD3-8F1D-8AA9227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Deneb는 레버리지 노출을 조절하고, Polaris는 자산군을 나눠 보유한다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8CD06-523A-43D2-A76C-9BF59D53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6AB5B-8DB8-4FF7-9F60-6DAF22639FF2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3959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524500"/>
                <a:gridCol w="5524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구성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+ SCHD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SPYM + QQQM + IEF + GLDM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비중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최대 60%, 변동성에 따라 축소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30% / 30% / 20% / 20%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대응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고점 기준 단계 매도·추세 복귀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분산 보유·12월 비중 맞추기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상태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실거래 연결 이력, 정지 파일 존재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2026년 11월 시작 계획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620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중요한 한계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큰 손실·반등 미참여 가능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주식·채권 동반 하락 가능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865D-2F67-42BD-920A-0DF0E35E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운영 상태는 2026.10.17 로컬 기록 기준. 과거 연구 성과는 실제 계좌 수익과 구분한다.</a:t>
            </a:r>
          </a:p>
        </p:txBody>
      </p:sp>
    </p:spTree>
    <p:extLst>
      <p:ext uri="{BB962C8B-B14F-4D97-AF65-F5344CB8AC3E}">
        <p14:creationId xmlns:p14="http://schemas.microsoft.com/office/powerpoint/2010/main" val="305420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77913-0285-4626-839A-70B55D69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보고서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7320D-7537-4C6C-9485-2A18E9C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64E05-686B-4F71-B259-44072A3A2ABF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8722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4572000"/>
                <a:gridCol w="80010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질문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01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연구의 출발점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어떤 대안을 검토했는가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02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Deneb의 선택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왜 TQQQ와 SCHD를 조합했는가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03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방어와 복귀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축소의 대가는 무엇인가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04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Polaris의 선택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왜 주식 60%, 국채·금 40%인가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05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실행과 한계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비용과 실제 운용에서 무엇이 달라지는가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부록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상세 수치·자료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어떤 기간·모형에서 나온 결과인가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834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4218C-2510-4F32-AE10-B03037F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연구가 현재 규칙으로 이어진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0B770-5CB2-4050-925E-A300678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초기 가설의 기각 기록과 사용자의 운용 선택을 함께 보존한다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DD3E5-02EC-4247-B616-2BBE5E5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0DBEF-979E-410E-A5B9-106242C0BAC3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9293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67250"/>
                <a:gridCol w="72390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순서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내용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규칙에 남은 것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180~181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1·2·3배 + 배당주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단순 혼합만으로 극단적 손실을 막기 어려움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182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추세·낙폭·변동성 조절 비교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사용자가 M3 변동성 조절을 선택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183~184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 기준·보관처·확인 주기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선택 T 기준, 달러 보관, 매일 확인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185~188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더 빠른 재매수·지표 조합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20·60·120 추세 복귀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189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SCHD를 팔지 않는 대안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양쪽 자산의 목표 비중 맞추기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239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2026.10.17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구성·적립·재조정 비교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30/30/20/20, 4회 납입, 12월 재조정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502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04C68-E4FF-4E4E-99AF-0188602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수익과 손실을 읽는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E149A-A978-4569-9DCE-782C45DC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한 번에 투자한 성과와 매달 납입한 성과는 다른 지표로 읽는다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464E1-9000-4B00-9101-C115B97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8A0C-B25A-483C-8848-21FCDE57AA91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63410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65722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지표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해석할 때 주의할 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투자한 돈의 연복리 성장률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적립식 최종 자산을 그대로 연 수익률로 읽지 않음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IRR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시점과 출금을 반영한 연 수익률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세금·최종 매도 여부에 따라 달라짐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앞선 고점 대비 가장 크게 하락한 비율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연간 손실 또는 원금 손실과 다름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원금 대비 손실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평가액이 누적 납입액을 밑돈 정도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 때문에 최대 낙폭보다 작게 보일 수 있음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Sharpe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변동성 대비 초과 수익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주기·무위험 금리가 같을 때 비교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608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6887B-A179-44AA-8181-37CECB6F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Deneb의 기본 자산과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510A1-7B27-498F-9A85-FDCBD381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TQQQ의 성장 노출을 SCHD와 함께 보유하고, 변동성에 따라 비중을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D045E-2CF9-41DD-B6B3-82ED0C97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C3F9B-BDB8-46CB-8773-CD726AE1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TQQQ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CD9DF-C56C-421D-917B-96544822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628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나스닥 100의 일간 3배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장기 수익이 나스닥의 3배라는 뜻은 아니다. 변동성,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일간 복리와 비용이 경로를 바꾼다.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AC146-4FCA-406D-A501-B01F06D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rPr>
              <a:t>SCHD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B2911-2D9E-4029-8730-D70154D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90850"/>
            <a:ext cx="628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배당주를 통한 주식 성격 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현금이나 원금 보장 자산이 아니다. 주식시장 충격이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오면 TQQQ와 함께 하락할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0A2AE-FEEA-4C11-9F41-C7DD08EC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기본 TQQQ 목표 = 60% × min(1, 20% / QQQ 변동성). 방어 단계·배당 단계에서 목표가 더 낮아질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1492753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80A55-7903-43DC-8058-BD06329F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60%는 고정 비중이 아니라 상한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0E30C-C598-4F0F-AB83-7FBC66A3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QQQ의 최근 20거래일 변동성이 높으면 TQQQ 목표를 낮춘다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8CA64-60F7-4C24-AD84-731DAB5D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A789C74-AC26-445E-869B-608F1D7A3C73}"/>
              </a:ext>
            </a:extLst>
          </p:cNvPr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87630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e560bc44e042e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96A6A-A05A-404D-AECF-CC4AAFA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574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계산 예시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8EAD1-FC68-4D9D-BECA-0CF1831C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400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변동성 20%</a:t>
            </a:r>
          </a:p>
          <a:p xmlns:a="http://schemas.openxmlformats.org/drawingml/2006/main">
            <a: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TQQQ 60%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변동성 40%</a:t>
            </a:r>
          </a:p>
          <a:p xmlns:a="http://schemas.openxmlformats.org/drawingml/2006/main">
            <a: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TQQQ 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76628-AC95-4DF0-BE89-46839A96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가로축은 QQQ 연율 변동성, 세로축은 TQQQ 목표 비중. 수익률 예측이 아니라 고정 공식의 계산 예시다.</a:t>
            </a:r>
          </a:p>
        </p:txBody>
      </p:sp>
    </p:spTree>
    <p:extLst>
      <p:ext uri="{BB962C8B-B14F-4D97-AF65-F5344CB8AC3E}">
        <p14:creationId xmlns:p14="http://schemas.microsoft.com/office/powerpoint/2010/main" val="1098913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8566A-88E2-48B4-A6F6-265BC62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나스닥 1·2·3배와 SCHD 혼합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11660-2C53-4C22-AEBC-49D2EC2F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공통 기간 2016.01~2026.09, 방어 규칙 없는 고정 혼합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23DCF-1843-4168-81A8-78DBFF04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A32EB-5E09-4800-85D6-9E9BCBF0506F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9198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476500"/>
                <a:gridCol w="2571750"/>
                <a:gridCol w="2476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전략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Sharpe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0.96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QLD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-60.5%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0.87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-79.1%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0.83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-21.5%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0.73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60 + SCHD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-26.0%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0.97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QLD 60 + SCHD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-43.9%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0.90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60 + SCHD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-58.5%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0.85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B2099-B587-47F2-A117-C64FC41E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연구 180·181 저장 결과. 편도 비용 0.15%, 월말 재조정, 세전. 낙폭은 월간 관찰 기준으로 일중 낙폭을 모두 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03169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FE2F9-8177-4B79-8D63-E54B39EB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레버리지를 높이면 수익과 손실 폭이 함께 커진다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0521E-8F88-4254-9DC4-0E3603AB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같은 기간의 단독 보유와 60/40 혼합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4F310-D217-4C70-B910-A32C7D3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635F34B-F950-44D2-B758-D0D374E8A48E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4158bfb557460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18A7F-735C-4298-AF8D-23A68AB1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2016.01~2026.09, 연구 180·181. 혼합은 나스닥 ETF 60% + SCHD 40%. 손실 비교를 위해 낙폭의 절댓값을 표시했다.</a:t>
            </a:r>
          </a:p>
        </p:txBody>
      </p:sp>
    </p:spTree>
    <p:extLst>
      <p:ext uri="{BB962C8B-B14F-4D97-AF65-F5344CB8AC3E}">
        <p14:creationId xmlns:p14="http://schemas.microsoft.com/office/powerpoint/2010/main" val="2043927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11CD4-C0F3-457B-927B-48ABEDCE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60/40은 수익을 최대화한 최적 비율이 아니다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12DD7-EAC4-496E-A877-76EDC60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이전 자산배분의 주식 60%를 비교 기준으로 고정했다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CA911-9873-4CDF-8764-85F68579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2ACA10B-934F-47A7-9DA3-1EC6B98EE39A}"/>
              </a:ext>
            </a:extLst>
          </p:cNvPr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94297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3a0209f3214a3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17A78-3C27-4A35-892C-C0DD03EB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3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TQQQ / SCHD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7277A-8210-4168-A83C-68B2F30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371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SCHD를 늘릴수록 이 기간의 손실</a:t>
            </a:r>
          </a:p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폭은 줄었지만, 수익도 낮아졌다.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60/40은 비교 출발점이며 모든</a:t>
            </a:r>
          </a:p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시장의 최적점이라는 증거는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8CB7B-2FEB-48F0-8BA8-6BF6EE82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2016.01~2026.09, 연구 181. 정식 장기 합성 판정에서 3배 60/40은 최대 낙폭 개선 기준에 미달해 REJECT였다.</a:t>
            </a:r>
          </a:p>
        </p:txBody>
      </p:sp>
    </p:spTree>
    <p:extLst>
      <p:ext uri="{BB962C8B-B14F-4D97-AF65-F5344CB8AC3E}">
        <p14:creationId xmlns:p14="http://schemas.microsoft.com/office/powerpoint/2010/main" val="64086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78F01-9F35-49F1-9FA0-5F3E56B7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변동성 조절을 선택한 이유와 남은 약점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0802D-2B53-48E8-A5A7-7D708A89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1986.02~2026.08의 합성 3배 + 고배당 대리자료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01DE9-76E6-4D53-8C2B-1A3DAAE6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F1918-C589-4101-A15C-DF34EE486757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39387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190750"/>
                <a:gridCol w="2667000"/>
                <a:gridCol w="44767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방식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182 방법 판정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60/40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-97.8%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기준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추세 스위치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-72.0%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HISTORICAL_SUPPORT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낙폭 조절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-63.6%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HISTORICAL_SUPPORT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변동성 조절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-79.2%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REJECT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0A459-CABE-4C3F-A27F-998FAC4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M3는 이 합성 3배 계산에서 CAGR이 높았지만, 2배의 뒤 절반 낙폭 기준을 충족하지 못했다. 사용자의 선택과 연구 판정은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구분한다.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A9455-F956-4A64-A529-D1EB5F3F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전체 방법 판정은 2배·3배를 모두 충족해야 한다. 고배당 대리자료는 SCHD가 아니며, 이 결과는 현재 Deneb 전체의 판정이 아니다.</a:t>
            </a:r>
          </a:p>
        </p:txBody>
      </p:sp>
    </p:spTree>
    <p:extLst>
      <p:ext uri="{BB962C8B-B14F-4D97-AF65-F5344CB8AC3E}">
        <p14:creationId xmlns:p14="http://schemas.microsoft.com/office/powerpoint/2010/main" val="339908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DF11B-5571-49BB-8EA5-49118B1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Deneb의 방어와 복귀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C3F75-F94C-42B7-9C2C-501E5C56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TQQQ 자체 고점의 하락 폭을 확인하고, 매도 대금은 별도로 보관한다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19C36-F409-45D8-B516-F515A6F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7AE8D-73B9-4511-A730-CDFD2990FF7E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2054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429250"/>
                <a:gridCol w="5524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그다음 조건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정상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월별 변동성 목표로 비중 맞추기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고점 대비 하락 관찰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 대비 -15%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보유 TQQQ 절반 매도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매도 대금 달러 보관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 대비 -30%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TQQQ 전부 매도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보관금을 월별 배분에서 제외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복귀 대기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추세가 꺼진 이력 확인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20·60·120일 추세가 다시 켜지면 재매수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62E27-B8E2-4888-8C37-7D3148F2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-15%·-30%는 TQQQ 가격 기준이며 계좌 손실 한도가 아니다. 지정가 미체결·가격 갭으로 손실이 더 커질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2876390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0576C-59CB-42FF-83F8-38F03F39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방어 규칙의 실제 ETF 후향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A0ABD-8344-4C69-97FE-0107BF99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2012.01~2026.08, 동일한 연구 184 회계 모형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0CD61-9357-477E-BF39-A73B6DE5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0F721-F041-4E20-90E9-66500E3D078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34434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381250"/>
                <a:gridCol w="2667000"/>
                <a:gridCol w="2381250"/>
                <a:gridCol w="2095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방식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세후 IRR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 매도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방어 없음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-52.1%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28.3%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계좌 고점 H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-45.3%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고점 T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99807-9F7A-4E01-B246-7C95DC6A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-31.7%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7963D-8653-46D0-9664-1ADF674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675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T의 최대 낙폭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BE14-9587-459F-B5FC-C71FEA40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876925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-52.1%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6E5A7-8185-42EF-B111-F952561E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867525"/>
            <a:ext cx="633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방어 없는 비교군의 최대 낙폭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A66A3-DDF4-448D-8D3B-6329AF5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연구 184의 근사 체결·세금 모형. CAGR·낙폭과 세후 적립 IRR은 측정 방식이 다르다. 실제 운용 성과가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8238279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90836-305B-4F5B-B183-A27D7359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방어 규칙을 적용한 연말 성장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A9B79-880A-440E-9386-DA315EB6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기록된 연간 수익률을 누적한 단위 가치 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0BA60-3BC6-4C61-85C0-4271F3E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22CD61D-E9A5-4E20-AEAD-104A5B746569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c85b0ce9e5474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87EC5-6AA0-4283-9260-B22EA974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2012~2025, 시작 지수 100. 저장 연간 수익률의 단순 누적 표시이며 적립 계좌 잔액이 아니다. 연중 손실은 다음 쪽에서 별도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0516642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68406-3B4D-4ADA-900A-D1348714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위기 구간에서의 방어 효과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EB173-033D-4CC4-807B-B2F5DD6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연구 184의 구간 누적 수익률, 최대 낙폭과는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239BE-F28C-4753-99ED-79D9D014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3D55B3A-D2EF-4864-81A2-ECC5FD7C90F6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879738a819464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890C9-9927-434C-A80A-0C743A00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실제 ETF 묶음 R, 2012.01~2026.08. 위기 구간 정의는 연구 184 원문을 따른다. 손실 축소가 손실 방지나 향후 동일 효과를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786596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C4E98-4D87-47CC-A524-C95ADC07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달러 보관과 매일 확인을 남긴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517DE-7761-47DE-930C-185E2D23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주식으로 대기하거나 확인을 줄이는 대안도 같은 연구에서 비교했다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84367-8394-436E-AA59-2BF35B1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85280-47DF-41BC-A70F-A56C25FFF599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1292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429000"/>
                <a:gridCol w="3048000"/>
                <a:gridCol w="31432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보관처·확인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ETF 세후 IRR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ETF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합성 세후 IRR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885825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달러·매일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8858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SCHD·매일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-42.7%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858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QQQ·매일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-39.6%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858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달러·매월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-38.6%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1C0BA-6191-4208-9D46-17DB1E6A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SCHD 보관은 실제 ETF 구간에서 수익이 소폭 높았지만 낙폭이 커졌다. 실제·합성 두 묶음의 고정 기준을 함께 충족하지 못해</a:t>
            </a:r>
          </a:p>
          <a:p xmlns:a="http://schemas.openxmlformats.org/drawingml/2006/main">
            <a: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달러 보관을 유지했다.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2C03A-8BE9-408D-A694-AF044A23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실제 ETF 2012.01~2026.08 / 합성 1986.02~2026.08. 세후 IRR은 연구 당시 세금 가정과 최종 매도 기준이다.</a:t>
            </a:r>
          </a:p>
        </p:txBody>
      </p:sp>
    </p:spTree>
    <p:extLst>
      <p:ext uri="{BB962C8B-B14F-4D97-AF65-F5344CB8AC3E}">
        <p14:creationId xmlns:p14="http://schemas.microsoft.com/office/powerpoint/2010/main" val="20623785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395DE-78AA-42DE-A7EA-437DA9BB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SCHD를 계속 보유하는 대안의 대가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723A6-A83E-4C89-B159-53F24985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월별 목표 비중 맞추기에서 무엇을 팔 수 있는지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30B86-892B-497C-99B2-A9A4CE66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A542E-2BC2-4F28-809D-EDBD8EDCF90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35863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2381250"/>
                <a:gridCol w="2571750"/>
                <a:gridCol w="3238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월별 재조정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세후 IRR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세후 최종 / 납입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양쪽 사고팔기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13.0배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SCHD는 팔지 않기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-31.4%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8.4배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돈으로만 맞추기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-56.5%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16.9배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E8DBB-E152-4729-B81C-D4D1A7E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371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양쪽을 팔지 않는 대안은 수익이 높았지만 레버리지 비중도 커져 낙폭이 확대됐다. 기존 연구는 양쪽 재조정을</a:t>
            </a:r>
          </a:p>
          <a:p xmlns:a="http://schemas.openxmlformats.org/drawingml/2006/main">
            <a:pPr algn="l">
              <a:defRPr sz="225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유지했다.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2DEE4-E852-4D75-AA9F-645213F5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연구 189, 실제 ETF 2012.01~2026.08, 매달 30만 원. 방어 매도는 모든 비교군에 적용. 세금·소수 주 등의 근사가 있다.</a:t>
            </a:r>
          </a:p>
        </p:txBody>
      </p:sp>
    </p:spTree>
    <p:extLst>
      <p:ext uri="{BB962C8B-B14F-4D97-AF65-F5344CB8AC3E}">
        <p14:creationId xmlns:p14="http://schemas.microsoft.com/office/powerpoint/2010/main" val="14656810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00FBF-A3B2-4AEA-AA86-23F160CF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더 빠른 복귀가 항상 더 좋은 결과를 만들지는 않았다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1FABD-318F-448A-9384-7A4E440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반등 미참여를 줄이려는 후속 연구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DCCF7-EBF7-4CD3-8A87-E33CCD17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A342E-88B7-4DFF-ABE7-2E314932C3A2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3959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334000"/>
                <a:gridCol w="68580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시험한 보완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남은 결론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185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회복 재매수·추세 확인 매도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 탈락, T 복귀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186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RSI·MACD·50일선 복귀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50일선은 다른 시장 기준 통과, 나스닥에선 악화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187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낙폭과 여러 지표 결합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일부 기준 통과도 한 사건 의존, 실거래 미채택 권고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188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20·50·100일로 추세 단축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20·60·120일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D5081-8AFC-488C-8281-CC493280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이전 연구에 이미 사용한 자료는 새로운 미사용 OOS가 아니다. 반등을 더 빨리 잡는 것과 비용 후 계좌 수익 개선은 다르다.</a:t>
            </a:r>
          </a:p>
        </p:txBody>
      </p:sp>
    </p:spTree>
    <p:extLst>
      <p:ext uri="{BB962C8B-B14F-4D97-AF65-F5344CB8AC3E}">
        <p14:creationId xmlns:p14="http://schemas.microsoft.com/office/powerpoint/2010/main" val="1037620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B128E-ACF9-42DF-8313-23C63343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Polaris의 30 / 30 / 20 / 20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FB77D-48CB-43EB-89F2-6C589B35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레버리지 없이 주식 60%와 국채·금 40%로 나눠 보유한다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8792E-BF5A-435F-A29A-F2F1846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576FEC2-3BC5-49A4-B36E-B5E6DFD296DB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62865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f0ed89ae544ee1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70395-71DC-4678-A435-C5885EA396F3}"/>
              </a:ext>
            </a:extLst>
          </p:cNvPr>
          <p:cNvGraphicFramePr/>
          <p:nvPr/>
        </p:nvGraphicFramePr>
        <p:xfrm>
          <a:off xmlns:a="http://schemas.openxmlformats.org/drawingml/2006/main" x="7810500" y="2190750"/>
          <a:ext xmlns:a="http://schemas.openxmlformats.org/drawingml/2006/main" cx="6667500" cy="43959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957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역할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SPYM 30%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대형주 전체 노출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QQQM 30%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100 성장주 노출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IEF 20%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미국 7~10년 국채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5250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GLDM 20%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 가격 노출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CFDD6-B29D-4C95-9EBA-49E3AABF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두 주식 ETF는 구성 종목이 겹친다. 네 ETF를 보유해도 네 개의 독립적인 위험을 보유하는 것은 아니다.</a:t>
            </a:r>
          </a:p>
        </p:txBody>
      </p:sp>
    </p:spTree>
    <p:extLst>
      <p:ext uri="{BB962C8B-B14F-4D97-AF65-F5344CB8AC3E}">
        <p14:creationId xmlns:p14="http://schemas.microsoft.com/office/powerpoint/2010/main" val="904163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EF0EA-E2FA-4067-8E9C-F372B77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S&amp;P 500과 나스닥을 절반씩 섞은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AE66C-5D96-4A5B-A101-C118FBE1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주식 몫 60%를 어느 지수로 채울지 비교했다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11C5F-6092-4B0C-B62F-8EF1B578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3C0A6-B553-4D48-B464-78A793F374E0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35863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571750"/>
                <a:gridCol w="2762250"/>
                <a:gridCol w="26670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주식 몫의 구성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 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장기 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2011년 이후 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 500 60%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각 지수 30%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10001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100 60%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-34.1%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0A81E-2A8D-4A79-A78D-32587F66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371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30/30은 두 지수 사이의 수익·위험 절충안이다. 수많은 비율을 최적화해 찾은 전역 최적 비중으로 해석하지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09C24-B5FB-4FC4-8826-2D2B2E19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장기 2005.01~2026.09 / 최근 2011.11~2026.09. 모든 줄에 IEF 20% + GLD 20%. 월별 재조정·편도 비용 0.09%, 세전·환율 고정.</a:t>
            </a:r>
          </a:p>
        </p:txBody>
      </p:sp>
    </p:spTree>
    <p:extLst>
      <p:ext uri="{BB962C8B-B14F-4D97-AF65-F5344CB8AC3E}">
        <p14:creationId xmlns:p14="http://schemas.microsoft.com/office/powerpoint/2010/main" val="20909809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0D145-F9CC-4E63-B19E-D7A7CAF5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Polaris와 주식 중심 대안의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A2E2C-B917-4251-A19C-DF34625E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같은 기간과 비용을 사용한 2005.01~2026.09 참고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13C18-D059-4A18-BDB9-EA468D1A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E3DE5-3D90-4BCE-B568-8A23246879E8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4912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0"/>
                <a:gridCol w="2381250"/>
                <a:gridCol w="2571750"/>
                <a:gridCol w="23812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전략 구성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2008년 수익률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 500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-55.2%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-36.8%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 70 + 나스닥 30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-54.1%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-38.2%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S&amp;P 60 + 국채·금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-19.2%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각 지수 30 + 국채·금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-20.8%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78105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60 + 국채·금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-34.1%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-22.4%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2E367-F8D4-4CDF-AE91-7294EC15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국채·금은 IEF 20% + GLD 20%. SPYM·QQQM·GLDM 대신 SPY·QQQ·GLD 사용. 월별 재조정 모형이며 현재 12월 재조정과는 다르다.</a:t>
            </a:r>
          </a:p>
        </p:txBody>
      </p:sp>
    </p:spTree>
    <p:extLst>
      <p:ext uri="{BB962C8B-B14F-4D97-AF65-F5344CB8AC3E}">
        <p14:creationId xmlns:p14="http://schemas.microsoft.com/office/powerpoint/2010/main" val="20340257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142E2-82F1-4F31-A3B5-42BD809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레버리지 자산을 넣는 대안은 손실 폭을 크게 늘렸다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7A4F5-BDF2-47AF-BBC2-326103D7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주식 60% + 국채 20% + 금 20%, 2005.01~2026.09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1CB4A-F4B4-4469-BEBC-2BADF91B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7D6A385-E920-41B1-88E9-3ED93331E6A9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5910fde4bc49c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A20E9-58C3-4D80-8359-3F072F6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상장 전 레버리지 구간은 사후 비용 보정 합성자료다. 독립 OOS가 아니다. 세금·환율·실제 지정가 체결을 반영하지 않은 참고 모형.</a:t>
            </a:r>
          </a:p>
        </p:txBody>
      </p:sp>
    </p:spTree>
    <p:extLst>
      <p:ext uri="{BB962C8B-B14F-4D97-AF65-F5344CB8AC3E}">
        <p14:creationId xmlns:p14="http://schemas.microsoft.com/office/powerpoint/2010/main" val="4213660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CB1D3-4DB0-4402-A9E9-A25A8F18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2022년에는 분산 보유도 손실을 피하지 못했다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960D-E0D3-4C12-9975-3BD06C30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두 주식 지수의 배합에 따른 수익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026C7-5725-4DE8-A84D-90D483E2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F1BB15F-DD4C-4515-95FB-A4FD2DC24A5B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d1edaaba3048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21A49-CF01-4A1C-A1C0-4AA53ED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기존 월별 재조정 참고 계산. Polaris의 분산은 손실 폭을 조절하려는 설계이며 원금 보장이나 모든 위기의 수익을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754839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13188-677B-4B75-9970-492B613F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12월 재조정을 선택한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ACB95-22F0-4C30-B7A3-89CCC4A9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100만 원씩 4회 납입한 뒤 추가 납입이 없는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001EB-AB34-47AC-8EEB-C3CD8659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F73C6-41E4-405F-9BC1-EA654ECA7422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2054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3143250"/>
                <a:gridCol w="2857500"/>
                <a:gridCol w="2857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재조정 방식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평가액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끝의 주식 비중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사기만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4,813만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-30.3%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82.3%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매년 12월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4,184만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-30.6%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64.5%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5%p 이탈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4,226만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매월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4,084만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DB51-A2BF-4533-BA32-BBA19D9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사기만 한 계좌는 더 커졌지만 주식 비중도 82%로 늘었다. 12월 재조정은 가장 높은 수익보다 처음 정한 위험 구성을</a:t>
            </a:r>
          </a:p>
          <a:p xmlns:a="http://schemas.openxmlformats.org/drawingml/2006/main">
            <a: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유지하려는 선택이다.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D941F-4FFE-4B07-A0A3-7C07308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2005.01~2026.09, 환율 고정·소수 주·과거 세금 가정. 최종 전량 매도 세금은 제외. 실제 첫 재조정은 4회 납입 뒤 2027년 12월 계획.</a:t>
            </a:r>
          </a:p>
        </p:txBody>
      </p:sp>
    </p:spTree>
    <p:extLst>
      <p:ext uri="{BB962C8B-B14F-4D97-AF65-F5344CB8AC3E}">
        <p14:creationId xmlns:p14="http://schemas.microsoft.com/office/powerpoint/2010/main" val="5754168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EB07E-69C4-44B8-8C78-4E19A6D1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최근 구간에서도 사기만 하면 주식 비중이 커졌다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8460B-FDD9-4372-ADD6-8BFB88C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2011.11~2026.09, 100만 원 × 4회 납입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163AF-9BA3-427C-BECA-D3200F49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6912A7D-5540-40E9-842A-B611ED639C7D}"/>
              </a:ext>
            </a:extLst>
          </p:cNvPr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88582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b1256c7e6043a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712E8-5FB5-41AF-8CFC-7D379F4C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288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90.3%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B4915-E528-46F5-9F66-91FF6122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194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사기만 한 계좌의 끝 주식 비중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6330A-1D46-4BDB-8083-320454EA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rPr>
              <a:t>64.5%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D3CC0-0E3F-4006-BD08-5BCA2875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02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12월 재조정 계좌의 끝 주식 비중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52D46-61ED-40D9-A82A-23B20FB6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기존 후향 참고 계산. 매달 새 돈을 계속 넣는 경우에는 매수만으로 비중을 맞추는 효과가 커져 방식 간 차이가 작아졌다.</a:t>
            </a:r>
          </a:p>
        </p:txBody>
      </p:sp>
    </p:spTree>
    <p:extLst>
      <p:ext uri="{BB962C8B-B14F-4D97-AF65-F5344CB8AC3E}">
        <p14:creationId xmlns:p14="http://schemas.microsoft.com/office/powerpoint/2010/main" val="6736930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9025A-D6F6-435E-9FC4-C6FF9B7E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4개월 납입과 8개월 납입의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73507-81FA-45C5-8B66-5A92607D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총 400만 원, 시작 달을 옮겨 관찰한 기존 후향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FD1D1-1A42-4C15-A463-10043DAA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43152-13F8-4319-8642-B2639A5D676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3197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3952875"/>
                <a:gridCol w="3952875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지표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100만 원 × 4개월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50만 원 × 8개월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933450">
                <a:tc>
                  <a:txBody>
                    <a:bodyPr wrap="none"/>
                    <a:lstStyle/>
                    <a:p>
                      <a:pPr algn="l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뒤 평균 평가액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493만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484만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  <a:tr h="93345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24개월 뒤 하위 10% 평가액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401만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396만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93345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관찰 중 최악 원금 손실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-124만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-122만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33450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4개월 방식이 더 큰 시작점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84.8%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237개 시작 달 중 비교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E81FC-F7AE-4E74-89A2-EF5647F3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시작 2005.01~2024.09, 관찰 24개월. 서로 겹치는 시작점이므로 84.8%를 독립 표본의 승률이나 미래 성공 확률로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666372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0984E-E44B-4D75-A690-4C186E9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실제 실행과 연구 모형의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904B5-158F-420C-8DBB-32E34735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작은 계좌에서는 1주 단위·잔여 현금·체결 가격이 비중을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D9330-8879-4725-A006-BE784353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DBF76-40E7-44FC-8B93-749B468FE0D0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7293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524500"/>
                <a:gridCol w="5524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8286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매수 단위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1주 단위, 잔여 현금 이월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1주 단위, 부족한 자산부터 매수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286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매도·재조정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월별 목표 + 일별 방어·복귀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4회 납입 뒤 12월 승인 재조정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286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가격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한도가 있는 지정가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 한도가 있는 지정가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286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 부족·주문 불명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상태를 별도 확인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불명 상태에서는 신규 주문 중지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286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성과의 원천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전략 장부 체결만 사용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계좌의 개별주 매수는 제외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2A88A-974F-4F29-9152-48DF075F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이번 보고서 작업에서는 주문·계좌 API·예약 설정을 실행하거나 변경하지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151243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52573-2368-4533-82FC-161DD668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현재 Deneb와 Polaris의 우열은 한 숫자로 단정하지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DEB2E-A0BB-4CB1-B809-26AB9416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최근 간이 비교의 Deneb 줄에는 T 방어·복귀 규칙이 빠져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999FC-0ED6-40A9-AFF6-98390033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7FAC4-7B7A-4F1D-9B12-6F44B0BAD9E2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2054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238750"/>
                <a:gridCol w="2381250"/>
                <a:gridCol w="23812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기간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모형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2011.11~2026.09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월별 모형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-23.2%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2011.11~2026.09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변동성 모형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-52.1%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2005.01~2026.09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월별 모형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9048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2005.01~2026.09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변동성 모형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-81.1%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C2AB5-B69C-407E-B743-3F7FCC72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34150"/>
            <a:ext cx="1371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이 표는 간이 모형의 성격 차이를 보여준다. 현재 Deneb 전체 규칙과 현재 Polaris 실행 방식의 동등한 비교로 사용하지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1FFF5-EBD2-47FC-8435-92C028B3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편도 비용 0.09%, 세전·환율 고정·월별 재조정. 장기 Deneb에는 합성 TQQQ와 SCHD 대리자료가 들어간다.</a:t>
            </a:r>
          </a:p>
        </p:txBody>
      </p:sp>
    </p:spTree>
    <p:extLst>
      <p:ext uri="{BB962C8B-B14F-4D97-AF65-F5344CB8AC3E}">
        <p14:creationId xmlns:p14="http://schemas.microsoft.com/office/powerpoint/2010/main" val="2631856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3C5FF-A12D-43B0-9EF8-CA9827B4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비용과 세금은 연구마다 포함 범위가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33E6C-7BCC-4F39-83A2-7ED72AE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서로 다른 회계 가정을 같은 수익률 순위표로 합치지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66C68-2238-443A-A9C8-4D8C5376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D101F-7C02-4021-9996-1C68426B316B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5864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476500"/>
                <a:gridCol w="3333750"/>
                <a:gridCol w="4000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묶음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매매 비용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세금·환율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체결 방식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8001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180~182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편도 0.15%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월간 수익·재조정 모형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001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184·189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편도 0.15%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과거 세금 가정, 환율 고정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전일 판단·당일 종가 근사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001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기본 비교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편도 0.09%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세전·환율 고정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소수 주·월별 재조정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001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재조정 비교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편도 0.09%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과거 세금 가정, 환율 고정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소수 주·정해진 날 재조정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00100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운용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수수료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납입·배당·환율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1주 단위 지정가 체결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6CE34-1D7E-4B69-9436-4468704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세금 수치는 연구 당시 가정이며 현재 세법 안내가 아니다. 세전 CAGR, 세후 IRR, 실제 계좌 수익은 구분한다.</a:t>
            </a:r>
          </a:p>
        </p:txBody>
      </p:sp>
    </p:spTree>
    <p:extLst>
      <p:ext uri="{BB962C8B-B14F-4D97-AF65-F5344CB8AC3E}">
        <p14:creationId xmlns:p14="http://schemas.microsoft.com/office/powerpoint/2010/main" val="2754523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BD6B2-971E-4646-AAE7-7A9D04AF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보고서 기준일의 운용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67B1B-BB4E-41C5-86F0-2D4BB20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전략 구현, 주문 연결, 실제 체결, 운용 중지는 서로 다른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A8FBC-3CFB-4549-8687-3CBBB0FF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61DD1-463D-4C00-A71E-92100FD5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89B59-CF0F-4D78-A49D-E9F73AD6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628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실거래 주문 연결 이력이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로컬에 HALT_deneb 정지 파일이 있으므로 현재 정상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가동 중이라고 표현하지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이 보고서에서 정지를 해제하지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D96AD-EB8C-4D82-8003-7A15C9CE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A642F-E280-4434-9DDE-33EE1D3F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90850"/>
            <a:ext cx="628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2026년 11월 시작 계획이다.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보고서 확인 시점에 Polaris 운용 장부가 없어 장기 실제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수익을 제시하지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4회 납입 뒤 첫 12월 재조정은 2027년 계획이다.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1C081-5FA9-4564-9DD7-C8B14139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2026.10.17 로컬 파일·구현 확인 기준. 계좌번호·개인 잔고·인증 정보는 포함하지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4100255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7A582-FB4B-45A2-A6BD-CAADEB65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두 전략이 선택한 것은 서로 다른 위험이다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B9E87-3965-4954-BEB1-E79DF2A7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과거 성과의 크기보다 어떤 손실 구조를 감수하는지 먼저 이해해야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8CFD2-6A11-4598-AA78-3D46CB5C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11E30-65A5-4E79-8181-6BC2AE14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2458A6"/>
                </a:solidFill>
                <a:latin typeface="Noto Sans KR"/>
                <a:ea typeface="Noto Sans KR"/>
                <a:cs typeface="Noto Sans KR"/>
              </a:rPr>
              <a:t>Deneb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7CFC1-1558-44D4-B9A9-DEDA3562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628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성장주 레버리지에 노출하되 변동성 조절과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방어·복귀를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큰 수익 가능성과 함께 큰 손실, 잦은 매도, 세금, 반등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미참여를 감수한다.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256E2-E353-44D9-BAA5-2CE8A263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633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087F78"/>
                </a:solidFill>
                <a:latin typeface="Noto Sans KR"/>
                <a:ea typeface="Noto Sans KR"/>
                <a:cs typeface="Noto Sans KR"/>
              </a:rPr>
              <a:t>Polaris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11D22-157E-42AC-B91B-22D8A894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90850"/>
            <a:ext cx="6286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레버리지를 쓰지 않고 주식·국채·금으로 위험을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나눈다.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상승장에서 수익이 뒤처질 수 있고, 분산 자산이 함께</a:t>
            </a:r>
          </a:p>
          <a:p xmlns:a="http://schemas.openxmlformats.org/drawingml/2006/main">
            <a:pPr algn="l">
              <a:def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하락하는 시기도 감수한다.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1EEAC-EFC1-437F-BFF1-BDD08447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과거 결과는 미래 수익을 보장하지 않는다. 선택한 규칙이 모든 대안보다 우월하거나 최적이라는 판정은 아니다.</a:t>
            </a:r>
          </a:p>
        </p:txBody>
      </p:sp>
    </p:spTree>
    <p:extLst>
      <p:ext uri="{BB962C8B-B14F-4D97-AF65-F5344CB8AC3E}">
        <p14:creationId xmlns:p14="http://schemas.microsoft.com/office/powerpoint/2010/main" val="9410929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55DD8-6084-4822-BA68-2CD03963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부록 A. 공통 기간의 상세 수치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A7A35-6568-4BA0-A31E-EECDBE32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2016.01~2026.09, 월간 관찰, 세전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15342-29A9-4745-8641-9FA96D66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4926D-7E27-4823-B435-3D8A39DA006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91985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952625"/>
                <a:gridCol w="1952625"/>
                <a:gridCol w="1952625"/>
                <a:gridCol w="1952625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전략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변동성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최악 12개월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-32.6%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QLD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38.3%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-60.5%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-60.5%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58.5%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-79.1%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-79.1%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 단독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-21.5%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-10.9%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QQQ 60 + SCHD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-26.0%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-21.8%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QLD 60 + SCHD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25.3%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27.0%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-43.9%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-42.0%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619125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TQQQ 60 + SCHD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31.7%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39.0%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-58.5%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1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-58.5%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A565-11C8-4CD4-A3D5-B99048D9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연구 180·181. 60/40 혼합은 방어 없는 고정 비중이다. 이 표에 현재 Deneb의 방어 성과를 섞지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248505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333B9-E89C-4550-912A-CF32B2E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부록 B. 긴 합성 기간은 위험을 다르게 보여준다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10C18-C9BD-4CC7-8AB8-B2F59FF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1986.02~2026.08, 실제 ETF 기록과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1450E-3B88-4121-98A7-6F7A7563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583A3-1574-40C0-97E9-A5CFA2306C66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63410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476500"/>
                <a:gridCol w="2571750"/>
                <a:gridCol w="2476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합성 전략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CAGR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낙폭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최악 12개월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1배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-80.7%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-67.0%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2배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-98.4%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-92.8%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 3배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-100.0%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-98.9%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2배 60 + 고배당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-87.9%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-74.2%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096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 60 + 고배당 40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-97.8%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-89.2%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35C74-DA44-4B2C-AA9E-31A61969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상장 전 일간 레버리지 합성과 French 고배당 대리자료. SCHD 과거 수익의 복원이 아니다. 100% 근처의 손실은 사실상 자본 대부분의 소실이다.</a:t>
            </a:r>
          </a:p>
        </p:txBody>
      </p:sp>
    </p:spTree>
    <p:extLst>
      <p:ext uri="{BB962C8B-B14F-4D97-AF65-F5344CB8AC3E}">
        <p14:creationId xmlns:p14="http://schemas.microsoft.com/office/powerpoint/2010/main" val="51374933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E780E-B1D1-4166-A492-837E4D7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부록 C. 과거 20년 적립 계산의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6A2BE-E81B-432A-84DE-DD5DD67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2006.10~2026.09, 매달 20만 원, 누적 납입 4,800만 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28449-6927-4944-BC88-117C7BD2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7DFAF-1A7E-4A8D-AF80-F578F5A0B535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29672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3429000"/>
                <a:gridCol w="42862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모형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평가액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납입액 대비 최저 손익률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11906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월별 재조정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19,508만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-25.6%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1190625">
                <a:tc>
                  <a:txBody>
                    <a:bodyPr wrap="none"/>
                    <a:lstStyle/>
                    <a:p>
                      <a:pPr algn="l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 변동성 조절만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206,532만 원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95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-65.7%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06158-9D0A-4846-9A79-BDA7C04B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Deneb 방어·복귀, Polaris 12월 재조정, 실제 환율과 세금은 이 비교에 없다. 이 금액을 현재 전략의 20년 뒤 예상</a:t>
            </a:r>
          </a:p>
          <a:p xmlns:a="http://schemas.openxmlformats.org/drawingml/2006/main">
            <a:pPr algn="l">
              <a:def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자산으로 사용하지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B9FBF-6448-4231-BABB-53BC46C4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기존 저장 결과를 재표시했다. 합성·대리자료가 포함된다. 재표본 추출 결과도 미래 확률이 아니므로 본문의 예상 수익으로 사용하지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0923490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BD53-98CC-4B62-845C-165A1BD5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부록 D. 연구 180~189의 판정과 운용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EDBE0-1908-462D-A578-317BDA3A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후속 선택이 앞선 기각 기록을 지우지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3905D-562A-432B-BA30-12A4A382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DEA3A-390A-41AE-99DD-702444136514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9865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6000750"/>
                <a:gridCol w="62865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결과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보고서의 해석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7334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1배 60/40 장기 기준 미달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배당 혼합이 항상 우월하지 않음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334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181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3배 60/40 낙폭 기준 미달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고정 혼합만으로 극단적 손실 방어 부족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334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182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M1·M2 지지, M3 기각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사용자가 M3 선택, 판정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334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183~184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 원판정 / 사용자 T 선택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달러 보관·매일 확인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334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185~188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복귀 보완의 증거가 일관되지 않음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20·60·120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33425"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189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SCHD 미매도 대안 기준 미달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양쪽 재조정 유지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6770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6A9BD-C3DA-4DC5-A2C2-0EFDDE3F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부록 E. 현재 결과로 답할 수 없는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5D966-7FA4-44D0-B1A5-9BC56391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이번 초안은 새 전략 실험이나 재튜닝을 수행하지 않았다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87A02-AF1D-4BFE-AB53-9E637738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1CEB-9BCD-4760-B5D2-D858EF41D6B6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77697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762000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질문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근거의 한계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Deneb와 Polaris 중 어느 쪽이 우월한가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운용 규칙·기간·비용을 맞춘 통합 결과가 없음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적립에서 회복까지 얼마나 걸리는가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납입·세금·잔여 현금을 맞춘 회복 경로가 필요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 대비 수익이 통계적으로 개선되는가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동일 기준의 Sharpe·검정력·미사용 OOS 확인 필요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백테스트 수익이 실제 체결에서도 유지되는가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지정가 미체결·정수 주·스프레드·환율 차이 존재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838200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세후 숫자를 그대로 사용할 수 있는가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184 세금 출금 설명과 단위 가치 해석의 정합성 추가 확인 필요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C3DC3-9CD4-40CE-8533-125D6968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추가 계산을 하더라도 이미 본 기간을 새 OOS로 부르지 않으며 기존 판정·운영 승인을 자동 변경하지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272071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C259F-4A95-42BE-9535-230F932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72B45"/>
                </a:solidFill>
                <a:latin typeface="Noto Sans KR"/>
                <a:ea typeface="Noto Sans KR"/>
                <a:cs typeface="Noto Sans KR"/>
              </a:rPr>
              <a:t>부록 F. 자료와 재현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279FF-B7C8-4873-822B-F88776A8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기준 코드 6eb208b / 자료 확인일 2026.10.17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F092B-B5BA-4DB7-B5FC-2962C6B3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819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B8794"/>
                </a:solidFill>
                <a:latin typeface="Noto Sans KR"/>
                <a:ea typeface="Noto Sans KR"/>
                <a:cs typeface="Noto Sans KR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DC5C4-1126-4D39-A1B4-18CBF5BE5962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8722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9429750"/>
              </a:tblGrid>
              <a:tr h="585978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내용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주요 근거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T w="5715">
                      <a:solidFill>
                        <a:srgbClr val="E2E6EA"/>
                      </a:solidFill>
                      <a:prstDash val="solid"/>
                    </a:lnT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172B45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전략 규칙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deneb_live · deneb_guard · polaris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나스닥·배당주 혼합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180·181 / div_mix_180 · lev_div_181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변동성·방어·복귀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연구 182~189 / dd_control_182 · brake_184 · rebal_189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Polaris 자산배분·적립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namu_core_compare 결과 7개 / 동일 이름의 비교 스크립트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실제 운용 상태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PROGRESS · 정지 파일 유무 · 운용 장부 유무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714375"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 구조</a:t>
                      </a:r>
                    </a:p>
                  </a:txBody>
                  <a:tcPr marL="171450" marR="171450" marT="95250" marB="95250" anchor="ctr">
                    <a:lnL w="5715">
                      <a:solidFill>
                        <a:srgbClr val="E2E6EA"/>
                      </a:solidFill>
                      <a:prstDash val="solid"/>
                    </a:lnL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75" b="0">
                          <a:solidFill>
                            <a:srgbClr val="172B45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ProShares TQQQ · Schwab SCHD 공식 설명</a:t>
                      </a:r>
                    </a:p>
                  </a:txBody>
                  <a:tcPr marL="171450" marR="171450" marT="95250" marB="95250" anchor="ctr">
                    <a:lnR w="5715">
                      <a:solidFill>
                        <a:srgbClr val="E2E6EA"/>
                      </a:solidFill>
                      <a:prstDash val="solid"/>
                    </a:lnR>
                    <a:lnB w="5715">
                      <a:solidFill>
                        <a:srgbClr val="E2E6EA"/>
                      </a:solidFill>
                      <a:prstDash val="solid"/>
                    </a:lnB>
                    <a:solidFill>
                      <a:srgbClr val="F1F3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1E4DB-AAB0-4626-AFCC-1A6B0B42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05725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276"/>
                </a:solidFill>
                <a:latin typeface="Noto Sans KR"/>
                <a:ea typeface="Noto Sans KR"/>
                <a:cs typeface="Noto Sans KR"/>
              </a:rPr>
              <a:t>상세 파일 경로와 공식 자료 주소는 각 슬라이드의 출처 노트에 수록했다. 개인정보와 실제 계좌 잔고는 보고서에서 제외했다.</a:t>
            </a:r>
          </a:p>
        </p:txBody>
      </p:sp>
    </p:spTree>
    <p:extLst>
      <p:ext uri="{BB962C8B-B14F-4D97-AF65-F5344CB8AC3E}">
        <p14:creationId xmlns:p14="http://schemas.microsoft.com/office/powerpoint/2010/main" val="2053985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2026-10-17T10:46:37.9050000Z</dcterms:created>
  <dcterms:modified xsi:type="dcterms:W3CDTF">2026-10-17T10:46:37.9050000Z</dcterms:modified>
</coreProperties>
</file>