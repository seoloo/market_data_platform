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Sheet29.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Sheet30.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Sheet31.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Sheet32.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3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TQQQ</c:v>
                </c:pt>
              </c:strCache>
            </c:strRef>
          </c:tx>
          <c:spPr>
            <a:solidFill>
              <a:srgbClr val="0B3D91"/>
            </a:solidFill>
          </c:spPr>
          <c:dLbls>
            <c:numFmt formatCode="0&quot;만 원&quot;" sourceLinked="0"/>
            <c:txPr>
              <a:bodyPr/>
              <a:lstStyle/>
              <a:p>
                <a:pPr>
                  <a:defRPr sz="850" b="1">
                    <a:solidFill>
                      <a:srgbClr val="FFFFFF"/>
                    </a:solidFill>
                  </a:defRPr>
                </a:pPr>
              </a:p>
            </c:txPr>
            <c:dLblPos val="ctr"/>
            <c:showLegendKey val="0"/>
            <c:showVal val="1"/>
            <c:showCatName val="0"/>
            <c:showSerName val="0"/>
            <c:showPercent val="0"/>
            <c:showBubbleSize val="0"/>
            <c:showLeaderLines val="1"/>
          </c:dLbls>
          <c:cat>
            <c:strRef>
              <c:f>Sheet1!$A$2:$A$6</c:f>
              <c:strCache>
                <c:ptCount val="5"/>
                <c:pt idx="0">
                  <c:v>폭락 · 60%</c:v>
                </c:pt>
                <c:pt idx="1">
                  <c:v>급락 · 40%</c:v>
                </c:pt>
                <c:pt idx="2">
                  <c:v>출렁임 · 30%</c:v>
                </c:pt>
                <c:pt idx="3">
                  <c:v>보통 · 20%</c:v>
                </c:pt>
                <c:pt idx="4">
                  <c:v>잔잔함 · 변동성 15%</c:v>
                </c:pt>
              </c:strCache>
            </c:strRef>
          </c:cat>
          <c:val>
            <c:numRef>
              <c:f>Sheet1!$B$2:$B$6</c:f>
              <c:numCache>
                <c:formatCode>General</c:formatCode>
                <c:ptCount val="5"/>
                <c:pt idx="0">
                  <c:v>2.0</c:v>
                </c:pt>
                <c:pt idx="1">
                  <c:v>3.0</c:v>
                </c:pt>
                <c:pt idx="2">
                  <c:v>4.0</c:v>
                </c:pt>
                <c:pt idx="3">
                  <c:v>6.0</c:v>
                </c:pt>
                <c:pt idx="4">
                  <c:v>6.0</c:v>
                </c:pt>
              </c:numCache>
            </c:numRef>
          </c:val>
        </c:ser>
        <c:ser>
          <c:idx val="1"/>
          <c:order val="1"/>
          <c:tx>
            <c:strRef>
              <c:f>Sheet1!$C$1</c:f>
              <c:strCache>
                <c:ptCount val="1"/>
                <c:pt idx="0">
                  <c:v>SCHD</c:v>
                </c:pt>
              </c:strCache>
            </c:strRef>
          </c:tx>
          <c:spPr>
            <a:solidFill>
              <a:srgbClr val="AFC3E3"/>
            </a:solidFill>
          </c:spPr>
          <c:dLbls>
            <c:numFmt formatCode="0&quot;만 원&quot;" sourceLinked="0"/>
            <c:txPr>
              <a:bodyPr/>
              <a:lstStyle/>
              <a:p>
                <a:pPr>
                  <a:defRPr sz="850" b="1">
                    <a:solidFill>
                      <a:srgbClr val="1A1E25"/>
                    </a:solidFill>
                  </a:defRPr>
                </a:pPr>
              </a:p>
            </c:txPr>
            <c:dLblPos val="ctr"/>
            <c:showLegendKey val="0"/>
            <c:showVal val="1"/>
            <c:showCatName val="0"/>
            <c:showSerName val="0"/>
            <c:showPercent val="0"/>
            <c:showBubbleSize val="0"/>
            <c:showLeaderLines val="1"/>
          </c:dLbls>
          <c:cat>
            <c:strRef>
              <c:f>Sheet1!$A$2:$A$6</c:f>
              <c:strCache>
                <c:ptCount val="5"/>
                <c:pt idx="0">
                  <c:v>폭락 · 60%</c:v>
                </c:pt>
                <c:pt idx="1">
                  <c:v>급락 · 40%</c:v>
                </c:pt>
                <c:pt idx="2">
                  <c:v>출렁임 · 30%</c:v>
                </c:pt>
                <c:pt idx="3">
                  <c:v>보통 · 20%</c:v>
                </c:pt>
                <c:pt idx="4">
                  <c:v>잔잔함 · 변동성 15%</c:v>
                </c:pt>
              </c:strCache>
            </c:strRef>
          </c:cat>
          <c:val>
            <c:numRef>
              <c:f>Sheet1!$C$2:$C$6</c:f>
              <c:numCache>
                <c:formatCode>General</c:formatCode>
                <c:ptCount val="5"/>
                <c:pt idx="0">
                  <c:v>8.0</c:v>
                </c:pt>
                <c:pt idx="1">
                  <c:v>7.0</c:v>
                </c:pt>
                <c:pt idx="2">
                  <c:v>6.0</c:v>
                </c:pt>
                <c:pt idx="3">
                  <c:v>4.0</c:v>
                </c:pt>
                <c:pt idx="4">
                  <c:v>4.0</c:v>
                </c:pt>
              </c:numCache>
            </c:numRef>
          </c:val>
        </c:ser>
        <c:gapWidth val="45"/>
        <c:overlap val="100"/>
        <c:axId val="-2068027336"/>
        <c:axId val="-2113994440"/>
      </c:barChart>
      <c:catAx>
        <c:axId val="-2068027336"/>
        <c:scaling>
          <c:orientation val="minMax"/>
        </c:scaling>
        <c:delete val="0"/>
        <c:axPos val="l"/>
        <c:majorTickMark val="out"/>
        <c:minorTickMark val="none"/>
        <c:tickLblPos val="low"/>
        <c:spPr>
          <a:ln w="9525">
            <a:noFill/>
          </a:ln>
        </c:spPr>
        <c:txPr>
          <a:bodyPr/>
          <a:lstStyle/>
          <a:p>
            <a:pPr>
              <a:defRPr sz="800">
                <a:solidFill>
                  <a:srgbClr val="1A1E25"/>
                </a:solidFill>
              </a:defRPr>
            </a:pPr>
          </a:p>
        </c:txPr>
        <c:crossAx val="-2113994440"/>
        <c:crosses val="autoZero"/>
        <c:auto val="1"/>
        <c:lblAlgn val="ctr"/>
        <c:lblOffset val="100"/>
        <c:noMultiLvlLbl val="0"/>
      </c:catAx>
      <c:valAx>
        <c:axId val="-2113994440"/>
        <c:scaling>
          <c:max val="10.0"/>
          <c:min val="0.0"/>
        </c:scaling>
        <c:delete/>
        <c:axPos val="b"/>
        <c:numFmt formatCode="0&quot;만&quot;" sourceLinked="0"/>
        <c:majorTickMark val="out"/>
        <c:minorTickMark val="none"/>
        <c:tickLblPos val="nextTo"/>
        <c:spPr>
          <a:ln>
            <a:noFill/>
          </a:ln>
        </c:spPr>
        <c:txPr>
          <a:bodyPr/>
          <a:lstStyle/>
          <a:p>
            <a:pPr>
              <a:defRPr sz="800">
                <a:solidFill>
                  <a:srgbClr val="5C6573"/>
                </a:solidFill>
              </a:defRPr>
            </a:pPr>
          </a:p>
        </c:txPr>
        <c:crossAx val="-2068027336"/>
        <c:crosses val="autoZero"/>
      </c:valAx>
    </c:plotArea>
    <c:legend>
      <c:legendPos val="t"/>
      <c:overlay val="0"/>
      <c:txPr>
        <a:bodyPr/>
        <a:lstStyle/>
        <a:p>
          <a:pPr>
            <a:defRPr sz="800"/>
          </a:pPr>
        </a:p>
      </c:txPr>
    </c:legend>
    <c:dispBlanksAs val="gap"/>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TQQQ</c:v>
                </c:pt>
              </c:strCache>
            </c:strRef>
          </c:tx>
          <c:spPr>
            <a:solidFill>
              <a:srgbClr val="7A4CB0"/>
            </a:solidFill>
          </c:spPr>
          <c:invertIfNegative val="0"/>
          <c:dLbls>
            <c:numFmt formatCode="0%;&quot;−&quot;0%" sourceLinked="0"/>
            <c:txPr>
              <a:bodyPr/>
              <a:lstStyle/>
              <a:p>
                <a:pPr>
                  <a:defRPr sz="750" b="0">
                    <a:solidFill>
                      <a:srgbClr val="1A1E25"/>
                    </a:solidFill>
                  </a:defRPr>
                </a:pPr>
              </a:p>
            </c:txPr>
            <c:dLblPos val="outEnd"/>
            <c:showLegendKey val="0"/>
            <c:showVal val="1"/>
            <c:showCatName val="0"/>
            <c:showSerName val="0"/>
            <c:showPercent val="0"/>
            <c:showBubbleSize val="0"/>
            <c:showLeaderLines val="1"/>
          </c:dLbls>
          <c:cat>
            <c:strRef>
              <c:f>Sheet1!$A$2:$A$6</c:f>
              <c:strCache>
                <c:ptCount val="5"/>
                <c:pt idx="0">
                  <c:v>2015년</c:v>
                </c:pt>
                <c:pt idx="1">
                  <c:v>2018년</c:v>
                </c:pt>
                <c:pt idx="2">
                  <c:v>2020년</c:v>
                </c:pt>
                <c:pt idx="3">
                  <c:v>2022년</c:v>
                </c:pt>
                <c:pt idx="4">
                  <c:v>2025년</c:v>
                </c:pt>
              </c:strCache>
            </c:strRef>
          </c:cat>
          <c:val>
            <c:numRef>
              <c:f>Sheet1!$B$2:$B$6</c:f>
              <c:numCache>
                <c:formatCode>General</c:formatCode>
                <c:ptCount val="5"/>
                <c:pt idx="0">
                  <c:v>0.17</c:v>
                </c:pt>
                <c:pt idx="1">
                  <c:v>-0.2</c:v>
                </c:pt>
                <c:pt idx="2">
                  <c:v>1.1</c:v>
                </c:pt>
                <c:pt idx="3">
                  <c:v>-0.79</c:v>
                </c:pt>
                <c:pt idx="4">
                  <c:v>0.34</c:v>
                </c:pt>
              </c:numCache>
            </c:numRef>
          </c:val>
        </c:ser>
        <c:ser>
          <c:idx val="1"/>
          <c:order val="1"/>
          <c:tx>
            <c:strRef>
              <c:f>Sheet1!$C$1</c:f>
              <c:strCache>
                <c:ptCount val="1"/>
                <c:pt idx="0">
                  <c:v>QQQ</c:v>
                </c:pt>
              </c:strCache>
            </c:strRef>
          </c:tx>
          <c:spPr>
            <a:solidFill>
              <a:srgbClr val="E07A1F"/>
            </a:solidFill>
          </c:spPr>
          <c:invertIfNegative val="0"/>
          <c:dLbls>
            <c:numFmt formatCode="0%;&quot;−&quot;0%" sourceLinked="0"/>
            <c:txPr>
              <a:bodyPr/>
              <a:lstStyle/>
              <a:p>
                <a:pPr>
                  <a:defRPr sz="750" b="0">
                    <a:solidFill>
                      <a:srgbClr val="1A1E25"/>
                    </a:solidFill>
                  </a:defRPr>
                </a:pPr>
              </a:p>
            </c:txPr>
            <c:dLblPos val="outEnd"/>
            <c:showLegendKey val="0"/>
            <c:showVal val="1"/>
            <c:showCatName val="0"/>
            <c:showSerName val="0"/>
            <c:showPercent val="0"/>
            <c:showBubbleSize val="0"/>
            <c:showLeaderLines val="1"/>
          </c:dLbls>
          <c:cat>
            <c:strRef>
              <c:f>Sheet1!$A$2:$A$6</c:f>
              <c:strCache>
                <c:ptCount val="5"/>
                <c:pt idx="0">
                  <c:v>2015년</c:v>
                </c:pt>
                <c:pt idx="1">
                  <c:v>2018년</c:v>
                </c:pt>
                <c:pt idx="2">
                  <c:v>2020년</c:v>
                </c:pt>
                <c:pt idx="3">
                  <c:v>2022년</c:v>
                </c:pt>
                <c:pt idx="4">
                  <c:v>2025년</c:v>
                </c:pt>
              </c:strCache>
            </c:strRef>
          </c:cat>
          <c:val>
            <c:numRef>
              <c:f>Sheet1!$C$2:$C$6</c:f>
              <c:numCache>
                <c:formatCode>General</c:formatCode>
                <c:ptCount val="5"/>
                <c:pt idx="0">
                  <c:v>0.09</c:v>
                </c:pt>
                <c:pt idx="1">
                  <c:v>-0.0</c:v>
                </c:pt>
                <c:pt idx="2">
                  <c:v>0.48</c:v>
                </c:pt>
                <c:pt idx="3">
                  <c:v>-0.33</c:v>
                </c:pt>
                <c:pt idx="4">
                  <c:v>0.21</c:v>
                </c:pt>
              </c:numCache>
            </c:numRef>
          </c:val>
        </c:ser>
        <c:ser>
          <c:idx val="2"/>
          <c:order val="2"/>
          <c:tx>
            <c:strRef>
              <c:f>Sheet1!$D$1</c:f>
              <c:strCache>
                <c:ptCount val="1"/>
                <c:pt idx="0">
                  <c:v>SCHD</c:v>
                </c:pt>
              </c:strCache>
            </c:strRef>
          </c:tx>
          <c:spPr>
            <a:solidFill>
              <a:srgbClr val="8FB3E0"/>
            </a:solidFill>
          </c:spPr>
          <c:invertIfNegative val="0"/>
          <c:dLbls>
            <c:numFmt formatCode="0%;&quot;−&quot;0%" sourceLinked="0"/>
            <c:txPr>
              <a:bodyPr/>
              <a:lstStyle/>
              <a:p>
                <a:pPr>
                  <a:defRPr sz="750" b="0">
                    <a:solidFill>
                      <a:srgbClr val="1A1E25"/>
                    </a:solidFill>
                  </a:defRPr>
                </a:pPr>
              </a:p>
            </c:txPr>
            <c:dLblPos val="outEnd"/>
            <c:showLegendKey val="0"/>
            <c:showVal val="1"/>
            <c:showCatName val="0"/>
            <c:showSerName val="0"/>
            <c:showPercent val="0"/>
            <c:showBubbleSize val="0"/>
            <c:showLeaderLines val="1"/>
          </c:dLbls>
          <c:cat>
            <c:strRef>
              <c:f>Sheet1!$A$2:$A$6</c:f>
              <c:strCache>
                <c:ptCount val="5"/>
                <c:pt idx="0">
                  <c:v>2015년</c:v>
                </c:pt>
                <c:pt idx="1">
                  <c:v>2018년</c:v>
                </c:pt>
                <c:pt idx="2">
                  <c:v>2020년</c:v>
                </c:pt>
                <c:pt idx="3">
                  <c:v>2022년</c:v>
                </c:pt>
                <c:pt idx="4">
                  <c:v>2025년</c:v>
                </c:pt>
              </c:strCache>
            </c:strRef>
          </c:cat>
          <c:val>
            <c:numRef>
              <c:f>Sheet1!$D$2:$D$6</c:f>
              <c:numCache>
                <c:formatCode>General</c:formatCode>
                <c:ptCount val="5"/>
                <c:pt idx="0">
                  <c:v>-0.0</c:v>
                </c:pt>
                <c:pt idx="1">
                  <c:v>-0.06</c:v>
                </c:pt>
                <c:pt idx="2">
                  <c:v>0.15</c:v>
                </c:pt>
                <c:pt idx="3">
                  <c:v>-0.03</c:v>
                </c:pt>
                <c:pt idx="4">
                  <c:v>0.04</c:v>
                </c:pt>
              </c:numCache>
            </c:numRef>
          </c:val>
        </c:ser>
        <c:gapWidth val="50"/>
        <c:axId val="-2068027336"/>
        <c:axId val="-2113994440"/>
      </c:barChart>
      <c:catAx>
        <c:axId val="-2068027336"/>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13994440"/>
        <c:crosses val="autoZero"/>
        <c:auto val="1"/>
        <c:lblAlgn val="ctr"/>
        <c:lblOffset val="100"/>
        <c:noMultiLvlLbl val="0"/>
      </c:catAx>
      <c:valAx>
        <c:axId val="-2113994440"/>
        <c:scaling>
          <c:max val="1.25"/>
          <c:min val="-1.0"/>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068027336"/>
        <c:crosses val="autoZero"/>
        <c:majorUnit val="0.5"/>
      </c:valAx>
    </c:plotArea>
    <c:legend>
      <c:legendPos val="t"/>
      <c:overlay val="0"/>
      <c:txPr>
        <a:bodyPr/>
        <a:lstStyle/>
        <a:p>
          <a:pPr>
            <a:defRPr sz="800"/>
          </a:pPr>
        </a:p>
      </c:txPr>
    </c:legend>
    <c:dispBlanksAs val="gap"/>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SCHD 비중</c:v>
                </c:pt>
              </c:strCache>
            </c:strRef>
          </c:tx>
          <c:spPr>
            <a:ln w="25400">
              <a:solidFill>
                <a:srgbClr val="8FB3E0"/>
              </a:solidFill>
            </a:ln>
          </c:spPr>
          <c:marker>
            <c:symbol val="none"/>
          </c:marker>
          <c:cat>
            <c:strRef>
              <c:f>Sheet1!$A$2:$A$177</c:f>
              <c:strCache>
                <c:ptCount val="176"/>
                <c:pt idx="0">
                  <c:v>2012</c:v>
                </c:pt>
                <c:pt idx="1">
                  <c:v>2012</c:v>
                </c:pt>
                <c:pt idx="2">
                  <c:v>2012</c:v>
                </c:pt>
                <c:pt idx="3">
                  <c:v>2012</c:v>
                </c:pt>
                <c:pt idx="4">
                  <c:v>2012</c:v>
                </c:pt>
                <c:pt idx="5">
                  <c:v>2012</c:v>
                </c:pt>
                <c:pt idx="6">
                  <c:v>2012</c:v>
                </c:pt>
                <c:pt idx="7">
                  <c:v>2012</c:v>
                </c:pt>
                <c:pt idx="8">
                  <c:v>2012</c:v>
                </c:pt>
                <c:pt idx="9">
                  <c:v>2012</c:v>
                </c:pt>
                <c:pt idx="10">
                  <c:v>2012</c:v>
                </c:pt>
                <c:pt idx="11">
                  <c:v>2012</c:v>
                </c:pt>
                <c:pt idx="12">
                  <c:v>2013</c:v>
                </c:pt>
                <c:pt idx="13">
                  <c:v>2013</c:v>
                </c:pt>
                <c:pt idx="14">
                  <c:v>2013</c:v>
                </c:pt>
                <c:pt idx="15">
                  <c:v>2013</c:v>
                </c:pt>
                <c:pt idx="16">
                  <c:v>2013</c:v>
                </c:pt>
                <c:pt idx="17">
                  <c:v>2013</c:v>
                </c:pt>
                <c:pt idx="18">
                  <c:v>2013</c:v>
                </c:pt>
                <c:pt idx="19">
                  <c:v>2013</c:v>
                </c:pt>
                <c:pt idx="20">
                  <c:v>2013</c:v>
                </c:pt>
                <c:pt idx="21">
                  <c:v>2013</c:v>
                </c:pt>
                <c:pt idx="22">
                  <c:v>2013</c:v>
                </c:pt>
                <c:pt idx="23">
                  <c:v>2013</c:v>
                </c:pt>
                <c:pt idx="24">
                  <c:v>2014</c:v>
                </c:pt>
                <c:pt idx="25">
                  <c:v>2014</c:v>
                </c:pt>
                <c:pt idx="26">
                  <c:v>2014</c:v>
                </c:pt>
                <c:pt idx="27">
                  <c:v>2014</c:v>
                </c:pt>
                <c:pt idx="28">
                  <c:v>2014</c:v>
                </c:pt>
                <c:pt idx="29">
                  <c:v>2014</c:v>
                </c:pt>
                <c:pt idx="30">
                  <c:v>2014</c:v>
                </c:pt>
                <c:pt idx="31">
                  <c:v>2014</c:v>
                </c:pt>
                <c:pt idx="32">
                  <c:v>2014</c:v>
                </c:pt>
                <c:pt idx="33">
                  <c:v>2014</c:v>
                </c:pt>
                <c:pt idx="34">
                  <c:v>2014</c:v>
                </c:pt>
                <c:pt idx="35">
                  <c:v>2014</c:v>
                </c:pt>
                <c:pt idx="36">
                  <c:v>2015</c:v>
                </c:pt>
                <c:pt idx="37">
                  <c:v>2015</c:v>
                </c:pt>
                <c:pt idx="38">
                  <c:v>2015</c:v>
                </c:pt>
                <c:pt idx="39">
                  <c:v>2015</c:v>
                </c:pt>
                <c:pt idx="40">
                  <c:v>2015</c:v>
                </c:pt>
                <c:pt idx="41">
                  <c:v>2015</c:v>
                </c:pt>
                <c:pt idx="42">
                  <c:v>2015</c:v>
                </c:pt>
                <c:pt idx="43">
                  <c:v>2015</c:v>
                </c:pt>
                <c:pt idx="44">
                  <c:v>2015</c:v>
                </c:pt>
                <c:pt idx="45">
                  <c:v>2015</c:v>
                </c:pt>
                <c:pt idx="46">
                  <c:v>2015</c:v>
                </c:pt>
                <c:pt idx="47">
                  <c:v>2015</c:v>
                </c:pt>
                <c:pt idx="48">
                  <c:v>2016</c:v>
                </c:pt>
                <c:pt idx="49">
                  <c:v>2016</c:v>
                </c:pt>
                <c:pt idx="50">
                  <c:v>2016</c:v>
                </c:pt>
                <c:pt idx="51">
                  <c:v>2016</c:v>
                </c:pt>
                <c:pt idx="52">
                  <c:v>2016</c:v>
                </c:pt>
                <c:pt idx="53">
                  <c:v>2016</c:v>
                </c:pt>
                <c:pt idx="54">
                  <c:v>2016</c:v>
                </c:pt>
                <c:pt idx="55">
                  <c:v>2016</c:v>
                </c:pt>
                <c:pt idx="56">
                  <c:v>2016</c:v>
                </c:pt>
                <c:pt idx="57">
                  <c:v>2016</c:v>
                </c:pt>
                <c:pt idx="58">
                  <c:v>2016</c:v>
                </c:pt>
                <c:pt idx="59">
                  <c:v>2016</c:v>
                </c:pt>
                <c:pt idx="60">
                  <c:v>2017</c:v>
                </c:pt>
                <c:pt idx="61">
                  <c:v>2017</c:v>
                </c:pt>
                <c:pt idx="62">
                  <c:v>2017</c:v>
                </c:pt>
                <c:pt idx="63">
                  <c:v>2017</c:v>
                </c:pt>
                <c:pt idx="64">
                  <c:v>2017</c:v>
                </c:pt>
                <c:pt idx="65">
                  <c:v>2017</c:v>
                </c:pt>
                <c:pt idx="66">
                  <c:v>2017</c:v>
                </c:pt>
                <c:pt idx="67">
                  <c:v>2017</c:v>
                </c:pt>
                <c:pt idx="68">
                  <c:v>2017</c:v>
                </c:pt>
                <c:pt idx="69">
                  <c:v>2017</c:v>
                </c:pt>
                <c:pt idx="70">
                  <c:v>2017</c:v>
                </c:pt>
                <c:pt idx="71">
                  <c:v>2017</c:v>
                </c:pt>
                <c:pt idx="72">
                  <c:v>2018</c:v>
                </c:pt>
                <c:pt idx="73">
                  <c:v>2018</c:v>
                </c:pt>
                <c:pt idx="74">
                  <c:v>2018</c:v>
                </c:pt>
                <c:pt idx="75">
                  <c:v>2018</c:v>
                </c:pt>
                <c:pt idx="76">
                  <c:v>2018</c:v>
                </c:pt>
                <c:pt idx="77">
                  <c:v>2018</c:v>
                </c:pt>
                <c:pt idx="78">
                  <c:v>2018</c:v>
                </c:pt>
                <c:pt idx="79">
                  <c:v>2018</c:v>
                </c:pt>
                <c:pt idx="80">
                  <c:v>2018</c:v>
                </c:pt>
                <c:pt idx="81">
                  <c:v>2018</c:v>
                </c:pt>
                <c:pt idx="82">
                  <c:v>2018</c:v>
                </c:pt>
                <c:pt idx="83">
                  <c:v>2018</c:v>
                </c:pt>
                <c:pt idx="84">
                  <c:v>2019</c:v>
                </c:pt>
                <c:pt idx="85">
                  <c:v>2019</c:v>
                </c:pt>
                <c:pt idx="86">
                  <c:v>2019</c:v>
                </c:pt>
                <c:pt idx="87">
                  <c:v>2019</c:v>
                </c:pt>
                <c:pt idx="88">
                  <c:v>2019</c:v>
                </c:pt>
                <c:pt idx="89">
                  <c:v>2019</c:v>
                </c:pt>
                <c:pt idx="90">
                  <c:v>2019</c:v>
                </c:pt>
                <c:pt idx="91">
                  <c:v>2019</c:v>
                </c:pt>
                <c:pt idx="92">
                  <c:v>2019</c:v>
                </c:pt>
                <c:pt idx="93">
                  <c:v>2019</c:v>
                </c:pt>
                <c:pt idx="94">
                  <c:v>2019</c:v>
                </c:pt>
                <c:pt idx="95">
                  <c:v>2019</c:v>
                </c:pt>
                <c:pt idx="96">
                  <c:v>2020</c:v>
                </c:pt>
                <c:pt idx="97">
                  <c:v>2020</c:v>
                </c:pt>
                <c:pt idx="98">
                  <c:v>2020</c:v>
                </c:pt>
                <c:pt idx="99">
                  <c:v>2020</c:v>
                </c:pt>
                <c:pt idx="100">
                  <c:v>2020</c:v>
                </c:pt>
                <c:pt idx="101">
                  <c:v>2020</c:v>
                </c:pt>
                <c:pt idx="102">
                  <c:v>2020</c:v>
                </c:pt>
                <c:pt idx="103">
                  <c:v>2020</c:v>
                </c:pt>
                <c:pt idx="104">
                  <c:v>2020</c:v>
                </c:pt>
                <c:pt idx="105">
                  <c:v>2020</c:v>
                </c:pt>
                <c:pt idx="106">
                  <c:v>2020</c:v>
                </c:pt>
                <c:pt idx="107">
                  <c:v>2020</c:v>
                </c:pt>
                <c:pt idx="108">
                  <c:v>2021</c:v>
                </c:pt>
                <c:pt idx="109">
                  <c:v>2021</c:v>
                </c:pt>
                <c:pt idx="110">
                  <c:v>2021</c:v>
                </c:pt>
                <c:pt idx="111">
                  <c:v>2021</c:v>
                </c:pt>
                <c:pt idx="112">
                  <c:v>2021</c:v>
                </c:pt>
                <c:pt idx="113">
                  <c:v>2021</c:v>
                </c:pt>
                <c:pt idx="114">
                  <c:v>2021</c:v>
                </c:pt>
                <c:pt idx="115">
                  <c:v>2021</c:v>
                </c:pt>
                <c:pt idx="116">
                  <c:v>2021</c:v>
                </c:pt>
                <c:pt idx="117">
                  <c:v>2021</c:v>
                </c:pt>
                <c:pt idx="118">
                  <c:v>2021</c:v>
                </c:pt>
                <c:pt idx="119">
                  <c:v>2021</c:v>
                </c:pt>
                <c:pt idx="120">
                  <c:v>2022</c:v>
                </c:pt>
                <c:pt idx="121">
                  <c:v>2022</c:v>
                </c:pt>
                <c:pt idx="122">
                  <c:v>2022</c:v>
                </c:pt>
                <c:pt idx="123">
                  <c:v>2022</c:v>
                </c:pt>
                <c:pt idx="124">
                  <c:v>2022</c:v>
                </c:pt>
                <c:pt idx="125">
                  <c:v>2022</c:v>
                </c:pt>
                <c:pt idx="126">
                  <c:v>2022</c:v>
                </c:pt>
                <c:pt idx="127">
                  <c:v>2022</c:v>
                </c:pt>
                <c:pt idx="128">
                  <c:v>2022</c:v>
                </c:pt>
                <c:pt idx="129">
                  <c:v>2022</c:v>
                </c:pt>
                <c:pt idx="130">
                  <c:v>2022</c:v>
                </c:pt>
                <c:pt idx="131">
                  <c:v>2022</c:v>
                </c:pt>
                <c:pt idx="132">
                  <c:v>2023</c:v>
                </c:pt>
                <c:pt idx="133">
                  <c:v>2023</c:v>
                </c:pt>
                <c:pt idx="134">
                  <c:v>2023</c:v>
                </c:pt>
                <c:pt idx="135">
                  <c:v>2023</c:v>
                </c:pt>
                <c:pt idx="136">
                  <c:v>2023</c:v>
                </c:pt>
                <c:pt idx="137">
                  <c:v>2023</c:v>
                </c:pt>
                <c:pt idx="138">
                  <c:v>2023</c:v>
                </c:pt>
                <c:pt idx="139">
                  <c:v>2023</c:v>
                </c:pt>
                <c:pt idx="140">
                  <c:v>2023</c:v>
                </c:pt>
                <c:pt idx="141">
                  <c:v>2023</c:v>
                </c:pt>
                <c:pt idx="142">
                  <c:v>2023</c:v>
                </c:pt>
                <c:pt idx="143">
                  <c:v>2023</c:v>
                </c:pt>
                <c:pt idx="144">
                  <c:v>2024</c:v>
                </c:pt>
                <c:pt idx="145">
                  <c:v>2024</c:v>
                </c:pt>
                <c:pt idx="146">
                  <c:v>2024</c:v>
                </c:pt>
                <c:pt idx="147">
                  <c:v>2024</c:v>
                </c:pt>
                <c:pt idx="148">
                  <c:v>2024</c:v>
                </c:pt>
                <c:pt idx="149">
                  <c:v>2024</c:v>
                </c:pt>
                <c:pt idx="150">
                  <c:v>2024</c:v>
                </c:pt>
                <c:pt idx="151">
                  <c:v>2024</c:v>
                </c:pt>
                <c:pt idx="152">
                  <c:v>2024</c:v>
                </c:pt>
                <c:pt idx="153">
                  <c:v>2024</c:v>
                </c:pt>
                <c:pt idx="154">
                  <c:v>2024</c:v>
                </c:pt>
                <c:pt idx="155">
                  <c:v>2024</c:v>
                </c:pt>
                <c:pt idx="156">
                  <c:v>2025</c:v>
                </c:pt>
                <c:pt idx="157">
                  <c:v>2025</c:v>
                </c:pt>
                <c:pt idx="158">
                  <c:v>2025</c:v>
                </c:pt>
                <c:pt idx="159">
                  <c:v>2025</c:v>
                </c:pt>
                <c:pt idx="160">
                  <c:v>2025</c:v>
                </c:pt>
                <c:pt idx="161">
                  <c:v>2025</c:v>
                </c:pt>
                <c:pt idx="162">
                  <c:v>2025</c:v>
                </c:pt>
                <c:pt idx="163">
                  <c:v>2025</c:v>
                </c:pt>
                <c:pt idx="164">
                  <c:v>2025</c:v>
                </c:pt>
                <c:pt idx="165">
                  <c:v>2025</c:v>
                </c:pt>
                <c:pt idx="166">
                  <c:v>2025</c:v>
                </c:pt>
                <c:pt idx="167">
                  <c:v>2025</c:v>
                </c:pt>
                <c:pt idx="168">
                  <c:v>2026</c:v>
                </c:pt>
                <c:pt idx="169">
                  <c:v>2026</c:v>
                </c:pt>
                <c:pt idx="170">
                  <c:v>2026</c:v>
                </c:pt>
                <c:pt idx="171">
                  <c:v>2026</c:v>
                </c:pt>
                <c:pt idx="172">
                  <c:v>2026</c:v>
                </c:pt>
                <c:pt idx="173">
                  <c:v>2026</c:v>
                </c:pt>
                <c:pt idx="174">
                  <c:v>2026</c:v>
                </c:pt>
                <c:pt idx="175">
                  <c:v>2026</c:v>
                </c:pt>
              </c:strCache>
            </c:strRef>
          </c:cat>
          <c:val>
            <c:numRef>
              <c:f>Sheet1!$B$2:$B$177</c:f>
              <c:numCache>
                <c:formatCode>General</c:formatCode>
                <c:ptCount val="176"/>
                <c:pt idx="0">
                  <c:v>0.35874166176268873</c:v>
                </c:pt>
                <c:pt idx="1">
                  <c:v>0.3674843659925004</c:v>
                </c:pt>
                <c:pt idx="2">
                  <c:v>0.37657146056116425</c:v>
                </c:pt>
                <c:pt idx="3">
                  <c:v>0.41787942279134593</c:v>
                </c:pt>
                <c:pt idx="4">
                  <c:v>0.5483165291249139</c:v>
                </c:pt>
                <c:pt idx="5">
                  <c:v>0.6276892787721675</c:v>
                </c:pt>
                <c:pt idx="6">
                  <c:v>0.4421009783542486</c:v>
                </c:pt>
                <c:pt idx="7">
                  <c:v>0.36434610495990255</c:v>
                </c:pt>
                <c:pt idx="8">
                  <c:v>0.3975063623492053</c:v>
                </c:pt>
                <c:pt idx="9">
                  <c:v>0.4325694297636532</c:v>
                </c:pt>
                <c:pt idx="10">
                  <c:v>0.4178300868806343</c:v>
                </c:pt>
                <c:pt idx="11">
                  <c:v>0.40509778428564264</c:v>
                </c:pt>
                <c:pt idx="12">
                  <c:v>0.411584889518811</c:v>
                </c:pt>
                <c:pt idx="13">
                  <c:v>0.40906582319885787</c:v>
                </c:pt>
                <c:pt idx="14">
                  <c:v>0.3926847817918277</c:v>
                </c:pt>
                <c:pt idx="15">
                  <c:v>0.38687437614797693</c:v>
                </c:pt>
                <c:pt idx="16">
                  <c:v>0.37776047465373425</c:v>
                </c:pt>
                <c:pt idx="17">
                  <c:v>0.4223530196491573</c:v>
                </c:pt>
                <c:pt idx="18">
                  <c:v>0.5030003624352862</c:v>
                </c:pt>
                <c:pt idx="19">
                  <c:v>0.526475078050944</c:v>
                </c:pt>
                <c:pt idx="20">
                  <c:v>0.5247531064553734</c:v>
                </c:pt>
                <c:pt idx="21">
                  <c:v>0.5445037231131358</c:v>
                </c:pt>
                <c:pt idx="22">
                  <c:v>0.5522672262680834</c:v>
                </c:pt>
                <c:pt idx="23">
                  <c:v>0.5617413523182255</c:v>
                </c:pt>
                <c:pt idx="24">
                  <c:v>0.5730602025021831</c:v>
                </c:pt>
                <c:pt idx="25">
                  <c:v>0.5560953113397231</c:v>
                </c:pt>
                <c:pt idx="26">
                  <c:v>0.6008683393385571</c:v>
                </c:pt>
                <c:pt idx="27">
                  <c:v>0.4301535427537527</c:v>
                </c:pt>
                <c:pt idx="28">
                  <c:v>0.3779982501580177</c:v>
                </c:pt>
                <c:pt idx="29">
                  <c:v>0.38114373384243017</c:v>
                </c:pt>
                <c:pt idx="30">
                  <c:v>0.39538203066881844</c:v>
                </c:pt>
                <c:pt idx="31">
                  <c:v>0.371729592243202</c:v>
                </c:pt>
                <c:pt idx="32">
                  <c:v>0.4089113809484238</c:v>
                </c:pt>
                <c:pt idx="33">
                  <c:v>0.3933264787982839</c:v>
                </c:pt>
                <c:pt idx="34">
                  <c:v>0.4124045758261646</c:v>
                </c:pt>
                <c:pt idx="35">
                  <c:v>0.4145789466576502</c:v>
                </c:pt>
                <c:pt idx="36">
                  <c:v>0.5024209287184619</c:v>
                </c:pt>
                <c:pt idx="37">
                  <c:v>0.4721118354859159</c:v>
                </c:pt>
                <c:pt idx="38">
                  <c:v>0.41837619883352317</c:v>
                </c:pt>
                <c:pt idx="39">
                  <c:v>0.3871082049206677</c:v>
                </c:pt>
                <c:pt idx="40">
                  <c:v>0.39381630696797093</c:v>
                </c:pt>
                <c:pt idx="41">
                  <c:v>0.41334908788319086</c:v>
                </c:pt>
                <c:pt idx="42">
                  <c:v>0.37515396710614335</c:v>
                </c:pt>
                <c:pt idx="43">
                  <c:v>0.46852992032028845</c:v>
                </c:pt>
                <c:pt idx="44">
                  <c:v>0.49524195957084916</c:v>
                </c:pt>
                <c:pt idx="45">
                  <c:v>0.4180382308143639</c:v>
                </c:pt>
                <c:pt idx="46">
                  <c:v>0.4030490155561701</c:v>
                </c:pt>
                <c:pt idx="47">
                  <c:v>0.4170836132616546</c:v>
                </c:pt>
                <c:pt idx="48">
                  <c:v>0.4385511473861368</c:v>
                </c:pt>
                <c:pt idx="49">
                  <c:v>0.4414311514447653</c:v>
                </c:pt>
                <c:pt idx="50">
                  <c:v>0.4617035563657625</c:v>
                </c:pt>
                <c:pt idx="51">
                  <c:v>0.4310245930389872</c:v>
                </c:pt>
                <c:pt idx="52">
                  <c:v>0.3927438728449571</c:v>
                </c:pt>
                <c:pt idx="53">
                  <c:v>0.44386057843362803</c:v>
                </c:pt>
                <c:pt idx="54">
                  <c:v>0.5080684980551048</c:v>
                </c:pt>
                <c:pt idx="55">
                  <c:v>0.3967314271551169</c:v>
                </c:pt>
                <c:pt idx="56">
                  <c:v>0.38758213373862543</c:v>
                </c:pt>
                <c:pt idx="57">
                  <c:v>0.40787274391778455</c:v>
                </c:pt>
                <c:pt idx="58">
                  <c:v>0.4017372874352951</c:v>
                </c:pt>
                <c:pt idx="59">
                  <c:v>0.3872842363091195</c:v>
                </c:pt>
                <c:pt idx="60">
                  <c:v>0.368629749416864</c:v>
                </c:pt>
                <c:pt idx="61">
                  <c:v>0.383582515537192</c:v>
                </c:pt>
                <c:pt idx="62">
                  <c:v>0.39229510825672703</c:v>
                </c:pt>
                <c:pt idx="63">
                  <c:v>0.3822726382363792</c:v>
                </c:pt>
                <c:pt idx="64">
                  <c:v>0.38457740269534</c:v>
                </c:pt>
                <c:pt idx="65">
                  <c:v>0.4217509219430983</c:v>
                </c:pt>
                <c:pt idx="66">
                  <c:v>0.3688328242241672</c:v>
                </c:pt>
                <c:pt idx="67">
                  <c:v>0.3895479259693788</c:v>
                </c:pt>
                <c:pt idx="68">
                  <c:v>0.40877072109591844</c:v>
                </c:pt>
                <c:pt idx="69">
                  <c:v>0.37750061284167086</c:v>
                </c:pt>
                <c:pt idx="70">
                  <c:v>0.39580274323237696</c:v>
                </c:pt>
                <c:pt idx="71">
                  <c:v>0.3989789002862093</c:v>
                </c:pt>
                <c:pt idx="72">
                  <c:v>0.36386394077899437</c:v>
                </c:pt>
                <c:pt idx="73">
                  <c:v>0.404799804616886</c:v>
                </c:pt>
                <c:pt idx="74">
                  <c:v>0.5687807878952189</c:v>
                </c:pt>
                <c:pt idx="75">
                  <c:v>0.550606330431368</c:v>
                </c:pt>
                <c:pt idx="76">
                  <c:v>0.40567182584722317</c:v>
                </c:pt>
                <c:pt idx="77">
                  <c:v>0.4051281172110778</c:v>
                </c:pt>
                <c:pt idx="78">
                  <c:v>0.3988748404463454</c:v>
                </c:pt>
                <c:pt idx="79">
                  <c:v>0.37195634207001305</c:v>
                </c:pt>
                <c:pt idx="80">
                  <c:v>0.40402539459808245</c:v>
                </c:pt>
                <c:pt idx="81">
                  <c:v>0.4548419851183631</c:v>
                </c:pt>
                <c:pt idx="82">
                  <c:v>0.49458483536615366</c:v>
                </c:pt>
                <c:pt idx="83">
                  <c:v>0.6009023285193067</c:v>
                </c:pt>
                <c:pt idx="84">
                  <c:v>0.5899160838915278</c:v>
                </c:pt>
                <c:pt idx="85">
                  <c:v>0.5154443179471812</c:v>
                </c:pt>
                <c:pt idx="86">
                  <c:v>0.38258227171078923</c:v>
                </c:pt>
                <c:pt idx="87">
                  <c:v>0.3773602866377231</c:v>
                </c:pt>
                <c:pt idx="88">
                  <c:v>0.4321481917155636</c:v>
                </c:pt>
                <c:pt idx="89">
                  <c:v>0.45192377964589586</c:v>
                </c:pt>
                <c:pt idx="90">
                  <c:v>0.39695744639244956</c:v>
                </c:pt>
                <c:pt idx="91">
                  <c:v>0.4262304496283961</c:v>
                </c:pt>
                <c:pt idx="92">
                  <c:v>0.5502326532884142</c:v>
                </c:pt>
                <c:pt idx="93">
                  <c:v>0.3728842444794029</c:v>
                </c:pt>
                <c:pt idx="94">
                  <c:v>0.3831213301213111</c:v>
                </c:pt>
                <c:pt idx="95">
                  <c:v>0.37313495744622754</c:v>
                </c:pt>
                <c:pt idx="96">
                  <c:v>0.3878271867657084</c:v>
                </c:pt>
                <c:pt idx="97">
                  <c:v>0.4174680569405908</c:v>
                </c:pt>
                <c:pt idx="98">
                  <c:v>0.38896538217110455</c:v>
                </c:pt>
                <c:pt idx="99">
                  <c:v>0.3472403591652789</c:v>
                </c:pt>
                <c:pt idx="100">
                  <c:v>0.6357648230299912</c:v>
                </c:pt>
                <c:pt idx="101">
                  <c:v>0.36676813061583824</c:v>
                </c:pt>
                <c:pt idx="102">
                  <c:v>0.5112148806280696</c:v>
                </c:pt>
                <c:pt idx="103">
                  <c:v>0.41013645225775863</c:v>
                </c:pt>
                <c:pt idx="104">
                  <c:v>0.44595035977095737</c:v>
                </c:pt>
                <c:pt idx="105">
                  <c:v>0.44797907412144633</c:v>
                </c:pt>
                <c:pt idx="106">
                  <c:v>0.450202344328274</c:v>
                </c:pt>
                <c:pt idx="107">
                  <c:v>0.46218898622911925</c:v>
                </c:pt>
                <c:pt idx="108">
                  <c:v>0.39176869003708803</c:v>
                </c:pt>
                <c:pt idx="109">
                  <c:v>0.47837340970812114</c:v>
                </c:pt>
                <c:pt idx="110">
                  <c:v>0.5355394589857689</c:v>
                </c:pt>
                <c:pt idx="111">
                  <c:v>0.5254070280121372</c:v>
                </c:pt>
                <c:pt idx="112">
                  <c:v>0.4168052722647532</c:v>
                </c:pt>
                <c:pt idx="113">
                  <c:v>0.3536182757255392</c:v>
                </c:pt>
                <c:pt idx="114">
                  <c:v>0.3813658187374894</c:v>
                </c:pt>
                <c:pt idx="115">
                  <c:v>0.3769862767551999</c:v>
                </c:pt>
                <c:pt idx="116">
                  <c:v>0.43641603148181274</c:v>
                </c:pt>
                <c:pt idx="117">
                  <c:v>0.4524109785478351</c:v>
                </c:pt>
                <c:pt idx="118">
                  <c:v>0.3844712522670997</c:v>
                </c:pt>
                <c:pt idx="119">
                  <c:v>0.41086204371946017</c:v>
                </c:pt>
                <c:pt idx="120">
                  <c:v>0.5627517080236649</c:v>
                </c:pt>
                <c:pt idx="121">
                  <c:v>0.5583888393532328</c:v>
                </c:pt>
                <c:pt idx="122">
                  <c:v>0.5611397212392559</c:v>
                </c:pt>
                <c:pt idx="123">
                  <c:v>0.6759255738858059</c:v>
                </c:pt>
                <c:pt idx="124">
                  <c:v>0.684608408397914</c:v>
                </c:pt>
                <c:pt idx="125">
                  <c:v>0.6668004861254435</c:v>
                </c:pt>
                <c:pt idx="126">
                  <c:v>0.6756432777814045</c:v>
                </c:pt>
                <c:pt idx="127">
                  <c:v>0.7063929918613301</c:v>
                </c:pt>
                <c:pt idx="128">
                  <c:v>0.6245595404470474</c:v>
                </c:pt>
                <c:pt idx="129">
                  <c:v>0.6495924730588319</c:v>
                </c:pt>
                <c:pt idx="130">
                  <c:v>0.6649013457434935</c:v>
                </c:pt>
                <c:pt idx="131">
                  <c:v>0.7295059087569145</c:v>
                </c:pt>
                <c:pt idx="132">
                  <c:v>0.7011381511140097</c:v>
                </c:pt>
                <c:pt idx="133">
                  <c:v>0.4555543288550354</c:v>
                </c:pt>
                <c:pt idx="134">
                  <c:v>0.4486505539609536</c:v>
                </c:pt>
                <c:pt idx="135">
                  <c:v>0.39520034319144737</c:v>
                </c:pt>
                <c:pt idx="136">
                  <c:v>0.34115013773300296</c:v>
                </c:pt>
                <c:pt idx="137">
                  <c:v>0.3796366834694435</c:v>
                </c:pt>
                <c:pt idx="138">
                  <c:v>0.3861173085240557</c:v>
                </c:pt>
                <c:pt idx="139">
                  <c:v>0.4174512216787685</c:v>
                </c:pt>
                <c:pt idx="140">
                  <c:v>0.5073499611309154</c:v>
                </c:pt>
                <c:pt idx="141">
                  <c:v>0.4992234981921538</c:v>
                </c:pt>
                <c:pt idx="142">
                  <c:v>0.357468805855294</c:v>
                </c:pt>
                <c:pt idx="143">
                  <c:v>0.37840812522503253</c:v>
                </c:pt>
                <c:pt idx="144">
                  <c:v>0.37731122739404493</c:v>
                </c:pt>
                <c:pt idx="145">
                  <c:v>0.3775300756914454</c:v>
                </c:pt>
                <c:pt idx="146">
                  <c:v>0.41456636849932027</c:v>
                </c:pt>
                <c:pt idx="147">
                  <c:v>0.43952215519157467</c:v>
                </c:pt>
                <c:pt idx="148">
                  <c:v>0.3599104747762505</c:v>
                </c:pt>
                <c:pt idx="149">
                  <c:v>0.36349732108560745</c:v>
                </c:pt>
                <c:pt idx="150">
                  <c:v>0.42843803358741855</c:v>
                </c:pt>
                <c:pt idx="151">
                  <c:v>0.5059081718762171</c:v>
                </c:pt>
                <c:pt idx="152">
                  <c:v>0.45734249351860656</c:v>
                </c:pt>
                <c:pt idx="153">
                  <c:v>0.40803702573469236</c:v>
                </c:pt>
                <c:pt idx="154">
                  <c:v>0.3834864909012331</c:v>
                </c:pt>
                <c:pt idx="155">
                  <c:v>0.3942314695021578</c:v>
                </c:pt>
                <c:pt idx="156">
                  <c:v>0.3934508435281543</c:v>
                </c:pt>
                <c:pt idx="157">
                  <c:v>0.501026023122655</c:v>
                </c:pt>
                <c:pt idx="158">
                  <c:v>0.4978460160545238</c:v>
                </c:pt>
                <c:pt idx="159">
                  <c:v>0.47821142749813533</c:v>
                </c:pt>
                <c:pt idx="160">
                  <c:v>0.4791399912310249</c:v>
                </c:pt>
                <c:pt idx="161">
                  <c:v>0.36906136670127676</c:v>
                </c:pt>
                <c:pt idx="162">
                  <c:v>0.37454022950227855</c:v>
                </c:pt>
                <c:pt idx="163">
                  <c:v>0.3956522676639769</c:v>
                </c:pt>
                <c:pt idx="164">
                  <c:v>0.3570375674515445</c:v>
                </c:pt>
                <c:pt idx="165">
                  <c:v>0.367794520681739</c:v>
                </c:pt>
                <c:pt idx="166">
                  <c:v>0.4422840866646471</c:v>
                </c:pt>
                <c:pt idx="167">
                  <c:v>0.528326038868143</c:v>
                </c:pt>
                <c:pt idx="168">
                  <c:v>0.5296060615387301</c:v>
                </c:pt>
                <c:pt idx="169">
                  <c:v>0.5475969962827409</c:v>
                </c:pt>
                <c:pt idx="170">
                  <c:v>0.42747329162909</c:v>
                </c:pt>
                <c:pt idx="171">
                  <c:v>0.4529658094687427</c:v>
                </c:pt>
                <c:pt idx="172">
                  <c:v>0.34438293091953603</c:v>
                </c:pt>
                <c:pt idx="173">
                  <c:v>0.41990319044284724</c:v>
                </c:pt>
                <c:pt idx="174">
                  <c:v>0.6123867727863781</c:v>
                </c:pt>
                <c:pt idx="175">
                  <c:v>0.4791279244278167</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40495176"/>
        <c:crosses val="autoZero"/>
        <c:auto val="1"/>
        <c:lblAlgn val="ctr"/>
        <c:lblOffset val="100"/>
        <c:noMultiLvlLbl val="0"/>
        <c:tickLblSkip val="12"/>
        <c:tickMarkSkip val="12"/>
      </c:catAx>
      <c:valAx>
        <c:axId val="2140495176"/>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118791784"/>
        <c:crosses val="autoZero"/>
      </c:valAx>
    </c:plotArea>
    <c:plotVisOnly val="1"/>
    <c:dispBlanksAs val="gap"/>
    <c:showDLblsOverMax val="0"/>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연 수익</c:v>
                </c:pt>
              </c:strCache>
            </c:strRef>
          </c:tx>
          <c:spPr>
            <a:solidFill>
              <a:srgbClr val="0B3D91"/>
            </a:solidFill>
          </c:spPr>
          <c:invertIfNegative val="0"/>
          <c:dLbls>
            <c:numFmt formatCode="0%;&quot;−&quot;0%" sourceLinked="0"/>
            <c:txPr>
              <a:bodyPr/>
              <a:lstStyle/>
              <a:p>
                <a:pPr>
                  <a:defRPr sz="750" b="0">
                    <a:solidFill>
                      <a:srgbClr val="1A1E25"/>
                    </a:solidFill>
                  </a:defRPr>
                </a:pPr>
              </a:p>
            </c:txPr>
            <c:dLblPos val="outEnd"/>
            <c:showLegendKey val="0"/>
            <c:showVal val="1"/>
            <c:showCatName val="0"/>
            <c:showSerName val="0"/>
            <c:showPercent val="0"/>
            <c:showBubbleSize val="0"/>
            <c:showLeaderLines val="1"/>
          </c:dLbls>
          <c:cat>
            <c:strRef>
              <c:f>Sheet1!$A$2:$A$5</c:f>
              <c:strCache>
                <c:ptCount val="4"/>
                <c:pt idx="0">
                  <c:v>1배만</c:v>
                </c:pt>
                <c:pt idx="1">
                  <c:v>2배 60 · 40</c:v>
                </c:pt>
                <c:pt idx="2">
                  <c:v>3배 60 · 40</c:v>
                </c:pt>
                <c:pt idx="3">
                  <c:v>3배 + 변동성 맞춤</c:v>
                </c:pt>
              </c:strCache>
            </c:strRef>
          </c:cat>
          <c:val>
            <c:numRef>
              <c:f>Sheet1!$B$2:$B$5</c:f>
              <c:numCache>
                <c:formatCode>General</c:formatCode>
                <c:ptCount val="4"/>
                <c:pt idx="0">
                  <c:v>0.152</c:v>
                </c:pt>
                <c:pt idx="1">
                  <c:v>0.186</c:v>
                </c:pt>
                <c:pt idx="2">
                  <c:v>0.207</c:v>
                </c:pt>
                <c:pt idx="3">
                  <c:v>0.245</c:v>
                </c:pt>
              </c:numCache>
            </c:numRef>
          </c:val>
        </c:ser>
        <c:ser>
          <c:idx val="1"/>
          <c:order val="1"/>
          <c:tx>
            <c:strRef>
              <c:f>Sheet1!$C$1</c:f>
              <c:strCache>
                <c:ptCount val="1"/>
                <c:pt idx="0">
                  <c:v>최대 낙폭</c:v>
                </c:pt>
              </c:strCache>
            </c:strRef>
          </c:tx>
          <c:spPr>
            <a:solidFill>
              <a:srgbClr val="9AA5B5"/>
            </a:solidFill>
          </c:spPr>
          <c:invertIfNegative val="0"/>
          <c:dLbls>
            <c:numFmt formatCode="0%;&quot;−&quot;0%" sourceLinked="0"/>
            <c:txPr>
              <a:bodyPr/>
              <a:lstStyle/>
              <a:p>
                <a:pPr>
                  <a:defRPr sz="750" b="0">
                    <a:solidFill>
                      <a:srgbClr val="1A1E25"/>
                    </a:solidFill>
                  </a:defRPr>
                </a:pPr>
              </a:p>
            </c:txPr>
            <c:dLblPos val="outEnd"/>
            <c:showLegendKey val="0"/>
            <c:showVal val="1"/>
            <c:showCatName val="0"/>
            <c:showSerName val="0"/>
            <c:showPercent val="0"/>
            <c:showBubbleSize val="0"/>
            <c:showLeaderLines val="1"/>
          </c:dLbls>
          <c:cat>
            <c:strRef>
              <c:f>Sheet1!$A$2:$A$5</c:f>
              <c:strCache>
                <c:ptCount val="4"/>
                <c:pt idx="0">
                  <c:v>1배만</c:v>
                </c:pt>
                <c:pt idx="1">
                  <c:v>2배 60 · 40</c:v>
                </c:pt>
                <c:pt idx="2">
                  <c:v>3배 60 · 40</c:v>
                </c:pt>
                <c:pt idx="3">
                  <c:v>3배 + 변동성 맞춤</c:v>
                </c:pt>
              </c:strCache>
            </c:strRef>
          </c:cat>
          <c:val>
            <c:numRef>
              <c:f>Sheet1!$C$2:$C$5</c:f>
              <c:numCache>
                <c:formatCode>General</c:formatCode>
                <c:ptCount val="4"/>
                <c:pt idx="0">
                  <c:v>-0.81</c:v>
                </c:pt>
                <c:pt idx="1">
                  <c:v>-0.88</c:v>
                </c:pt>
                <c:pt idx="2">
                  <c:v>-0.98</c:v>
                </c:pt>
                <c:pt idx="3">
                  <c:v>-0.79</c:v>
                </c:pt>
              </c:numCache>
            </c:numRef>
          </c:val>
        </c:ser>
        <c:gapWidth val="50"/>
        <c:axId val="-2068027336"/>
        <c:axId val="-2113994440"/>
      </c:barChart>
      <c:catAx>
        <c:axId val="-2068027336"/>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13994440"/>
        <c:crosses val="autoZero"/>
        <c:auto val="1"/>
        <c:lblAlgn val="ctr"/>
        <c:lblOffset val="100"/>
        <c:noMultiLvlLbl val="0"/>
      </c:catAx>
      <c:valAx>
        <c:axId val="-2113994440"/>
        <c:scaling>
          <c:max val="0.4"/>
          <c:min val="-1.2"/>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068027336"/>
        <c:crosses val="autoZero"/>
        <c:majorUnit val="0.2"/>
      </c:valAx>
    </c:plotArea>
    <c:legend>
      <c:legendPos val="t"/>
      <c:overlay val="0"/>
      <c:txPr>
        <a:bodyPr/>
        <a:lstStyle/>
        <a:p>
          <a:pPr>
            <a:defRPr sz="800"/>
          </a:pPr>
        </a:p>
      </c:txPr>
    </c:legend>
    <c:dispBlanksAs val="gap"/>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최종 평가액</c:v>
                </c:pt>
              </c:strCache>
            </c:strRef>
          </c:tx>
          <c:invertIfNegative val="0"/>
          <c:dPt>
            <c:idx val="0"/>
            <c:invertIfNegative val="0"/>
            <c:spPr>
              <a:solidFill>
                <a:srgbClr val="E07A1F"/>
              </a:solidFill>
            </c:spPr>
          </c:dPt>
          <c:dPt>
            <c:idx val="1"/>
            <c:invertIfNegative val="0"/>
            <c:spPr>
              <a:solidFill>
                <a:srgbClr val="3D9BE0"/>
              </a:solidFill>
            </c:spPr>
          </c:dPt>
          <c:dPt>
            <c:idx val="2"/>
            <c:invertIfNegative val="0"/>
            <c:spPr>
              <a:solidFill>
                <a:srgbClr val="7A4CB0"/>
              </a:solidFill>
            </c:spPr>
          </c:dPt>
          <c:dPt>
            <c:idx val="3"/>
            <c:invertIfNegative val="0"/>
            <c:spPr>
              <a:solidFill>
                <a:srgbClr val="B0862A"/>
              </a:solidFill>
            </c:spPr>
          </c:dPt>
          <c:dPt>
            <c:idx val="4"/>
            <c:invertIfNegative val="0"/>
            <c:spPr>
              <a:solidFill>
                <a:srgbClr val="F2B27A"/>
              </a:solidFill>
            </c:spPr>
          </c:dPt>
          <c:dPt>
            <c:idx val="5"/>
            <c:invertIfNegative val="0"/>
            <c:spPr>
              <a:solidFill>
                <a:srgbClr val="9FCBEF"/>
              </a:solidFill>
            </c:spPr>
          </c:dPt>
          <c:dPt>
            <c:idx val="6"/>
            <c:invertIfNegative val="0"/>
            <c:spPr>
              <a:solidFill>
                <a:srgbClr val="BBA3DB"/>
              </a:solidFill>
            </c:spPr>
          </c:dPt>
          <c:dPt>
            <c:idx val="7"/>
            <c:invertIfNegative val="0"/>
            <c:spPr>
              <a:solidFill>
                <a:srgbClr val="C8506A"/>
              </a:solidFill>
            </c:spPr>
          </c:dPt>
          <c:dPt>
            <c:idx val="8"/>
            <c:invertIfNegative val="0"/>
            <c:spPr>
              <a:solidFill>
                <a:srgbClr val="0B3D91"/>
              </a:solidFill>
            </c:spPr>
          </c:dPt>
          <c:dLbls>
            <c:numFmt formatCode="#,##0" sourceLinked="0"/>
            <c:txPr>
              <a:bodyPr/>
              <a:lstStyle/>
              <a:p>
                <a:pPr>
                  <a:defRPr sz="800" b="0">
                    <a:solidFill>
                      <a:srgbClr val="1A1E25"/>
                    </a:solidFill>
                  </a:defRPr>
                </a:pPr>
              </a:p>
            </c:txPr>
            <c:dLblPos val="outEnd"/>
            <c:showLegendKey val="0"/>
            <c:showVal val="1"/>
            <c:showCatName val="0"/>
            <c:showSerName val="0"/>
            <c:showPercent val="0"/>
            <c:showBubbleSize val="0"/>
            <c:showLeaderLines val="1"/>
          </c:dLbls>
          <c:cat>
            <c:strRef>
              <c:f>Sheet1!$A$2:$A$10</c:f>
              <c:strCache>
                <c:ptCount val="9"/>
                <c:pt idx="0">
                  <c:v>QQQ
단독</c:v>
                </c:pt>
                <c:pt idx="1">
                  <c:v>QLD
단독</c:v>
                </c:pt>
                <c:pt idx="2">
                  <c:v>TQQQ
단독</c:v>
                </c:pt>
                <c:pt idx="3">
                  <c:v>S&amp;P500
단독</c:v>
                </c:pt>
                <c:pt idx="4">
                  <c:v>QQQ 60
SCHD 40</c:v>
                </c:pt>
                <c:pt idx="5">
                  <c:v>QLD 60
SCHD 40</c:v>
                </c:pt>
                <c:pt idx="6">
                  <c:v>TQQQ 60
SCHD 40</c:v>
                </c:pt>
                <c:pt idx="7">
                  <c:v>변동성
조절만</c:v>
                </c:pt>
                <c:pt idx="8">
                  <c:v>Deneb</c:v>
                </c:pt>
              </c:strCache>
            </c:strRef>
          </c:cat>
          <c:val>
            <c:numRef>
              <c:f>Sheet1!$B$2:$B$10</c:f>
              <c:numCache>
                <c:formatCode>General</c:formatCode>
                <c:ptCount val="9"/>
                <c:pt idx="0">
                  <c:v>8804.535846044668</c:v>
                </c:pt>
                <c:pt idx="1">
                  <c:v>25432.08632672166</c:v>
                </c:pt>
                <c:pt idx="2">
                  <c:v>51271.57911672567</c:v>
                </c:pt>
                <c:pt idx="3">
                  <c:v>5810.026071590881</c:v>
                </c:pt>
                <c:pt idx="4">
                  <c:v>7162.651785876534</c:v>
                </c:pt>
                <c:pt idx="5">
                  <c:v>14448.946641451817</c:v>
                </c:pt>
                <c:pt idx="6">
                  <c:v>26587.024609835178</c:v>
                </c:pt>
                <c:pt idx="7">
                  <c:v>26441.80489517723</c:v>
                </c:pt>
                <c:pt idx="8">
                  <c:v>36111.22577284591</c:v>
                </c:pt>
              </c:numCache>
            </c:numRef>
          </c:val>
        </c:ser>
        <c:gapWidth val="45"/>
        <c:axId val="-2068027336"/>
        <c:axId val="-2113994440"/>
      </c:barChart>
      <c:catAx>
        <c:axId val="-2068027336"/>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13994440"/>
        <c:crosses val="autoZero"/>
        <c:auto val="1"/>
        <c:lblAlgn val="ctr"/>
        <c:lblOffset val="100"/>
        <c:noMultiLvlLbl val="0"/>
      </c:catAx>
      <c:valAx>
        <c:axId val="-2113994440"/>
        <c:scaling>
          <c:max val="60000.0"/>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068027336"/>
        <c:crosses val="autoZero"/>
        <c:majorUnit val="20000.0"/>
      </c:valAx>
    </c:plotArea>
    <c:dispBlanksAs val="gap"/>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최대 낙폭</c:v>
                </c:pt>
              </c:strCache>
            </c:strRef>
          </c:tx>
          <c:invertIfNegative val="0"/>
          <c:dPt>
            <c:idx val="0"/>
            <c:invertIfNegative val="0"/>
            <c:spPr>
              <a:solidFill>
                <a:srgbClr val="E07A1F"/>
              </a:solidFill>
            </c:spPr>
          </c:dPt>
          <c:dPt>
            <c:idx val="1"/>
            <c:invertIfNegative val="0"/>
            <c:spPr>
              <a:solidFill>
                <a:srgbClr val="3D9BE0"/>
              </a:solidFill>
            </c:spPr>
          </c:dPt>
          <c:dPt>
            <c:idx val="2"/>
            <c:invertIfNegative val="0"/>
            <c:spPr>
              <a:solidFill>
                <a:srgbClr val="7A4CB0"/>
              </a:solidFill>
            </c:spPr>
          </c:dPt>
          <c:dPt>
            <c:idx val="3"/>
            <c:invertIfNegative val="0"/>
            <c:spPr>
              <a:solidFill>
                <a:srgbClr val="B0862A"/>
              </a:solidFill>
            </c:spPr>
          </c:dPt>
          <c:dPt>
            <c:idx val="4"/>
            <c:invertIfNegative val="0"/>
            <c:spPr>
              <a:solidFill>
                <a:srgbClr val="F2B27A"/>
              </a:solidFill>
            </c:spPr>
          </c:dPt>
          <c:dPt>
            <c:idx val="5"/>
            <c:invertIfNegative val="0"/>
            <c:spPr>
              <a:solidFill>
                <a:srgbClr val="9FCBEF"/>
              </a:solidFill>
            </c:spPr>
          </c:dPt>
          <c:dPt>
            <c:idx val="6"/>
            <c:invertIfNegative val="0"/>
            <c:spPr>
              <a:solidFill>
                <a:srgbClr val="BBA3DB"/>
              </a:solidFill>
            </c:spPr>
          </c:dPt>
          <c:dPt>
            <c:idx val="7"/>
            <c:invertIfNegative val="0"/>
            <c:spPr>
              <a:solidFill>
                <a:srgbClr val="C8506A"/>
              </a:solidFill>
            </c:spPr>
          </c:dPt>
          <c:dPt>
            <c:idx val="8"/>
            <c:invertIfNegative val="0"/>
            <c:spPr>
              <a:solidFill>
                <a:srgbClr val="0B3D91"/>
              </a:solidFill>
            </c:spPr>
          </c:dPt>
          <c:dLbls>
            <c:numFmt formatCode="0%;&quot;−&quot;0%" sourceLinked="0"/>
            <c:txPr>
              <a:bodyPr/>
              <a:lstStyle/>
              <a:p>
                <a:pPr>
                  <a:defRPr sz="800" b="0">
                    <a:solidFill>
                      <a:srgbClr val="1A1E25"/>
                    </a:solidFill>
                  </a:defRPr>
                </a:pPr>
              </a:p>
            </c:txPr>
            <c:dLblPos val="outEnd"/>
            <c:showLegendKey val="0"/>
            <c:showVal val="1"/>
            <c:showCatName val="0"/>
            <c:showSerName val="0"/>
            <c:showPercent val="0"/>
            <c:showBubbleSize val="0"/>
            <c:showLeaderLines val="1"/>
          </c:dLbls>
          <c:cat>
            <c:strRef>
              <c:f>Sheet1!$A$2:$A$10</c:f>
              <c:strCache>
                <c:ptCount val="9"/>
                <c:pt idx="0">
                  <c:v>QQQ
단독</c:v>
                </c:pt>
                <c:pt idx="1">
                  <c:v>QLD
단독</c:v>
                </c:pt>
                <c:pt idx="2">
                  <c:v>TQQQ
단독</c:v>
                </c:pt>
                <c:pt idx="3">
                  <c:v>S&amp;P500
단독</c:v>
                </c:pt>
                <c:pt idx="4">
                  <c:v>QQQ 60
SCHD 40</c:v>
                </c:pt>
                <c:pt idx="5">
                  <c:v>QLD 60
SCHD 40</c:v>
                </c:pt>
                <c:pt idx="6">
                  <c:v>TQQQ 60
SCHD 40</c:v>
                </c:pt>
                <c:pt idx="7">
                  <c:v>변동성
조절만</c:v>
                </c:pt>
                <c:pt idx="8">
                  <c:v>Deneb</c:v>
                </c:pt>
              </c:strCache>
            </c:strRef>
          </c:cat>
          <c:val>
            <c:numRef>
              <c:f>Sheet1!$B$2:$B$10</c:f>
              <c:numCache>
                <c:formatCode>General</c:formatCode>
                <c:ptCount val="9"/>
                <c:pt idx="0">
                  <c:v>-0.351218255181172</c:v>
                </c:pt>
                <c:pt idx="1">
                  <c:v>-0.6368547421919409</c:v>
                </c:pt>
                <c:pt idx="2">
                  <c:v>-0.8166016618224907</c:v>
                </c:pt>
                <c:pt idx="3">
                  <c:v>-0.3371787085235165</c:v>
                </c:pt>
                <c:pt idx="4">
                  <c:v>-0.2985588065238479</c:v>
                </c:pt>
                <c:pt idx="5">
                  <c:v>-0.46197849757551646</c:v>
                </c:pt>
                <c:pt idx="6">
                  <c:v>-0.6142367585347968</c:v>
                </c:pt>
                <c:pt idx="7">
                  <c:v>-0.520980044995438</c:v>
                </c:pt>
                <c:pt idx="8">
                  <c:v>-0.3171535684070895</c:v>
                </c:pt>
              </c:numCache>
            </c:numRef>
          </c:val>
        </c:ser>
        <c:gapWidth val="45"/>
        <c:axId val="-2068027336"/>
        <c:axId val="-2113994440"/>
      </c:barChart>
      <c:catAx>
        <c:axId val="-2068027336"/>
        <c:scaling>
          <c:orientation val="minMax"/>
        </c:scaling>
        <c:delete val="0"/>
        <c:axPos val="b"/>
        <c:majorTickMark val="out"/>
        <c:minorTickMark val="none"/>
        <c:tickLblPos val="high"/>
        <c:spPr>
          <a:ln w="9525">
            <a:solidFill>
              <a:srgbClr val="1A1E25"/>
            </a:solidFill>
          </a:ln>
        </c:spPr>
        <c:txPr>
          <a:bodyPr/>
          <a:lstStyle/>
          <a:p>
            <a:pPr>
              <a:defRPr sz="800">
                <a:solidFill>
                  <a:srgbClr val="1A1E25"/>
                </a:solidFill>
              </a:defRPr>
            </a:pPr>
          </a:p>
        </c:txPr>
        <c:crossAx val="-2113994440"/>
        <c:crosses val="autoZero"/>
        <c:auto val="1"/>
        <c:lblAlgn val="ctr"/>
        <c:lblOffset val="100"/>
        <c:noMultiLvlLbl val="0"/>
      </c:catAx>
      <c:valAx>
        <c:axId val="-2113994440"/>
        <c:scaling>
          <c:max val="0.0"/>
          <c:min val="-1.0"/>
        </c:scaling>
        <c:delete val="0"/>
        <c:axPos val="l"/>
        <c:majorGridlines>
          <c:spPr>
            <a:ln w="6350">
              <a:solidFill>
                <a:srgbClr val="E3E7ED"/>
              </a:solidFill>
            </a:ln>
          </c:spPr>
        </c:majorGridlines>
        <c:numFmt formatCode="0%;&quot;−&quot;0%" sourceLinked="0"/>
        <c:majorTickMark val="out"/>
        <c:minorTickMark val="none"/>
        <c:tickLblPos val="nextTo"/>
        <c:spPr>
          <a:ln>
            <a:noFill/>
          </a:ln>
        </c:spPr>
        <c:txPr>
          <a:bodyPr/>
          <a:lstStyle/>
          <a:p>
            <a:pPr>
              <a:defRPr sz="800">
                <a:solidFill>
                  <a:srgbClr val="5C6573"/>
                </a:solidFill>
              </a:defRPr>
            </a:pPr>
          </a:p>
        </c:txPr>
        <c:crossAx val="-2068027336"/>
        <c:crosses val="autoZero"/>
        <c:majorUnit val="0.25"/>
      </c:valAx>
    </c:plotArea>
    <c:dispBlanksAs val="gap"/>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Polaris − QQQ 단독 적립</c:v>
                </c:pt>
              </c:strCache>
            </c:strRef>
          </c:tx>
          <c:spPr>
            <a:solidFill>
              <a:srgbClr val="1E9A84"/>
            </a:solidFill>
          </c:spPr>
          <c:invertIfNegative val="0"/>
          <c:dLbls>
            <c:numFmt formatCode="&quot;+&quot;#,##0&quot;만&quot;;&quot;−&quot;#,##0&quot;만&quot;" sourceLinked="0"/>
            <c:txPr>
              <a:bodyPr/>
              <a:lstStyle/>
              <a:p>
                <a:pPr>
                  <a:defRPr sz="800" b="0">
                    <a:solidFill>
                      <a:srgbClr val="1A1E25"/>
                    </a:solidFill>
                  </a:defRPr>
                </a:pPr>
              </a:p>
            </c:txPr>
            <c:dLblPos val="outEnd"/>
            <c:showLegendKey val="0"/>
            <c:showVal val="1"/>
            <c:showCatName val="0"/>
            <c:showSerName val="0"/>
            <c:showPercent val="0"/>
            <c:showBubbleSize val="0"/>
            <c:showLeaderLines val="1"/>
          </c:dLbls>
          <c:cat>
            <c:strRef>
              <c:f>Sheet1!$A$2:$A$6</c:f>
              <c:strCache>
                <c:ptCount val="5"/>
                <c:pt idx="0">
                  <c:v>월 100만 원</c:v>
                </c:pt>
                <c:pt idx="1">
                  <c:v>월 50만 원</c:v>
                </c:pt>
                <c:pt idx="2">
                  <c:v>월 30만 원</c:v>
                </c:pt>
                <c:pt idx="3">
                  <c:v>월 20만 원</c:v>
                </c:pt>
                <c:pt idx="4">
                  <c:v>월 10만 원</c:v>
                </c:pt>
              </c:strCache>
            </c:strRef>
          </c:cat>
          <c:val>
            <c:numRef>
              <c:f>Sheet1!$B$2:$B$6</c:f>
              <c:numCache>
                <c:formatCode>General</c:formatCode>
                <c:ptCount val="5"/>
                <c:pt idx="0">
                  <c:v>-37277.96027427945</c:v>
                </c:pt>
                <c:pt idx="1">
                  <c:v>-18638.980137139726</c:v>
                </c:pt>
                <c:pt idx="2">
                  <c:v>-11183.388082283855</c:v>
                </c:pt>
                <c:pt idx="3">
                  <c:v>-7455.592054855901</c:v>
                </c:pt>
                <c:pt idx="4">
                  <c:v>-3727.7960274279503</c:v>
                </c:pt>
              </c:numCache>
            </c:numRef>
          </c:val>
        </c:ser>
        <c:ser>
          <c:idx val="1"/>
          <c:order val="1"/>
          <c:tx>
            <c:strRef>
              <c:f>Sheet1!$C$1</c:f>
              <c:strCache>
                <c:ptCount val="1"/>
                <c:pt idx="0">
                  <c:v>Deneb − QQQ 단독 적립</c:v>
                </c:pt>
              </c:strCache>
            </c:strRef>
          </c:tx>
          <c:spPr>
            <a:solidFill>
              <a:srgbClr val="0B3D91"/>
            </a:solidFill>
          </c:spPr>
          <c:invertIfNegative val="0"/>
          <c:dLbls>
            <c:numFmt formatCode="&quot;+&quot;#,##0&quot;만&quot;;&quot;−&quot;#,##0&quot;만&quot;" sourceLinked="0"/>
            <c:txPr>
              <a:bodyPr/>
              <a:lstStyle/>
              <a:p>
                <a:pPr>
                  <a:defRPr sz="800" b="0">
                    <a:solidFill>
                      <a:srgbClr val="1A1E25"/>
                    </a:solidFill>
                  </a:defRPr>
                </a:pPr>
              </a:p>
            </c:txPr>
            <c:dLblPos val="outEnd"/>
            <c:showLegendKey val="0"/>
            <c:showVal val="1"/>
            <c:showCatName val="0"/>
            <c:showSerName val="0"/>
            <c:showPercent val="0"/>
            <c:showBubbleSize val="0"/>
            <c:showLeaderLines val="1"/>
          </c:dLbls>
          <c:cat>
            <c:strRef>
              <c:f>Sheet1!$A$2:$A$6</c:f>
              <c:strCache>
                <c:ptCount val="5"/>
                <c:pt idx="0">
                  <c:v>월 100만 원</c:v>
                </c:pt>
                <c:pt idx="1">
                  <c:v>월 50만 원</c:v>
                </c:pt>
                <c:pt idx="2">
                  <c:v>월 30만 원</c:v>
                </c:pt>
                <c:pt idx="3">
                  <c:v>월 20만 원</c:v>
                </c:pt>
                <c:pt idx="4">
                  <c:v>월 10만 원</c:v>
                </c:pt>
              </c:strCache>
            </c:strRef>
          </c:cat>
          <c:val>
            <c:numRef>
              <c:f>Sheet1!$C$2:$C$6</c:f>
              <c:numCache>
                <c:formatCode>General</c:formatCode>
                <c:ptCount val="5"/>
                <c:pt idx="0">
                  <c:v>273066.8992680123</c:v>
                </c:pt>
                <c:pt idx="1">
                  <c:v>136533.44963400616</c:v>
                </c:pt>
                <c:pt idx="2">
                  <c:v>81920.06978040369</c:v>
                </c:pt>
                <c:pt idx="3">
                  <c:v>54613.379853602484</c:v>
                </c:pt>
                <c:pt idx="4">
                  <c:v>27306.689926801242</c:v>
                </c:pt>
              </c:numCache>
            </c:numRef>
          </c:val>
        </c:ser>
        <c:gapWidth val="35"/>
        <c:axId val="-2068027336"/>
        <c:axId val="-2113994440"/>
      </c:barChart>
      <c:catAx>
        <c:axId val="-2068027336"/>
        <c:scaling>
          <c:orientation val="minMax"/>
        </c:scaling>
        <c:delete val="0"/>
        <c:axPos val="l"/>
        <c:majorTickMark val="out"/>
        <c:minorTickMark val="none"/>
        <c:tickLblPos val="low"/>
        <c:spPr>
          <a:ln w="9525">
            <a:solidFill>
              <a:srgbClr val="1A1E25"/>
            </a:solidFill>
          </a:ln>
        </c:spPr>
        <c:txPr>
          <a:bodyPr/>
          <a:lstStyle/>
          <a:p>
            <a:pPr>
              <a:defRPr sz="800">
                <a:solidFill>
                  <a:srgbClr val="1A1E25"/>
                </a:solidFill>
              </a:defRPr>
            </a:pPr>
          </a:p>
        </c:txPr>
        <c:crossAx val="-2113994440"/>
        <c:crosses val="autoZero"/>
        <c:auto val="1"/>
        <c:lblAlgn val="ctr"/>
        <c:lblOffset val="100"/>
        <c:noMultiLvlLbl val="0"/>
      </c:catAx>
      <c:valAx>
        <c:axId val="-2113994440"/>
        <c:scaling>
          <c:max val="300000.0"/>
          <c:min val="-100000.0"/>
        </c:scaling>
        <c:delete val="0"/>
        <c:axPos val="b"/>
        <c:majorGridlines>
          <c:spPr>
            <a:ln w="6350">
              <a:solidFill>
                <a:srgbClr val="E3E7ED"/>
              </a:solidFill>
            </a:ln>
          </c:spPr>
        </c:majorGridlines>
        <c:numFmt formatCode="&quot;+&quot;#,##0;&quot;−&quot;#,##0;0" sourceLinked="0"/>
        <c:majorTickMark val="out"/>
        <c:minorTickMark val="none"/>
        <c:tickLblPos val="nextTo"/>
        <c:spPr>
          <a:ln>
            <a:noFill/>
          </a:ln>
        </c:spPr>
        <c:txPr>
          <a:bodyPr/>
          <a:lstStyle/>
          <a:p>
            <a:pPr>
              <a:defRPr sz="800">
                <a:solidFill>
                  <a:srgbClr val="5C6573"/>
                </a:solidFill>
              </a:defRPr>
            </a:pPr>
          </a:p>
        </c:txPr>
        <c:crossAx val="-2068027336"/>
        <c:crosses val="autoZero"/>
        <c:majorUnit val="50000.0"/>
      </c:valAx>
    </c:plotArea>
    <c:legend>
      <c:legendPos val="t"/>
      <c:overlay val="0"/>
      <c:txPr>
        <a:bodyPr/>
        <a:lstStyle/>
        <a:p>
          <a:pPr>
            <a:defRPr sz="800"/>
          </a:pPr>
        </a:p>
      </c:txPr>
    </c:legend>
    <c:dispBlanksAs val="gap"/>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Deneb</c:v>
                </c:pt>
              </c:strCache>
            </c:strRef>
          </c:tx>
          <c:spPr>
            <a:ln w="28575">
              <a:solidFill>
                <a:srgbClr val="0B3D91"/>
              </a:solidFill>
            </a:ln>
          </c:spPr>
          <c:marker>
            <c:symbol val="none"/>
          </c:marker>
          <c:cat>
            <c:strRef>
              <c:f>Sheet1!$A$2:$A$49</c:f>
              <c:strCache>
                <c:ptCount val="48"/>
                <c:pt idx="0">
                  <c:v>2012</c:v>
                </c:pt>
                <c:pt idx="1">
                  <c:v>2012</c:v>
                </c:pt>
                <c:pt idx="2">
                  <c:v>2012</c:v>
                </c:pt>
                <c:pt idx="3">
                  <c:v>2012</c:v>
                </c:pt>
                <c:pt idx="4">
                  <c:v>2012</c:v>
                </c:pt>
                <c:pt idx="5">
                  <c:v>2012</c:v>
                </c:pt>
                <c:pt idx="6">
                  <c:v>2012</c:v>
                </c:pt>
                <c:pt idx="7">
                  <c:v>2012</c:v>
                </c:pt>
                <c:pt idx="8">
                  <c:v>2012</c:v>
                </c:pt>
                <c:pt idx="9">
                  <c:v>2012</c:v>
                </c:pt>
                <c:pt idx="10">
                  <c:v>2012</c:v>
                </c:pt>
                <c:pt idx="11">
                  <c:v>2012</c:v>
                </c:pt>
                <c:pt idx="12">
                  <c:v>2013</c:v>
                </c:pt>
                <c:pt idx="13">
                  <c:v>2013</c:v>
                </c:pt>
                <c:pt idx="14">
                  <c:v>2013</c:v>
                </c:pt>
                <c:pt idx="15">
                  <c:v>2013</c:v>
                </c:pt>
                <c:pt idx="16">
                  <c:v>2013</c:v>
                </c:pt>
                <c:pt idx="17">
                  <c:v>2013</c:v>
                </c:pt>
                <c:pt idx="18">
                  <c:v>2013</c:v>
                </c:pt>
                <c:pt idx="19">
                  <c:v>2013</c:v>
                </c:pt>
                <c:pt idx="20">
                  <c:v>2013</c:v>
                </c:pt>
                <c:pt idx="21">
                  <c:v>2013</c:v>
                </c:pt>
                <c:pt idx="22">
                  <c:v>2013</c:v>
                </c:pt>
                <c:pt idx="23">
                  <c:v>2013</c:v>
                </c:pt>
                <c:pt idx="24">
                  <c:v>2014</c:v>
                </c:pt>
                <c:pt idx="25">
                  <c:v>2014</c:v>
                </c:pt>
                <c:pt idx="26">
                  <c:v>2014</c:v>
                </c:pt>
                <c:pt idx="27">
                  <c:v>2014</c:v>
                </c:pt>
                <c:pt idx="28">
                  <c:v>2014</c:v>
                </c:pt>
                <c:pt idx="29">
                  <c:v>2014</c:v>
                </c:pt>
                <c:pt idx="30">
                  <c:v>2014</c:v>
                </c:pt>
                <c:pt idx="31">
                  <c:v>2014</c:v>
                </c:pt>
                <c:pt idx="32">
                  <c:v>2014</c:v>
                </c:pt>
                <c:pt idx="33">
                  <c:v>2014</c:v>
                </c:pt>
                <c:pt idx="34">
                  <c:v>2014</c:v>
                </c:pt>
                <c:pt idx="35">
                  <c:v>2014</c:v>
                </c:pt>
                <c:pt idx="36">
                  <c:v>2015</c:v>
                </c:pt>
                <c:pt idx="37">
                  <c:v>2015</c:v>
                </c:pt>
                <c:pt idx="38">
                  <c:v>2015</c:v>
                </c:pt>
                <c:pt idx="39">
                  <c:v>2015</c:v>
                </c:pt>
                <c:pt idx="40">
                  <c:v>2015</c:v>
                </c:pt>
                <c:pt idx="41">
                  <c:v>2015</c:v>
                </c:pt>
                <c:pt idx="42">
                  <c:v>2015</c:v>
                </c:pt>
                <c:pt idx="43">
                  <c:v>2015</c:v>
                </c:pt>
                <c:pt idx="44">
                  <c:v>2015</c:v>
                </c:pt>
                <c:pt idx="45">
                  <c:v>2015</c:v>
                </c:pt>
                <c:pt idx="46">
                  <c:v>2015</c:v>
                </c:pt>
                <c:pt idx="47">
                  <c:v>2015</c:v>
                </c:pt>
              </c:strCache>
            </c:strRef>
          </c:cat>
          <c:val>
            <c:numRef>
              <c:f>Sheet1!$B$2:$B$49</c:f>
              <c:numCache>
                <c:formatCode>General</c:formatCode>
                <c:ptCount val="48"/>
                <c:pt idx="0">
                  <c:v>11.213422473076623</c:v>
                </c:pt>
                <c:pt idx="1">
                  <c:v>23.80548216726327</c:v>
                </c:pt>
                <c:pt idx="2">
                  <c:v>37.08091081261784</c:v>
                </c:pt>
                <c:pt idx="3">
                  <c:v>45.46683731838303</c:v>
                </c:pt>
                <c:pt idx="4">
                  <c:v>51.91853553791116</c:v>
                </c:pt>
                <c:pt idx="5">
                  <c:v>64.25468323750923</c:v>
                </c:pt>
                <c:pt idx="6">
                  <c:v>75.82181615660201</c:v>
                </c:pt>
                <c:pt idx="7">
                  <c:v>94.4247133203523</c:v>
                </c:pt>
                <c:pt idx="8">
                  <c:v>106.29071875922925</c:v>
                </c:pt>
                <c:pt idx="9">
                  <c:v>106.02523138642987</c:v>
                </c:pt>
                <c:pt idx="10">
                  <c:v>113.51846099875313</c:v>
                </c:pt>
                <c:pt idx="11">
                  <c:v>122.10162008395707</c:v>
                </c:pt>
                <c:pt idx="12">
                  <c:v>140.49365162899312</c:v>
                </c:pt>
                <c:pt idx="13">
                  <c:v>152.04220227106666</c:v>
                </c:pt>
                <c:pt idx="14">
                  <c:v>173.50835855926744</c:v>
                </c:pt>
                <c:pt idx="15">
                  <c:v>193.48035237212056</c:v>
                </c:pt>
                <c:pt idx="16">
                  <c:v>217.80539114263314</c:v>
                </c:pt>
                <c:pt idx="17">
                  <c:v>213.37129901021453</c:v>
                </c:pt>
                <c:pt idx="18">
                  <c:v>238.49075272576005</c:v>
                </c:pt>
                <c:pt idx="19">
                  <c:v>242.81115235270443</c:v>
                </c:pt>
                <c:pt idx="20">
                  <c:v>264.9040926052649</c:v>
                </c:pt>
                <c:pt idx="21">
                  <c:v>291.74416777421663</c:v>
                </c:pt>
                <c:pt idx="22">
                  <c:v>313.50843398629894</c:v>
                </c:pt>
                <c:pt idx="23">
                  <c:v>334.00964499976624</c:v>
                </c:pt>
                <c:pt idx="24">
                  <c:v>329.8323473041796</c:v>
                </c:pt>
                <c:pt idx="25">
                  <c:v>361.1803157032581</c:v>
                </c:pt>
                <c:pt idx="26">
                  <c:v>367.4876975409001</c:v>
                </c:pt>
                <c:pt idx="27">
                  <c:v>361.3399817884283</c:v>
                </c:pt>
                <c:pt idx="28">
                  <c:v>402.9849502735276</c:v>
                </c:pt>
                <c:pt idx="29">
                  <c:v>438.657487485945</c:v>
                </c:pt>
                <c:pt idx="30">
                  <c:v>453.69912482587563</c:v>
                </c:pt>
                <c:pt idx="31">
                  <c:v>513.2810549555993</c:v>
                </c:pt>
                <c:pt idx="32">
                  <c:v>514.2148474716863</c:v>
                </c:pt>
                <c:pt idx="33">
                  <c:v>532.5286002964607</c:v>
                </c:pt>
                <c:pt idx="34">
                  <c:v>593.3504030506715</c:v>
                </c:pt>
                <c:pt idx="35">
                  <c:v>565.5411109470227</c:v>
                </c:pt>
                <c:pt idx="36">
                  <c:v>557.4098309355111</c:v>
                </c:pt>
                <c:pt idx="37">
                  <c:v>635.7781990782452</c:v>
                </c:pt>
                <c:pt idx="38">
                  <c:v>609.8322765390974</c:v>
                </c:pt>
                <c:pt idx="39">
                  <c:v>641.2070595308302</c:v>
                </c:pt>
                <c:pt idx="40">
                  <c:v>677.1589681062226</c:v>
                </c:pt>
                <c:pt idx="41">
                  <c:v>646.5792528537428</c:v>
                </c:pt>
                <c:pt idx="42">
                  <c:v>710.4716248574916</c:v>
                </c:pt>
                <c:pt idx="43">
                  <c:v>580.2223209367326</c:v>
                </c:pt>
                <c:pt idx="44">
                  <c:v>565.5773009616528</c:v>
                </c:pt>
                <c:pt idx="45">
                  <c:v>711.6236634516243</c:v>
                </c:pt>
                <c:pt idx="46">
                  <c:v>727.5988761777757</c:v>
                </c:pt>
                <c:pt idx="47">
                  <c:v>709.2672149040551</c:v>
                </c:pt>
              </c:numCache>
            </c:numRef>
          </c:val>
          <c:smooth val="0"/>
        </c:ser>
        <c:ser>
          <c:idx val="1"/>
          <c:order val="1"/>
          <c:tx>
            <c:strRef>
              <c:f>Sheet1!$C$1</c:f>
              <c:strCache>
                <c:ptCount val="1"/>
                <c:pt idx="0">
                  <c:v>QQQ 단독</c:v>
                </c:pt>
              </c:strCache>
            </c:strRef>
          </c:tx>
          <c:spPr>
            <a:ln w="25400">
              <a:solidFill>
                <a:srgbClr val="E07A1F"/>
              </a:solidFill>
              <a:prstDash val="dash"/>
            </a:ln>
          </c:spPr>
          <c:marker>
            <c:symbol val="none"/>
          </c:marker>
          <c:cat>
            <c:strRef>
              <c:f>Sheet1!$A$2:$A$49</c:f>
              <c:strCache>
                <c:ptCount val="48"/>
                <c:pt idx="0">
                  <c:v>2012</c:v>
                </c:pt>
                <c:pt idx="1">
                  <c:v>2012</c:v>
                </c:pt>
                <c:pt idx="2">
                  <c:v>2012</c:v>
                </c:pt>
                <c:pt idx="3">
                  <c:v>2012</c:v>
                </c:pt>
                <c:pt idx="4">
                  <c:v>2012</c:v>
                </c:pt>
                <c:pt idx="5">
                  <c:v>2012</c:v>
                </c:pt>
                <c:pt idx="6">
                  <c:v>2012</c:v>
                </c:pt>
                <c:pt idx="7">
                  <c:v>2012</c:v>
                </c:pt>
                <c:pt idx="8">
                  <c:v>2012</c:v>
                </c:pt>
                <c:pt idx="9">
                  <c:v>2012</c:v>
                </c:pt>
                <c:pt idx="10">
                  <c:v>2012</c:v>
                </c:pt>
                <c:pt idx="11">
                  <c:v>2012</c:v>
                </c:pt>
                <c:pt idx="12">
                  <c:v>2013</c:v>
                </c:pt>
                <c:pt idx="13">
                  <c:v>2013</c:v>
                </c:pt>
                <c:pt idx="14">
                  <c:v>2013</c:v>
                </c:pt>
                <c:pt idx="15">
                  <c:v>2013</c:v>
                </c:pt>
                <c:pt idx="16">
                  <c:v>2013</c:v>
                </c:pt>
                <c:pt idx="17">
                  <c:v>2013</c:v>
                </c:pt>
                <c:pt idx="18">
                  <c:v>2013</c:v>
                </c:pt>
                <c:pt idx="19">
                  <c:v>2013</c:v>
                </c:pt>
                <c:pt idx="20">
                  <c:v>2013</c:v>
                </c:pt>
                <c:pt idx="21">
                  <c:v>2013</c:v>
                </c:pt>
                <c:pt idx="22">
                  <c:v>2013</c:v>
                </c:pt>
                <c:pt idx="23">
                  <c:v>2013</c:v>
                </c:pt>
                <c:pt idx="24">
                  <c:v>2014</c:v>
                </c:pt>
                <c:pt idx="25">
                  <c:v>2014</c:v>
                </c:pt>
                <c:pt idx="26">
                  <c:v>2014</c:v>
                </c:pt>
                <c:pt idx="27">
                  <c:v>2014</c:v>
                </c:pt>
                <c:pt idx="28">
                  <c:v>2014</c:v>
                </c:pt>
                <c:pt idx="29">
                  <c:v>2014</c:v>
                </c:pt>
                <c:pt idx="30">
                  <c:v>2014</c:v>
                </c:pt>
                <c:pt idx="31">
                  <c:v>2014</c:v>
                </c:pt>
                <c:pt idx="32">
                  <c:v>2014</c:v>
                </c:pt>
                <c:pt idx="33">
                  <c:v>2014</c:v>
                </c:pt>
                <c:pt idx="34">
                  <c:v>2014</c:v>
                </c:pt>
                <c:pt idx="35">
                  <c:v>2014</c:v>
                </c:pt>
                <c:pt idx="36">
                  <c:v>2015</c:v>
                </c:pt>
                <c:pt idx="37">
                  <c:v>2015</c:v>
                </c:pt>
                <c:pt idx="38">
                  <c:v>2015</c:v>
                </c:pt>
                <c:pt idx="39">
                  <c:v>2015</c:v>
                </c:pt>
                <c:pt idx="40">
                  <c:v>2015</c:v>
                </c:pt>
                <c:pt idx="41">
                  <c:v>2015</c:v>
                </c:pt>
                <c:pt idx="42">
                  <c:v>2015</c:v>
                </c:pt>
                <c:pt idx="43">
                  <c:v>2015</c:v>
                </c:pt>
                <c:pt idx="44">
                  <c:v>2015</c:v>
                </c:pt>
                <c:pt idx="45">
                  <c:v>2015</c:v>
                </c:pt>
                <c:pt idx="46">
                  <c:v>2015</c:v>
                </c:pt>
                <c:pt idx="47">
                  <c:v>2015</c:v>
                </c:pt>
              </c:strCache>
            </c:strRef>
          </c:cat>
          <c:val>
            <c:numRef>
              <c:f>Sheet1!$C$2:$C$49</c:f>
              <c:numCache>
                <c:formatCode>General</c:formatCode>
                <c:ptCount val="48"/>
                <c:pt idx="0">
                  <c:v>10.622006555990184</c:v>
                </c:pt>
                <c:pt idx="1">
                  <c:v>21.842607345451118</c:v>
                </c:pt>
                <c:pt idx="2">
                  <c:v>33.353458140837155</c:v>
                </c:pt>
                <c:pt idx="3">
                  <c:v>42.730414337094494</c:v>
                </c:pt>
                <c:pt idx="4">
                  <c:v>48.988898154883415</c:v>
                </c:pt>
                <c:pt idx="5">
                  <c:v>61.39221105146554</c:v>
                </c:pt>
                <c:pt idx="6">
                  <c:v>72.05943549467482</c:v>
                </c:pt>
                <c:pt idx="7">
                  <c:v>86.3294813582194</c:v>
                </c:pt>
                <c:pt idx="8">
                  <c:v>97.18051482340599</c:v>
                </c:pt>
                <c:pt idx="9">
                  <c:v>101.52175403229073</c:v>
                </c:pt>
                <c:pt idx="10">
                  <c:v>112.82475509633078</c:v>
                </c:pt>
                <c:pt idx="11">
                  <c:v>122.25596330334491</c:v>
                </c:pt>
                <c:pt idx="12">
                  <c:v>135.4580848245305</c:v>
                </c:pt>
                <c:pt idx="13">
                  <c:v>145.82637161781193</c:v>
                </c:pt>
                <c:pt idx="14">
                  <c:v>160.48159892779438</c:v>
                </c:pt>
                <c:pt idx="15">
                  <c:v>174.8621500440913</c:v>
                </c:pt>
                <c:pt idx="16">
                  <c:v>191.50844753123604</c:v>
                </c:pt>
                <c:pt idx="17">
                  <c:v>196.64988233888937</c:v>
                </c:pt>
                <c:pt idx="18">
                  <c:v>219.61674746596935</c:v>
                </c:pt>
                <c:pt idx="19">
                  <c:v>228.59268074609108</c:v>
                </c:pt>
                <c:pt idx="20">
                  <c:v>250.04682399870222</c:v>
                </c:pt>
                <c:pt idx="21">
                  <c:v>272.816098711802</c:v>
                </c:pt>
                <c:pt idx="22">
                  <c:v>292.8412954776085</c:v>
                </c:pt>
                <c:pt idx="23">
                  <c:v>311.7203232303129</c:v>
                </c:pt>
                <c:pt idx="24">
                  <c:v>315.6018646700718</c:v>
                </c:pt>
                <c:pt idx="25">
                  <c:v>342.60906970874686</c:v>
                </c:pt>
                <c:pt idx="26">
                  <c:v>343.02817814906854</c:v>
                </c:pt>
                <c:pt idx="27">
                  <c:v>351.71399034758736</c:v>
                </c:pt>
                <c:pt idx="28">
                  <c:v>377.8925987967782</c:v>
                </c:pt>
                <c:pt idx="29">
                  <c:v>400.00419375747873</c:v>
                </c:pt>
                <c:pt idx="30">
                  <c:v>414.7256139125013</c:v>
                </c:pt>
                <c:pt idx="31">
                  <c:v>446.0251703829715</c:v>
                </c:pt>
                <c:pt idx="32">
                  <c:v>452.53113837218064</c:v>
                </c:pt>
                <c:pt idx="33">
                  <c:v>474.90216050125014</c:v>
                </c:pt>
                <c:pt idx="34">
                  <c:v>506.90099455967965</c:v>
                </c:pt>
                <c:pt idx="35">
                  <c:v>505.41636145337543</c:v>
                </c:pt>
                <c:pt idx="36">
                  <c:v>504.69846394282337</c:v>
                </c:pt>
                <c:pt idx="37">
                  <c:v>551.7541645409284</c:v>
                </c:pt>
                <c:pt idx="38">
                  <c:v>548.4004958335198</c:v>
                </c:pt>
                <c:pt idx="39">
                  <c:v>569.1727207310574</c:v>
                </c:pt>
                <c:pt idx="40">
                  <c:v>592.0470282829582</c:v>
                </c:pt>
                <c:pt idx="41">
                  <c:v>587.0445260497884</c:v>
                </c:pt>
                <c:pt idx="42">
                  <c:v>624.1585162298544</c:v>
                </c:pt>
                <c:pt idx="43">
                  <c:v>590.8955357106094</c:v>
                </c:pt>
                <c:pt idx="44">
                  <c:v>587.9323443569657</c:v>
                </c:pt>
                <c:pt idx="45">
                  <c:v>665.8499836113907</c:v>
                </c:pt>
                <c:pt idx="46">
                  <c:v>679.837607414608</c:v>
                </c:pt>
                <c:pt idx="47">
                  <c:v>678.7240088199684</c:v>
                </c:pt>
              </c:numCache>
            </c:numRef>
          </c:val>
          <c:smooth val="0"/>
        </c:ser>
        <c:ser>
          <c:idx val="2"/>
          <c:order val="2"/>
          <c:tx>
            <c:strRef>
              <c:f>Sheet1!$D$1</c:f>
              <c:strCache>
                <c:ptCount val="1"/>
                <c:pt idx="0">
                  <c:v>Polaris</c:v>
                </c:pt>
              </c:strCache>
            </c:strRef>
          </c:tx>
          <c:spPr>
            <a:ln w="25400">
              <a:solidFill>
                <a:srgbClr val="1E9A84"/>
              </a:solidFill>
            </a:ln>
          </c:spPr>
          <c:marker>
            <c:symbol val="none"/>
          </c:marker>
          <c:cat>
            <c:strRef>
              <c:f>Sheet1!$A$2:$A$49</c:f>
              <c:strCache>
                <c:ptCount val="48"/>
                <c:pt idx="0">
                  <c:v>2012</c:v>
                </c:pt>
                <c:pt idx="1">
                  <c:v>2012</c:v>
                </c:pt>
                <c:pt idx="2">
                  <c:v>2012</c:v>
                </c:pt>
                <c:pt idx="3">
                  <c:v>2012</c:v>
                </c:pt>
                <c:pt idx="4">
                  <c:v>2012</c:v>
                </c:pt>
                <c:pt idx="5">
                  <c:v>2012</c:v>
                </c:pt>
                <c:pt idx="6">
                  <c:v>2012</c:v>
                </c:pt>
                <c:pt idx="7">
                  <c:v>2012</c:v>
                </c:pt>
                <c:pt idx="8">
                  <c:v>2012</c:v>
                </c:pt>
                <c:pt idx="9">
                  <c:v>2012</c:v>
                </c:pt>
                <c:pt idx="10">
                  <c:v>2012</c:v>
                </c:pt>
                <c:pt idx="11">
                  <c:v>2012</c:v>
                </c:pt>
                <c:pt idx="12">
                  <c:v>2013</c:v>
                </c:pt>
                <c:pt idx="13">
                  <c:v>2013</c:v>
                </c:pt>
                <c:pt idx="14">
                  <c:v>2013</c:v>
                </c:pt>
                <c:pt idx="15">
                  <c:v>2013</c:v>
                </c:pt>
                <c:pt idx="16">
                  <c:v>2013</c:v>
                </c:pt>
                <c:pt idx="17">
                  <c:v>2013</c:v>
                </c:pt>
                <c:pt idx="18">
                  <c:v>2013</c:v>
                </c:pt>
                <c:pt idx="19">
                  <c:v>2013</c:v>
                </c:pt>
                <c:pt idx="20">
                  <c:v>2013</c:v>
                </c:pt>
                <c:pt idx="21">
                  <c:v>2013</c:v>
                </c:pt>
                <c:pt idx="22">
                  <c:v>2013</c:v>
                </c:pt>
                <c:pt idx="23">
                  <c:v>2013</c:v>
                </c:pt>
                <c:pt idx="24">
                  <c:v>2014</c:v>
                </c:pt>
                <c:pt idx="25">
                  <c:v>2014</c:v>
                </c:pt>
                <c:pt idx="26">
                  <c:v>2014</c:v>
                </c:pt>
                <c:pt idx="27">
                  <c:v>2014</c:v>
                </c:pt>
                <c:pt idx="28">
                  <c:v>2014</c:v>
                </c:pt>
                <c:pt idx="29">
                  <c:v>2014</c:v>
                </c:pt>
                <c:pt idx="30">
                  <c:v>2014</c:v>
                </c:pt>
                <c:pt idx="31">
                  <c:v>2014</c:v>
                </c:pt>
                <c:pt idx="32">
                  <c:v>2014</c:v>
                </c:pt>
                <c:pt idx="33">
                  <c:v>2014</c:v>
                </c:pt>
                <c:pt idx="34">
                  <c:v>2014</c:v>
                </c:pt>
                <c:pt idx="35">
                  <c:v>2014</c:v>
                </c:pt>
                <c:pt idx="36">
                  <c:v>2015</c:v>
                </c:pt>
                <c:pt idx="37">
                  <c:v>2015</c:v>
                </c:pt>
                <c:pt idx="38">
                  <c:v>2015</c:v>
                </c:pt>
                <c:pt idx="39">
                  <c:v>2015</c:v>
                </c:pt>
                <c:pt idx="40">
                  <c:v>2015</c:v>
                </c:pt>
                <c:pt idx="41">
                  <c:v>2015</c:v>
                </c:pt>
                <c:pt idx="42">
                  <c:v>2015</c:v>
                </c:pt>
                <c:pt idx="43">
                  <c:v>2015</c:v>
                </c:pt>
                <c:pt idx="44">
                  <c:v>2015</c:v>
                </c:pt>
                <c:pt idx="45">
                  <c:v>2015</c:v>
                </c:pt>
                <c:pt idx="46">
                  <c:v>2015</c:v>
                </c:pt>
                <c:pt idx="47">
                  <c:v>2015</c:v>
                </c:pt>
              </c:strCache>
            </c:strRef>
          </c:cat>
          <c:val>
            <c:numRef>
              <c:f>Sheet1!$D$2:$D$49</c:f>
              <c:numCache>
                <c:formatCode>General</c:formatCode>
                <c:ptCount val="48"/>
                <c:pt idx="0">
                  <c:v>10.467449882855313</c:v>
                </c:pt>
                <c:pt idx="1">
                  <c:v>20.895986497464285</c:v>
                </c:pt>
                <c:pt idx="2">
                  <c:v>31.405341989086654</c:v>
                </c:pt>
                <c:pt idx="3">
                  <c:v>41.29431279186734</c:v>
                </c:pt>
                <c:pt idx="4">
                  <c:v>48.90649702441963</c:v>
                </c:pt>
                <c:pt idx="5">
                  <c:v>60.615051864746576</c:v>
                </c:pt>
                <c:pt idx="6">
                  <c:v>71.3531098131352</c:v>
                </c:pt>
                <c:pt idx="7">
                  <c:v>84.03855047669707</c:v>
                </c:pt>
                <c:pt idx="8">
                  <c:v>95.80932453246905</c:v>
                </c:pt>
                <c:pt idx="9">
                  <c:v>102.82172532566275</c:v>
                </c:pt>
                <c:pt idx="10">
                  <c:v>113.4909848282849</c:v>
                </c:pt>
                <c:pt idx="11">
                  <c:v>122.82713268888362</c:v>
                </c:pt>
                <c:pt idx="12">
                  <c:v>135.26157543283213</c:v>
                </c:pt>
                <c:pt idx="13">
                  <c:v>144.74706680944544</c:v>
                </c:pt>
                <c:pt idx="14">
                  <c:v>158.2664073687051</c:v>
                </c:pt>
                <c:pt idx="15">
                  <c:v>168.5052921615859</c:v>
                </c:pt>
                <c:pt idx="16">
                  <c:v>178.42690944302151</c:v>
                </c:pt>
                <c:pt idx="17">
                  <c:v>181.13908918369046</c:v>
                </c:pt>
                <c:pt idx="18">
                  <c:v>200.2830599739698</c:v>
                </c:pt>
                <c:pt idx="19">
                  <c:v>209.77400934915593</c:v>
                </c:pt>
                <c:pt idx="20">
                  <c:v>223.6327459537614</c:v>
                </c:pt>
                <c:pt idx="21">
                  <c:v>240.60446712077513</c:v>
                </c:pt>
                <c:pt idx="22">
                  <c:v>252.28501375887944</c:v>
                </c:pt>
                <c:pt idx="23">
                  <c:v>263.63930899646044</c:v>
                </c:pt>
                <c:pt idx="24">
                  <c:v>272.6135449275355</c:v>
                </c:pt>
                <c:pt idx="25">
                  <c:v>294.82100970364723</c:v>
                </c:pt>
                <c:pt idx="26">
                  <c:v>300.832359018681</c:v>
                </c:pt>
                <c:pt idx="27">
                  <c:v>311.92217459995203</c:v>
                </c:pt>
                <c:pt idx="28">
                  <c:v>327.6614666381645</c:v>
                </c:pt>
                <c:pt idx="29">
                  <c:v>347.0696840696658</c:v>
                </c:pt>
                <c:pt idx="30">
                  <c:v>354.06836274512636</c:v>
                </c:pt>
                <c:pt idx="31">
                  <c:v>375.5062996429983</c:v>
                </c:pt>
                <c:pt idx="32">
                  <c:v>377.52130136826247</c:v>
                </c:pt>
                <c:pt idx="33">
                  <c:v>392.2788070332501</c:v>
                </c:pt>
                <c:pt idx="34">
                  <c:v>411.72897772480985</c:v>
                </c:pt>
                <c:pt idx="35">
                  <c:v>419.71426053867674</c:v>
                </c:pt>
                <c:pt idx="36">
                  <c:v>434.29778006746324</c:v>
                </c:pt>
                <c:pt idx="37">
                  <c:v>453.2886612832991</c:v>
                </c:pt>
                <c:pt idx="38">
                  <c:v>456.6428790457963</c:v>
                </c:pt>
                <c:pt idx="39">
                  <c:v>469.9818218192033</c:v>
                </c:pt>
                <c:pt idx="40">
                  <c:v>485.1986588629951</c:v>
                </c:pt>
                <c:pt idx="41">
                  <c:v>485.3687992663313</c:v>
                </c:pt>
                <c:pt idx="42">
                  <c:v>500.3183257531675</c:v>
                </c:pt>
                <c:pt idx="43">
                  <c:v>494.340250644246</c:v>
                </c:pt>
                <c:pt idx="44">
                  <c:v>497.2604365540323</c:v>
                </c:pt>
                <c:pt idx="45">
                  <c:v>538.8069473504729</c:v>
                </c:pt>
                <c:pt idx="46">
                  <c:v>542.5907502635077</c:v>
                </c:pt>
                <c:pt idx="47">
                  <c:v>546.0387058543014</c:v>
                </c:pt>
              </c:numCache>
            </c:numRef>
          </c:val>
          <c:smooth val="0"/>
        </c:ser>
        <c:ser>
          <c:idx val="3"/>
          <c:order val="3"/>
          <c:tx>
            <c:strRef>
              <c:f>Sheet1!$E$1</c:f>
              <c:strCache>
                <c:ptCount val="1"/>
                <c:pt idx="0">
                  <c:v>넣은 원금 누계</c:v>
                </c:pt>
              </c:strCache>
            </c:strRef>
          </c:tx>
          <c:spPr>
            <a:ln w="12700">
              <a:solidFill>
                <a:srgbClr val="1A1E25"/>
              </a:solidFill>
              <a:prstDash val="sysDash"/>
            </a:ln>
          </c:spPr>
          <c:marker>
            <c:symbol val="none"/>
          </c:marker>
          <c:cat>
            <c:strRef>
              <c:f>Sheet1!$A$2:$A$49</c:f>
              <c:strCache>
                <c:ptCount val="48"/>
                <c:pt idx="0">
                  <c:v>2012</c:v>
                </c:pt>
                <c:pt idx="1">
                  <c:v>2012</c:v>
                </c:pt>
                <c:pt idx="2">
                  <c:v>2012</c:v>
                </c:pt>
                <c:pt idx="3">
                  <c:v>2012</c:v>
                </c:pt>
                <c:pt idx="4">
                  <c:v>2012</c:v>
                </c:pt>
                <c:pt idx="5">
                  <c:v>2012</c:v>
                </c:pt>
                <c:pt idx="6">
                  <c:v>2012</c:v>
                </c:pt>
                <c:pt idx="7">
                  <c:v>2012</c:v>
                </c:pt>
                <c:pt idx="8">
                  <c:v>2012</c:v>
                </c:pt>
                <c:pt idx="9">
                  <c:v>2012</c:v>
                </c:pt>
                <c:pt idx="10">
                  <c:v>2012</c:v>
                </c:pt>
                <c:pt idx="11">
                  <c:v>2012</c:v>
                </c:pt>
                <c:pt idx="12">
                  <c:v>2013</c:v>
                </c:pt>
                <c:pt idx="13">
                  <c:v>2013</c:v>
                </c:pt>
                <c:pt idx="14">
                  <c:v>2013</c:v>
                </c:pt>
                <c:pt idx="15">
                  <c:v>2013</c:v>
                </c:pt>
                <c:pt idx="16">
                  <c:v>2013</c:v>
                </c:pt>
                <c:pt idx="17">
                  <c:v>2013</c:v>
                </c:pt>
                <c:pt idx="18">
                  <c:v>2013</c:v>
                </c:pt>
                <c:pt idx="19">
                  <c:v>2013</c:v>
                </c:pt>
                <c:pt idx="20">
                  <c:v>2013</c:v>
                </c:pt>
                <c:pt idx="21">
                  <c:v>2013</c:v>
                </c:pt>
                <c:pt idx="22">
                  <c:v>2013</c:v>
                </c:pt>
                <c:pt idx="23">
                  <c:v>2013</c:v>
                </c:pt>
                <c:pt idx="24">
                  <c:v>2014</c:v>
                </c:pt>
                <c:pt idx="25">
                  <c:v>2014</c:v>
                </c:pt>
                <c:pt idx="26">
                  <c:v>2014</c:v>
                </c:pt>
                <c:pt idx="27">
                  <c:v>2014</c:v>
                </c:pt>
                <c:pt idx="28">
                  <c:v>2014</c:v>
                </c:pt>
                <c:pt idx="29">
                  <c:v>2014</c:v>
                </c:pt>
                <c:pt idx="30">
                  <c:v>2014</c:v>
                </c:pt>
                <c:pt idx="31">
                  <c:v>2014</c:v>
                </c:pt>
                <c:pt idx="32">
                  <c:v>2014</c:v>
                </c:pt>
                <c:pt idx="33">
                  <c:v>2014</c:v>
                </c:pt>
                <c:pt idx="34">
                  <c:v>2014</c:v>
                </c:pt>
                <c:pt idx="35">
                  <c:v>2014</c:v>
                </c:pt>
                <c:pt idx="36">
                  <c:v>2015</c:v>
                </c:pt>
                <c:pt idx="37">
                  <c:v>2015</c:v>
                </c:pt>
                <c:pt idx="38">
                  <c:v>2015</c:v>
                </c:pt>
                <c:pt idx="39">
                  <c:v>2015</c:v>
                </c:pt>
                <c:pt idx="40">
                  <c:v>2015</c:v>
                </c:pt>
                <c:pt idx="41">
                  <c:v>2015</c:v>
                </c:pt>
                <c:pt idx="42">
                  <c:v>2015</c:v>
                </c:pt>
                <c:pt idx="43">
                  <c:v>2015</c:v>
                </c:pt>
                <c:pt idx="44">
                  <c:v>2015</c:v>
                </c:pt>
                <c:pt idx="45">
                  <c:v>2015</c:v>
                </c:pt>
                <c:pt idx="46">
                  <c:v>2015</c:v>
                </c:pt>
                <c:pt idx="47">
                  <c:v>2015</c:v>
                </c:pt>
              </c:strCache>
            </c:strRef>
          </c:cat>
          <c:val>
            <c:numRef>
              <c:f>Sheet1!$E$2:$E$49</c:f>
              <c:numCache>
                <c:formatCode>General</c:formatCode>
                <c:ptCount val="48"/>
                <c:pt idx="0">
                  <c:v>10</c:v>
                </c:pt>
                <c:pt idx="1">
                  <c:v>20</c:v>
                </c:pt>
                <c:pt idx="2">
                  <c:v>30</c:v>
                </c:pt>
                <c:pt idx="3">
                  <c:v>40</c:v>
                </c:pt>
                <c:pt idx="4">
                  <c:v>50</c:v>
                </c:pt>
                <c:pt idx="5">
                  <c:v>60</c:v>
                </c:pt>
                <c:pt idx="6">
                  <c:v>70</c:v>
                </c:pt>
                <c:pt idx="7">
                  <c:v>80</c:v>
                </c:pt>
                <c:pt idx="8">
                  <c:v>90</c:v>
                </c:pt>
                <c:pt idx="9">
                  <c:v>100</c:v>
                </c:pt>
                <c:pt idx="10">
                  <c:v>110</c:v>
                </c:pt>
                <c:pt idx="11">
                  <c:v>120</c:v>
                </c:pt>
                <c:pt idx="12">
                  <c:v>130</c:v>
                </c:pt>
                <c:pt idx="13">
                  <c:v>140</c:v>
                </c:pt>
                <c:pt idx="14">
                  <c:v>150</c:v>
                </c:pt>
                <c:pt idx="15">
                  <c:v>160</c:v>
                </c:pt>
                <c:pt idx="16">
                  <c:v>170</c:v>
                </c:pt>
                <c:pt idx="17">
                  <c:v>180</c:v>
                </c:pt>
                <c:pt idx="18">
                  <c:v>190</c:v>
                </c:pt>
                <c:pt idx="19">
                  <c:v>200</c:v>
                </c:pt>
                <c:pt idx="20">
                  <c:v>210</c:v>
                </c:pt>
                <c:pt idx="21">
                  <c:v>220</c:v>
                </c:pt>
                <c:pt idx="22">
                  <c:v>230</c:v>
                </c:pt>
                <c:pt idx="23">
                  <c:v>240</c:v>
                </c:pt>
                <c:pt idx="24">
                  <c:v>250</c:v>
                </c:pt>
                <c:pt idx="25">
                  <c:v>260</c:v>
                </c:pt>
                <c:pt idx="26">
                  <c:v>270</c:v>
                </c:pt>
                <c:pt idx="27">
                  <c:v>280</c:v>
                </c:pt>
                <c:pt idx="28">
                  <c:v>290</c:v>
                </c:pt>
                <c:pt idx="29">
                  <c:v>300</c:v>
                </c:pt>
                <c:pt idx="30">
                  <c:v>310</c:v>
                </c:pt>
                <c:pt idx="31">
                  <c:v>320</c:v>
                </c:pt>
                <c:pt idx="32">
                  <c:v>330</c:v>
                </c:pt>
                <c:pt idx="33">
                  <c:v>340</c:v>
                </c:pt>
                <c:pt idx="34">
                  <c:v>350</c:v>
                </c:pt>
                <c:pt idx="35">
                  <c:v>360</c:v>
                </c:pt>
                <c:pt idx="36">
                  <c:v>370</c:v>
                </c:pt>
                <c:pt idx="37">
                  <c:v>380</c:v>
                </c:pt>
                <c:pt idx="38">
                  <c:v>390</c:v>
                </c:pt>
                <c:pt idx="39">
                  <c:v>400</c:v>
                </c:pt>
                <c:pt idx="40">
                  <c:v>410</c:v>
                </c:pt>
                <c:pt idx="41">
                  <c:v>420</c:v>
                </c:pt>
                <c:pt idx="42">
                  <c:v>430</c:v>
                </c:pt>
                <c:pt idx="43">
                  <c:v>440</c:v>
                </c:pt>
                <c:pt idx="44">
                  <c:v>450</c:v>
                </c:pt>
                <c:pt idx="45">
                  <c:v>460</c:v>
                </c:pt>
                <c:pt idx="46">
                  <c:v>470</c:v>
                </c:pt>
                <c:pt idx="47">
                  <c:v>480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40495176"/>
        <c:crosses val="autoZero"/>
        <c:auto val="1"/>
        <c:lblAlgn val="ctr"/>
        <c:lblOffset val="100"/>
        <c:noMultiLvlLbl val="0"/>
        <c:tickLblSkip val="12"/>
        <c:tickMarkSkip val="12"/>
      </c:catAx>
      <c:valAx>
        <c:axId val="2140495176"/>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118791784"/>
        <c:crosses val="autoZero"/>
      </c:valAx>
    </c:plotArea>
    <c:plotVisOnly val="1"/>
    <c:dispBlanksAs val="gap"/>
    <c:showDLblsOverMax val="0"/>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Deneb</c:v>
                </c:pt>
              </c:strCache>
            </c:strRef>
          </c:tx>
          <c:spPr>
            <a:ln w="28575">
              <a:solidFill>
                <a:srgbClr val="0B3D91"/>
              </a:solidFill>
            </a:ln>
          </c:spPr>
          <c:marker>
            <c:symbol val="none"/>
          </c:marker>
          <c:cat>
            <c:strRef>
              <c:f>Sheet1!$A$2:$A$49</c:f>
              <c:strCache>
                <c:ptCount val="48"/>
                <c:pt idx="0">
                  <c:v>2016</c:v>
                </c:pt>
                <c:pt idx="1">
                  <c:v>2016</c:v>
                </c:pt>
                <c:pt idx="2">
                  <c:v>2016</c:v>
                </c:pt>
                <c:pt idx="3">
                  <c:v>2016</c:v>
                </c:pt>
                <c:pt idx="4">
                  <c:v>2016</c:v>
                </c:pt>
                <c:pt idx="5">
                  <c:v>2016</c:v>
                </c:pt>
                <c:pt idx="6">
                  <c:v>2016</c:v>
                </c:pt>
                <c:pt idx="7">
                  <c:v>2016</c:v>
                </c:pt>
                <c:pt idx="8">
                  <c:v>2016</c:v>
                </c:pt>
                <c:pt idx="9">
                  <c:v>2016</c:v>
                </c:pt>
                <c:pt idx="10">
                  <c:v>2016</c:v>
                </c:pt>
                <c:pt idx="11">
                  <c:v>2016</c:v>
                </c:pt>
                <c:pt idx="12">
                  <c:v>2017</c:v>
                </c:pt>
                <c:pt idx="13">
                  <c:v>2017</c:v>
                </c:pt>
                <c:pt idx="14">
                  <c:v>2017</c:v>
                </c:pt>
                <c:pt idx="15">
                  <c:v>2017</c:v>
                </c:pt>
                <c:pt idx="16">
                  <c:v>2017</c:v>
                </c:pt>
                <c:pt idx="17">
                  <c:v>2017</c:v>
                </c:pt>
                <c:pt idx="18">
                  <c:v>2017</c:v>
                </c:pt>
                <c:pt idx="19">
                  <c:v>2017</c:v>
                </c:pt>
                <c:pt idx="20">
                  <c:v>2017</c:v>
                </c:pt>
                <c:pt idx="21">
                  <c:v>2017</c:v>
                </c:pt>
                <c:pt idx="22">
                  <c:v>2017</c:v>
                </c:pt>
                <c:pt idx="23">
                  <c:v>2017</c:v>
                </c:pt>
                <c:pt idx="24">
                  <c:v>2018</c:v>
                </c:pt>
                <c:pt idx="25">
                  <c:v>2018</c:v>
                </c:pt>
                <c:pt idx="26">
                  <c:v>2018</c:v>
                </c:pt>
                <c:pt idx="27">
                  <c:v>2018</c:v>
                </c:pt>
                <c:pt idx="28">
                  <c:v>2018</c:v>
                </c:pt>
                <c:pt idx="29">
                  <c:v>2018</c:v>
                </c:pt>
                <c:pt idx="30">
                  <c:v>2018</c:v>
                </c:pt>
                <c:pt idx="31">
                  <c:v>2018</c:v>
                </c:pt>
                <c:pt idx="32">
                  <c:v>2018</c:v>
                </c:pt>
                <c:pt idx="33">
                  <c:v>2018</c:v>
                </c:pt>
                <c:pt idx="34">
                  <c:v>2018</c:v>
                </c:pt>
                <c:pt idx="35">
                  <c:v>2018</c:v>
                </c:pt>
                <c:pt idx="36">
                  <c:v>2019</c:v>
                </c:pt>
                <c:pt idx="37">
                  <c:v>2019</c:v>
                </c:pt>
                <c:pt idx="38">
                  <c:v>2019</c:v>
                </c:pt>
                <c:pt idx="39">
                  <c:v>2019</c:v>
                </c:pt>
                <c:pt idx="40">
                  <c:v>2019</c:v>
                </c:pt>
                <c:pt idx="41">
                  <c:v>2019</c:v>
                </c:pt>
                <c:pt idx="42">
                  <c:v>2019</c:v>
                </c:pt>
                <c:pt idx="43">
                  <c:v>2019</c:v>
                </c:pt>
                <c:pt idx="44">
                  <c:v>2019</c:v>
                </c:pt>
                <c:pt idx="45">
                  <c:v>2019</c:v>
                </c:pt>
                <c:pt idx="46">
                  <c:v>2019</c:v>
                </c:pt>
                <c:pt idx="47">
                  <c:v>2019</c:v>
                </c:pt>
              </c:strCache>
            </c:strRef>
          </c:cat>
          <c:val>
            <c:numRef>
              <c:f>Sheet1!$B$2:$B$49</c:f>
              <c:numCache>
                <c:formatCode>General</c:formatCode>
                <c:ptCount val="48"/>
                <c:pt idx="0">
                  <c:v>629.1830460930474</c:v>
                </c:pt>
                <c:pt idx="1">
                  <c:v>652.5227758639569</c:v>
                </c:pt>
                <c:pt idx="2">
                  <c:v>755.9122899691556</c:v>
                </c:pt>
                <c:pt idx="3">
                  <c:v>720.5098217494593</c:v>
                </c:pt>
                <c:pt idx="4">
                  <c:v>762.9653400223904</c:v>
                </c:pt>
                <c:pt idx="5">
                  <c:v>716.0651317423785</c:v>
                </c:pt>
                <c:pt idx="6">
                  <c:v>793.3318195597551</c:v>
                </c:pt>
                <c:pt idx="7">
                  <c:v>814.6873064731388</c:v>
                </c:pt>
                <c:pt idx="8">
                  <c:v>853.9247983629031</c:v>
                </c:pt>
                <c:pt idx="9">
                  <c:v>834.6496714102869</c:v>
                </c:pt>
                <c:pt idx="10">
                  <c:v>861.4563973285645</c:v>
                </c:pt>
                <c:pt idx="11">
                  <c:v>893.7696792345131</c:v>
                </c:pt>
                <c:pt idx="12">
                  <c:v>986.9147524626667</c:v>
                </c:pt>
                <c:pt idx="13">
                  <c:v>1090.7750366776538</c:v>
                </c:pt>
                <c:pt idx="14">
                  <c:v>1138.5579371433607</c:v>
                </c:pt>
                <c:pt idx="15">
                  <c:v>1205.3085255341068</c:v>
                </c:pt>
                <c:pt idx="16">
                  <c:v>1307.0037086000766</c:v>
                </c:pt>
                <c:pt idx="17">
                  <c:v>1252.9182683937026</c:v>
                </c:pt>
                <c:pt idx="18">
                  <c:v>1368.7395789869515</c:v>
                </c:pt>
                <c:pt idx="19">
                  <c:v>1420.3061523406461</c:v>
                </c:pt>
                <c:pt idx="20">
                  <c:v>1437.4293327242244</c:v>
                </c:pt>
                <c:pt idx="21">
                  <c:v>1587.6658006145212</c:v>
                </c:pt>
                <c:pt idx="22">
                  <c:v>1677.0322427880715</c:v>
                </c:pt>
                <c:pt idx="23">
                  <c:v>1712.18833515097</c:v>
                </c:pt>
                <c:pt idx="24">
                  <c:v>2036.0475821420155</c:v>
                </c:pt>
                <c:pt idx="25">
                  <c:v>1881.1899516533338</c:v>
                </c:pt>
                <c:pt idx="26">
                  <c:v>1816.4852292557525</c:v>
                </c:pt>
                <c:pt idx="27">
                  <c:v>1763.8569198498988</c:v>
                </c:pt>
                <c:pt idx="28">
                  <c:v>1947.9451711061656</c:v>
                </c:pt>
                <c:pt idx="29">
                  <c:v>1988.6820704457368</c:v>
                </c:pt>
                <c:pt idx="30">
                  <c:v>2125.2619821924263</c:v>
                </c:pt>
                <c:pt idx="31">
                  <c:v>2380.0239817418114</c:v>
                </c:pt>
                <c:pt idx="32">
                  <c:v>2377.9007991366925</c:v>
                </c:pt>
                <c:pt idx="33">
                  <c:v>1979.3716447897077</c:v>
                </c:pt>
                <c:pt idx="34">
                  <c:v>1902.2684016575276</c:v>
                </c:pt>
                <c:pt idx="35">
                  <c:v>1741.1868239019684</c:v>
                </c:pt>
                <c:pt idx="36">
                  <c:v>1898.8026664327688</c:v>
                </c:pt>
                <c:pt idx="37">
                  <c:v>2028.7079893887817</c:v>
                </c:pt>
                <c:pt idx="38">
                  <c:v>2181.0703262689003</c:v>
                </c:pt>
                <c:pt idx="39">
                  <c:v>2437.2186249777815</c:v>
                </c:pt>
                <c:pt idx="40">
                  <c:v>2089.140399989666</c:v>
                </c:pt>
                <c:pt idx="41">
                  <c:v>2374.881751794093</c:v>
                </c:pt>
                <c:pt idx="42">
                  <c:v>2484.6258390466996</c:v>
                </c:pt>
                <c:pt idx="43">
                  <c:v>2311.166346341279</c:v>
                </c:pt>
                <c:pt idx="44">
                  <c:v>2381.6181784769788</c:v>
                </c:pt>
                <c:pt idx="45">
                  <c:v>2587.100277895019</c:v>
                </c:pt>
                <c:pt idx="46">
                  <c:v>2816.51927515442</c:v>
                </c:pt>
                <c:pt idx="47">
                  <c:v>3046.2283987884884</c:v>
                </c:pt>
              </c:numCache>
            </c:numRef>
          </c:val>
          <c:smooth val="0"/>
        </c:ser>
        <c:ser>
          <c:idx val="1"/>
          <c:order val="1"/>
          <c:tx>
            <c:strRef>
              <c:f>Sheet1!$C$1</c:f>
              <c:strCache>
                <c:ptCount val="1"/>
                <c:pt idx="0">
                  <c:v>QQQ 단독</c:v>
                </c:pt>
              </c:strCache>
            </c:strRef>
          </c:tx>
          <c:spPr>
            <a:ln w="25400">
              <a:solidFill>
                <a:srgbClr val="E07A1F"/>
              </a:solidFill>
              <a:prstDash val="dash"/>
            </a:ln>
          </c:spPr>
          <c:marker>
            <c:symbol val="none"/>
          </c:marker>
          <c:cat>
            <c:strRef>
              <c:f>Sheet1!$A$2:$A$49</c:f>
              <c:strCache>
                <c:ptCount val="48"/>
                <c:pt idx="0">
                  <c:v>2016</c:v>
                </c:pt>
                <c:pt idx="1">
                  <c:v>2016</c:v>
                </c:pt>
                <c:pt idx="2">
                  <c:v>2016</c:v>
                </c:pt>
                <c:pt idx="3">
                  <c:v>2016</c:v>
                </c:pt>
                <c:pt idx="4">
                  <c:v>2016</c:v>
                </c:pt>
                <c:pt idx="5">
                  <c:v>2016</c:v>
                </c:pt>
                <c:pt idx="6">
                  <c:v>2016</c:v>
                </c:pt>
                <c:pt idx="7">
                  <c:v>2016</c:v>
                </c:pt>
                <c:pt idx="8">
                  <c:v>2016</c:v>
                </c:pt>
                <c:pt idx="9">
                  <c:v>2016</c:v>
                </c:pt>
                <c:pt idx="10">
                  <c:v>2016</c:v>
                </c:pt>
                <c:pt idx="11">
                  <c:v>2016</c:v>
                </c:pt>
                <c:pt idx="12">
                  <c:v>2017</c:v>
                </c:pt>
                <c:pt idx="13">
                  <c:v>2017</c:v>
                </c:pt>
                <c:pt idx="14">
                  <c:v>2017</c:v>
                </c:pt>
                <c:pt idx="15">
                  <c:v>2017</c:v>
                </c:pt>
                <c:pt idx="16">
                  <c:v>2017</c:v>
                </c:pt>
                <c:pt idx="17">
                  <c:v>2017</c:v>
                </c:pt>
                <c:pt idx="18">
                  <c:v>2017</c:v>
                </c:pt>
                <c:pt idx="19">
                  <c:v>2017</c:v>
                </c:pt>
                <c:pt idx="20">
                  <c:v>2017</c:v>
                </c:pt>
                <c:pt idx="21">
                  <c:v>2017</c:v>
                </c:pt>
                <c:pt idx="22">
                  <c:v>2017</c:v>
                </c:pt>
                <c:pt idx="23">
                  <c:v>2017</c:v>
                </c:pt>
                <c:pt idx="24">
                  <c:v>2018</c:v>
                </c:pt>
                <c:pt idx="25">
                  <c:v>2018</c:v>
                </c:pt>
                <c:pt idx="26">
                  <c:v>2018</c:v>
                </c:pt>
                <c:pt idx="27">
                  <c:v>2018</c:v>
                </c:pt>
                <c:pt idx="28">
                  <c:v>2018</c:v>
                </c:pt>
                <c:pt idx="29">
                  <c:v>2018</c:v>
                </c:pt>
                <c:pt idx="30">
                  <c:v>2018</c:v>
                </c:pt>
                <c:pt idx="31">
                  <c:v>2018</c:v>
                </c:pt>
                <c:pt idx="32">
                  <c:v>2018</c:v>
                </c:pt>
                <c:pt idx="33">
                  <c:v>2018</c:v>
                </c:pt>
                <c:pt idx="34">
                  <c:v>2018</c:v>
                </c:pt>
                <c:pt idx="35">
                  <c:v>2018</c:v>
                </c:pt>
                <c:pt idx="36">
                  <c:v>2019</c:v>
                </c:pt>
                <c:pt idx="37">
                  <c:v>2019</c:v>
                </c:pt>
                <c:pt idx="38">
                  <c:v>2019</c:v>
                </c:pt>
                <c:pt idx="39">
                  <c:v>2019</c:v>
                </c:pt>
                <c:pt idx="40">
                  <c:v>2019</c:v>
                </c:pt>
                <c:pt idx="41">
                  <c:v>2019</c:v>
                </c:pt>
                <c:pt idx="42">
                  <c:v>2019</c:v>
                </c:pt>
                <c:pt idx="43">
                  <c:v>2019</c:v>
                </c:pt>
                <c:pt idx="44">
                  <c:v>2019</c:v>
                </c:pt>
                <c:pt idx="45">
                  <c:v>2019</c:v>
                </c:pt>
                <c:pt idx="46">
                  <c:v>2019</c:v>
                </c:pt>
                <c:pt idx="47">
                  <c:v>2019</c:v>
                </c:pt>
              </c:strCache>
            </c:strRef>
          </c:cat>
          <c:val>
            <c:numRef>
              <c:f>Sheet1!$C$2:$C$49</c:f>
              <c:numCache>
                <c:formatCode>General</c:formatCode>
                <c:ptCount val="48"/>
                <c:pt idx="0">
                  <c:v>641.3167526618679</c:v>
                </c:pt>
                <c:pt idx="1">
                  <c:v>641.0801951137835</c:v>
                </c:pt>
                <c:pt idx="2">
                  <c:v>695.3483233435484</c:v>
                </c:pt>
                <c:pt idx="3">
                  <c:v>682.7541963465966</c:v>
                </c:pt>
                <c:pt idx="4">
                  <c:v>722.9143366653743</c:v>
                </c:pt>
                <c:pt idx="5">
                  <c:v>716.2028466447673</c:v>
                </c:pt>
                <c:pt idx="6">
                  <c:v>778.0627169655015</c:v>
                </c:pt>
                <c:pt idx="7">
                  <c:v>796.26979558731</c:v>
                </c:pt>
                <c:pt idx="8">
                  <c:v>824.0752646353862</c:v>
                </c:pt>
                <c:pt idx="9">
                  <c:v>821.9203784704363</c:v>
                </c:pt>
                <c:pt idx="10">
                  <c:v>835.6080465001927</c:v>
                </c:pt>
                <c:pt idx="11">
                  <c:v>855.3444598072622</c:v>
                </c:pt>
                <c:pt idx="12">
                  <c:v>909.7153010433026</c:v>
                </c:pt>
                <c:pt idx="13">
                  <c:v>959.8666409126936</c:v>
                </c:pt>
                <c:pt idx="14">
                  <c:v>989.3990478345843</c:v>
                </c:pt>
                <c:pt idx="15">
                  <c:v>1026.6433283540482</c:v>
                </c:pt>
                <c:pt idx="16">
                  <c:v>1076.9375459031348</c:v>
                </c:pt>
                <c:pt idx="17">
                  <c:v>1061.6904921422386</c:v>
                </c:pt>
                <c:pt idx="18">
                  <c:v>1115.310444037375</c:v>
                </c:pt>
                <c:pt idx="19">
                  <c:v>1148.6059530045109</c:v>
                </c:pt>
                <c:pt idx="20">
                  <c:v>1155.1839470420564</c:v>
                </c:pt>
                <c:pt idx="21">
                  <c:v>1218.8317483545998</c:v>
                </c:pt>
                <c:pt idx="22">
                  <c:v>1253.0493730864025</c:v>
                </c:pt>
                <c:pt idx="23">
                  <c:v>1270.6945932678618</c:v>
                </c:pt>
                <c:pt idx="24">
                  <c:v>1392.6423585925443</c:v>
                </c:pt>
                <c:pt idx="25">
                  <c:v>1384.5791014391339</c:v>
                </c:pt>
                <c:pt idx="26">
                  <c:v>1337.8413125328093</c:v>
                </c:pt>
                <c:pt idx="27">
                  <c:v>1354.942441590786</c:v>
                </c:pt>
                <c:pt idx="28">
                  <c:v>1442.2391352964617</c:v>
                </c:pt>
                <c:pt idx="29">
                  <c:v>1468.6965187481956</c:v>
                </c:pt>
                <c:pt idx="30">
                  <c:v>1519.962905347262</c:v>
                </c:pt>
                <c:pt idx="31">
                  <c:v>1618.3494830517764</c:v>
                </c:pt>
                <c:pt idx="32">
                  <c:v>1623.7912685648705</c:v>
                </c:pt>
                <c:pt idx="33">
                  <c:v>1493.322929785186</c:v>
                </c:pt>
                <c:pt idx="34">
                  <c:v>1499.1949217869083</c:v>
                </c:pt>
                <c:pt idx="35">
                  <c:v>1378.3173768765373</c:v>
                </c:pt>
                <c:pt idx="36">
                  <c:v>1513.3555849972552</c:v>
                </c:pt>
                <c:pt idx="37">
                  <c:v>1568.9497264182517</c:v>
                </c:pt>
                <c:pt idx="38">
                  <c:v>1640.8300537920252</c:v>
                </c:pt>
                <c:pt idx="39">
                  <c:v>1741.4602427788057</c:v>
                </c:pt>
                <c:pt idx="40">
                  <c:v>1607.4152292140386</c:v>
                </c:pt>
                <c:pt idx="41">
                  <c:v>1740.4036224174936</c:v>
                </c:pt>
                <c:pt idx="42">
                  <c:v>1791.1206864512137</c:v>
                </c:pt>
                <c:pt idx="43">
                  <c:v>1766.9415381192814</c:v>
                </c:pt>
                <c:pt idx="44">
                  <c:v>1793.3356913756627</c:v>
                </c:pt>
                <c:pt idx="45">
                  <c:v>1882.393447893223</c:v>
                </c:pt>
                <c:pt idx="46">
                  <c:v>1969.2935461040697</c:v>
                </c:pt>
                <c:pt idx="47">
                  <c:v>2056.307857964185</c:v>
                </c:pt>
              </c:numCache>
            </c:numRef>
          </c:val>
          <c:smooth val="0"/>
        </c:ser>
        <c:ser>
          <c:idx val="2"/>
          <c:order val="2"/>
          <c:tx>
            <c:strRef>
              <c:f>Sheet1!$D$1</c:f>
              <c:strCache>
                <c:ptCount val="1"/>
                <c:pt idx="0">
                  <c:v>Polaris</c:v>
                </c:pt>
              </c:strCache>
            </c:strRef>
          </c:tx>
          <c:spPr>
            <a:ln w="25400">
              <a:solidFill>
                <a:srgbClr val="1E9A84"/>
              </a:solidFill>
            </a:ln>
          </c:spPr>
          <c:marker>
            <c:symbol val="none"/>
          </c:marker>
          <c:cat>
            <c:strRef>
              <c:f>Sheet1!$A$2:$A$49</c:f>
              <c:strCache>
                <c:ptCount val="48"/>
                <c:pt idx="0">
                  <c:v>2016</c:v>
                </c:pt>
                <c:pt idx="1">
                  <c:v>2016</c:v>
                </c:pt>
                <c:pt idx="2">
                  <c:v>2016</c:v>
                </c:pt>
                <c:pt idx="3">
                  <c:v>2016</c:v>
                </c:pt>
                <c:pt idx="4">
                  <c:v>2016</c:v>
                </c:pt>
                <c:pt idx="5">
                  <c:v>2016</c:v>
                </c:pt>
                <c:pt idx="6">
                  <c:v>2016</c:v>
                </c:pt>
                <c:pt idx="7">
                  <c:v>2016</c:v>
                </c:pt>
                <c:pt idx="8">
                  <c:v>2016</c:v>
                </c:pt>
                <c:pt idx="9">
                  <c:v>2016</c:v>
                </c:pt>
                <c:pt idx="10">
                  <c:v>2016</c:v>
                </c:pt>
                <c:pt idx="11">
                  <c:v>2016</c:v>
                </c:pt>
                <c:pt idx="12">
                  <c:v>2017</c:v>
                </c:pt>
                <c:pt idx="13">
                  <c:v>2017</c:v>
                </c:pt>
                <c:pt idx="14">
                  <c:v>2017</c:v>
                </c:pt>
                <c:pt idx="15">
                  <c:v>2017</c:v>
                </c:pt>
                <c:pt idx="16">
                  <c:v>2017</c:v>
                </c:pt>
                <c:pt idx="17">
                  <c:v>2017</c:v>
                </c:pt>
                <c:pt idx="18">
                  <c:v>2017</c:v>
                </c:pt>
                <c:pt idx="19">
                  <c:v>2017</c:v>
                </c:pt>
                <c:pt idx="20">
                  <c:v>2017</c:v>
                </c:pt>
                <c:pt idx="21">
                  <c:v>2017</c:v>
                </c:pt>
                <c:pt idx="22">
                  <c:v>2017</c:v>
                </c:pt>
                <c:pt idx="23">
                  <c:v>2017</c:v>
                </c:pt>
                <c:pt idx="24">
                  <c:v>2018</c:v>
                </c:pt>
                <c:pt idx="25">
                  <c:v>2018</c:v>
                </c:pt>
                <c:pt idx="26">
                  <c:v>2018</c:v>
                </c:pt>
                <c:pt idx="27">
                  <c:v>2018</c:v>
                </c:pt>
                <c:pt idx="28">
                  <c:v>2018</c:v>
                </c:pt>
                <c:pt idx="29">
                  <c:v>2018</c:v>
                </c:pt>
                <c:pt idx="30">
                  <c:v>2018</c:v>
                </c:pt>
                <c:pt idx="31">
                  <c:v>2018</c:v>
                </c:pt>
                <c:pt idx="32">
                  <c:v>2018</c:v>
                </c:pt>
                <c:pt idx="33">
                  <c:v>2018</c:v>
                </c:pt>
                <c:pt idx="34">
                  <c:v>2018</c:v>
                </c:pt>
                <c:pt idx="35">
                  <c:v>2018</c:v>
                </c:pt>
                <c:pt idx="36">
                  <c:v>2019</c:v>
                </c:pt>
                <c:pt idx="37">
                  <c:v>2019</c:v>
                </c:pt>
                <c:pt idx="38">
                  <c:v>2019</c:v>
                </c:pt>
                <c:pt idx="39">
                  <c:v>2019</c:v>
                </c:pt>
                <c:pt idx="40">
                  <c:v>2019</c:v>
                </c:pt>
                <c:pt idx="41">
                  <c:v>2019</c:v>
                </c:pt>
                <c:pt idx="42">
                  <c:v>2019</c:v>
                </c:pt>
                <c:pt idx="43">
                  <c:v>2019</c:v>
                </c:pt>
                <c:pt idx="44">
                  <c:v>2019</c:v>
                </c:pt>
                <c:pt idx="45">
                  <c:v>2019</c:v>
                </c:pt>
                <c:pt idx="46">
                  <c:v>2019</c:v>
                </c:pt>
                <c:pt idx="47">
                  <c:v>2019</c:v>
                </c:pt>
              </c:strCache>
            </c:strRef>
          </c:cat>
          <c:val>
            <c:numRef>
              <c:f>Sheet1!$D$2:$D$49</c:f>
              <c:numCache>
                <c:formatCode>General</c:formatCode>
                <c:ptCount val="48"/>
                <c:pt idx="0">
                  <c:v>545.904356696589</c:v>
                </c:pt>
                <c:pt idx="1">
                  <c:v>567.6236186888692</c:v>
                </c:pt>
                <c:pt idx="2">
                  <c:v>598.7125977692995</c:v>
                </c:pt>
                <c:pt idx="3">
                  <c:v>609.9910223527876</c:v>
                </c:pt>
                <c:pt idx="4">
                  <c:v>622.4895625320654</c:v>
                </c:pt>
                <c:pt idx="5">
                  <c:v>644.0752373582799</c:v>
                </c:pt>
                <c:pt idx="6">
                  <c:v>677.8328872852787</c:v>
                </c:pt>
                <c:pt idx="7">
                  <c:v>684.276169784117</c:v>
                </c:pt>
                <c:pt idx="8">
                  <c:v>700.1477685412945</c:v>
                </c:pt>
                <c:pt idx="9">
                  <c:v>697.0520445058811</c:v>
                </c:pt>
                <c:pt idx="10">
                  <c:v>698.185574006879</c:v>
                </c:pt>
                <c:pt idx="11">
                  <c:v>712.0216379526963</c:v>
                </c:pt>
                <c:pt idx="12">
                  <c:v>745.0905574652144</c:v>
                </c:pt>
                <c:pt idx="13">
                  <c:v>779.8293200823836</c:v>
                </c:pt>
                <c:pt idx="14">
                  <c:v>794.4253068494454</c:v>
                </c:pt>
                <c:pt idx="15">
                  <c:v>817.9607783976148</c:v>
                </c:pt>
                <c:pt idx="16">
                  <c:v>842.3484465085955</c:v>
                </c:pt>
                <c:pt idx="17">
                  <c:v>843.3921789516231</c:v>
                </c:pt>
                <c:pt idx="18">
                  <c:v>873.7859875144549</c:v>
                </c:pt>
                <c:pt idx="19">
                  <c:v>900.0481476031853</c:v>
                </c:pt>
                <c:pt idx="20">
                  <c:v>905.858029705196</c:v>
                </c:pt>
                <c:pt idx="21">
                  <c:v>933.3001224263877</c:v>
                </c:pt>
                <c:pt idx="22">
                  <c:v>957.706797413728</c:v>
                </c:pt>
                <c:pt idx="23">
                  <c:v>977.3342884188812</c:v>
                </c:pt>
                <c:pt idx="24">
                  <c:v>1031.8322423901052</c:v>
                </c:pt>
                <c:pt idx="25">
                  <c:v>1020.1582506976059</c:v>
                </c:pt>
                <c:pt idx="26">
                  <c:v>1012.5509740500465</c:v>
                </c:pt>
                <c:pt idx="27">
                  <c:v>1021.351846018045</c:v>
                </c:pt>
                <c:pt idx="28">
                  <c:v>1055.9684839488273</c:v>
                </c:pt>
                <c:pt idx="29">
                  <c:v>1064.3723436062385</c:v>
                </c:pt>
                <c:pt idx="30">
                  <c:v>1089.7130194910321</c:v>
                </c:pt>
                <c:pt idx="31">
                  <c:v>1127.656228989982</c:v>
                </c:pt>
                <c:pt idx="32">
                  <c:v>1134.6316364606992</c:v>
                </c:pt>
                <c:pt idx="33">
                  <c:v>1093.958926991662</c:v>
                </c:pt>
                <c:pt idx="34">
                  <c:v>1112.7775322922912</c:v>
                </c:pt>
                <c:pt idx="35">
                  <c:v>1081.5341228357556</c:v>
                </c:pt>
                <c:pt idx="36">
                  <c:v>1152.7721283322273</c:v>
                </c:pt>
                <c:pt idx="37">
                  <c:v>1181.4088090028968</c:v>
                </c:pt>
                <c:pt idx="38">
                  <c:v>1214.2314474947511</c:v>
                </c:pt>
                <c:pt idx="39">
                  <c:v>1256.4677524502215</c:v>
                </c:pt>
                <c:pt idx="40">
                  <c:v>1222.226527895674</c:v>
                </c:pt>
                <c:pt idx="41">
                  <c:v>1308.3038949668655</c:v>
                </c:pt>
                <c:pt idx="42">
                  <c:v>1333.394060058032</c:v>
                </c:pt>
                <c:pt idx="43">
                  <c:v>1361.1043810872563</c:v>
                </c:pt>
                <c:pt idx="44">
                  <c:v>1369.3677549926263</c:v>
                </c:pt>
                <c:pt idx="45">
                  <c:v>1414.3030890509592</c:v>
                </c:pt>
                <c:pt idx="46">
                  <c:v>1445.718866227152</c:v>
                </c:pt>
                <c:pt idx="47">
                  <c:v>1493.2801817930456</c:v>
                </c:pt>
              </c:numCache>
            </c:numRef>
          </c:val>
          <c:smooth val="0"/>
        </c:ser>
        <c:ser>
          <c:idx val="3"/>
          <c:order val="3"/>
          <c:tx>
            <c:strRef>
              <c:f>Sheet1!$E$1</c:f>
              <c:strCache>
                <c:ptCount val="1"/>
                <c:pt idx="0">
                  <c:v>넣은 원금 누계</c:v>
                </c:pt>
              </c:strCache>
            </c:strRef>
          </c:tx>
          <c:spPr>
            <a:ln w="12700">
              <a:solidFill>
                <a:srgbClr val="1A1E25"/>
              </a:solidFill>
              <a:prstDash val="sysDash"/>
            </a:ln>
          </c:spPr>
          <c:marker>
            <c:symbol val="none"/>
          </c:marker>
          <c:cat>
            <c:strRef>
              <c:f>Sheet1!$A$2:$A$49</c:f>
              <c:strCache>
                <c:ptCount val="48"/>
                <c:pt idx="0">
                  <c:v>2016</c:v>
                </c:pt>
                <c:pt idx="1">
                  <c:v>2016</c:v>
                </c:pt>
                <c:pt idx="2">
                  <c:v>2016</c:v>
                </c:pt>
                <c:pt idx="3">
                  <c:v>2016</c:v>
                </c:pt>
                <c:pt idx="4">
                  <c:v>2016</c:v>
                </c:pt>
                <c:pt idx="5">
                  <c:v>2016</c:v>
                </c:pt>
                <c:pt idx="6">
                  <c:v>2016</c:v>
                </c:pt>
                <c:pt idx="7">
                  <c:v>2016</c:v>
                </c:pt>
                <c:pt idx="8">
                  <c:v>2016</c:v>
                </c:pt>
                <c:pt idx="9">
                  <c:v>2016</c:v>
                </c:pt>
                <c:pt idx="10">
                  <c:v>2016</c:v>
                </c:pt>
                <c:pt idx="11">
                  <c:v>2016</c:v>
                </c:pt>
                <c:pt idx="12">
                  <c:v>2017</c:v>
                </c:pt>
                <c:pt idx="13">
                  <c:v>2017</c:v>
                </c:pt>
                <c:pt idx="14">
                  <c:v>2017</c:v>
                </c:pt>
                <c:pt idx="15">
                  <c:v>2017</c:v>
                </c:pt>
                <c:pt idx="16">
                  <c:v>2017</c:v>
                </c:pt>
                <c:pt idx="17">
                  <c:v>2017</c:v>
                </c:pt>
                <c:pt idx="18">
                  <c:v>2017</c:v>
                </c:pt>
                <c:pt idx="19">
                  <c:v>2017</c:v>
                </c:pt>
                <c:pt idx="20">
                  <c:v>2017</c:v>
                </c:pt>
                <c:pt idx="21">
                  <c:v>2017</c:v>
                </c:pt>
                <c:pt idx="22">
                  <c:v>2017</c:v>
                </c:pt>
                <c:pt idx="23">
                  <c:v>2017</c:v>
                </c:pt>
                <c:pt idx="24">
                  <c:v>2018</c:v>
                </c:pt>
                <c:pt idx="25">
                  <c:v>2018</c:v>
                </c:pt>
                <c:pt idx="26">
                  <c:v>2018</c:v>
                </c:pt>
                <c:pt idx="27">
                  <c:v>2018</c:v>
                </c:pt>
                <c:pt idx="28">
                  <c:v>2018</c:v>
                </c:pt>
                <c:pt idx="29">
                  <c:v>2018</c:v>
                </c:pt>
                <c:pt idx="30">
                  <c:v>2018</c:v>
                </c:pt>
                <c:pt idx="31">
                  <c:v>2018</c:v>
                </c:pt>
                <c:pt idx="32">
                  <c:v>2018</c:v>
                </c:pt>
                <c:pt idx="33">
                  <c:v>2018</c:v>
                </c:pt>
                <c:pt idx="34">
                  <c:v>2018</c:v>
                </c:pt>
                <c:pt idx="35">
                  <c:v>2018</c:v>
                </c:pt>
                <c:pt idx="36">
                  <c:v>2019</c:v>
                </c:pt>
                <c:pt idx="37">
                  <c:v>2019</c:v>
                </c:pt>
                <c:pt idx="38">
                  <c:v>2019</c:v>
                </c:pt>
                <c:pt idx="39">
                  <c:v>2019</c:v>
                </c:pt>
                <c:pt idx="40">
                  <c:v>2019</c:v>
                </c:pt>
                <c:pt idx="41">
                  <c:v>2019</c:v>
                </c:pt>
                <c:pt idx="42">
                  <c:v>2019</c:v>
                </c:pt>
                <c:pt idx="43">
                  <c:v>2019</c:v>
                </c:pt>
                <c:pt idx="44">
                  <c:v>2019</c:v>
                </c:pt>
                <c:pt idx="45">
                  <c:v>2019</c:v>
                </c:pt>
                <c:pt idx="46">
                  <c:v>2019</c:v>
                </c:pt>
                <c:pt idx="47">
                  <c:v>2019</c:v>
                </c:pt>
              </c:strCache>
            </c:strRef>
          </c:cat>
          <c:val>
            <c:numRef>
              <c:f>Sheet1!$E$2:$E$49</c:f>
              <c:numCache>
                <c:formatCode>General</c:formatCode>
                <c:ptCount val="48"/>
                <c:pt idx="0">
                  <c:v>490</c:v>
                </c:pt>
                <c:pt idx="1">
                  <c:v>500</c:v>
                </c:pt>
                <c:pt idx="2">
                  <c:v>510</c:v>
                </c:pt>
                <c:pt idx="3">
                  <c:v>520</c:v>
                </c:pt>
                <c:pt idx="4">
                  <c:v>530</c:v>
                </c:pt>
                <c:pt idx="5">
                  <c:v>540</c:v>
                </c:pt>
                <c:pt idx="6">
                  <c:v>550</c:v>
                </c:pt>
                <c:pt idx="7">
                  <c:v>560</c:v>
                </c:pt>
                <c:pt idx="8">
                  <c:v>570</c:v>
                </c:pt>
                <c:pt idx="9">
                  <c:v>580</c:v>
                </c:pt>
                <c:pt idx="10">
                  <c:v>590</c:v>
                </c:pt>
                <c:pt idx="11">
                  <c:v>600</c:v>
                </c:pt>
                <c:pt idx="12">
                  <c:v>610</c:v>
                </c:pt>
                <c:pt idx="13">
                  <c:v>620</c:v>
                </c:pt>
                <c:pt idx="14">
                  <c:v>630</c:v>
                </c:pt>
                <c:pt idx="15">
                  <c:v>640</c:v>
                </c:pt>
                <c:pt idx="16">
                  <c:v>650</c:v>
                </c:pt>
                <c:pt idx="17">
                  <c:v>660</c:v>
                </c:pt>
                <c:pt idx="18">
                  <c:v>670</c:v>
                </c:pt>
                <c:pt idx="19">
                  <c:v>680</c:v>
                </c:pt>
                <c:pt idx="20">
                  <c:v>690</c:v>
                </c:pt>
                <c:pt idx="21">
                  <c:v>700</c:v>
                </c:pt>
                <c:pt idx="22">
                  <c:v>710</c:v>
                </c:pt>
                <c:pt idx="23">
                  <c:v>720</c:v>
                </c:pt>
                <c:pt idx="24">
                  <c:v>730</c:v>
                </c:pt>
                <c:pt idx="25">
                  <c:v>740</c:v>
                </c:pt>
                <c:pt idx="26">
                  <c:v>750</c:v>
                </c:pt>
                <c:pt idx="27">
                  <c:v>760</c:v>
                </c:pt>
                <c:pt idx="28">
                  <c:v>770</c:v>
                </c:pt>
                <c:pt idx="29">
                  <c:v>780</c:v>
                </c:pt>
                <c:pt idx="30">
                  <c:v>790</c:v>
                </c:pt>
                <c:pt idx="31">
                  <c:v>800</c:v>
                </c:pt>
                <c:pt idx="32">
                  <c:v>810</c:v>
                </c:pt>
                <c:pt idx="33">
                  <c:v>820</c:v>
                </c:pt>
                <c:pt idx="34">
                  <c:v>830</c:v>
                </c:pt>
                <c:pt idx="35">
                  <c:v>840</c:v>
                </c:pt>
                <c:pt idx="36">
                  <c:v>850</c:v>
                </c:pt>
                <c:pt idx="37">
                  <c:v>860</c:v>
                </c:pt>
                <c:pt idx="38">
                  <c:v>870</c:v>
                </c:pt>
                <c:pt idx="39">
                  <c:v>880</c:v>
                </c:pt>
                <c:pt idx="40">
                  <c:v>890</c:v>
                </c:pt>
                <c:pt idx="41">
                  <c:v>900</c:v>
                </c:pt>
                <c:pt idx="42">
                  <c:v>910</c:v>
                </c:pt>
                <c:pt idx="43">
                  <c:v>920</c:v>
                </c:pt>
                <c:pt idx="44">
                  <c:v>930</c:v>
                </c:pt>
                <c:pt idx="45">
                  <c:v>940</c:v>
                </c:pt>
                <c:pt idx="46">
                  <c:v>950</c:v>
                </c:pt>
                <c:pt idx="47">
                  <c:v>960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40495176"/>
        <c:crosses val="autoZero"/>
        <c:auto val="1"/>
        <c:lblAlgn val="ctr"/>
        <c:lblOffset val="100"/>
        <c:noMultiLvlLbl val="0"/>
        <c:tickLblSkip val="12"/>
        <c:tickMarkSkip val="12"/>
      </c:catAx>
      <c:valAx>
        <c:axId val="2140495176"/>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118791784"/>
        <c:crosses val="autoZero"/>
      </c:valAx>
    </c:plotArea>
    <c:plotVisOnly val="1"/>
    <c:dispBlanksAs val="gap"/>
    <c:showDLblsOverMax val="0"/>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Deneb</c:v>
                </c:pt>
              </c:strCache>
            </c:strRef>
          </c:tx>
          <c:spPr>
            <a:ln w="28575">
              <a:solidFill>
                <a:srgbClr val="0B3D91"/>
              </a:solidFill>
            </a:ln>
          </c:spPr>
          <c:marker>
            <c:symbol val="none"/>
          </c:marker>
          <c:cat>
            <c:strRef>
              <c:f>Sheet1!$A$2:$A$37</c:f>
              <c:strCache>
                <c:ptCount val="36"/>
                <c:pt idx="0">
                  <c:v>2020</c:v>
                </c:pt>
                <c:pt idx="1">
                  <c:v>2020</c:v>
                </c:pt>
                <c:pt idx="2">
                  <c:v>2020</c:v>
                </c:pt>
                <c:pt idx="3">
                  <c:v>2020</c:v>
                </c:pt>
                <c:pt idx="4">
                  <c:v>2020</c:v>
                </c:pt>
                <c:pt idx="5">
                  <c:v>2020</c:v>
                </c:pt>
                <c:pt idx="6">
                  <c:v>2020</c:v>
                </c:pt>
                <c:pt idx="7">
                  <c:v>2020</c:v>
                </c:pt>
                <c:pt idx="8">
                  <c:v>2020</c:v>
                </c:pt>
                <c:pt idx="9">
                  <c:v>2020</c:v>
                </c:pt>
                <c:pt idx="10">
                  <c:v>2020</c:v>
                </c:pt>
                <c:pt idx="11">
                  <c:v>2020</c:v>
                </c:pt>
                <c:pt idx="12">
                  <c:v>2021</c:v>
                </c:pt>
                <c:pt idx="13">
                  <c:v>2021</c:v>
                </c:pt>
                <c:pt idx="14">
                  <c:v>2021</c:v>
                </c:pt>
                <c:pt idx="15">
                  <c:v>2021</c:v>
                </c:pt>
                <c:pt idx="16">
                  <c:v>2021</c:v>
                </c:pt>
                <c:pt idx="17">
                  <c:v>2021</c:v>
                </c:pt>
                <c:pt idx="18">
                  <c:v>2021</c:v>
                </c:pt>
                <c:pt idx="19">
                  <c:v>2021</c:v>
                </c:pt>
                <c:pt idx="20">
                  <c:v>2021</c:v>
                </c:pt>
                <c:pt idx="21">
                  <c:v>2021</c:v>
                </c:pt>
                <c:pt idx="22">
                  <c:v>2021</c:v>
                </c:pt>
                <c:pt idx="23">
                  <c:v>2021</c:v>
                </c:pt>
                <c:pt idx="24">
                  <c:v>2022</c:v>
                </c:pt>
                <c:pt idx="25">
                  <c:v>2022</c:v>
                </c:pt>
                <c:pt idx="26">
                  <c:v>2022</c:v>
                </c:pt>
                <c:pt idx="27">
                  <c:v>2022</c:v>
                </c:pt>
                <c:pt idx="28">
                  <c:v>2022</c:v>
                </c:pt>
                <c:pt idx="29">
                  <c:v>2022</c:v>
                </c:pt>
                <c:pt idx="30">
                  <c:v>2022</c:v>
                </c:pt>
                <c:pt idx="31">
                  <c:v>2022</c:v>
                </c:pt>
                <c:pt idx="32">
                  <c:v>2022</c:v>
                </c:pt>
                <c:pt idx="33">
                  <c:v>2022</c:v>
                </c:pt>
                <c:pt idx="34">
                  <c:v>2022</c:v>
                </c:pt>
                <c:pt idx="35">
                  <c:v>2022</c:v>
                </c:pt>
              </c:strCache>
            </c:strRef>
          </c:cat>
          <c:val>
            <c:numRef>
              <c:f>Sheet1!$B$2:$B$37</c:f>
              <c:numCache>
                <c:formatCode>General</c:formatCode>
                <c:ptCount val="36"/>
                <c:pt idx="0">
                  <c:v>3186.3898639771614</c:v>
                </c:pt>
                <c:pt idx="1">
                  <c:v>2848.637801969334</c:v>
                </c:pt>
                <c:pt idx="2">
                  <c:v>2715.7585927780597</c:v>
                </c:pt>
                <c:pt idx="3">
                  <c:v>3458.998061786162</c:v>
                </c:pt>
                <c:pt idx="4">
                  <c:v>3687.114003300544</c:v>
                </c:pt>
                <c:pt idx="5">
                  <c:v>4066.095221699889</c:v>
                </c:pt>
                <c:pt idx="6">
                  <c:v>4638.741610774298</c:v>
                </c:pt>
                <c:pt idx="7">
                  <c:v>5616.157419120424</c:v>
                </c:pt>
                <c:pt idx="8">
                  <c:v>5061.302948085629</c:v>
                </c:pt>
                <c:pt idx="9">
                  <c:v>5079.903579767502</c:v>
                </c:pt>
                <c:pt idx="10">
                  <c:v>5745.026173742251</c:v>
                </c:pt>
                <c:pt idx="11">
                  <c:v>6288.365867343661</c:v>
                </c:pt>
                <c:pt idx="12">
                  <c:v>6270.152948688488</c:v>
                </c:pt>
                <c:pt idx="13">
                  <c:v>6430.408565576998</c:v>
                </c:pt>
                <c:pt idx="14">
                  <c:v>7122.926013465324</c:v>
                </c:pt>
                <c:pt idx="15">
                  <c:v>7791.901766802166</c:v>
                </c:pt>
                <c:pt idx="16">
                  <c:v>7632.082393808408</c:v>
                </c:pt>
                <c:pt idx="17">
                  <c:v>8506.723495525404</c:v>
                </c:pt>
                <c:pt idx="18">
                  <c:v>8963.745502286838</c:v>
                </c:pt>
                <c:pt idx="19">
                  <c:v>9727.582096123237</c:v>
                </c:pt>
                <c:pt idx="20">
                  <c:v>8648.370362923837</c:v>
                </c:pt>
                <c:pt idx="21">
                  <c:v>10045.385681642318</c:v>
                </c:pt>
                <c:pt idx="22">
                  <c:v>10289.783638430405</c:v>
                </c:pt>
                <c:pt idx="23">
                  <c:v>10450.287611808011</c:v>
                </c:pt>
                <c:pt idx="24">
                  <c:v>9729.063244213912</c:v>
                </c:pt>
                <c:pt idx="25">
                  <c:v>9632.945598186425</c:v>
                </c:pt>
                <c:pt idx="26">
                  <c:v>9891.302278795021</c:v>
                </c:pt>
                <c:pt idx="27">
                  <c:v>8841.102072682805</c:v>
                </c:pt>
                <c:pt idx="28">
                  <c:v>9084.500527954919</c:v>
                </c:pt>
                <c:pt idx="29">
                  <c:v>8598.97737275925</c:v>
                </c:pt>
                <c:pt idx="30">
                  <c:v>8833.407431250183</c:v>
                </c:pt>
                <c:pt idx="31">
                  <c:v>8232.188051876179</c:v>
                </c:pt>
                <c:pt idx="32">
                  <c:v>7744.870778276569</c:v>
                </c:pt>
                <c:pt idx="33">
                  <c:v>8298.160343634925</c:v>
                </c:pt>
                <c:pt idx="34">
                  <c:v>8677.25909143346</c:v>
                </c:pt>
                <c:pt idx="35">
                  <c:v>7840.207184216589</c:v>
                </c:pt>
              </c:numCache>
            </c:numRef>
          </c:val>
          <c:smooth val="0"/>
        </c:ser>
        <c:ser>
          <c:idx val="1"/>
          <c:order val="1"/>
          <c:tx>
            <c:strRef>
              <c:f>Sheet1!$C$1</c:f>
              <c:strCache>
                <c:ptCount val="1"/>
                <c:pt idx="0">
                  <c:v>QQQ 단독</c:v>
                </c:pt>
              </c:strCache>
            </c:strRef>
          </c:tx>
          <c:spPr>
            <a:ln w="25400">
              <a:solidFill>
                <a:srgbClr val="E07A1F"/>
              </a:solidFill>
              <a:prstDash val="dash"/>
            </a:ln>
          </c:spPr>
          <c:marker>
            <c:symbol val="none"/>
          </c:marker>
          <c:cat>
            <c:strRef>
              <c:f>Sheet1!$A$2:$A$37</c:f>
              <c:strCache>
                <c:ptCount val="36"/>
                <c:pt idx="0">
                  <c:v>2020</c:v>
                </c:pt>
                <c:pt idx="1">
                  <c:v>2020</c:v>
                </c:pt>
                <c:pt idx="2">
                  <c:v>2020</c:v>
                </c:pt>
                <c:pt idx="3">
                  <c:v>2020</c:v>
                </c:pt>
                <c:pt idx="4">
                  <c:v>2020</c:v>
                </c:pt>
                <c:pt idx="5">
                  <c:v>2020</c:v>
                </c:pt>
                <c:pt idx="6">
                  <c:v>2020</c:v>
                </c:pt>
                <c:pt idx="7">
                  <c:v>2020</c:v>
                </c:pt>
                <c:pt idx="8">
                  <c:v>2020</c:v>
                </c:pt>
                <c:pt idx="9">
                  <c:v>2020</c:v>
                </c:pt>
                <c:pt idx="10">
                  <c:v>2020</c:v>
                </c:pt>
                <c:pt idx="11">
                  <c:v>2020</c:v>
                </c:pt>
                <c:pt idx="12">
                  <c:v>2021</c:v>
                </c:pt>
                <c:pt idx="13">
                  <c:v>2021</c:v>
                </c:pt>
                <c:pt idx="14">
                  <c:v>2021</c:v>
                </c:pt>
                <c:pt idx="15">
                  <c:v>2021</c:v>
                </c:pt>
                <c:pt idx="16">
                  <c:v>2021</c:v>
                </c:pt>
                <c:pt idx="17">
                  <c:v>2021</c:v>
                </c:pt>
                <c:pt idx="18">
                  <c:v>2021</c:v>
                </c:pt>
                <c:pt idx="19">
                  <c:v>2021</c:v>
                </c:pt>
                <c:pt idx="20">
                  <c:v>2021</c:v>
                </c:pt>
                <c:pt idx="21">
                  <c:v>2021</c:v>
                </c:pt>
                <c:pt idx="22">
                  <c:v>2021</c:v>
                </c:pt>
                <c:pt idx="23">
                  <c:v>2021</c:v>
                </c:pt>
                <c:pt idx="24">
                  <c:v>2022</c:v>
                </c:pt>
                <c:pt idx="25">
                  <c:v>2022</c:v>
                </c:pt>
                <c:pt idx="26">
                  <c:v>2022</c:v>
                </c:pt>
                <c:pt idx="27">
                  <c:v>2022</c:v>
                </c:pt>
                <c:pt idx="28">
                  <c:v>2022</c:v>
                </c:pt>
                <c:pt idx="29">
                  <c:v>2022</c:v>
                </c:pt>
                <c:pt idx="30">
                  <c:v>2022</c:v>
                </c:pt>
                <c:pt idx="31">
                  <c:v>2022</c:v>
                </c:pt>
                <c:pt idx="32">
                  <c:v>2022</c:v>
                </c:pt>
                <c:pt idx="33">
                  <c:v>2022</c:v>
                </c:pt>
                <c:pt idx="34">
                  <c:v>2022</c:v>
                </c:pt>
                <c:pt idx="35">
                  <c:v>2022</c:v>
                </c:pt>
              </c:strCache>
            </c:strRef>
          </c:cat>
          <c:val>
            <c:numRef>
              <c:f>Sheet1!$C$2:$C$37</c:f>
              <c:numCache>
                <c:formatCode>General</c:formatCode>
                <c:ptCount val="36"/>
                <c:pt idx="0">
                  <c:v>2128.9064545578967</c:v>
                </c:pt>
                <c:pt idx="1">
                  <c:v>2009.1899693448831</c:v>
                </c:pt>
                <c:pt idx="2">
                  <c:v>1871.6073907677833</c:v>
                </c:pt>
                <c:pt idx="3">
                  <c:v>2163.8464690708756</c:v>
                </c:pt>
                <c:pt idx="4">
                  <c:v>2317.63207974054</c:v>
                </c:pt>
                <c:pt idx="5">
                  <c:v>2473.914743817774</c:v>
                </c:pt>
                <c:pt idx="6">
                  <c:v>2666.256659551665</c:v>
                </c:pt>
                <c:pt idx="7">
                  <c:v>2969.001514142887</c:v>
                </c:pt>
                <c:pt idx="8">
                  <c:v>2806.683595787189</c:v>
                </c:pt>
                <c:pt idx="9">
                  <c:v>2730.7524763940455</c:v>
                </c:pt>
                <c:pt idx="10">
                  <c:v>3048.3810410221154</c:v>
                </c:pt>
                <c:pt idx="11">
                  <c:v>3208.169095556074</c:v>
                </c:pt>
                <c:pt idx="12">
                  <c:v>3226.7086455983635</c:v>
                </c:pt>
                <c:pt idx="13">
                  <c:v>3232.129330875347</c:v>
                </c:pt>
                <c:pt idx="14">
                  <c:v>3297.4770985683044</c:v>
                </c:pt>
                <c:pt idx="15">
                  <c:v>3502.7490687710538</c:v>
                </c:pt>
                <c:pt idx="16">
                  <c:v>3470.5923036586314</c:v>
                </c:pt>
                <c:pt idx="17">
                  <c:v>3698.5693312302433</c:v>
                </c:pt>
                <c:pt idx="18">
                  <c:v>3814.650682303625</c:v>
                </c:pt>
                <c:pt idx="19">
                  <c:v>3985.983461832225</c:v>
                </c:pt>
                <c:pt idx="20">
                  <c:v>3768.855726057193</c:v>
                </c:pt>
                <c:pt idx="21">
                  <c:v>4075.943113579592</c:v>
                </c:pt>
                <c:pt idx="22">
                  <c:v>4167.482535534658</c:v>
                </c:pt>
                <c:pt idx="23">
                  <c:v>4225.781252965896</c:v>
                </c:pt>
                <c:pt idx="24">
                  <c:v>3865.1759168814697</c:v>
                </c:pt>
                <c:pt idx="25">
                  <c:v>3701.6457387480104</c:v>
                </c:pt>
                <c:pt idx="26">
                  <c:v>3885.047386028237</c:v>
                </c:pt>
                <c:pt idx="27">
                  <c:v>3365.489974469753</c:v>
                </c:pt>
                <c:pt idx="28">
                  <c:v>3321.7589189532055</c:v>
                </c:pt>
                <c:pt idx="29">
                  <c:v>3035.023455766536</c:v>
                </c:pt>
                <c:pt idx="30">
                  <c:v>3427.136652828619</c:v>
                </c:pt>
                <c:pt idx="31">
                  <c:v>3260.7270228500615</c:v>
                </c:pt>
                <c:pt idx="32">
                  <c:v>2926.1216860911854</c:v>
                </c:pt>
                <c:pt idx="33">
                  <c:v>3053.308799080601</c:v>
                </c:pt>
                <c:pt idx="34">
                  <c:v>3233.2359873475934</c:v>
                </c:pt>
                <c:pt idx="35">
                  <c:v>2950.876094587448</c:v>
                </c:pt>
              </c:numCache>
            </c:numRef>
          </c:val>
          <c:smooth val="0"/>
        </c:ser>
        <c:ser>
          <c:idx val="2"/>
          <c:order val="2"/>
          <c:tx>
            <c:strRef>
              <c:f>Sheet1!$D$1</c:f>
              <c:strCache>
                <c:ptCount val="1"/>
                <c:pt idx="0">
                  <c:v>Polaris</c:v>
                </c:pt>
              </c:strCache>
            </c:strRef>
          </c:tx>
          <c:spPr>
            <a:ln w="25400">
              <a:solidFill>
                <a:srgbClr val="1E9A84"/>
              </a:solidFill>
            </a:ln>
          </c:spPr>
          <c:marker>
            <c:symbol val="none"/>
          </c:marker>
          <c:cat>
            <c:strRef>
              <c:f>Sheet1!$A$2:$A$37</c:f>
              <c:strCache>
                <c:ptCount val="36"/>
                <c:pt idx="0">
                  <c:v>2020</c:v>
                </c:pt>
                <c:pt idx="1">
                  <c:v>2020</c:v>
                </c:pt>
                <c:pt idx="2">
                  <c:v>2020</c:v>
                </c:pt>
                <c:pt idx="3">
                  <c:v>2020</c:v>
                </c:pt>
                <c:pt idx="4">
                  <c:v>2020</c:v>
                </c:pt>
                <c:pt idx="5">
                  <c:v>2020</c:v>
                </c:pt>
                <c:pt idx="6">
                  <c:v>2020</c:v>
                </c:pt>
                <c:pt idx="7">
                  <c:v>2020</c:v>
                </c:pt>
                <c:pt idx="8">
                  <c:v>2020</c:v>
                </c:pt>
                <c:pt idx="9">
                  <c:v>2020</c:v>
                </c:pt>
                <c:pt idx="10">
                  <c:v>2020</c:v>
                </c:pt>
                <c:pt idx="11">
                  <c:v>2020</c:v>
                </c:pt>
                <c:pt idx="12">
                  <c:v>2021</c:v>
                </c:pt>
                <c:pt idx="13">
                  <c:v>2021</c:v>
                </c:pt>
                <c:pt idx="14">
                  <c:v>2021</c:v>
                </c:pt>
                <c:pt idx="15">
                  <c:v>2021</c:v>
                </c:pt>
                <c:pt idx="16">
                  <c:v>2021</c:v>
                </c:pt>
                <c:pt idx="17">
                  <c:v>2021</c:v>
                </c:pt>
                <c:pt idx="18">
                  <c:v>2021</c:v>
                </c:pt>
                <c:pt idx="19">
                  <c:v>2021</c:v>
                </c:pt>
                <c:pt idx="20">
                  <c:v>2021</c:v>
                </c:pt>
                <c:pt idx="21">
                  <c:v>2021</c:v>
                </c:pt>
                <c:pt idx="22">
                  <c:v>2021</c:v>
                </c:pt>
                <c:pt idx="23">
                  <c:v>2021</c:v>
                </c:pt>
                <c:pt idx="24">
                  <c:v>2022</c:v>
                </c:pt>
                <c:pt idx="25">
                  <c:v>2022</c:v>
                </c:pt>
                <c:pt idx="26">
                  <c:v>2022</c:v>
                </c:pt>
                <c:pt idx="27">
                  <c:v>2022</c:v>
                </c:pt>
                <c:pt idx="28">
                  <c:v>2022</c:v>
                </c:pt>
                <c:pt idx="29">
                  <c:v>2022</c:v>
                </c:pt>
                <c:pt idx="30">
                  <c:v>2022</c:v>
                </c:pt>
                <c:pt idx="31">
                  <c:v>2022</c:v>
                </c:pt>
                <c:pt idx="32">
                  <c:v>2022</c:v>
                </c:pt>
                <c:pt idx="33">
                  <c:v>2022</c:v>
                </c:pt>
                <c:pt idx="34">
                  <c:v>2022</c:v>
                </c:pt>
                <c:pt idx="35">
                  <c:v>2022</c:v>
                </c:pt>
              </c:strCache>
            </c:strRef>
          </c:cat>
          <c:val>
            <c:numRef>
              <c:f>Sheet1!$D$2:$D$37</c:f>
              <c:numCache>
                <c:formatCode>General</c:formatCode>
                <c:ptCount val="36"/>
                <c:pt idx="0">
                  <c:v>1540.6665875810902</c:v>
                </c:pt>
                <c:pt idx="1">
                  <c:v>1493.103927333845</c:v>
                </c:pt>
                <c:pt idx="2">
                  <c:v>1427.8942891497006</c:v>
                </c:pt>
                <c:pt idx="3">
                  <c:v>1572.3868198581915</c:v>
                </c:pt>
                <c:pt idx="4">
                  <c:v>1644.8090620270375</c:v>
                </c:pt>
                <c:pt idx="5">
                  <c:v>1704.5258295643348</c:v>
                </c:pt>
                <c:pt idx="6">
                  <c:v>1823.675010384861</c:v>
                </c:pt>
                <c:pt idx="7">
                  <c:v>1928.758454629436</c:v>
                </c:pt>
                <c:pt idx="8">
                  <c:v>1865.4914508292936</c:v>
                </c:pt>
                <c:pt idx="9">
                  <c:v>1836.646474330983</c:v>
                </c:pt>
                <c:pt idx="10">
                  <c:v>1951.7310837237064</c:v>
                </c:pt>
                <c:pt idx="11">
                  <c:v>2038.7017380629104</c:v>
                </c:pt>
                <c:pt idx="12">
                  <c:v>2026.349593074298</c:v>
                </c:pt>
                <c:pt idx="13">
                  <c:v>2017.5087154374917</c:v>
                </c:pt>
                <c:pt idx="14">
                  <c:v>2052.6288260950637</c:v>
                </c:pt>
                <c:pt idx="15">
                  <c:v>2152.0232144231927</c:v>
                </c:pt>
                <c:pt idx="16">
                  <c:v>2191.25475461606</c:v>
                </c:pt>
                <c:pt idx="17">
                  <c:v>2231.0370628909877</c:v>
                </c:pt>
                <c:pt idx="18">
                  <c:v>2297.120288674239</c:v>
                </c:pt>
                <c:pt idx="19">
                  <c:v>2357.0473794520894</c:v>
                </c:pt>
                <c:pt idx="20">
                  <c:v>2268.6202849961105</c:v>
                </c:pt>
                <c:pt idx="21">
                  <c:v>2388.616094780379</c:v>
                </c:pt>
                <c:pt idx="22">
                  <c:v>2409.4645208311317</c:v>
                </c:pt>
                <c:pt idx="23">
                  <c:v>2473.24749077669</c:v>
                </c:pt>
                <c:pt idx="24">
                  <c:v>2359.793462208012</c:v>
                </c:pt>
                <c:pt idx="25">
                  <c:v>2346.212479148818</c:v>
                </c:pt>
                <c:pt idx="26">
                  <c:v>2401.0817755243124</c:v>
                </c:pt>
                <c:pt idx="27">
                  <c:v>2221.9101450501157</c:v>
                </c:pt>
                <c:pt idx="28">
                  <c:v>2209.522312145251</c:v>
                </c:pt>
                <c:pt idx="29">
                  <c:v>2098.4978378078276</c:v>
                </c:pt>
                <c:pt idx="30">
                  <c:v>2236.212015635127</c:v>
                </c:pt>
                <c:pt idx="31">
                  <c:v>2154.223446153206</c:v>
                </c:pt>
                <c:pt idx="32">
                  <c:v>2005.1790479480203</c:v>
                </c:pt>
                <c:pt idx="33">
                  <c:v>2071.144152037487</c:v>
                </c:pt>
                <c:pt idx="34">
                  <c:v>2201.790936580281</c:v>
                </c:pt>
                <c:pt idx="35">
                  <c:v>2119.8473200505337</c:v>
                </c:pt>
              </c:numCache>
            </c:numRef>
          </c:val>
          <c:smooth val="0"/>
        </c:ser>
        <c:ser>
          <c:idx val="3"/>
          <c:order val="3"/>
          <c:tx>
            <c:strRef>
              <c:f>Sheet1!$E$1</c:f>
              <c:strCache>
                <c:ptCount val="1"/>
                <c:pt idx="0">
                  <c:v>넣은 원금 누계</c:v>
                </c:pt>
              </c:strCache>
            </c:strRef>
          </c:tx>
          <c:spPr>
            <a:ln w="12700">
              <a:solidFill>
                <a:srgbClr val="1A1E25"/>
              </a:solidFill>
              <a:prstDash val="sysDash"/>
            </a:ln>
          </c:spPr>
          <c:marker>
            <c:symbol val="none"/>
          </c:marker>
          <c:cat>
            <c:strRef>
              <c:f>Sheet1!$A$2:$A$37</c:f>
              <c:strCache>
                <c:ptCount val="36"/>
                <c:pt idx="0">
                  <c:v>2020</c:v>
                </c:pt>
                <c:pt idx="1">
                  <c:v>2020</c:v>
                </c:pt>
                <c:pt idx="2">
                  <c:v>2020</c:v>
                </c:pt>
                <c:pt idx="3">
                  <c:v>2020</c:v>
                </c:pt>
                <c:pt idx="4">
                  <c:v>2020</c:v>
                </c:pt>
                <c:pt idx="5">
                  <c:v>2020</c:v>
                </c:pt>
                <c:pt idx="6">
                  <c:v>2020</c:v>
                </c:pt>
                <c:pt idx="7">
                  <c:v>2020</c:v>
                </c:pt>
                <c:pt idx="8">
                  <c:v>2020</c:v>
                </c:pt>
                <c:pt idx="9">
                  <c:v>2020</c:v>
                </c:pt>
                <c:pt idx="10">
                  <c:v>2020</c:v>
                </c:pt>
                <c:pt idx="11">
                  <c:v>2020</c:v>
                </c:pt>
                <c:pt idx="12">
                  <c:v>2021</c:v>
                </c:pt>
                <c:pt idx="13">
                  <c:v>2021</c:v>
                </c:pt>
                <c:pt idx="14">
                  <c:v>2021</c:v>
                </c:pt>
                <c:pt idx="15">
                  <c:v>2021</c:v>
                </c:pt>
                <c:pt idx="16">
                  <c:v>2021</c:v>
                </c:pt>
                <c:pt idx="17">
                  <c:v>2021</c:v>
                </c:pt>
                <c:pt idx="18">
                  <c:v>2021</c:v>
                </c:pt>
                <c:pt idx="19">
                  <c:v>2021</c:v>
                </c:pt>
                <c:pt idx="20">
                  <c:v>2021</c:v>
                </c:pt>
                <c:pt idx="21">
                  <c:v>2021</c:v>
                </c:pt>
                <c:pt idx="22">
                  <c:v>2021</c:v>
                </c:pt>
                <c:pt idx="23">
                  <c:v>2021</c:v>
                </c:pt>
                <c:pt idx="24">
                  <c:v>2022</c:v>
                </c:pt>
                <c:pt idx="25">
                  <c:v>2022</c:v>
                </c:pt>
                <c:pt idx="26">
                  <c:v>2022</c:v>
                </c:pt>
                <c:pt idx="27">
                  <c:v>2022</c:v>
                </c:pt>
                <c:pt idx="28">
                  <c:v>2022</c:v>
                </c:pt>
                <c:pt idx="29">
                  <c:v>2022</c:v>
                </c:pt>
                <c:pt idx="30">
                  <c:v>2022</c:v>
                </c:pt>
                <c:pt idx="31">
                  <c:v>2022</c:v>
                </c:pt>
                <c:pt idx="32">
                  <c:v>2022</c:v>
                </c:pt>
                <c:pt idx="33">
                  <c:v>2022</c:v>
                </c:pt>
                <c:pt idx="34">
                  <c:v>2022</c:v>
                </c:pt>
                <c:pt idx="35">
                  <c:v>2022</c:v>
                </c:pt>
              </c:strCache>
            </c:strRef>
          </c:cat>
          <c:val>
            <c:numRef>
              <c:f>Sheet1!$E$2:$E$37</c:f>
              <c:numCache>
                <c:formatCode>General</c:formatCode>
                <c:ptCount val="36"/>
                <c:pt idx="0">
                  <c:v>970</c:v>
                </c:pt>
                <c:pt idx="1">
                  <c:v>980</c:v>
                </c:pt>
                <c:pt idx="2">
                  <c:v>990</c:v>
                </c:pt>
                <c:pt idx="3">
                  <c:v>1000</c:v>
                </c:pt>
                <c:pt idx="4">
                  <c:v>1010</c:v>
                </c:pt>
                <c:pt idx="5">
                  <c:v>1020</c:v>
                </c:pt>
                <c:pt idx="6">
                  <c:v>1030</c:v>
                </c:pt>
                <c:pt idx="7">
                  <c:v>1040</c:v>
                </c:pt>
                <c:pt idx="8">
                  <c:v>1050</c:v>
                </c:pt>
                <c:pt idx="9">
                  <c:v>1060</c:v>
                </c:pt>
                <c:pt idx="10">
                  <c:v>1070</c:v>
                </c:pt>
                <c:pt idx="11">
                  <c:v>1080</c:v>
                </c:pt>
                <c:pt idx="12">
                  <c:v>1090</c:v>
                </c:pt>
                <c:pt idx="13">
                  <c:v>1100</c:v>
                </c:pt>
                <c:pt idx="14">
                  <c:v>1110</c:v>
                </c:pt>
                <c:pt idx="15">
                  <c:v>1120</c:v>
                </c:pt>
                <c:pt idx="16">
                  <c:v>1130</c:v>
                </c:pt>
                <c:pt idx="17">
                  <c:v>1140</c:v>
                </c:pt>
                <c:pt idx="18">
                  <c:v>1150</c:v>
                </c:pt>
                <c:pt idx="19">
                  <c:v>1160</c:v>
                </c:pt>
                <c:pt idx="20">
                  <c:v>1170</c:v>
                </c:pt>
                <c:pt idx="21">
                  <c:v>1180</c:v>
                </c:pt>
                <c:pt idx="22">
                  <c:v>1190</c:v>
                </c:pt>
                <c:pt idx="23">
                  <c:v>1200</c:v>
                </c:pt>
                <c:pt idx="24">
                  <c:v>1210</c:v>
                </c:pt>
                <c:pt idx="25">
                  <c:v>1220</c:v>
                </c:pt>
                <c:pt idx="26">
                  <c:v>1230</c:v>
                </c:pt>
                <c:pt idx="27">
                  <c:v>1240</c:v>
                </c:pt>
                <c:pt idx="28">
                  <c:v>1250</c:v>
                </c:pt>
                <c:pt idx="29">
                  <c:v>1260</c:v>
                </c:pt>
                <c:pt idx="30">
                  <c:v>1270</c:v>
                </c:pt>
                <c:pt idx="31">
                  <c:v>1280</c:v>
                </c:pt>
                <c:pt idx="32">
                  <c:v>1290</c:v>
                </c:pt>
                <c:pt idx="33">
                  <c:v>1300</c:v>
                </c:pt>
                <c:pt idx="34">
                  <c:v>1310</c:v>
                </c:pt>
                <c:pt idx="35">
                  <c:v>1320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40495176"/>
        <c:crosses val="autoZero"/>
        <c:auto val="1"/>
        <c:lblAlgn val="ctr"/>
        <c:lblOffset val="100"/>
        <c:noMultiLvlLbl val="0"/>
        <c:tickLblSkip val="12"/>
        <c:tickMarkSkip val="12"/>
      </c:catAx>
      <c:valAx>
        <c:axId val="2140495176"/>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118791784"/>
        <c:crosses val="autoZero"/>
      </c:valAx>
    </c:plotArea>
    <c:plotVisOnly val="1"/>
    <c:dispBlanksAs val="gap"/>
    <c:showDLblsOverMax val="0"/>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Deneb</c:v>
                </c:pt>
              </c:strCache>
            </c:strRef>
          </c:tx>
          <c:spPr>
            <a:ln w="28575">
              <a:solidFill>
                <a:srgbClr val="0B3D91"/>
              </a:solidFill>
            </a:ln>
          </c:spPr>
          <c:marker>
            <c:symbol val="none"/>
          </c:marker>
          <c:cat>
            <c:strRef>
              <c:f>Sheet1!$A$2:$A$45</c:f>
              <c:strCache>
                <c:ptCount val="44"/>
                <c:pt idx="0">
                  <c:v>2023</c:v>
                </c:pt>
                <c:pt idx="1">
                  <c:v>2023</c:v>
                </c:pt>
                <c:pt idx="2">
                  <c:v>2023</c:v>
                </c:pt>
                <c:pt idx="3">
                  <c:v>2023</c:v>
                </c:pt>
                <c:pt idx="4">
                  <c:v>2023</c:v>
                </c:pt>
                <c:pt idx="5">
                  <c:v>2023</c:v>
                </c:pt>
                <c:pt idx="6">
                  <c:v>2023</c:v>
                </c:pt>
                <c:pt idx="7">
                  <c:v>2023</c:v>
                </c:pt>
                <c:pt idx="8">
                  <c:v>2023</c:v>
                </c:pt>
                <c:pt idx="9">
                  <c:v>2023</c:v>
                </c:pt>
                <c:pt idx="10">
                  <c:v>2023</c:v>
                </c:pt>
                <c:pt idx="11">
                  <c:v>2023</c:v>
                </c:pt>
                <c:pt idx="12">
                  <c:v>2024</c:v>
                </c:pt>
                <c:pt idx="13">
                  <c:v>2024</c:v>
                </c:pt>
                <c:pt idx="14">
                  <c:v>2024</c:v>
                </c:pt>
                <c:pt idx="15">
                  <c:v>2024</c:v>
                </c:pt>
                <c:pt idx="16">
                  <c:v>2024</c:v>
                </c:pt>
                <c:pt idx="17">
                  <c:v>2024</c:v>
                </c:pt>
                <c:pt idx="18">
                  <c:v>2024</c:v>
                </c:pt>
                <c:pt idx="19">
                  <c:v>2024</c:v>
                </c:pt>
                <c:pt idx="20">
                  <c:v>2024</c:v>
                </c:pt>
                <c:pt idx="21">
                  <c:v>2024</c:v>
                </c:pt>
                <c:pt idx="22">
                  <c:v>2024</c:v>
                </c:pt>
                <c:pt idx="23">
                  <c:v>2024</c:v>
                </c:pt>
                <c:pt idx="24">
                  <c:v>2025</c:v>
                </c:pt>
                <c:pt idx="25">
                  <c:v>2025</c:v>
                </c:pt>
                <c:pt idx="26">
                  <c:v>2025</c:v>
                </c:pt>
                <c:pt idx="27">
                  <c:v>2025</c:v>
                </c:pt>
                <c:pt idx="28">
                  <c:v>2025</c:v>
                </c:pt>
                <c:pt idx="29">
                  <c:v>2025</c:v>
                </c:pt>
                <c:pt idx="30">
                  <c:v>2025</c:v>
                </c:pt>
                <c:pt idx="31">
                  <c:v>2025</c:v>
                </c:pt>
                <c:pt idx="32">
                  <c:v>2025</c:v>
                </c:pt>
                <c:pt idx="33">
                  <c:v>2025</c:v>
                </c:pt>
                <c:pt idx="34">
                  <c:v>2025</c:v>
                </c:pt>
                <c:pt idx="35">
                  <c:v>2025</c:v>
                </c:pt>
                <c:pt idx="36">
                  <c:v>2026</c:v>
                </c:pt>
                <c:pt idx="37">
                  <c:v>2026</c:v>
                </c:pt>
                <c:pt idx="38">
                  <c:v>2026</c:v>
                </c:pt>
                <c:pt idx="39">
                  <c:v>2026</c:v>
                </c:pt>
                <c:pt idx="40">
                  <c:v>2026</c:v>
                </c:pt>
                <c:pt idx="41">
                  <c:v>2026</c:v>
                </c:pt>
                <c:pt idx="42">
                  <c:v>2026</c:v>
                </c:pt>
                <c:pt idx="43">
                  <c:v>2026</c:v>
                </c:pt>
              </c:strCache>
            </c:strRef>
          </c:cat>
          <c:val>
            <c:numRef>
              <c:f>Sheet1!$B$2:$B$45</c:f>
              <c:numCache>
                <c:formatCode>General</c:formatCode>
                <c:ptCount val="44"/>
                <c:pt idx="0">
                  <c:v>8341.517259982676</c:v>
                </c:pt>
                <c:pt idx="1">
                  <c:v>7967.021205573781</c:v>
                </c:pt>
                <c:pt idx="2">
                  <c:v>9023.3730389591</c:v>
                </c:pt>
                <c:pt idx="3">
                  <c:v>9006.974274971204</c:v>
                </c:pt>
                <c:pt idx="4">
                  <c:v>10115.607608723467</c:v>
                </c:pt>
                <c:pt idx="5">
                  <c:v>11467.865218910349</c:v>
                </c:pt>
                <c:pt idx="6">
                  <c:v>12393.276140696524</c:v>
                </c:pt>
                <c:pt idx="7">
                  <c:v>11682.85837704981</c:v>
                </c:pt>
                <c:pt idx="8">
                  <c:v>11041.217468547662</c:v>
                </c:pt>
                <c:pt idx="9">
                  <c:v>10524.774812377062</c:v>
                </c:pt>
                <c:pt idx="10">
                  <c:v>12845.731955371068</c:v>
                </c:pt>
                <c:pt idx="11">
                  <c:v>14417.368233209818</c:v>
                </c:pt>
                <c:pt idx="12">
                  <c:v>14767.887303898979</c:v>
                </c:pt>
                <c:pt idx="13">
                  <c:v>16185.329718793711</c:v>
                </c:pt>
                <c:pt idx="14">
                  <c:v>16747.897614040332</c:v>
                </c:pt>
                <c:pt idx="15">
                  <c:v>14667.580281212744</c:v>
                </c:pt>
                <c:pt idx="16">
                  <c:v>16457.580659960604</c:v>
                </c:pt>
                <c:pt idx="17">
                  <c:v>18296.13568749444</c:v>
                </c:pt>
                <c:pt idx="18">
                  <c:v>18387.13214529933</c:v>
                </c:pt>
                <c:pt idx="19">
                  <c:v>19113.94544603529</c:v>
                </c:pt>
                <c:pt idx="20">
                  <c:v>19032.146642792046</c:v>
                </c:pt>
                <c:pt idx="21">
                  <c:v>18619.828472267225</c:v>
                </c:pt>
                <c:pt idx="22">
                  <c:v>20640.069577094357</c:v>
                </c:pt>
                <c:pt idx="23">
                  <c:v>20032.65574602465</c:v>
                </c:pt>
                <c:pt idx="24">
                  <c:v>20704.018262369966</c:v>
                </c:pt>
                <c:pt idx="25">
                  <c:v>20511.719160115685</c:v>
                </c:pt>
                <c:pt idx="26">
                  <c:v>19488.43364272791</c:v>
                </c:pt>
                <c:pt idx="27">
                  <c:v>18755.09566572177</c:v>
                </c:pt>
                <c:pt idx="28">
                  <c:v>18993.69845207694</c:v>
                </c:pt>
                <c:pt idx="29">
                  <c:v>21279.256001560105</c:v>
                </c:pt>
                <c:pt idx="30">
                  <c:v>22084.240963682525</c:v>
                </c:pt>
                <c:pt idx="31">
                  <c:v>22712.55515655553</c:v>
                </c:pt>
                <c:pt idx="32">
                  <c:v>24785.136397466296</c:v>
                </c:pt>
                <c:pt idx="33">
                  <c:v>26510.04465121707</c:v>
                </c:pt>
                <c:pt idx="34">
                  <c:v>25112.723494203474</c:v>
                </c:pt>
                <c:pt idx="35">
                  <c:v>24990.565104010657</c:v>
                </c:pt>
                <c:pt idx="36">
                  <c:v>26256.797829380677</c:v>
                </c:pt>
                <c:pt idx="37">
                  <c:v>26846.429071558297</c:v>
                </c:pt>
                <c:pt idx="38">
                  <c:v>24482.29406951958</c:v>
                </c:pt>
                <c:pt idx="39">
                  <c:v>29630.136447632074</c:v>
                </c:pt>
                <c:pt idx="40">
                  <c:v>35546.33665252652</c:v>
                </c:pt>
                <c:pt idx="41">
                  <c:v>33898.3093557915</c:v>
                </c:pt>
                <c:pt idx="42">
                  <c:v>33687.76486221718</c:v>
                </c:pt>
                <c:pt idx="43">
                  <c:v>36111.22577284591</c:v>
                </c:pt>
              </c:numCache>
            </c:numRef>
          </c:val>
          <c:smooth val="0"/>
        </c:ser>
        <c:ser>
          <c:idx val="1"/>
          <c:order val="1"/>
          <c:tx>
            <c:strRef>
              <c:f>Sheet1!$C$1</c:f>
              <c:strCache>
                <c:ptCount val="1"/>
                <c:pt idx="0">
                  <c:v>QQQ 단독</c:v>
                </c:pt>
              </c:strCache>
            </c:strRef>
          </c:tx>
          <c:spPr>
            <a:ln w="25400">
              <a:solidFill>
                <a:srgbClr val="E07A1F"/>
              </a:solidFill>
              <a:prstDash val="dash"/>
            </a:ln>
          </c:spPr>
          <c:marker>
            <c:symbol val="none"/>
          </c:marker>
          <c:cat>
            <c:strRef>
              <c:f>Sheet1!$A$2:$A$45</c:f>
              <c:strCache>
                <c:ptCount val="44"/>
                <c:pt idx="0">
                  <c:v>2023</c:v>
                </c:pt>
                <c:pt idx="1">
                  <c:v>2023</c:v>
                </c:pt>
                <c:pt idx="2">
                  <c:v>2023</c:v>
                </c:pt>
                <c:pt idx="3">
                  <c:v>2023</c:v>
                </c:pt>
                <c:pt idx="4">
                  <c:v>2023</c:v>
                </c:pt>
                <c:pt idx="5">
                  <c:v>2023</c:v>
                </c:pt>
                <c:pt idx="6">
                  <c:v>2023</c:v>
                </c:pt>
                <c:pt idx="7">
                  <c:v>2023</c:v>
                </c:pt>
                <c:pt idx="8">
                  <c:v>2023</c:v>
                </c:pt>
                <c:pt idx="9">
                  <c:v>2023</c:v>
                </c:pt>
                <c:pt idx="10">
                  <c:v>2023</c:v>
                </c:pt>
                <c:pt idx="11">
                  <c:v>2023</c:v>
                </c:pt>
                <c:pt idx="12">
                  <c:v>2024</c:v>
                </c:pt>
                <c:pt idx="13">
                  <c:v>2024</c:v>
                </c:pt>
                <c:pt idx="14">
                  <c:v>2024</c:v>
                </c:pt>
                <c:pt idx="15">
                  <c:v>2024</c:v>
                </c:pt>
                <c:pt idx="16">
                  <c:v>2024</c:v>
                </c:pt>
                <c:pt idx="17">
                  <c:v>2024</c:v>
                </c:pt>
                <c:pt idx="18">
                  <c:v>2024</c:v>
                </c:pt>
                <c:pt idx="19">
                  <c:v>2024</c:v>
                </c:pt>
                <c:pt idx="20">
                  <c:v>2024</c:v>
                </c:pt>
                <c:pt idx="21">
                  <c:v>2024</c:v>
                </c:pt>
                <c:pt idx="22">
                  <c:v>2024</c:v>
                </c:pt>
                <c:pt idx="23">
                  <c:v>2024</c:v>
                </c:pt>
                <c:pt idx="24">
                  <c:v>2025</c:v>
                </c:pt>
                <c:pt idx="25">
                  <c:v>2025</c:v>
                </c:pt>
                <c:pt idx="26">
                  <c:v>2025</c:v>
                </c:pt>
                <c:pt idx="27">
                  <c:v>2025</c:v>
                </c:pt>
                <c:pt idx="28">
                  <c:v>2025</c:v>
                </c:pt>
                <c:pt idx="29">
                  <c:v>2025</c:v>
                </c:pt>
                <c:pt idx="30">
                  <c:v>2025</c:v>
                </c:pt>
                <c:pt idx="31">
                  <c:v>2025</c:v>
                </c:pt>
                <c:pt idx="32">
                  <c:v>2025</c:v>
                </c:pt>
                <c:pt idx="33">
                  <c:v>2025</c:v>
                </c:pt>
                <c:pt idx="34">
                  <c:v>2025</c:v>
                </c:pt>
                <c:pt idx="35">
                  <c:v>2025</c:v>
                </c:pt>
                <c:pt idx="36">
                  <c:v>2026</c:v>
                </c:pt>
                <c:pt idx="37">
                  <c:v>2026</c:v>
                </c:pt>
                <c:pt idx="38">
                  <c:v>2026</c:v>
                </c:pt>
                <c:pt idx="39">
                  <c:v>2026</c:v>
                </c:pt>
                <c:pt idx="40">
                  <c:v>2026</c:v>
                </c:pt>
                <c:pt idx="41">
                  <c:v>2026</c:v>
                </c:pt>
                <c:pt idx="42">
                  <c:v>2026</c:v>
                </c:pt>
                <c:pt idx="43">
                  <c:v>2026</c:v>
                </c:pt>
              </c:strCache>
            </c:strRef>
          </c:cat>
          <c:val>
            <c:numRef>
              <c:f>Sheet1!$C$2:$C$45</c:f>
              <c:numCache>
                <c:formatCode>General</c:formatCode>
                <c:ptCount val="44"/>
                <c:pt idx="0">
                  <c:v>3276.0597839699944</c:v>
                </c:pt>
                <c:pt idx="1">
                  <c:v>3274.0131265046302</c:v>
                </c:pt>
                <c:pt idx="2">
                  <c:v>3595.827316424736</c:v>
                </c:pt>
                <c:pt idx="3">
                  <c:v>3624.1510862923287</c:v>
                </c:pt>
                <c:pt idx="4">
                  <c:v>3920.656363814675</c:v>
                </c:pt>
                <c:pt idx="5">
                  <c:v>4178.30190297223</c:v>
                </c:pt>
                <c:pt idx="6">
                  <c:v>4349.934910974488</c:v>
                </c:pt>
                <c:pt idx="7">
                  <c:v>4295.285049651571</c:v>
                </c:pt>
                <c:pt idx="8">
                  <c:v>4086.5783902490653</c:v>
                </c:pt>
                <c:pt idx="9">
                  <c:v>4011.868167297671</c:v>
                </c:pt>
                <c:pt idx="10">
                  <c:v>4456.78106668738</c:v>
                </c:pt>
                <c:pt idx="11">
                  <c:v>4716.293556356859</c:v>
                </c:pt>
                <c:pt idx="12">
                  <c:v>4812.4336807166555</c:v>
                </c:pt>
                <c:pt idx="13">
                  <c:v>5077.081784610699</c:v>
                </c:pt>
                <c:pt idx="14">
                  <c:v>5151.7756563791645</c:v>
                </c:pt>
                <c:pt idx="15">
                  <c:v>4935.976782958499</c:v>
                </c:pt>
                <c:pt idx="16">
                  <c:v>5250.305570737923</c:v>
                </c:pt>
                <c:pt idx="17">
                  <c:v>5600.581053594181</c:v>
                </c:pt>
                <c:pt idx="18">
                  <c:v>5516.356917298968</c:v>
                </c:pt>
                <c:pt idx="19">
                  <c:v>5587.595903593415</c:v>
                </c:pt>
                <c:pt idx="20">
                  <c:v>5744.647911708087</c:v>
                </c:pt>
                <c:pt idx="21">
                  <c:v>5705.016289740993</c:v>
                </c:pt>
                <c:pt idx="22">
                  <c:v>6020.724736323076</c:v>
                </c:pt>
                <c:pt idx="23">
                  <c:v>6057.982746840626</c:v>
                </c:pt>
                <c:pt idx="24">
                  <c:v>6199.262950595066</c:v>
                </c:pt>
                <c:pt idx="25">
                  <c:v>6041.4606097400265</c:v>
                </c:pt>
                <c:pt idx="26">
                  <c:v>5592.578069817282</c:v>
                </c:pt>
                <c:pt idx="27">
                  <c:v>5680.740231374726</c:v>
                </c:pt>
                <c:pt idx="28">
                  <c:v>6212.895704501287</c:v>
                </c:pt>
                <c:pt idx="29">
                  <c:v>6620.180413706256</c:v>
                </c:pt>
                <c:pt idx="30">
                  <c:v>6790.947083231677</c:v>
                </c:pt>
                <c:pt idx="31">
                  <c:v>6866.013181866948</c:v>
                </c:pt>
                <c:pt idx="32">
                  <c:v>7245.755597110586</c:v>
                </c:pt>
                <c:pt idx="33">
                  <c:v>7602.543182596508</c:v>
                </c:pt>
                <c:pt idx="34">
                  <c:v>7493.647525144333</c:v>
                </c:pt>
                <c:pt idx="35">
                  <c:v>7453.396749722621</c:v>
                </c:pt>
                <c:pt idx="36">
                  <c:v>7555.248937499872</c:v>
                </c:pt>
                <c:pt idx="37">
                  <c:v>7387.79806794738</c:v>
                </c:pt>
                <c:pt idx="38">
                  <c:v>7039.84670107167</c:v>
                </c:pt>
                <c:pt idx="39">
                  <c:v>8155.815356880477</c:v>
                </c:pt>
                <c:pt idx="40">
                  <c:v>9028.696430272237</c:v>
                </c:pt>
                <c:pt idx="41">
                  <c:v>9025.14700186923</c:v>
                </c:pt>
                <c:pt idx="42">
                  <c:v>8441.318262265393</c:v>
                </c:pt>
                <c:pt idx="43">
                  <c:v>8804.535846044668</c:v>
                </c:pt>
              </c:numCache>
            </c:numRef>
          </c:val>
          <c:smooth val="0"/>
        </c:ser>
        <c:ser>
          <c:idx val="2"/>
          <c:order val="2"/>
          <c:tx>
            <c:strRef>
              <c:f>Sheet1!$D$1</c:f>
              <c:strCache>
                <c:ptCount val="1"/>
                <c:pt idx="0">
                  <c:v>Polaris</c:v>
                </c:pt>
              </c:strCache>
            </c:strRef>
          </c:tx>
          <c:spPr>
            <a:ln w="25400">
              <a:solidFill>
                <a:srgbClr val="1E9A84"/>
              </a:solidFill>
            </a:ln>
          </c:spPr>
          <c:marker>
            <c:symbol val="none"/>
          </c:marker>
          <c:cat>
            <c:strRef>
              <c:f>Sheet1!$A$2:$A$45</c:f>
              <c:strCache>
                <c:ptCount val="44"/>
                <c:pt idx="0">
                  <c:v>2023</c:v>
                </c:pt>
                <c:pt idx="1">
                  <c:v>2023</c:v>
                </c:pt>
                <c:pt idx="2">
                  <c:v>2023</c:v>
                </c:pt>
                <c:pt idx="3">
                  <c:v>2023</c:v>
                </c:pt>
                <c:pt idx="4">
                  <c:v>2023</c:v>
                </c:pt>
                <c:pt idx="5">
                  <c:v>2023</c:v>
                </c:pt>
                <c:pt idx="6">
                  <c:v>2023</c:v>
                </c:pt>
                <c:pt idx="7">
                  <c:v>2023</c:v>
                </c:pt>
                <c:pt idx="8">
                  <c:v>2023</c:v>
                </c:pt>
                <c:pt idx="9">
                  <c:v>2023</c:v>
                </c:pt>
                <c:pt idx="10">
                  <c:v>2023</c:v>
                </c:pt>
                <c:pt idx="11">
                  <c:v>2023</c:v>
                </c:pt>
                <c:pt idx="12">
                  <c:v>2024</c:v>
                </c:pt>
                <c:pt idx="13">
                  <c:v>2024</c:v>
                </c:pt>
                <c:pt idx="14">
                  <c:v>2024</c:v>
                </c:pt>
                <c:pt idx="15">
                  <c:v>2024</c:v>
                </c:pt>
                <c:pt idx="16">
                  <c:v>2024</c:v>
                </c:pt>
                <c:pt idx="17">
                  <c:v>2024</c:v>
                </c:pt>
                <c:pt idx="18">
                  <c:v>2024</c:v>
                </c:pt>
                <c:pt idx="19">
                  <c:v>2024</c:v>
                </c:pt>
                <c:pt idx="20">
                  <c:v>2024</c:v>
                </c:pt>
                <c:pt idx="21">
                  <c:v>2024</c:v>
                </c:pt>
                <c:pt idx="22">
                  <c:v>2024</c:v>
                </c:pt>
                <c:pt idx="23">
                  <c:v>2024</c:v>
                </c:pt>
                <c:pt idx="24">
                  <c:v>2025</c:v>
                </c:pt>
                <c:pt idx="25">
                  <c:v>2025</c:v>
                </c:pt>
                <c:pt idx="26">
                  <c:v>2025</c:v>
                </c:pt>
                <c:pt idx="27">
                  <c:v>2025</c:v>
                </c:pt>
                <c:pt idx="28">
                  <c:v>2025</c:v>
                </c:pt>
                <c:pt idx="29">
                  <c:v>2025</c:v>
                </c:pt>
                <c:pt idx="30">
                  <c:v>2025</c:v>
                </c:pt>
                <c:pt idx="31">
                  <c:v>2025</c:v>
                </c:pt>
                <c:pt idx="32">
                  <c:v>2025</c:v>
                </c:pt>
                <c:pt idx="33">
                  <c:v>2025</c:v>
                </c:pt>
                <c:pt idx="34">
                  <c:v>2025</c:v>
                </c:pt>
                <c:pt idx="35">
                  <c:v>2025</c:v>
                </c:pt>
                <c:pt idx="36">
                  <c:v>2026</c:v>
                </c:pt>
                <c:pt idx="37">
                  <c:v>2026</c:v>
                </c:pt>
                <c:pt idx="38">
                  <c:v>2026</c:v>
                </c:pt>
                <c:pt idx="39">
                  <c:v>2026</c:v>
                </c:pt>
                <c:pt idx="40">
                  <c:v>2026</c:v>
                </c:pt>
                <c:pt idx="41">
                  <c:v>2026</c:v>
                </c:pt>
                <c:pt idx="42">
                  <c:v>2026</c:v>
                </c:pt>
                <c:pt idx="43">
                  <c:v>2026</c:v>
                </c:pt>
              </c:strCache>
            </c:strRef>
          </c:cat>
          <c:val>
            <c:numRef>
              <c:f>Sheet1!$D$2:$D$45</c:f>
              <c:numCache>
                <c:formatCode>General</c:formatCode>
                <c:ptCount val="44"/>
                <c:pt idx="0">
                  <c:v>2276.4574749615745</c:v>
                </c:pt>
                <c:pt idx="1">
                  <c:v>2226.5091035801606</c:v>
                </c:pt>
                <c:pt idx="2">
                  <c:v>2377.680577220441</c:v>
                </c:pt>
                <c:pt idx="3">
                  <c:v>2410.481004610707</c:v>
                </c:pt>
                <c:pt idx="4">
                  <c:v>2469.222170743319</c:v>
                </c:pt>
                <c:pt idx="5">
                  <c:v>2559.7473341112013</c:v>
                </c:pt>
                <c:pt idx="6">
                  <c:v>2635.718044500683</c:v>
                </c:pt>
                <c:pt idx="7">
                  <c:v>2609.9882194870597</c:v>
                </c:pt>
                <c:pt idx="8">
                  <c:v>2500.3272849522755</c:v>
                </c:pt>
                <c:pt idx="9">
                  <c:v>2502.913104832948</c:v>
                </c:pt>
                <c:pt idx="10">
                  <c:v>2701.3876620127085</c:v>
                </c:pt>
                <c:pt idx="11">
                  <c:v>2820.569250848316</c:v>
                </c:pt>
                <c:pt idx="12">
                  <c:v>2852.385355437811</c:v>
                </c:pt>
                <c:pt idx="13">
                  <c:v>2944.5995651885687</c:v>
                </c:pt>
                <c:pt idx="14">
                  <c:v>3048.6089962186375</c:v>
                </c:pt>
                <c:pt idx="15">
                  <c:v>2979.9847121949556</c:v>
                </c:pt>
                <c:pt idx="16">
                  <c:v>3111.0926650380707</c:v>
                </c:pt>
                <c:pt idx="17">
                  <c:v>3222.357448922012</c:v>
                </c:pt>
                <c:pt idx="18">
                  <c:v>3278.8109934638796</c:v>
                </c:pt>
                <c:pt idx="19">
                  <c:v>3345.4684440959963</c:v>
                </c:pt>
                <c:pt idx="20">
                  <c:v>3447.144058761725</c:v>
                </c:pt>
                <c:pt idx="21">
                  <c:v>3447.511862494084</c:v>
                </c:pt>
                <c:pt idx="22">
                  <c:v>3557.3638716624996</c:v>
                </c:pt>
                <c:pt idx="23">
                  <c:v>3520.223704446922</c:v>
                </c:pt>
                <c:pt idx="24">
                  <c:v>3634.1007641998463</c:v>
                </c:pt>
                <c:pt idx="25">
                  <c:v>3634.598609068117</c:v>
                </c:pt>
                <c:pt idx="26">
                  <c:v>3579.5085174745686</c:v>
                </c:pt>
                <c:pt idx="27">
                  <c:v>3648.1009824347393</c:v>
                </c:pt>
                <c:pt idx="28">
                  <c:v>3804.8423988192117</c:v>
                </c:pt>
                <c:pt idx="29">
                  <c:v>3956.4521035448433</c:v>
                </c:pt>
                <c:pt idx="30">
                  <c:v>4011.4055763497918</c:v>
                </c:pt>
                <c:pt idx="31">
                  <c:v>4113.786461648385</c:v>
                </c:pt>
                <c:pt idx="32">
                  <c:v>4347.149308457675</c:v>
                </c:pt>
                <c:pt idx="33">
                  <c:v>4491.127236128171</c:v>
                </c:pt>
                <c:pt idx="34">
                  <c:v>4548.343567343224</c:v>
                </c:pt>
                <c:pt idx="35">
                  <c:v>4564.553656153168</c:v>
                </c:pt>
                <c:pt idx="36">
                  <c:v>4723.0340612086375</c:v>
                </c:pt>
                <c:pt idx="37">
                  <c:v>4801.597055266247</c:v>
                </c:pt>
                <c:pt idx="38">
                  <c:v>4530.890855984119</c:v>
                </c:pt>
                <c:pt idx="39">
                  <c:v>4866.434774284729</c:v>
                </c:pt>
                <c:pt idx="40">
                  <c:v>5096.589180175866</c:v>
                </c:pt>
                <c:pt idx="41">
                  <c:v>4976.460743755518</c:v>
                </c:pt>
                <c:pt idx="42">
                  <c:v>4872.376788457857</c:v>
                </c:pt>
                <c:pt idx="43">
                  <c:v>5076.739818616718</c:v>
                </c:pt>
              </c:numCache>
            </c:numRef>
          </c:val>
          <c:smooth val="0"/>
        </c:ser>
        <c:ser>
          <c:idx val="3"/>
          <c:order val="3"/>
          <c:tx>
            <c:strRef>
              <c:f>Sheet1!$E$1</c:f>
              <c:strCache>
                <c:ptCount val="1"/>
                <c:pt idx="0">
                  <c:v>넣은 원금 누계</c:v>
                </c:pt>
              </c:strCache>
            </c:strRef>
          </c:tx>
          <c:spPr>
            <a:ln w="12700">
              <a:solidFill>
                <a:srgbClr val="1A1E25"/>
              </a:solidFill>
              <a:prstDash val="sysDash"/>
            </a:ln>
          </c:spPr>
          <c:marker>
            <c:symbol val="none"/>
          </c:marker>
          <c:cat>
            <c:strRef>
              <c:f>Sheet1!$A$2:$A$45</c:f>
              <c:strCache>
                <c:ptCount val="44"/>
                <c:pt idx="0">
                  <c:v>2023</c:v>
                </c:pt>
                <c:pt idx="1">
                  <c:v>2023</c:v>
                </c:pt>
                <c:pt idx="2">
                  <c:v>2023</c:v>
                </c:pt>
                <c:pt idx="3">
                  <c:v>2023</c:v>
                </c:pt>
                <c:pt idx="4">
                  <c:v>2023</c:v>
                </c:pt>
                <c:pt idx="5">
                  <c:v>2023</c:v>
                </c:pt>
                <c:pt idx="6">
                  <c:v>2023</c:v>
                </c:pt>
                <c:pt idx="7">
                  <c:v>2023</c:v>
                </c:pt>
                <c:pt idx="8">
                  <c:v>2023</c:v>
                </c:pt>
                <c:pt idx="9">
                  <c:v>2023</c:v>
                </c:pt>
                <c:pt idx="10">
                  <c:v>2023</c:v>
                </c:pt>
                <c:pt idx="11">
                  <c:v>2023</c:v>
                </c:pt>
                <c:pt idx="12">
                  <c:v>2024</c:v>
                </c:pt>
                <c:pt idx="13">
                  <c:v>2024</c:v>
                </c:pt>
                <c:pt idx="14">
                  <c:v>2024</c:v>
                </c:pt>
                <c:pt idx="15">
                  <c:v>2024</c:v>
                </c:pt>
                <c:pt idx="16">
                  <c:v>2024</c:v>
                </c:pt>
                <c:pt idx="17">
                  <c:v>2024</c:v>
                </c:pt>
                <c:pt idx="18">
                  <c:v>2024</c:v>
                </c:pt>
                <c:pt idx="19">
                  <c:v>2024</c:v>
                </c:pt>
                <c:pt idx="20">
                  <c:v>2024</c:v>
                </c:pt>
                <c:pt idx="21">
                  <c:v>2024</c:v>
                </c:pt>
                <c:pt idx="22">
                  <c:v>2024</c:v>
                </c:pt>
                <c:pt idx="23">
                  <c:v>2024</c:v>
                </c:pt>
                <c:pt idx="24">
                  <c:v>2025</c:v>
                </c:pt>
                <c:pt idx="25">
                  <c:v>2025</c:v>
                </c:pt>
                <c:pt idx="26">
                  <c:v>2025</c:v>
                </c:pt>
                <c:pt idx="27">
                  <c:v>2025</c:v>
                </c:pt>
                <c:pt idx="28">
                  <c:v>2025</c:v>
                </c:pt>
                <c:pt idx="29">
                  <c:v>2025</c:v>
                </c:pt>
                <c:pt idx="30">
                  <c:v>2025</c:v>
                </c:pt>
                <c:pt idx="31">
                  <c:v>2025</c:v>
                </c:pt>
                <c:pt idx="32">
                  <c:v>2025</c:v>
                </c:pt>
                <c:pt idx="33">
                  <c:v>2025</c:v>
                </c:pt>
                <c:pt idx="34">
                  <c:v>2025</c:v>
                </c:pt>
                <c:pt idx="35">
                  <c:v>2025</c:v>
                </c:pt>
                <c:pt idx="36">
                  <c:v>2026</c:v>
                </c:pt>
                <c:pt idx="37">
                  <c:v>2026</c:v>
                </c:pt>
                <c:pt idx="38">
                  <c:v>2026</c:v>
                </c:pt>
                <c:pt idx="39">
                  <c:v>2026</c:v>
                </c:pt>
                <c:pt idx="40">
                  <c:v>2026</c:v>
                </c:pt>
                <c:pt idx="41">
                  <c:v>2026</c:v>
                </c:pt>
                <c:pt idx="42">
                  <c:v>2026</c:v>
                </c:pt>
                <c:pt idx="43">
                  <c:v>2026</c:v>
                </c:pt>
              </c:strCache>
            </c:strRef>
          </c:cat>
          <c:val>
            <c:numRef>
              <c:f>Sheet1!$E$2:$E$45</c:f>
              <c:numCache>
                <c:formatCode>General</c:formatCode>
                <c:ptCount val="44"/>
                <c:pt idx="0">
                  <c:v>1330</c:v>
                </c:pt>
                <c:pt idx="1">
                  <c:v>1340</c:v>
                </c:pt>
                <c:pt idx="2">
                  <c:v>1350</c:v>
                </c:pt>
                <c:pt idx="3">
                  <c:v>1360</c:v>
                </c:pt>
                <c:pt idx="4">
                  <c:v>1370</c:v>
                </c:pt>
                <c:pt idx="5">
                  <c:v>1380</c:v>
                </c:pt>
                <c:pt idx="6">
                  <c:v>1390</c:v>
                </c:pt>
                <c:pt idx="7">
                  <c:v>1400</c:v>
                </c:pt>
                <c:pt idx="8">
                  <c:v>1410</c:v>
                </c:pt>
                <c:pt idx="9">
                  <c:v>1420</c:v>
                </c:pt>
                <c:pt idx="10">
                  <c:v>1430</c:v>
                </c:pt>
                <c:pt idx="11">
                  <c:v>1440</c:v>
                </c:pt>
                <c:pt idx="12">
                  <c:v>1450</c:v>
                </c:pt>
                <c:pt idx="13">
                  <c:v>1460</c:v>
                </c:pt>
                <c:pt idx="14">
                  <c:v>1470</c:v>
                </c:pt>
                <c:pt idx="15">
                  <c:v>1480</c:v>
                </c:pt>
                <c:pt idx="16">
                  <c:v>1490</c:v>
                </c:pt>
                <c:pt idx="17">
                  <c:v>1500</c:v>
                </c:pt>
                <c:pt idx="18">
                  <c:v>1510</c:v>
                </c:pt>
                <c:pt idx="19">
                  <c:v>1520</c:v>
                </c:pt>
                <c:pt idx="20">
                  <c:v>1530</c:v>
                </c:pt>
                <c:pt idx="21">
                  <c:v>1540</c:v>
                </c:pt>
                <c:pt idx="22">
                  <c:v>1550</c:v>
                </c:pt>
                <c:pt idx="23">
                  <c:v>1560</c:v>
                </c:pt>
                <c:pt idx="24">
                  <c:v>1570</c:v>
                </c:pt>
                <c:pt idx="25">
                  <c:v>1580</c:v>
                </c:pt>
                <c:pt idx="26">
                  <c:v>1590</c:v>
                </c:pt>
                <c:pt idx="27">
                  <c:v>1600</c:v>
                </c:pt>
                <c:pt idx="28">
                  <c:v>1610</c:v>
                </c:pt>
                <c:pt idx="29">
                  <c:v>1620</c:v>
                </c:pt>
                <c:pt idx="30">
                  <c:v>1630</c:v>
                </c:pt>
                <c:pt idx="31">
                  <c:v>1640</c:v>
                </c:pt>
                <c:pt idx="32">
                  <c:v>1650</c:v>
                </c:pt>
                <c:pt idx="33">
                  <c:v>1660</c:v>
                </c:pt>
                <c:pt idx="34">
                  <c:v>1670</c:v>
                </c:pt>
                <c:pt idx="35">
                  <c:v>1680</c:v>
                </c:pt>
                <c:pt idx="36">
                  <c:v>1690</c:v>
                </c:pt>
                <c:pt idx="37">
                  <c:v>1700</c:v>
                </c:pt>
                <c:pt idx="38">
                  <c:v>1710</c:v>
                </c:pt>
                <c:pt idx="39">
                  <c:v>1720</c:v>
                </c:pt>
                <c:pt idx="40">
                  <c:v>1730</c:v>
                </c:pt>
                <c:pt idx="41">
                  <c:v>1740</c:v>
                </c:pt>
                <c:pt idx="42">
                  <c:v>1750</c:v>
                </c:pt>
                <c:pt idx="43">
                  <c:v>1760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40495176"/>
        <c:crosses val="autoZero"/>
        <c:auto val="1"/>
        <c:lblAlgn val="ctr"/>
        <c:lblOffset val="100"/>
        <c:noMultiLvlLbl val="0"/>
        <c:tickLblSkip val="12"/>
        <c:tickMarkSkip val="12"/>
      </c:catAx>
      <c:valAx>
        <c:axId val="2140495176"/>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118791784"/>
        <c:crosses val="autoZero"/>
      </c:valAx>
    </c:plotArea>
    <c:plotVisOnly val="1"/>
    <c:dispBlanksAs val="gap"/>
    <c:showDLblsOverMax val="0"/>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Deneb</c:v>
                </c:pt>
              </c:strCache>
            </c:strRef>
          </c:tx>
          <c:spPr>
            <a:ln w="28575">
              <a:solidFill>
                <a:srgbClr val="0B3D91"/>
              </a:solidFill>
            </a:ln>
          </c:spPr>
          <c:marker>
            <c:symbol val="none"/>
          </c:marker>
          <c:cat>
            <c:strRef>
              <c:f>Sheet1!$A$2:$A$49</c:f>
              <c:strCache>
                <c:ptCount val="48"/>
                <c:pt idx="0">
                  <c:v>2012</c:v>
                </c:pt>
                <c:pt idx="1">
                  <c:v>2012</c:v>
                </c:pt>
                <c:pt idx="2">
                  <c:v>2012</c:v>
                </c:pt>
                <c:pt idx="3">
                  <c:v>2012</c:v>
                </c:pt>
                <c:pt idx="4">
                  <c:v>2012</c:v>
                </c:pt>
                <c:pt idx="5">
                  <c:v>2012</c:v>
                </c:pt>
                <c:pt idx="6">
                  <c:v>2012</c:v>
                </c:pt>
                <c:pt idx="7">
                  <c:v>2012</c:v>
                </c:pt>
                <c:pt idx="8">
                  <c:v>2012</c:v>
                </c:pt>
                <c:pt idx="9">
                  <c:v>2012</c:v>
                </c:pt>
                <c:pt idx="10">
                  <c:v>2012</c:v>
                </c:pt>
                <c:pt idx="11">
                  <c:v>2012</c:v>
                </c:pt>
                <c:pt idx="12">
                  <c:v>2013</c:v>
                </c:pt>
                <c:pt idx="13">
                  <c:v>2013</c:v>
                </c:pt>
                <c:pt idx="14">
                  <c:v>2013</c:v>
                </c:pt>
                <c:pt idx="15">
                  <c:v>2013</c:v>
                </c:pt>
                <c:pt idx="16">
                  <c:v>2013</c:v>
                </c:pt>
                <c:pt idx="17">
                  <c:v>2013</c:v>
                </c:pt>
                <c:pt idx="18">
                  <c:v>2013</c:v>
                </c:pt>
                <c:pt idx="19">
                  <c:v>2013</c:v>
                </c:pt>
                <c:pt idx="20">
                  <c:v>2013</c:v>
                </c:pt>
                <c:pt idx="21">
                  <c:v>2013</c:v>
                </c:pt>
                <c:pt idx="22">
                  <c:v>2013</c:v>
                </c:pt>
                <c:pt idx="23">
                  <c:v>2013</c:v>
                </c:pt>
                <c:pt idx="24">
                  <c:v>2014</c:v>
                </c:pt>
                <c:pt idx="25">
                  <c:v>2014</c:v>
                </c:pt>
                <c:pt idx="26">
                  <c:v>2014</c:v>
                </c:pt>
                <c:pt idx="27">
                  <c:v>2014</c:v>
                </c:pt>
                <c:pt idx="28">
                  <c:v>2014</c:v>
                </c:pt>
                <c:pt idx="29">
                  <c:v>2014</c:v>
                </c:pt>
                <c:pt idx="30">
                  <c:v>2014</c:v>
                </c:pt>
                <c:pt idx="31">
                  <c:v>2014</c:v>
                </c:pt>
                <c:pt idx="32">
                  <c:v>2014</c:v>
                </c:pt>
                <c:pt idx="33">
                  <c:v>2014</c:v>
                </c:pt>
                <c:pt idx="34">
                  <c:v>2014</c:v>
                </c:pt>
                <c:pt idx="35">
                  <c:v>2014</c:v>
                </c:pt>
                <c:pt idx="36">
                  <c:v>2015</c:v>
                </c:pt>
                <c:pt idx="37">
                  <c:v>2015</c:v>
                </c:pt>
                <c:pt idx="38">
                  <c:v>2015</c:v>
                </c:pt>
                <c:pt idx="39">
                  <c:v>2015</c:v>
                </c:pt>
                <c:pt idx="40">
                  <c:v>2015</c:v>
                </c:pt>
                <c:pt idx="41">
                  <c:v>2015</c:v>
                </c:pt>
                <c:pt idx="42">
                  <c:v>2015</c:v>
                </c:pt>
                <c:pt idx="43">
                  <c:v>2015</c:v>
                </c:pt>
                <c:pt idx="44">
                  <c:v>2015</c:v>
                </c:pt>
                <c:pt idx="45">
                  <c:v>2015</c:v>
                </c:pt>
                <c:pt idx="46">
                  <c:v>2015</c:v>
                </c:pt>
                <c:pt idx="47">
                  <c:v>2015</c:v>
                </c:pt>
              </c:strCache>
            </c:strRef>
          </c:cat>
          <c:val>
            <c:numRef>
              <c:f>Sheet1!$B$2:$B$49</c:f>
              <c:numCache>
                <c:formatCode>General</c:formatCode>
                <c:ptCount val="48"/>
                <c:pt idx="0">
                  <c:v>11.213422473076623</c:v>
                </c:pt>
                <c:pt idx="1">
                  <c:v>23.80548216726327</c:v>
                </c:pt>
                <c:pt idx="2">
                  <c:v>37.08091081261784</c:v>
                </c:pt>
                <c:pt idx="3">
                  <c:v>45.46683731838303</c:v>
                </c:pt>
                <c:pt idx="4">
                  <c:v>51.91853553791116</c:v>
                </c:pt>
                <c:pt idx="5">
                  <c:v>64.25468323750923</c:v>
                </c:pt>
                <c:pt idx="6">
                  <c:v>75.82181615660201</c:v>
                </c:pt>
                <c:pt idx="7">
                  <c:v>94.4247133203523</c:v>
                </c:pt>
                <c:pt idx="8">
                  <c:v>106.29071875922925</c:v>
                </c:pt>
                <c:pt idx="9">
                  <c:v>106.02523138642987</c:v>
                </c:pt>
                <c:pt idx="10">
                  <c:v>113.51846099875313</c:v>
                </c:pt>
                <c:pt idx="11">
                  <c:v>122.10162008395707</c:v>
                </c:pt>
                <c:pt idx="12">
                  <c:v>140.49365162899312</c:v>
                </c:pt>
                <c:pt idx="13">
                  <c:v>152.04220227106666</c:v>
                </c:pt>
                <c:pt idx="14">
                  <c:v>173.50835855926744</c:v>
                </c:pt>
                <c:pt idx="15">
                  <c:v>193.48035237212056</c:v>
                </c:pt>
                <c:pt idx="16">
                  <c:v>217.80539114263314</c:v>
                </c:pt>
                <c:pt idx="17">
                  <c:v>213.37129901021453</c:v>
                </c:pt>
                <c:pt idx="18">
                  <c:v>238.49075272576005</c:v>
                </c:pt>
                <c:pt idx="19">
                  <c:v>242.81115235270443</c:v>
                </c:pt>
                <c:pt idx="20">
                  <c:v>264.9040926052649</c:v>
                </c:pt>
                <c:pt idx="21">
                  <c:v>291.74416777421663</c:v>
                </c:pt>
                <c:pt idx="22">
                  <c:v>313.50843398629894</c:v>
                </c:pt>
                <c:pt idx="23">
                  <c:v>334.00964499976624</c:v>
                </c:pt>
                <c:pt idx="24">
                  <c:v>329.8323473041796</c:v>
                </c:pt>
                <c:pt idx="25">
                  <c:v>361.1803157032581</c:v>
                </c:pt>
                <c:pt idx="26">
                  <c:v>367.4876975409001</c:v>
                </c:pt>
                <c:pt idx="27">
                  <c:v>361.3399817884283</c:v>
                </c:pt>
                <c:pt idx="28">
                  <c:v>402.9849502735276</c:v>
                </c:pt>
                <c:pt idx="29">
                  <c:v>438.657487485945</c:v>
                </c:pt>
                <c:pt idx="30">
                  <c:v>453.69912482587563</c:v>
                </c:pt>
                <c:pt idx="31">
                  <c:v>513.2810549555993</c:v>
                </c:pt>
                <c:pt idx="32">
                  <c:v>514.2148474716863</c:v>
                </c:pt>
                <c:pt idx="33">
                  <c:v>532.5286002964607</c:v>
                </c:pt>
                <c:pt idx="34">
                  <c:v>593.3504030506715</c:v>
                </c:pt>
                <c:pt idx="35">
                  <c:v>565.5411109470227</c:v>
                </c:pt>
                <c:pt idx="36">
                  <c:v>557.4098309355111</c:v>
                </c:pt>
                <c:pt idx="37">
                  <c:v>635.7781990782452</c:v>
                </c:pt>
                <c:pt idx="38">
                  <c:v>609.8322765390974</c:v>
                </c:pt>
                <c:pt idx="39">
                  <c:v>641.2070595308302</c:v>
                </c:pt>
                <c:pt idx="40">
                  <c:v>677.1589681062226</c:v>
                </c:pt>
                <c:pt idx="41">
                  <c:v>646.5792528537428</c:v>
                </c:pt>
                <c:pt idx="42">
                  <c:v>710.4716248574916</c:v>
                </c:pt>
                <c:pt idx="43">
                  <c:v>580.2223209367326</c:v>
                </c:pt>
                <c:pt idx="44">
                  <c:v>565.5773009616528</c:v>
                </c:pt>
                <c:pt idx="45">
                  <c:v>711.6236634516243</c:v>
                </c:pt>
                <c:pt idx="46">
                  <c:v>727.5988761777757</c:v>
                </c:pt>
                <c:pt idx="47">
                  <c:v>709.2672149040551</c:v>
                </c:pt>
              </c:numCache>
            </c:numRef>
          </c:val>
          <c:smooth val="0"/>
        </c:ser>
        <c:ser>
          <c:idx val="1"/>
          <c:order val="1"/>
          <c:tx>
            <c:strRef>
              <c:f>Sheet1!$C$1</c:f>
              <c:strCache>
                <c:ptCount val="1"/>
                <c:pt idx="0">
                  <c:v>TQQQ 단독 적립</c:v>
                </c:pt>
              </c:strCache>
            </c:strRef>
          </c:tx>
          <c:spPr>
            <a:ln w="22225">
              <a:solidFill>
                <a:srgbClr val="7A4CB0"/>
              </a:solidFill>
              <a:prstDash val="dash"/>
            </a:ln>
          </c:spPr>
          <c:marker>
            <c:symbol val="none"/>
          </c:marker>
          <c:cat>
            <c:strRef>
              <c:f>Sheet1!$A$2:$A$49</c:f>
              <c:strCache>
                <c:ptCount val="48"/>
                <c:pt idx="0">
                  <c:v>2012</c:v>
                </c:pt>
                <c:pt idx="1">
                  <c:v>2012</c:v>
                </c:pt>
                <c:pt idx="2">
                  <c:v>2012</c:v>
                </c:pt>
                <c:pt idx="3">
                  <c:v>2012</c:v>
                </c:pt>
                <c:pt idx="4">
                  <c:v>2012</c:v>
                </c:pt>
                <c:pt idx="5">
                  <c:v>2012</c:v>
                </c:pt>
                <c:pt idx="6">
                  <c:v>2012</c:v>
                </c:pt>
                <c:pt idx="7">
                  <c:v>2012</c:v>
                </c:pt>
                <c:pt idx="8">
                  <c:v>2012</c:v>
                </c:pt>
                <c:pt idx="9">
                  <c:v>2012</c:v>
                </c:pt>
                <c:pt idx="10">
                  <c:v>2012</c:v>
                </c:pt>
                <c:pt idx="11">
                  <c:v>2012</c:v>
                </c:pt>
                <c:pt idx="12">
                  <c:v>2013</c:v>
                </c:pt>
                <c:pt idx="13">
                  <c:v>2013</c:v>
                </c:pt>
                <c:pt idx="14">
                  <c:v>2013</c:v>
                </c:pt>
                <c:pt idx="15">
                  <c:v>2013</c:v>
                </c:pt>
                <c:pt idx="16">
                  <c:v>2013</c:v>
                </c:pt>
                <c:pt idx="17">
                  <c:v>2013</c:v>
                </c:pt>
                <c:pt idx="18">
                  <c:v>2013</c:v>
                </c:pt>
                <c:pt idx="19">
                  <c:v>2013</c:v>
                </c:pt>
                <c:pt idx="20">
                  <c:v>2013</c:v>
                </c:pt>
                <c:pt idx="21">
                  <c:v>2013</c:v>
                </c:pt>
                <c:pt idx="22">
                  <c:v>2013</c:v>
                </c:pt>
                <c:pt idx="23">
                  <c:v>2013</c:v>
                </c:pt>
                <c:pt idx="24">
                  <c:v>2014</c:v>
                </c:pt>
                <c:pt idx="25">
                  <c:v>2014</c:v>
                </c:pt>
                <c:pt idx="26">
                  <c:v>2014</c:v>
                </c:pt>
                <c:pt idx="27">
                  <c:v>2014</c:v>
                </c:pt>
                <c:pt idx="28">
                  <c:v>2014</c:v>
                </c:pt>
                <c:pt idx="29">
                  <c:v>2014</c:v>
                </c:pt>
                <c:pt idx="30">
                  <c:v>2014</c:v>
                </c:pt>
                <c:pt idx="31">
                  <c:v>2014</c:v>
                </c:pt>
                <c:pt idx="32">
                  <c:v>2014</c:v>
                </c:pt>
                <c:pt idx="33">
                  <c:v>2014</c:v>
                </c:pt>
                <c:pt idx="34">
                  <c:v>2014</c:v>
                </c:pt>
                <c:pt idx="35">
                  <c:v>2014</c:v>
                </c:pt>
                <c:pt idx="36">
                  <c:v>2015</c:v>
                </c:pt>
                <c:pt idx="37">
                  <c:v>2015</c:v>
                </c:pt>
                <c:pt idx="38">
                  <c:v>2015</c:v>
                </c:pt>
                <c:pt idx="39">
                  <c:v>2015</c:v>
                </c:pt>
                <c:pt idx="40">
                  <c:v>2015</c:v>
                </c:pt>
                <c:pt idx="41">
                  <c:v>2015</c:v>
                </c:pt>
                <c:pt idx="42">
                  <c:v>2015</c:v>
                </c:pt>
                <c:pt idx="43">
                  <c:v>2015</c:v>
                </c:pt>
                <c:pt idx="44">
                  <c:v>2015</c:v>
                </c:pt>
                <c:pt idx="45">
                  <c:v>2015</c:v>
                </c:pt>
                <c:pt idx="46">
                  <c:v>2015</c:v>
                </c:pt>
                <c:pt idx="47">
                  <c:v>2015</c:v>
                </c:pt>
              </c:strCache>
            </c:strRef>
          </c:cat>
          <c:val>
            <c:numRef>
              <c:f>Sheet1!$C$2:$C$49</c:f>
              <c:numCache>
                <c:formatCode>General</c:formatCode>
                <c:ptCount val="48"/>
                <c:pt idx="0">
                  <c:v>11.984501101730059</c:v>
                </c:pt>
                <c:pt idx="1">
                  <c:v>26.10621389957709</c:v>
                </c:pt>
                <c:pt idx="2">
                  <c:v>41.39729172860167</c:v>
                </c:pt>
                <c:pt idx="3">
                  <c:v>48.887593331212706</c:v>
                </c:pt>
                <c:pt idx="4">
                  <c:v>46.78996409218456</c:v>
                </c:pt>
                <c:pt idx="5">
                  <c:v>63.27060739640142</c:v>
                </c:pt>
                <c:pt idx="6">
                  <c:v>74.84476441581641</c:v>
                </c:pt>
                <c:pt idx="7">
                  <c:v>98.59606127968625</c:v>
                </c:pt>
                <c:pt idx="8">
                  <c:v>110.94687917500555</c:v>
                </c:pt>
                <c:pt idx="9">
                  <c:v>102.06259570748615</c:v>
                </c:pt>
                <c:pt idx="10">
                  <c:v>115.19822411785427</c:v>
                </c:pt>
                <c:pt idx="11">
                  <c:v>122.81292023137335</c:v>
                </c:pt>
                <c:pt idx="12">
                  <c:v>142.0386334920795</c:v>
                </c:pt>
                <c:pt idx="13">
                  <c:v>152.6043984224755</c:v>
                </c:pt>
                <c:pt idx="14">
                  <c:v>176.68967916314065</c:v>
                </c:pt>
                <c:pt idx="15">
                  <c:v>199.8388810438021</c:v>
                </c:pt>
                <c:pt idx="16">
                  <c:v>232.43251887775835</c:v>
                </c:pt>
                <c:pt idx="17">
                  <c:v>222.91571240387083</c:v>
                </c:pt>
                <c:pt idx="18">
                  <c:v>279.5595209598396</c:v>
                </c:pt>
                <c:pt idx="19">
                  <c:v>284.35309721485925</c:v>
                </c:pt>
                <c:pt idx="20">
                  <c:v>338.0402382421265</c:v>
                </c:pt>
                <c:pt idx="21">
                  <c:v>398.838974685517</c:v>
                </c:pt>
                <c:pt idx="22">
                  <c:v>451.08458638350936</c:v>
                </c:pt>
                <c:pt idx="23">
                  <c:v>501.9836476134592</c:v>
                </c:pt>
                <c:pt idx="24">
                  <c:v>479.64506408904697</c:v>
                </c:pt>
                <c:pt idx="25">
                  <c:v>565.8592457555426</c:v>
                </c:pt>
                <c:pt idx="26">
                  <c:v>527.8762549570375</c:v>
                </c:pt>
                <c:pt idx="27">
                  <c:v>526.4176341326807</c:v>
                </c:pt>
                <c:pt idx="28">
                  <c:v>608.7430295148162</c:v>
                </c:pt>
                <c:pt idx="29">
                  <c:v>677.2729899301154</c:v>
                </c:pt>
                <c:pt idx="30">
                  <c:v>707.8778600718384</c:v>
                </c:pt>
                <c:pt idx="31">
                  <c:v>829.0397293735383</c:v>
                </c:pt>
                <c:pt idx="32">
                  <c:v>815.6542984713395</c:v>
                </c:pt>
                <c:pt idx="33">
                  <c:v>880.4784197512058</c:v>
                </c:pt>
                <c:pt idx="34">
                  <c:v>1017.6391703301088</c:v>
                </c:pt>
                <c:pt idx="35">
                  <c:v>950.8084951135409</c:v>
                </c:pt>
                <c:pt idx="36">
                  <c:v>894.1226452204006</c:v>
                </c:pt>
                <c:pt idx="37">
                  <c:v>1109.3820359184238</c:v>
                </c:pt>
                <c:pt idx="38">
                  <c:v>1035.6524762279812</c:v>
                </c:pt>
                <c:pt idx="39">
                  <c:v>1099.7292436005196</c:v>
                </c:pt>
                <c:pt idx="40">
                  <c:v>1179.79831843123</c:v>
                </c:pt>
                <c:pt idx="41">
                  <c:v>1098.6981080524101</c:v>
                </c:pt>
                <c:pt idx="42">
                  <c:v>1256.4610549157205</c:v>
                </c:pt>
                <c:pt idx="43">
                  <c:v>996.9911288108094</c:v>
                </c:pt>
                <c:pt idx="44">
                  <c:v>925.9831335508185</c:v>
                </c:pt>
                <c:pt idx="45">
                  <c:v>1284.2310298908737</c:v>
                </c:pt>
                <c:pt idx="46">
                  <c:v>1310.8652673224474</c:v>
                </c:pt>
                <c:pt idx="47">
                  <c:v>1244.413711123282</c:v>
                </c:pt>
              </c:numCache>
            </c:numRef>
          </c:val>
          <c:smooth val="0"/>
        </c:ser>
        <c:ser>
          <c:idx val="2"/>
          <c:order val="2"/>
          <c:tx>
            <c:strRef>
              <c:f>Sheet1!$D$1</c:f>
              <c:strCache>
                <c:ptCount val="1"/>
                <c:pt idx="0">
                  <c:v>QLD 단독 적립</c:v>
                </c:pt>
              </c:strCache>
            </c:strRef>
          </c:tx>
          <c:spPr>
            <a:ln w="19050">
              <a:solidFill>
                <a:srgbClr val="3D9BE0"/>
              </a:solidFill>
            </a:ln>
          </c:spPr>
          <c:marker>
            <c:symbol val="none"/>
          </c:marker>
          <c:cat>
            <c:strRef>
              <c:f>Sheet1!$A$2:$A$49</c:f>
              <c:strCache>
                <c:ptCount val="48"/>
                <c:pt idx="0">
                  <c:v>2012</c:v>
                </c:pt>
                <c:pt idx="1">
                  <c:v>2012</c:v>
                </c:pt>
                <c:pt idx="2">
                  <c:v>2012</c:v>
                </c:pt>
                <c:pt idx="3">
                  <c:v>2012</c:v>
                </c:pt>
                <c:pt idx="4">
                  <c:v>2012</c:v>
                </c:pt>
                <c:pt idx="5">
                  <c:v>2012</c:v>
                </c:pt>
                <c:pt idx="6">
                  <c:v>2012</c:v>
                </c:pt>
                <c:pt idx="7">
                  <c:v>2012</c:v>
                </c:pt>
                <c:pt idx="8">
                  <c:v>2012</c:v>
                </c:pt>
                <c:pt idx="9">
                  <c:v>2012</c:v>
                </c:pt>
                <c:pt idx="10">
                  <c:v>2012</c:v>
                </c:pt>
                <c:pt idx="11">
                  <c:v>2012</c:v>
                </c:pt>
                <c:pt idx="12">
                  <c:v>2013</c:v>
                </c:pt>
                <c:pt idx="13">
                  <c:v>2013</c:v>
                </c:pt>
                <c:pt idx="14">
                  <c:v>2013</c:v>
                </c:pt>
                <c:pt idx="15">
                  <c:v>2013</c:v>
                </c:pt>
                <c:pt idx="16">
                  <c:v>2013</c:v>
                </c:pt>
                <c:pt idx="17">
                  <c:v>2013</c:v>
                </c:pt>
                <c:pt idx="18">
                  <c:v>2013</c:v>
                </c:pt>
                <c:pt idx="19">
                  <c:v>2013</c:v>
                </c:pt>
                <c:pt idx="20">
                  <c:v>2013</c:v>
                </c:pt>
                <c:pt idx="21">
                  <c:v>2013</c:v>
                </c:pt>
                <c:pt idx="22">
                  <c:v>2013</c:v>
                </c:pt>
                <c:pt idx="23">
                  <c:v>2013</c:v>
                </c:pt>
                <c:pt idx="24">
                  <c:v>2014</c:v>
                </c:pt>
                <c:pt idx="25">
                  <c:v>2014</c:v>
                </c:pt>
                <c:pt idx="26">
                  <c:v>2014</c:v>
                </c:pt>
                <c:pt idx="27">
                  <c:v>2014</c:v>
                </c:pt>
                <c:pt idx="28">
                  <c:v>2014</c:v>
                </c:pt>
                <c:pt idx="29">
                  <c:v>2014</c:v>
                </c:pt>
                <c:pt idx="30">
                  <c:v>2014</c:v>
                </c:pt>
                <c:pt idx="31">
                  <c:v>2014</c:v>
                </c:pt>
                <c:pt idx="32">
                  <c:v>2014</c:v>
                </c:pt>
                <c:pt idx="33">
                  <c:v>2014</c:v>
                </c:pt>
                <c:pt idx="34">
                  <c:v>2014</c:v>
                </c:pt>
                <c:pt idx="35">
                  <c:v>2014</c:v>
                </c:pt>
                <c:pt idx="36">
                  <c:v>2015</c:v>
                </c:pt>
                <c:pt idx="37">
                  <c:v>2015</c:v>
                </c:pt>
                <c:pt idx="38">
                  <c:v>2015</c:v>
                </c:pt>
                <c:pt idx="39">
                  <c:v>2015</c:v>
                </c:pt>
                <c:pt idx="40">
                  <c:v>2015</c:v>
                </c:pt>
                <c:pt idx="41">
                  <c:v>2015</c:v>
                </c:pt>
                <c:pt idx="42">
                  <c:v>2015</c:v>
                </c:pt>
                <c:pt idx="43">
                  <c:v>2015</c:v>
                </c:pt>
                <c:pt idx="44">
                  <c:v>2015</c:v>
                </c:pt>
                <c:pt idx="45">
                  <c:v>2015</c:v>
                </c:pt>
                <c:pt idx="46">
                  <c:v>2015</c:v>
                </c:pt>
                <c:pt idx="47">
                  <c:v>2015</c:v>
                </c:pt>
              </c:strCache>
            </c:strRef>
          </c:cat>
          <c:val>
            <c:numRef>
              <c:f>Sheet1!$D$2:$D$49</c:f>
              <c:numCache>
                <c:formatCode>General</c:formatCode>
                <c:ptCount val="48"/>
                <c:pt idx="0">
                  <c:v>11.297720986025782</c:v>
                </c:pt>
                <c:pt idx="1">
                  <c:v>23.89740813244399</c:v>
                </c:pt>
                <c:pt idx="2">
                  <c:v>37.14104173689111</c:v>
                </c:pt>
                <c:pt idx="3">
                  <c:v>45.71893963658082</c:v>
                </c:pt>
                <c:pt idx="4">
                  <c:v>47.916123496362104</c:v>
                </c:pt>
                <c:pt idx="5">
                  <c:v>62.41918841427524</c:v>
                </c:pt>
                <c:pt idx="6">
                  <c:v>73.52298330106481</c:v>
                </c:pt>
                <c:pt idx="7">
                  <c:v>92.45486560767061</c:v>
                </c:pt>
                <c:pt idx="8">
                  <c:v>104.10795228384147</c:v>
                </c:pt>
                <c:pt idx="9">
                  <c:v>102.01780768700276</c:v>
                </c:pt>
                <c:pt idx="10">
                  <c:v>114.41617752194384</c:v>
                </c:pt>
                <c:pt idx="11">
                  <c:v>122.67442992532033</c:v>
                </c:pt>
                <c:pt idx="12">
                  <c:v>139.0646902465692</c:v>
                </c:pt>
                <c:pt idx="13">
                  <c:v>149.54339385399626</c:v>
                </c:pt>
                <c:pt idx="14">
                  <c:v>169.1355190384397</c:v>
                </c:pt>
                <c:pt idx="15">
                  <c:v>187.61723863811244</c:v>
                </c:pt>
                <c:pt idx="16">
                  <c:v>211.74798485170444</c:v>
                </c:pt>
                <c:pt idx="17">
                  <c:v>210.2230932711197</c:v>
                </c:pt>
                <c:pt idx="18">
                  <c:v>248.7970857230919</c:v>
                </c:pt>
                <c:pt idx="19">
                  <c:v>255.88962095662714</c:v>
                </c:pt>
                <c:pt idx="20">
                  <c:v>291.180424389104</c:v>
                </c:pt>
                <c:pt idx="21">
                  <c:v>331.23338434901933</c:v>
                </c:pt>
                <c:pt idx="22">
                  <c:v>364.7791725979178</c:v>
                </c:pt>
                <c:pt idx="23">
                  <c:v>396.63837636243306</c:v>
                </c:pt>
                <c:pt idx="24">
                  <c:v>390.19757909912494</c:v>
                </c:pt>
                <c:pt idx="25">
                  <c:v>441.74886403944913</c:v>
                </c:pt>
                <c:pt idx="26">
                  <c:v>426.61551103051426</c:v>
                </c:pt>
                <c:pt idx="27">
                  <c:v>431.52605649221476</c:v>
                </c:pt>
                <c:pt idx="28">
                  <c:v>481.11810483842606</c:v>
                </c:pt>
                <c:pt idx="29">
                  <c:v>521.7052901263075</c:v>
                </c:pt>
                <c:pt idx="30">
                  <c:v>542.5995635856891</c:v>
                </c:pt>
                <c:pt idx="31">
                  <c:v>608.7410097256786</c:v>
                </c:pt>
                <c:pt idx="32">
                  <c:v>608.3146095767638</c:v>
                </c:pt>
                <c:pt idx="33">
                  <c:v>647.862922666247</c:v>
                </c:pt>
                <c:pt idx="34">
                  <c:v>718.2436848915937</c:v>
                </c:pt>
                <c:pt idx="35">
                  <c:v>693.2872703152797</c:v>
                </c:pt>
                <c:pt idx="36">
                  <c:v>672.7105050219285</c:v>
                </c:pt>
                <c:pt idx="37">
                  <c:v>783.0895599560567</c:v>
                </c:pt>
                <c:pt idx="38">
                  <c:v>753.615575523857</c:v>
                </c:pt>
                <c:pt idx="39">
                  <c:v>791.0810522797767</c:v>
                </c:pt>
                <c:pt idx="40">
                  <c:v>836.2696969602955</c:v>
                </c:pt>
                <c:pt idx="41">
                  <c:v>802.8465741731242</c:v>
                </c:pt>
                <c:pt idx="42">
                  <c:v>885.118172175483</c:v>
                </c:pt>
                <c:pt idx="43">
                  <c:v>769.7670022738417</c:v>
                </c:pt>
                <c:pt idx="44">
                  <c:v>740.9815101627266</c:v>
                </c:pt>
                <c:pt idx="45">
                  <c:v>929.6768164086318</c:v>
                </c:pt>
                <c:pt idx="46">
                  <c:v>948.420063780539</c:v>
                </c:pt>
                <c:pt idx="47">
                  <c:v>923.9939898853185</c:v>
                </c:pt>
              </c:numCache>
            </c:numRef>
          </c:val>
          <c:smooth val="0"/>
        </c:ser>
        <c:ser>
          <c:idx val="3"/>
          <c:order val="3"/>
          <c:tx>
            <c:strRef>
              <c:f>Sheet1!$E$1</c:f>
              <c:strCache>
                <c:ptCount val="1"/>
                <c:pt idx="0">
                  <c:v>원금</c:v>
                </c:pt>
              </c:strCache>
            </c:strRef>
          </c:tx>
          <c:spPr>
            <a:ln w="12700">
              <a:solidFill>
                <a:srgbClr val="1A1E25"/>
              </a:solidFill>
              <a:prstDash val="sysDash"/>
            </a:ln>
          </c:spPr>
          <c:marker>
            <c:symbol val="none"/>
          </c:marker>
          <c:cat>
            <c:strRef>
              <c:f>Sheet1!$A$2:$A$49</c:f>
              <c:strCache>
                <c:ptCount val="48"/>
                <c:pt idx="0">
                  <c:v>2012</c:v>
                </c:pt>
                <c:pt idx="1">
                  <c:v>2012</c:v>
                </c:pt>
                <c:pt idx="2">
                  <c:v>2012</c:v>
                </c:pt>
                <c:pt idx="3">
                  <c:v>2012</c:v>
                </c:pt>
                <c:pt idx="4">
                  <c:v>2012</c:v>
                </c:pt>
                <c:pt idx="5">
                  <c:v>2012</c:v>
                </c:pt>
                <c:pt idx="6">
                  <c:v>2012</c:v>
                </c:pt>
                <c:pt idx="7">
                  <c:v>2012</c:v>
                </c:pt>
                <c:pt idx="8">
                  <c:v>2012</c:v>
                </c:pt>
                <c:pt idx="9">
                  <c:v>2012</c:v>
                </c:pt>
                <c:pt idx="10">
                  <c:v>2012</c:v>
                </c:pt>
                <c:pt idx="11">
                  <c:v>2012</c:v>
                </c:pt>
                <c:pt idx="12">
                  <c:v>2013</c:v>
                </c:pt>
                <c:pt idx="13">
                  <c:v>2013</c:v>
                </c:pt>
                <c:pt idx="14">
                  <c:v>2013</c:v>
                </c:pt>
                <c:pt idx="15">
                  <c:v>2013</c:v>
                </c:pt>
                <c:pt idx="16">
                  <c:v>2013</c:v>
                </c:pt>
                <c:pt idx="17">
                  <c:v>2013</c:v>
                </c:pt>
                <c:pt idx="18">
                  <c:v>2013</c:v>
                </c:pt>
                <c:pt idx="19">
                  <c:v>2013</c:v>
                </c:pt>
                <c:pt idx="20">
                  <c:v>2013</c:v>
                </c:pt>
                <c:pt idx="21">
                  <c:v>2013</c:v>
                </c:pt>
                <c:pt idx="22">
                  <c:v>2013</c:v>
                </c:pt>
                <c:pt idx="23">
                  <c:v>2013</c:v>
                </c:pt>
                <c:pt idx="24">
                  <c:v>2014</c:v>
                </c:pt>
                <c:pt idx="25">
                  <c:v>2014</c:v>
                </c:pt>
                <c:pt idx="26">
                  <c:v>2014</c:v>
                </c:pt>
                <c:pt idx="27">
                  <c:v>2014</c:v>
                </c:pt>
                <c:pt idx="28">
                  <c:v>2014</c:v>
                </c:pt>
                <c:pt idx="29">
                  <c:v>2014</c:v>
                </c:pt>
                <c:pt idx="30">
                  <c:v>2014</c:v>
                </c:pt>
                <c:pt idx="31">
                  <c:v>2014</c:v>
                </c:pt>
                <c:pt idx="32">
                  <c:v>2014</c:v>
                </c:pt>
                <c:pt idx="33">
                  <c:v>2014</c:v>
                </c:pt>
                <c:pt idx="34">
                  <c:v>2014</c:v>
                </c:pt>
                <c:pt idx="35">
                  <c:v>2014</c:v>
                </c:pt>
                <c:pt idx="36">
                  <c:v>2015</c:v>
                </c:pt>
                <c:pt idx="37">
                  <c:v>2015</c:v>
                </c:pt>
                <c:pt idx="38">
                  <c:v>2015</c:v>
                </c:pt>
                <c:pt idx="39">
                  <c:v>2015</c:v>
                </c:pt>
                <c:pt idx="40">
                  <c:v>2015</c:v>
                </c:pt>
                <c:pt idx="41">
                  <c:v>2015</c:v>
                </c:pt>
                <c:pt idx="42">
                  <c:v>2015</c:v>
                </c:pt>
                <c:pt idx="43">
                  <c:v>2015</c:v>
                </c:pt>
                <c:pt idx="44">
                  <c:v>2015</c:v>
                </c:pt>
                <c:pt idx="45">
                  <c:v>2015</c:v>
                </c:pt>
                <c:pt idx="46">
                  <c:v>2015</c:v>
                </c:pt>
                <c:pt idx="47">
                  <c:v>2015</c:v>
                </c:pt>
              </c:strCache>
            </c:strRef>
          </c:cat>
          <c:val>
            <c:numRef>
              <c:f>Sheet1!$E$2:$E$49</c:f>
              <c:numCache>
                <c:formatCode>General</c:formatCode>
                <c:ptCount val="48"/>
                <c:pt idx="0">
                  <c:v>10</c:v>
                </c:pt>
                <c:pt idx="1">
                  <c:v>20</c:v>
                </c:pt>
                <c:pt idx="2">
                  <c:v>30</c:v>
                </c:pt>
                <c:pt idx="3">
                  <c:v>40</c:v>
                </c:pt>
                <c:pt idx="4">
                  <c:v>50</c:v>
                </c:pt>
                <c:pt idx="5">
                  <c:v>60</c:v>
                </c:pt>
                <c:pt idx="6">
                  <c:v>70</c:v>
                </c:pt>
                <c:pt idx="7">
                  <c:v>80</c:v>
                </c:pt>
                <c:pt idx="8">
                  <c:v>90</c:v>
                </c:pt>
                <c:pt idx="9">
                  <c:v>100</c:v>
                </c:pt>
                <c:pt idx="10">
                  <c:v>110</c:v>
                </c:pt>
                <c:pt idx="11">
                  <c:v>120</c:v>
                </c:pt>
                <c:pt idx="12">
                  <c:v>130</c:v>
                </c:pt>
                <c:pt idx="13">
                  <c:v>140</c:v>
                </c:pt>
                <c:pt idx="14">
                  <c:v>150</c:v>
                </c:pt>
                <c:pt idx="15">
                  <c:v>160</c:v>
                </c:pt>
                <c:pt idx="16">
                  <c:v>170</c:v>
                </c:pt>
                <c:pt idx="17">
                  <c:v>180</c:v>
                </c:pt>
                <c:pt idx="18">
                  <c:v>190</c:v>
                </c:pt>
                <c:pt idx="19">
                  <c:v>200</c:v>
                </c:pt>
                <c:pt idx="20">
                  <c:v>210</c:v>
                </c:pt>
                <c:pt idx="21">
                  <c:v>220</c:v>
                </c:pt>
                <c:pt idx="22">
                  <c:v>230</c:v>
                </c:pt>
                <c:pt idx="23">
                  <c:v>240</c:v>
                </c:pt>
                <c:pt idx="24">
                  <c:v>250</c:v>
                </c:pt>
                <c:pt idx="25">
                  <c:v>260</c:v>
                </c:pt>
                <c:pt idx="26">
                  <c:v>270</c:v>
                </c:pt>
                <c:pt idx="27">
                  <c:v>280</c:v>
                </c:pt>
                <c:pt idx="28">
                  <c:v>290</c:v>
                </c:pt>
                <c:pt idx="29">
                  <c:v>300</c:v>
                </c:pt>
                <c:pt idx="30">
                  <c:v>310</c:v>
                </c:pt>
                <c:pt idx="31">
                  <c:v>320</c:v>
                </c:pt>
                <c:pt idx="32">
                  <c:v>330</c:v>
                </c:pt>
                <c:pt idx="33">
                  <c:v>340</c:v>
                </c:pt>
                <c:pt idx="34">
                  <c:v>350</c:v>
                </c:pt>
                <c:pt idx="35">
                  <c:v>360</c:v>
                </c:pt>
                <c:pt idx="36">
                  <c:v>370</c:v>
                </c:pt>
                <c:pt idx="37">
                  <c:v>380</c:v>
                </c:pt>
                <c:pt idx="38">
                  <c:v>390</c:v>
                </c:pt>
                <c:pt idx="39">
                  <c:v>400</c:v>
                </c:pt>
                <c:pt idx="40">
                  <c:v>410</c:v>
                </c:pt>
                <c:pt idx="41">
                  <c:v>420</c:v>
                </c:pt>
                <c:pt idx="42">
                  <c:v>430</c:v>
                </c:pt>
                <c:pt idx="43">
                  <c:v>440</c:v>
                </c:pt>
                <c:pt idx="44">
                  <c:v>450</c:v>
                </c:pt>
                <c:pt idx="45">
                  <c:v>460</c:v>
                </c:pt>
                <c:pt idx="46">
                  <c:v>470</c:v>
                </c:pt>
                <c:pt idx="47">
                  <c:v>480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40495176"/>
        <c:crosses val="autoZero"/>
        <c:auto val="1"/>
        <c:lblAlgn val="ctr"/>
        <c:lblOffset val="100"/>
        <c:noMultiLvlLbl val="0"/>
        <c:tickLblSkip val="12"/>
        <c:tickMarkSkip val="12"/>
      </c:catAx>
      <c:valAx>
        <c:axId val="2140495176"/>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118791784"/>
        <c:crosses val="autoZero"/>
      </c:valAx>
    </c:plotArea>
    <c:plotVisOnly val="1"/>
    <c:dispBlanksAs val="gap"/>
    <c:showDLblsOverMax val="0"/>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Deneb</c:v>
                </c:pt>
              </c:strCache>
            </c:strRef>
          </c:tx>
          <c:spPr>
            <a:ln w="28575">
              <a:solidFill>
                <a:srgbClr val="0B3D91"/>
              </a:solidFill>
            </a:ln>
          </c:spPr>
          <c:marker>
            <c:symbol val="none"/>
          </c:marker>
          <c:cat>
            <c:strRef>
              <c:f>Sheet1!$A$2:$A$49</c:f>
              <c:strCache>
                <c:ptCount val="48"/>
                <c:pt idx="0">
                  <c:v>2016</c:v>
                </c:pt>
                <c:pt idx="1">
                  <c:v>2016</c:v>
                </c:pt>
                <c:pt idx="2">
                  <c:v>2016</c:v>
                </c:pt>
                <c:pt idx="3">
                  <c:v>2016</c:v>
                </c:pt>
                <c:pt idx="4">
                  <c:v>2016</c:v>
                </c:pt>
                <c:pt idx="5">
                  <c:v>2016</c:v>
                </c:pt>
                <c:pt idx="6">
                  <c:v>2016</c:v>
                </c:pt>
                <c:pt idx="7">
                  <c:v>2016</c:v>
                </c:pt>
                <c:pt idx="8">
                  <c:v>2016</c:v>
                </c:pt>
                <c:pt idx="9">
                  <c:v>2016</c:v>
                </c:pt>
                <c:pt idx="10">
                  <c:v>2016</c:v>
                </c:pt>
                <c:pt idx="11">
                  <c:v>2016</c:v>
                </c:pt>
                <c:pt idx="12">
                  <c:v>2017</c:v>
                </c:pt>
                <c:pt idx="13">
                  <c:v>2017</c:v>
                </c:pt>
                <c:pt idx="14">
                  <c:v>2017</c:v>
                </c:pt>
                <c:pt idx="15">
                  <c:v>2017</c:v>
                </c:pt>
                <c:pt idx="16">
                  <c:v>2017</c:v>
                </c:pt>
                <c:pt idx="17">
                  <c:v>2017</c:v>
                </c:pt>
                <c:pt idx="18">
                  <c:v>2017</c:v>
                </c:pt>
                <c:pt idx="19">
                  <c:v>2017</c:v>
                </c:pt>
                <c:pt idx="20">
                  <c:v>2017</c:v>
                </c:pt>
                <c:pt idx="21">
                  <c:v>2017</c:v>
                </c:pt>
                <c:pt idx="22">
                  <c:v>2017</c:v>
                </c:pt>
                <c:pt idx="23">
                  <c:v>2017</c:v>
                </c:pt>
                <c:pt idx="24">
                  <c:v>2018</c:v>
                </c:pt>
                <c:pt idx="25">
                  <c:v>2018</c:v>
                </c:pt>
                <c:pt idx="26">
                  <c:v>2018</c:v>
                </c:pt>
                <c:pt idx="27">
                  <c:v>2018</c:v>
                </c:pt>
                <c:pt idx="28">
                  <c:v>2018</c:v>
                </c:pt>
                <c:pt idx="29">
                  <c:v>2018</c:v>
                </c:pt>
                <c:pt idx="30">
                  <c:v>2018</c:v>
                </c:pt>
                <c:pt idx="31">
                  <c:v>2018</c:v>
                </c:pt>
                <c:pt idx="32">
                  <c:v>2018</c:v>
                </c:pt>
                <c:pt idx="33">
                  <c:v>2018</c:v>
                </c:pt>
                <c:pt idx="34">
                  <c:v>2018</c:v>
                </c:pt>
                <c:pt idx="35">
                  <c:v>2018</c:v>
                </c:pt>
                <c:pt idx="36">
                  <c:v>2019</c:v>
                </c:pt>
                <c:pt idx="37">
                  <c:v>2019</c:v>
                </c:pt>
                <c:pt idx="38">
                  <c:v>2019</c:v>
                </c:pt>
                <c:pt idx="39">
                  <c:v>2019</c:v>
                </c:pt>
                <c:pt idx="40">
                  <c:v>2019</c:v>
                </c:pt>
                <c:pt idx="41">
                  <c:v>2019</c:v>
                </c:pt>
                <c:pt idx="42">
                  <c:v>2019</c:v>
                </c:pt>
                <c:pt idx="43">
                  <c:v>2019</c:v>
                </c:pt>
                <c:pt idx="44">
                  <c:v>2019</c:v>
                </c:pt>
                <c:pt idx="45">
                  <c:v>2019</c:v>
                </c:pt>
                <c:pt idx="46">
                  <c:v>2019</c:v>
                </c:pt>
                <c:pt idx="47">
                  <c:v>2019</c:v>
                </c:pt>
              </c:strCache>
            </c:strRef>
          </c:cat>
          <c:val>
            <c:numRef>
              <c:f>Sheet1!$B$2:$B$49</c:f>
              <c:numCache>
                <c:formatCode>General</c:formatCode>
                <c:ptCount val="48"/>
                <c:pt idx="0">
                  <c:v>629.1830460930474</c:v>
                </c:pt>
                <c:pt idx="1">
                  <c:v>652.5227758639569</c:v>
                </c:pt>
                <c:pt idx="2">
                  <c:v>755.9122899691556</c:v>
                </c:pt>
                <c:pt idx="3">
                  <c:v>720.5098217494593</c:v>
                </c:pt>
                <c:pt idx="4">
                  <c:v>762.9653400223904</c:v>
                </c:pt>
                <c:pt idx="5">
                  <c:v>716.0651317423785</c:v>
                </c:pt>
                <c:pt idx="6">
                  <c:v>793.3318195597551</c:v>
                </c:pt>
                <c:pt idx="7">
                  <c:v>814.6873064731388</c:v>
                </c:pt>
                <c:pt idx="8">
                  <c:v>853.9247983629031</c:v>
                </c:pt>
                <c:pt idx="9">
                  <c:v>834.6496714102869</c:v>
                </c:pt>
                <c:pt idx="10">
                  <c:v>861.4563973285645</c:v>
                </c:pt>
                <c:pt idx="11">
                  <c:v>893.7696792345131</c:v>
                </c:pt>
                <c:pt idx="12">
                  <c:v>986.9147524626667</c:v>
                </c:pt>
                <c:pt idx="13">
                  <c:v>1090.7750366776538</c:v>
                </c:pt>
                <c:pt idx="14">
                  <c:v>1138.5579371433607</c:v>
                </c:pt>
                <c:pt idx="15">
                  <c:v>1205.3085255341068</c:v>
                </c:pt>
                <c:pt idx="16">
                  <c:v>1307.0037086000766</c:v>
                </c:pt>
                <c:pt idx="17">
                  <c:v>1252.9182683937026</c:v>
                </c:pt>
                <c:pt idx="18">
                  <c:v>1368.7395789869515</c:v>
                </c:pt>
                <c:pt idx="19">
                  <c:v>1420.3061523406461</c:v>
                </c:pt>
                <c:pt idx="20">
                  <c:v>1437.4293327242244</c:v>
                </c:pt>
                <c:pt idx="21">
                  <c:v>1587.6658006145212</c:v>
                </c:pt>
                <c:pt idx="22">
                  <c:v>1677.0322427880715</c:v>
                </c:pt>
                <c:pt idx="23">
                  <c:v>1712.18833515097</c:v>
                </c:pt>
                <c:pt idx="24">
                  <c:v>2036.0475821420155</c:v>
                </c:pt>
                <c:pt idx="25">
                  <c:v>1881.1899516533338</c:v>
                </c:pt>
                <c:pt idx="26">
                  <c:v>1816.4852292557525</c:v>
                </c:pt>
                <c:pt idx="27">
                  <c:v>1763.8569198498988</c:v>
                </c:pt>
                <c:pt idx="28">
                  <c:v>1947.9451711061656</c:v>
                </c:pt>
                <c:pt idx="29">
                  <c:v>1988.6820704457368</c:v>
                </c:pt>
                <c:pt idx="30">
                  <c:v>2125.2619821924263</c:v>
                </c:pt>
                <c:pt idx="31">
                  <c:v>2380.0239817418114</c:v>
                </c:pt>
                <c:pt idx="32">
                  <c:v>2377.9007991366925</c:v>
                </c:pt>
                <c:pt idx="33">
                  <c:v>1979.3716447897077</c:v>
                </c:pt>
                <c:pt idx="34">
                  <c:v>1902.2684016575276</c:v>
                </c:pt>
                <c:pt idx="35">
                  <c:v>1741.1868239019684</c:v>
                </c:pt>
                <c:pt idx="36">
                  <c:v>1898.8026664327688</c:v>
                </c:pt>
                <c:pt idx="37">
                  <c:v>2028.7079893887817</c:v>
                </c:pt>
                <c:pt idx="38">
                  <c:v>2181.0703262689003</c:v>
                </c:pt>
                <c:pt idx="39">
                  <c:v>2437.2186249777815</c:v>
                </c:pt>
                <c:pt idx="40">
                  <c:v>2089.140399989666</c:v>
                </c:pt>
                <c:pt idx="41">
                  <c:v>2374.881751794093</c:v>
                </c:pt>
                <c:pt idx="42">
                  <c:v>2484.6258390466996</c:v>
                </c:pt>
                <c:pt idx="43">
                  <c:v>2311.166346341279</c:v>
                </c:pt>
                <c:pt idx="44">
                  <c:v>2381.6181784769788</c:v>
                </c:pt>
                <c:pt idx="45">
                  <c:v>2587.100277895019</c:v>
                </c:pt>
                <c:pt idx="46">
                  <c:v>2816.51927515442</c:v>
                </c:pt>
                <c:pt idx="47">
                  <c:v>3046.2283987884884</c:v>
                </c:pt>
              </c:numCache>
            </c:numRef>
          </c:val>
          <c:smooth val="0"/>
        </c:ser>
        <c:ser>
          <c:idx val="1"/>
          <c:order val="1"/>
          <c:tx>
            <c:strRef>
              <c:f>Sheet1!$C$1</c:f>
              <c:strCache>
                <c:ptCount val="1"/>
                <c:pt idx="0">
                  <c:v>TQQQ 단독 적립</c:v>
                </c:pt>
              </c:strCache>
            </c:strRef>
          </c:tx>
          <c:spPr>
            <a:ln w="22225">
              <a:solidFill>
                <a:srgbClr val="7A4CB0"/>
              </a:solidFill>
              <a:prstDash val="dash"/>
            </a:ln>
          </c:spPr>
          <c:marker>
            <c:symbol val="none"/>
          </c:marker>
          <c:cat>
            <c:strRef>
              <c:f>Sheet1!$A$2:$A$49</c:f>
              <c:strCache>
                <c:ptCount val="48"/>
                <c:pt idx="0">
                  <c:v>2016</c:v>
                </c:pt>
                <c:pt idx="1">
                  <c:v>2016</c:v>
                </c:pt>
                <c:pt idx="2">
                  <c:v>2016</c:v>
                </c:pt>
                <c:pt idx="3">
                  <c:v>2016</c:v>
                </c:pt>
                <c:pt idx="4">
                  <c:v>2016</c:v>
                </c:pt>
                <c:pt idx="5">
                  <c:v>2016</c:v>
                </c:pt>
                <c:pt idx="6">
                  <c:v>2016</c:v>
                </c:pt>
                <c:pt idx="7">
                  <c:v>2016</c:v>
                </c:pt>
                <c:pt idx="8">
                  <c:v>2016</c:v>
                </c:pt>
                <c:pt idx="9">
                  <c:v>2016</c:v>
                </c:pt>
                <c:pt idx="10">
                  <c:v>2016</c:v>
                </c:pt>
                <c:pt idx="11">
                  <c:v>2016</c:v>
                </c:pt>
                <c:pt idx="12">
                  <c:v>2017</c:v>
                </c:pt>
                <c:pt idx="13">
                  <c:v>2017</c:v>
                </c:pt>
                <c:pt idx="14">
                  <c:v>2017</c:v>
                </c:pt>
                <c:pt idx="15">
                  <c:v>2017</c:v>
                </c:pt>
                <c:pt idx="16">
                  <c:v>2017</c:v>
                </c:pt>
                <c:pt idx="17">
                  <c:v>2017</c:v>
                </c:pt>
                <c:pt idx="18">
                  <c:v>2017</c:v>
                </c:pt>
                <c:pt idx="19">
                  <c:v>2017</c:v>
                </c:pt>
                <c:pt idx="20">
                  <c:v>2017</c:v>
                </c:pt>
                <c:pt idx="21">
                  <c:v>2017</c:v>
                </c:pt>
                <c:pt idx="22">
                  <c:v>2017</c:v>
                </c:pt>
                <c:pt idx="23">
                  <c:v>2017</c:v>
                </c:pt>
                <c:pt idx="24">
                  <c:v>2018</c:v>
                </c:pt>
                <c:pt idx="25">
                  <c:v>2018</c:v>
                </c:pt>
                <c:pt idx="26">
                  <c:v>2018</c:v>
                </c:pt>
                <c:pt idx="27">
                  <c:v>2018</c:v>
                </c:pt>
                <c:pt idx="28">
                  <c:v>2018</c:v>
                </c:pt>
                <c:pt idx="29">
                  <c:v>2018</c:v>
                </c:pt>
                <c:pt idx="30">
                  <c:v>2018</c:v>
                </c:pt>
                <c:pt idx="31">
                  <c:v>2018</c:v>
                </c:pt>
                <c:pt idx="32">
                  <c:v>2018</c:v>
                </c:pt>
                <c:pt idx="33">
                  <c:v>2018</c:v>
                </c:pt>
                <c:pt idx="34">
                  <c:v>2018</c:v>
                </c:pt>
                <c:pt idx="35">
                  <c:v>2018</c:v>
                </c:pt>
                <c:pt idx="36">
                  <c:v>2019</c:v>
                </c:pt>
                <c:pt idx="37">
                  <c:v>2019</c:v>
                </c:pt>
                <c:pt idx="38">
                  <c:v>2019</c:v>
                </c:pt>
                <c:pt idx="39">
                  <c:v>2019</c:v>
                </c:pt>
                <c:pt idx="40">
                  <c:v>2019</c:v>
                </c:pt>
                <c:pt idx="41">
                  <c:v>2019</c:v>
                </c:pt>
                <c:pt idx="42">
                  <c:v>2019</c:v>
                </c:pt>
                <c:pt idx="43">
                  <c:v>2019</c:v>
                </c:pt>
                <c:pt idx="44">
                  <c:v>2019</c:v>
                </c:pt>
                <c:pt idx="45">
                  <c:v>2019</c:v>
                </c:pt>
                <c:pt idx="46">
                  <c:v>2019</c:v>
                </c:pt>
                <c:pt idx="47">
                  <c:v>2019</c:v>
                </c:pt>
              </c:strCache>
            </c:strRef>
          </c:cat>
          <c:val>
            <c:numRef>
              <c:f>Sheet1!$C$2:$C$49</c:f>
              <c:numCache>
                <c:formatCode>General</c:formatCode>
                <c:ptCount val="48"/>
                <c:pt idx="0">
                  <c:v>989.8213725979892</c:v>
                </c:pt>
                <c:pt idx="1">
                  <c:v>939.3815708691923</c:v>
                </c:pt>
                <c:pt idx="2">
                  <c:v>1147.3808600615205</c:v>
                </c:pt>
                <c:pt idx="3">
                  <c:v>1046.4244324737924</c:v>
                </c:pt>
                <c:pt idx="4">
                  <c:v>1191.7489973576078</c:v>
                </c:pt>
                <c:pt idx="5">
                  <c:v>1107.6621508736362</c:v>
                </c:pt>
                <c:pt idx="6">
                  <c:v>1369.1612246036466</c:v>
                </c:pt>
                <c:pt idx="7">
                  <c:v>1420.2412689463795</c:v>
                </c:pt>
                <c:pt idx="8">
                  <c:v>1513.1403803552014</c:v>
                </c:pt>
                <c:pt idx="9">
                  <c:v>1452.9075683874187</c:v>
                </c:pt>
                <c:pt idx="10">
                  <c:v>1479.2050687939081</c:v>
                </c:pt>
                <c:pt idx="11">
                  <c:v>1528.4528991314573</c:v>
                </c:pt>
                <c:pt idx="12">
                  <c:v>1780.6048532568245</c:v>
                </c:pt>
                <c:pt idx="13">
                  <c:v>2030.1294301751857</c:v>
                </c:pt>
                <c:pt idx="14">
                  <c:v>2154.8607679594943</c:v>
                </c:pt>
                <c:pt idx="15">
                  <c:v>2339.6076014914606</c:v>
                </c:pt>
                <c:pt idx="16">
                  <c:v>2617.970584941854</c:v>
                </c:pt>
                <c:pt idx="17">
                  <c:v>2415.840406301417</c:v>
                </c:pt>
                <c:pt idx="18">
                  <c:v>2730.9203026300984</c:v>
                </c:pt>
                <c:pt idx="19">
                  <c:v>2878.9669168761234</c:v>
                </c:pt>
                <c:pt idx="20">
                  <c:v>2858.435343360054</c:v>
                </c:pt>
                <c:pt idx="21">
                  <c:v>3262.5609420207857</c:v>
                </c:pt>
                <c:pt idx="22">
                  <c:v>3452.618831347959</c:v>
                </c:pt>
                <c:pt idx="23">
                  <c:v>3503.6552896060357</c:v>
                </c:pt>
                <c:pt idx="24">
                  <c:v>4486.411419263672</c:v>
                </c:pt>
                <c:pt idx="25">
                  <c:v>4219.46803864389</c:v>
                </c:pt>
                <c:pt idx="26">
                  <c:v>3662.2478819435014</c:v>
                </c:pt>
                <c:pt idx="27">
                  <c:v>3657.637267019268</c:v>
                </c:pt>
                <c:pt idx="28">
                  <c:v>4290.680690033921</c:v>
                </c:pt>
                <c:pt idx="29">
                  <c:v>4394.090731573861</c:v>
                </c:pt>
                <c:pt idx="30">
                  <c:v>4736.979134635279</c:v>
                </c:pt>
                <c:pt idx="31">
                  <c:v>5586.778580844738</c:v>
                </c:pt>
                <c:pt idx="32">
                  <c:v>5507.084963113519</c:v>
                </c:pt>
                <c:pt idx="33">
                  <c:v>4048.963487024181</c:v>
                </c:pt>
                <c:pt idx="34">
                  <c:v>3940.3733439584958</c:v>
                </c:pt>
                <c:pt idx="35">
                  <c:v>2890.1344500471987</c:v>
                </c:pt>
                <c:pt idx="36">
                  <c:v>3680.560726401423</c:v>
                </c:pt>
                <c:pt idx="37">
                  <c:v>4007.063430053401</c:v>
                </c:pt>
                <c:pt idx="38">
                  <c:v>4460.729635688501</c:v>
                </c:pt>
                <c:pt idx="39">
                  <c:v>5214.340373370105</c:v>
                </c:pt>
                <c:pt idx="40">
                  <c:v>3969.9115805531023</c:v>
                </c:pt>
                <c:pt idx="41">
                  <c:v>4896.064284944967</c:v>
                </c:pt>
                <c:pt idx="42">
                  <c:v>5209.838549104023</c:v>
                </c:pt>
                <c:pt idx="43">
                  <c:v>4813.350093446146</c:v>
                </c:pt>
                <c:pt idx="44">
                  <c:v>4914.54010279057</c:v>
                </c:pt>
                <c:pt idx="45">
                  <c:v>5536.873116570032</c:v>
                </c:pt>
                <c:pt idx="46">
                  <c:v>6223.008113095982</c:v>
                </c:pt>
                <c:pt idx="47">
                  <c:v>6942.2347329378335</c:v>
                </c:pt>
              </c:numCache>
            </c:numRef>
          </c:val>
          <c:smooth val="0"/>
        </c:ser>
        <c:ser>
          <c:idx val="2"/>
          <c:order val="2"/>
          <c:tx>
            <c:strRef>
              <c:f>Sheet1!$D$1</c:f>
              <c:strCache>
                <c:ptCount val="1"/>
                <c:pt idx="0">
                  <c:v>QLD 단독 적립</c:v>
                </c:pt>
              </c:strCache>
            </c:strRef>
          </c:tx>
          <c:spPr>
            <a:ln w="19050">
              <a:solidFill>
                <a:srgbClr val="3D9BE0"/>
              </a:solidFill>
            </a:ln>
          </c:spPr>
          <c:marker>
            <c:symbol val="none"/>
          </c:marker>
          <c:cat>
            <c:strRef>
              <c:f>Sheet1!$A$2:$A$49</c:f>
              <c:strCache>
                <c:ptCount val="48"/>
                <c:pt idx="0">
                  <c:v>2016</c:v>
                </c:pt>
                <c:pt idx="1">
                  <c:v>2016</c:v>
                </c:pt>
                <c:pt idx="2">
                  <c:v>2016</c:v>
                </c:pt>
                <c:pt idx="3">
                  <c:v>2016</c:v>
                </c:pt>
                <c:pt idx="4">
                  <c:v>2016</c:v>
                </c:pt>
                <c:pt idx="5">
                  <c:v>2016</c:v>
                </c:pt>
                <c:pt idx="6">
                  <c:v>2016</c:v>
                </c:pt>
                <c:pt idx="7">
                  <c:v>2016</c:v>
                </c:pt>
                <c:pt idx="8">
                  <c:v>2016</c:v>
                </c:pt>
                <c:pt idx="9">
                  <c:v>2016</c:v>
                </c:pt>
                <c:pt idx="10">
                  <c:v>2016</c:v>
                </c:pt>
                <c:pt idx="11">
                  <c:v>2016</c:v>
                </c:pt>
                <c:pt idx="12">
                  <c:v>2017</c:v>
                </c:pt>
                <c:pt idx="13">
                  <c:v>2017</c:v>
                </c:pt>
                <c:pt idx="14">
                  <c:v>2017</c:v>
                </c:pt>
                <c:pt idx="15">
                  <c:v>2017</c:v>
                </c:pt>
                <c:pt idx="16">
                  <c:v>2017</c:v>
                </c:pt>
                <c:pt idx="17">
                  <c:v>2017</c:v>
                </c:pt>
                <c:pt idx="18">
                  <c:v>2017</c:v>
                </c:pt>
                <c:pt idx="19">
                  <c:v>2017</c:v>
                </c:pt>
                <c:pt idx="20">
                  <c:v>2017</c:v>
                </c:pt>
                <c:pt idx="21">
                  <c:v>2017</c:v>
                </c:pt>
                <c:pt idx="22">
                  <c:v>2017</c:v>
                </c:pt>
                <c:pt idx="23">
                  <c:v>2017</c:v>
                </c:pt>
                <c:pt idx="24">
                  <c:v>2018</c:v>
                </c:pt>
                <c:pt idx="25">
                  <c:v>2018</c:v>
                </c:pt>
                <c:pt idx="26">
                  <c:v>2018</c:v>
                </c:pt>
                <c:pt idx="27">
                  <c:v>2018</c:v>
                </c:pt>
                <c:pt idx="28">
                  <c:v>2018</c:v>
                </c:pt>
                <c:pt idx="29">
                  <c:v>2018</c:v>
                </c:pt>
                <c:pt idx="30">
                  <c:v>2018</c:v>
                </c:pt>
                <c:pt idx="31">
                  <c:v>2018</c:v>
                </c:pt>
                <c:pt idx="32">
                  <c:v>2018</c:v>
                </c:pt>
                <c:pt idx="33">
                  <c:v>2018</c:v>
                </c:pt>
                <c:pt idx="34">
                  <c:v>2018</c:v>
                </c:pt>
                <c:pt idx="35">
                  <c:v>2018</c:v>
                </c:pt>
                <c:pt idx="36">
                  <c:v>2019</c:v>
                </c:pt>
                <c:pt idx="37">
                  <c:v>2019</c:v>
                </c:pt>
                <c:pt idx="38">
                  <c:v>2019</c:v>
                </c:pt>
                <c:pt idx="39">
                  <c:v>2019</c:v>
                </c:pt>
                <c:pt idx="40">
                  <c:v>2019</c:v>
                </c:pt>
                <c:pt idx="41">
                  <c:v>2019</c:v>
                </c:pt>
                <c:pt idx="42">
                  <c:v>2019</c:v>
                </c:pt>
                <c:pt idx="43">
                  <c:v>2019</c:v>
                </c:pt>
                <c:pt idx="44">
                  <c:v>2019</c:v>
                </c:pt>
                <c:pt idx="45">
                  <c:v>2019</c:v>
                </c:pt>
                <c:pt idx="46">
                  <c:v>2019</c:v>
                </c:pt>
                <c:pt idx="47">
                  <c:v>2019</c:v>
                </c:pt>
              </c:strCache>
            </c:strRef>
          </c:cat>
          <c:val>
            <c:numRef>
              <c:f>Sheet1!$D$2:$D$49</c:f>
              <c:numCache>
                <c:formatCode>General</c:formatCode>
                <c:ptCount val="48"/>
                <c:pt idx="0">
                  <c:v>802.7660618641903</c:v>
                </c:pt>
                <c:pt idx="1">
                  <c:v>783.2545193170142</c:v>
                </c:pt>
                <c:pt idx="2">
                  <c:v>901.6179631029917</c:v>
                </c:pt>
                <c:pt idx="3">
                  <c:v>851.6291601973783</c:v>
                </c:pt>
                <c:pt idx="4">
                  <c:v>936.1331583908366</c:v>
                </c:pt>
                <c:pt idx="5">
                  <c:v>898.9041905395485</c:v>
                </c:pt>
                <c:pt idx="6">
                  <c:v>1041.4822057209321</c:v>
                </c:pt>
                <c:pt idx="7">
                  <c:v>1071.4762206028672</c:v>
                </c:pt>
                <c:pt idx="8">
                  <c:v>1126.0401422780653</c:v>
                </c:pt>
                <c:pt idx="9">
                  <c:v>1101.2618001903948</c:v>
                </c:pt>
                <c:pt idx="10">
                  <c:v>1117.7504963705403</c:v>
                </c:pt>
                <c:pt idx="11">
                  <c:v>1152.2424615634425</c:v>
                </c:pt>
                <c:pt idx="12">
                  <c:v>1281.4752220662422</c:v>
                </c:pt>
                <c:pt idx="13">
                  <c:v>1404.4549615994924</c:v>
                </c:pt>
                <c:pt idx="14">
                  <c:v>1468.855009434377</c:v>
                </c:pt>
                <c:pt idx="15">
                  <c:v>1557.5818638724136</c:v>
                </c:pt>
                <c:pt idx="16">
                  <c:v>1686.8603402525016</c:v>
                </c:pt>
                <c:pt idx="17">
                  <c:v>1609.4896374666016</c:v>
                </c:pt>
                <c:pt idx="18">
                  <c:v>1752.5358930673283</c:v>
                </c:pt>
                <c:pt idx="19">
                  <c:v>1825.4737153745095</c:v>
                </c:pt>
                <c:pt idx="20">
                  <c:v>1824.0989873871274</c:v>
                </c:pt>
                <c:pt idx="21">
                  <c:v>2001.42657726804</c:v>
                </c:pt>
                <c:pt idx="22">
                  <c:v>2086.0402737309373</c:v>
                </c:pt>
                <c:pt idx="23">
                  <c:v>2114.8578602568236</c:v>
                </c:pt>
                <c:pt idx="24">
                  <c:v>2503.460429955479</c:v>
                </c:pt>
                <c:pt idx="25">
                  <c:v>2427.5087526111624</c:v>
                </c:pt>
                <c:pt idx="26">
                  <c:v>2226.026615920121</c:v>
                </c:pt>
                <c:pt idx="27">
                  <c:v>2242.4909181818775</c:v>
                </c:pt>
                <c:pt idx="28">
                  <c:v>2506.0825419227845</c:v>
                </c:pt>
                <c:pt idx="29">
                  <c:v>2558.673837006765</c:v>
                </c:pt>
                <c:pt idx="30">
                  <c:v>2698.0357646533785</c:v>
                </c:pt>
                <c:pt idx="31">
                  <c:v>3026.950920625022</c:v>
                </c:pt>
                <c:pt idx="32">
                  <c:v>3011.889099084181</c:v>
                </c:pt>
                <c:pt idx="33">
                  <c:v>2485.4849333333373</c:v>
                </c:pt>
                <c:pt idx="34">
                  <c:v>2465.9622888120994</c:v>
                </c:pt>
                <c:pt idx="35">
                  <c:v>2033.8596222548124</c:v>
                </c:pt>
                <c:pt idx="36">
                  <c:v>2408.1763329015275</c:v>
                </c:pt>
                <c:pt idx="37">
                  <c:v>2554.1798891783596</c:v>
                </c:pt>
                <c:pt idx="38">
                  <c:v>2759.446147246498</c:v>
                </c:pt>
                <c:pt idx="39">
                  <c:v>3069.3978847832104</c:v>
                </c:pt>
                <c:pt idx="40">
                  <c:v>2572.4984400012227</c:v>
                </c:pt>
                <c:pt idx="41">
                  <c:v>2979.3521073366487</c:v>
                </c:pt>
                <c:pt idx="42">
                  <c:v>3117.975381216202</c:v>
                </c:pt>
                <c:pt idx="43">
                  <c:v>2980.649927670332</c:v>
                </c:pt>
                <c:pt idx="44">
                  <c:v>3031.5793962363045</c:v>
                </c:pt>
                <c:pt idx="45">
                  <c:v>3298.327228942189</c:v>
                </c:pt>
                <c:pt idx="46">
                  <c:v>3574.003579508226</c:v>
                </c:pt>
                <c:pt idx="47">
                  <c:v>3856.867379291981</c:v>
                </c:pt>
              </c:numCache>
            </c:numRef>
          </c:val>
          <c:smooth val="0"/>
        </c:ser>
        <c:ser>
          <c:idx val="3"/>
          <c:order val="3"/>
          <c:tx>
            <c:strRef>
              <c:f>Sheet1!$E$1</c:f>
              <c:strCache>
                <c:ptCount val="1"/>
                <c:pt idx="0">
                  <c:v>원금</c:v>
                </c:pt>
              </c:strCache>
            </c:strRef>
          </c:tx>
          <c:spPr>
            <a:ln w="12700">
              <a:solidFill>
                <a:srgbClr val="1A1E25"/>
              </a:solidFill>
              <a:prstDash val="sysDash"/>
            </a:ln>
          </c:spPr>
          <c:marker>
            <c:symbol val="none"/>
          </c:marker>
          <c:cat>
            <c:strRef>
              <c:f>Sheet1!$A$2:$A$49</c:f>
              <c:strCache>
                <c:ptCount val="48"/>
                <c:pt idx="0">
                  <c:v>2016</c:v>
                </c:pt>
                <c:pt idx="1">
                  <c:v>2016</c:v>
                </c:pt>
                <c:pt idx="2">
                  <c:v>2016</c:v>
                </c:pt>
                <c:pt idx="3">
                  <c:v>2016</c:v>
                </c:pt>
                <c:pt idx="4">
                  <c:v>2016</c:v>
                </c:pt>
                <c:pt idx="5">
                  <c:v>2016</c:v>
                </c:pt>
                <c:pt idx="6">
                  <c:v>2016</c:v>
                </c:pt>
                <c:pt idx="7">
                  <c:v>2016</c:v>
                </c:pt>
                <c:pt idx="8">
                  <c:v>2016</c:v>
                </c:pt>
                <c:pt idx="9">
                  <c:v>2016</c:v>
                </c:pt>
                <c:pt idx="10">
                  <c:v>2016</c:v>
                </c:pt>
                <c:pt idx="11">
                  <c:v>2016</c:v>
                </c:pt>
                <c:pt idx="12">
                  <c:v>2017</c:v>
                </c:pt>
                <c:pt idx="13">
                  <c:v>2017</c:v>
                </c:pt>
                <c:pt idx="14">
                  <c:v>2017</c:v>
                </c:pt>
                <c:pt idx="15">
                  <c:v>2017</c:v>
                </c:pt>
                <c:pt idx="16">
                  <c:v>2017</c:v>
                </c:pt>
                <c:pt idx="17">
                  <c:v>2017</c:v>
                </c:pt>
                <c:pt idx="18">
                  <c:v>2017</c:v>
                </c:pt>
                <c:pt idx="19">
                  <c:v>2017</c:v>
                </c:pt>
                <c:pt idx="20">
                  <c:v>2017</c:v>
                </c:pt>
                <c:pt idx="21">
                  <c:v>2017</c:v>
                </c:pt>
                <c:pt idx="22">
                  <c:v>2017</c:v>
                </c:pt>
                <c:pt idx="23">
                  <c:v>2017</c:v>
                </c:pt>
                <c:pt idx="24">
                  <c:v>2018</c:v>
                </c:pt>
                <c:pt idx="25">
                  <c:v>2018</c:v>
                </c:pt>
                <c:pt idx="26">
                  <c:v>2018</c:v>
                </c:pt>
                <c:pt idx="27">
                  <c:v>2018</c:v>
                </c:pt>
                <c:pt idx="28">
                  <c:v>2018</c:v>
                </c:pt>
                <c:pt idx="29">
                  <c:v>2018</c:v>
                </c:pt>
                <c:pt idx="30">
                  <c:v>2018</c:v>
                </c:pt>
                <c:pt idx="31">
                  <c:v>2018</c:v>
                </c:pt>
                <c:pt idx="32">
                  <c:v>2018</c:v>
                </c:pt>
                <c:pt idx="33">
                  <c:v>2018</c:v>
                </c:pt>
                <c:pt idx="34">
                  <c:v>2018</c:v>
                </c:pt>
                <c:pt idx="35">
                  <c:v>2018</c:v>
                </c:pt>
                <c:pt idx="36">
                  <c:v>2019</c:v>
                </c:pt>
                <c:pt idx="37">
                  <c:v>2019</c:v>
                </c:pt>
                <c:pt idx="38">
                  <c:v>2019</c:v>
                </c:pt>
                <c:pt idx="39">
                  <c:v>2019</c:v>
                </c:pt>
                <c:pt idx="40">
                  <c:v>2019</c:v>
                </c:pt>
                <c:pt idx="41">
                  <c:v>2019</c:v>
                </c:pt>
                <c:pt idx="42">
                  <c:v>2019</c:v>
                </c:pt>
                <c:pt idx="43">
                  <c:v>2019</c:v>
                </c:pt>
                <c:pt idx="44">
                  <c:v>2019</c:v>
                </c:pt>
                <c:pt idx="45">
                  <c:v>2019</c:v>
                </c:pt>
                <c:pt idx="46">
                  <c:v>2019</c:v>
                </c:pt>
                <c:pt idx="47">
                  <c:v>2019</c:v>
                </c:pt>
              </c:strCache>
            </c:strRef>
          </c:cat>
          <c:val>
            <c:numRef>
              <c:f>Sheet1!$E$2:$E$49</c:f>
              <c:numCache>
                <c:formatCode>General</c:formatCode>
                <c:ptCount val="48"/>
                <c:pt idx="0">
                  <c:v>490</c:v>
                </c:pt>
                <c:pt idx="1">
                  <c:v>500</c:v>
                </c:pt>
                <c:pt idx="2">
                  <c:v>510</c:v>
                </c:pt>
                <c:pt idx="3">
                  <c:v>520</c:v>
                </c:pt>
                <c:pt idx="4">
                  <c:v>530</c:v>
                </c:pt>
                <c:pt idx="5">
                  <c:v>540</c:v>
                </c:pt>
                <c:pt idx="6">
                  <c:v>550</c:v>
                </c:pt>
                <c:pt idx="7">
                  <c:v>560</c:v>
                </c:pt>
                <c:pt idx="8">
                  <c:v>570</c:v>
                </c:pt>
                <c:pt idx="9">
                  <c:v>580</c:v>
                </c:pt>
                <c:pt idx="10">
                  <c:v>590</c:v>
                </c:pt>
                <c:pt idx="11">
                  <c:v>600</c:v>
                </c:pt>
                <c:pt idx="12">
                  <c:v>610</c:v>
                </c:pt>
                <c:pt idx="13">
                  <c:v>620</c:v>
                </c:pt>
                <c:pt idx="14">
                  <c:v>630</c:v>
                </c:pt>
                <c:pt idx="15">
                  <c:v>640</c:v>
                </c:pt>
                <c:pt idx="16">
                  <c:v>650</c:v>
                </c:pt>
                <c:pt idx="17">
                  <c:v>660</c:v>
                </c:pt>
                <c:pt idx="18">
                  <c:v>670</c:v>
                </c:pt>
                <c:pt idx="19">
                  <c:v>680</c:v>
                </c:pt>
                <c:pt idx="20">
                  <c:v>690</c:v>
                </c:pt>
                <c:pt idx="21">
                  <c:v>700</c:v>
                </c:pt>
                <c:pt idx="22">
                  <c:v>710</c:v>
                </c:pt>
                <c:pt idx="23">
                  <c:v>720</c:v>
                </c:pt>
                <c:pt idx="24">
                  <c:v>730</c:v>
                </c:pt>
                <c:pt idx="25">
                  <c:v>740</c:v>
                </c:pt>
                <c:pt idx="26">
                  <c:v>750</c:v>
                </c:pt>
                <c:pt idx="27">
                  <c:v>760</c:v>
                </c:pt>
                <c:pt idx="28">
                  <c:v>770</c:v>
                </c:pt>
                <c:pt idx="29">
                  <c:v>780</c:v>
                </c:pt>
                <c:pt idx="30">
                  <c:v>790</c:v>
                </c:pt>
                <c:pt idx="31">
                  <c:v>800</c:v>
                </c:pt>
                <c:pt idx="32">
                  <c:v>810</c:v>
                </c:pt>
                <c:pt idx="33">
                  <c:v>820</c:v>
                </c:pt>
                <c:pt idx="34">
                  <c:v>830</c:v>
                </c:pt>
                <c:pt idx="35">
                  <c:v>840</c:v>
                </c:pt>
                <c:pt idx="36">
                  <c:v>850</c:v>
                </c:pt>
                <c:pt idx="37">
                  <c:v>860</c:v>
                </c:pt>
                <c:pt idx="38">
                  <c:v>870</c:v>
                </c:pt>
                <c:pt idx="39">
                  <c:v>880</c:v>
                </c:pt>
                <c:pt idx="40">
                  <c:v>890</c:v>
                </c:pt>
                <c:pt idx="41">
                  <c:v>900</c:v>
                </c:pt>
                <c:pt idx="42">
                  <c:v>910</c:v>
                </c:pt>
                <c:pt idx="43">
                  <c:v>920</c:v>
                </c:pt>
                <c:pt idx="44">
                  <c:v>930</c:v>
                </c:pt>
                <c:pt idx="45">
                  <c:v>940</c:v>
                </c:pt>
                <c:pt idx="46">
                  <c:v>950</c:v>
                </c:pt>
                <c:pt idx="47">
                  <c:v>960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40495176"/>
        <c:crosses val="autoZero"/>
        <c:auto val="1"/>
        <c:lblAlgn val="ctr"/>
        <c:lblOffset val="100"/>
        <c:noMultiLvlLbl val="0"/>
        <c:tickLblSkip val="12"/>
        <c:tickMarkSkip val="12"/>
      </c:catAx>
      <c:valAx>
        <c:axId val="2140495176"/>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118791784"/>
        <c:crosses val="autoZero"/>
      </c:valAx>
    </c:plotArea>
    <c:plotVisOnly val="1"/>
    <c:dispBlanksAs val="gap"/>
    <c:showDLblsOverMax val="0"/>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Deneb</c:v>
                </c:pt>
              </c:strCache>
            </c:strRef>
          </c:tx>
          <c:spPr>
            <a:ln w="28575">
              <a:solidFill>
                <a:srgbClr val="0B3D91"/>
              </a:solidFill>
            </a:ln>
          </c:spPr>
          <c:marker>
            <c:symbol val="none"/>
          </c:marker>
          <c:cat>
            <c:strRef>
              <c:f>Sheet1!$A$2:$A$37</c:f>
              <c:strCache>
                <c:ptCount val="36"/>
                <c:pt idx="0">
                  <c:v>2020</c:v>
                </c:pt>
                <c:pt idx="1">
                  <c:v>2020</c:v>
                </c:pt>
                <c:pt idx="2">
                  <c:v>2020</c:v>
                </c:pt>
                <c:pt idx="3">
                  <c:v>2020</c:v>
                </c:pt>
                <c:pt idx="4">
                  <c:v>2020</c:v>
                </c:pt>
                <c:pt idx="5">
                  <c:v>2020</c:v>
                </c:pt>
                <c:pt idx="6">
                  <c:v>2020</c:v>
                </c:pt>
                <c:pt idx="7">
                  <c:v>2020</c:v>
                </c:pt>
                <c:pt idx="8">
                  <c:v>2020</c:v>
                </c:pt>
                <c:pt idx="9">
                  <c:v>2020</c:v>
                </c:pt>
                <c:pt idx="10">
                  <c:v>2020</c:v>
                </c:pt>
                <c:pt idx="11">
                  <c:v>2020</c:v>
                </c:pt>
                <c:pt idx="12">
                  <c:v>2021</c:v>
                </c:pt>
                <c:pt idx="13">
                  <c:v>2021</c:v>
                </c:pt>
                <c:pt idx="14">
                  <c:v>2021</c:v>
                </c:pt>
                <c:pt idx="15">
                  <c:v>2021</c:v>
                </c:pt>
                <c:pt idx="16">
                  <c:v>2021</c:v>
                </c:pt>
                <c:pt idx="17">
                  <c:v>2021</c:v>
                </c:pt>
                <c:pt idx="18">
                  <c:v>2021</c:v>
                </c:pt>
                <c:pt idx="19">
                  <c:v>2021</c:v>
                </c:pt>
                <c:pt idx="20">
                  <c:v>2021</c:v>
                </c:pt>
                <c:pt idx="21">
                  <c:v>2021</c:v>
                </c:pt>
                <c:pt idx="22">
                  <c:v>2021</c:v>
                </c:pt>
                <c:pt idx="23">
                  <c:v>2021</c:v>
                </c:pt>
                <c:pt idx="24">
                  <c:v>2022</c:v>
                </c:pt>
                <c:pt idx="25">
                  <c:v>2022</c:v>
                </c:pt>
                <c:pt idx="26">
                  <c:v>2022</c:v>
                </c:pt>
                <c:pt idx="27">
                  <c:v>2022</c:v>
                </c:pt>
                <c:pt idx="28">
                  <c:v>2022</c:v>
                </c:pt>
                <c:pt idx="29">
                  <c:v>2022</c:v>
                </c:pt>
                <c:pt idx="30">
                  <c:v>2022</c:v>
                </c:pt>
                <c:pt idx="31">
                  <c:v>2022</c:v>
                </c:pt>
                <c:pt idx="32">
                  <c:v>2022</c:v>
                </c:pt>
                <c:pt idx="33">
                  <c:v>2022</c:v>
                </c:pt>
                <c:pt idx="34">
                  <c:v>2022</c:v>
                </c:pt>
                <c:pt idx="35">
                  <c:v>2022</c:v>
                </c:pt>
              </c:strCache>
            </c:strRef>
          </c:cat>
          <c:val>
            <c:numRef>
              <c:f>Sheet1!$B$2:$B$37</c:f>
              <c:numCache>
                <c:formatCode>General</c:formatCode>
                <c:ptCount val="36"/>
                <c:pt idx="0">
                  <c:v>3186.3898639771614</c:v>
                </c:pt>
                <c:pt idx="1">
                  <c:v>2848.637801969334</c:v>
                </c:pt>
                <c:pt idx="2">
                  <c:v>2715.7585927780597</c:v>
                </c:pt>
                <c:pt idx="3">
                  <c:v>3458.998061786162</c:v>
                </c:pt>
                <c:pt idx="4">
                  <c:v>3687.114003300544</c:v>
                </c:pt>
                <c:pt idx="5">
                  <c:v>4066.095221699889</c:v>
                </c:pt>
                <c:pt idx="6">
                  <c:v>4638.741610774298</c:v>
                </c:pt>
                <c:pt idx="7">
                  <c:v>5616.157419120424</c:v>
                </c:pt>
                <c:pt idx="8">
                  <c:v>5061.302948085629</c:v>
                </c:pt>
                <c:pt idx="9">
                  <c:v>5079.903579767502</c:v>
                </c:pt>
                <c:pt idx="10">
                  <c:v>5745.026173742251</c:v>
                </c:pt>
                <c:pt idx="11">
                  <c:v>6288.365867343661</c:v>
                </c:pt>
                <c:pt idx="12">
                  <c:v>6270.152948688488</c:v>
                </c:pt>
                <c:pt idx="13">
                  <c:v>6430.408565576998</c:v>
                </c:pt>
                <c:pt idx="14">
                  <c:v>7122.926013465324</c:v>
                </c:pt>
                <c:pt idx="15">
                  <c:v>7791.901766802166</c:v>
                </c:pt>
                <c:pt idx="16">
                  <c:v>7632.082393808408</c:v>
                </c:pt>
                <c:pt idx="17">
                  <c:v>8506.723495525404</c:v>
                </c:pt>
                <c:pt idx="18">
                  <c:v>8963.745502286838</c:v>
                </c:pt>
                <c:pt idx="19">
                  <c:v>9727.582096123237</c:v>
                </c:pt>
                <c:pt idx="20">
                  <c:v>8648.370362923837</c:v>
                </c:pt>
                <c:pt idx="21">
                  <c:v>10045.385681642318</c:v>
                </c:pt>
                <c:pt idx="22">
                  <c:v>10289.783638430405</c:v>
                </c:pt>
                <c:pt idx="23">
                  <c:v>10450.287611808011</c:v>
                </c:pt>
                <c:pt idx="24">
                  <c:v>9729.063244213912</c:v>
                </c:pt>
                <c:pt idx="25">
                  <c:v>9632.945598186425</c:v>
                </c:pt>
                <c:pt idx="26">
                  <c:v>9891.302278795021</c:v>
                </c:pt>
                <c:pt idx="27">
                  <c:v>8841.102072682805</c:v>
                </c:pt>
                <c:pt idx="28">
                  <c:v>9084.500527954919</c:v>
                </c:pt>
                <c:pt idx="29">
                  <c:v>8598.97737275925</c:v>
                </c:pt>
                <c:pt idx="30">
                  <c:v>8833.407431250183</c:v>
                </c:pt>
                <c:pt idx="31">
                  <c:v>8232.188051876179</c:v>
                </c:pt>
                <c:pt idx="32">
                  <c:v>7744.870778276569</c:v>
                </c:pt>
                <c:pt idx="33">
                  <c:v>8298.160343634925</c:v>
                </c:pt>
                <c:pt idx="34">
                  <c:v>8677.25909143346</c:v>
                </c:pt>
                <c:pt idx="35">
                  <c:v>7840.207184216589</c:v>
                </c:pt>
              </c:numCache>
            </c:numRef>
          </c:val>
          <c:smooth val="0"/>
        </c:ser>
        <c:ser>
          <c:idx val="1"/>
          <c:order val="1"/>
          <c:tx>
            <c:strRef>
              <c:f>Sheet1!$C$1</c:f>
              <c:strCache>
                <c:ptCount val="1"/>
                <c:pt idx="0">
                  <c:v>TQQQ 단독 적립</c:v>
                </c:pt>
              </c:strCache>
            </c:strRef>
          </c:tx>
          <c:spPr>
            <a:ln w="22225">
              <a:solidFill>
                <a:srgbClr val="7A4CB0"/>
              </a:solidFill>
              <a:prstDash val="dash"/>
            </a:ln>
          </c:spPr>
          <c:marker>
            <c:symbol val="none"/>
          </c:marker>
          <c:cat>
            <c:strRef>
              <c:f>Sheet1!$A$2:$A$37</c:f>
              <c:strCache>
                <c:ptCount val="36"/>
                <c:pt idx="0">
                  <c:v>2020</c:v>
                </c:pt>
                <c:pt idx="1">
                  <c:v>2020</c:v>
                </c:pt>
                <c:pt idx="2">
                  <c:v>2020</c:v>
                </c:pt>
                <c:pt idx="3">
                  <c:v>2020</c:v>
                </c:pt>
                <c:pt idx="4">
                  <c:v>2020</c:v>
                </c:pt>
                <c:pt idx="5">
                  <c:v>2020</c:v>
                </c:pt>
                <c:pt idx="6">
                  <c:v>2020</c:v>
                </c:pt>
                <c:pt idx="7">
                  <c:v>2020</c:v>
                </c:pt>
                <c:pt idx="8">
                  <c:v>2020</c:v>
                </c:pt>
                <c:pt idx="9">
                  <c:v>2020</c:v>
                </c:pt>
                <c:pt idx="10">
                  <c:v>2020</c:v>
                </c:pt>
                <c:pt idx="11">
                  <c:v>2020</c:v>
                </c:pt>
                <c:pt idx="12">
                  <c:v>2021</c:v>
                </c:pt>
                <c:pt idx="13">
                  <c:v>2021</c:v>
                </c:pt>
                <c:pt idx="14">
                  <c:v>2021</c:v>
                </c:pt>
                <c:pt idx="15">
                  <c:v>2021</c:v>
                </c:pt>
                <c:pt idx="16">
                  <c:v>2021</c:v>
                </c:pt>
                <c:pt idx="17">
                  <c:v>2021</c:v>
                </c:pt>
                <c:pt idx="18">
                  <c:v>2021</c:v>
                </c:pt>
                <c:pt idx="19">
                  <c:v>2021</c:v>
                </c:pt>
                <c:pt idx="20">
                  <c:v>2021</c:v>
                </c:pt>
                <c:pt idx="21">
                  <c:v>2021</c:v>
                </c:pt>
                <c:pt idx="22">
                  <c:v>2021</c:v>
                </c:pt>
                <c:pt idx="23">
                  <c:v>2021</c:v>
                </c:pt>
                <c:pt idx="24">
                  <c:v>2022</c:v>
                </c:pt>
                <c:pt idx="25">
                  <c:v>2022</c:v>
                </c:pt>
                <c:pt idx="26">
                  <c:v>2022</c:v>
                </c:pt>
                <c:pt idx="27">
                  <c:v>2022</c:v>
                </c:pt>
                <c:pt idx="28">
                  <c:v>2022</c:v>
                </c:pt>
                <c:pt idx="29">
                  <c:v>2022</c:v>
                </c:pt>
                <c:pt idx="30">
                  <c:v>2022</c:v>
                </c:pt>
                <c:pt idx="31">
                  <c:v>2022</c:v>
                </c:pt>
                <c:pt idx="32">
                  <c:v>2022</c:v>
                </c:pt>
                <c:pt idx="33">
                  <c:v>2022</c:v>
                </c:pt>
                <c:pt idx="34">
                  <c:v>2022</c:v>
                </c:pt>
                <c:pt idx="35">
                  <c:v>2022</c:v>
                </c:pt>
              </c:strCache>
            </c:strRef>
          </c:cat>
          <c:val>
            <c:numRef>
              <c:f>Sheet1!$C$2:$C$37</c:f>
              <c:numCache>
                <c:formatCode>General</c:formatCode>
                <c:ptCount val="36"/>
                <c:pt idx="0">
                  <c:v>7521.221479306401</c:v>
                </c:pt>
                <c:pt idx="1">
                  <c:v>6192.536714678381</c:v>
                </c:pt>
                <c:pt idx="2">
                  <c:v>3836.7667439117654</c:v>
                </c:pt>
                <c:pt idx="3">
                  <c:v>5635.735079911373</c:v>
                </c:pt>
                <c:pt idx="4">
                  <c:v>6698.837078449462</c:v>
                </c:pt>
                <c:pt idx="5">
                  <c:v>7914.758537854664</c:v>
                </c:pt>
                <c:pt idx="6">
                  <c:v>9687.812755242063</c:v>
                </c:pt>
                <c:pt idx="7">
                  <c:v>13107.541960639883</c:v>
                </c:pt>
                <c:pt idx="8">
                  <c:v>10640.927832944584</c:v>
                </c:pt>
                <c:pt idx="9">
                  <c:v>9556.127569581482</c:v>
                </c:pt>
                <c:pt idx="10">
                  <c:v>12870.46841766553</c:v>
                </c:pt>
                <c:pt idx="11">
                  <c:v>14818.365744342527</c:v>
                </c:pt>
                <c:pt idx="12">
                  <c:v>14758.660953417713</c:v>
                </c:pt>
                <c:pt idx="13">
                  <c:v>14563.916640972084</c:v>
                </c:pt>
                <c:pt idx="14">
                  <c:v>14906.311534100309</c:v>
                </c:pt>
                <c:pt idx="15">
                  <c:v>17596.279382761855</c:v>
                </c:pt>
                <c:pt idx="16">
                  <c:v>16777.29788542296</c:v>
                </c:pt>
                <c:pt idx="17">
                  <c:v>20045.36288604816</c:v>
                </c:pt>
                <c:pt idx="18">
                  <c:v>21731.811254007083</c:v>
                </c:pt>
                <c:pt idx="19">
                  <c:v>24485.3133972549</c:v>
                </c:pt>
                <c:pt idx="20">
                  <c:v>20411.88657577222</c:v>
                </c:pt>
                <c:pt idx="21">
                  <c:v>25436.54065221022</c:v>
                </c:pt>
                <c:pt idx="22">
                  <c:v>26812.562763496302</c:v>
                </c:pt>
                <c:pt idx="23">
                  <c:v>27289.034015725214</c:v>
                </c:pt>
                <c:pt idx="24">
                  <c:v>20295.566715764417</c:v>
                </c:pt>
                <c:pt idx="25">
                  <c:v>17228.200101727794</c:v>
                </c:pt>
                <c:pt idx="26">
                  <c:v>19118.291752837824</c:v>
                </c:pt>
                <c:pt idx="27">
                  <c:v>12010.268412599698</c:v>
                </c:pt>
                <c:pt idx="28">
                  <c:v>10874.749805302781</c:v>
                </c:pt>
                <c:pt idx="29">
                  <c:v>7904.366608457692</c:v>
                </c:pt>
                <c:pt idx="30">
                  <c:v>11000.729005529014</c:v>
                </c:pt>
                <c:pt idx="31">
                  <c:v>9178.908195250808</c:v>
                </c:pt>
                <c:pt idx="32">
                  <c:v>6383.646335127864</c:v>
                </c:pt>
                <c:pt idx="33">
                  <c:v>6932.350705942172</c:v>
                </c:pt>
                <c:pt idx="34">
                  <c:v>7807.586543215959</c:v>
                </c:pt>
                <c:pt idx="35">
                  <c:v>5770.159168112196</c:v>
                </c:pt>
              </c:numCache>
            </c:numRef>
          </c:val>
          <c:smooth val="0"/>
        </c:ser>
        <c:ser>
          <c:idx val="2"/>
          <c:order val="2"/>
          <c:tx>
            <c:strRef>
              <c:f>Sheet1!$D$1</c:f>
              <c:strCache>
                <c:ptCount val="1"/>
                <c:pt idx="0">
                  <c:v>QLD 단독 적립</c:v>
                </c:pt>
              </c:strCache>
            </c:strRef>
          </c:tx>
          <c:spPr>
            <a:ln w="19050">
              <a:solidFill>
                <a:srgbClr val="3D9BE0"/>
              </a:solidFill>
            </a:ln>
          </c:spPr>
          <c:marker>
            <c:symbol val="none"/>
          </c:marker>
          <c:cat>
            <c:strRef>
              <c:f>Sheet1!$A$2:$A$37</c:f>
              <c:strCache>
                <c:ptCount val="36"/>
                <c:pt idx="0">
                  <c:v>2020</c:v>
                </c:pt>
                <c:pt idx="1">
                  <c:v>2020</c:v>
                </c:pt>
                <c:pt idx="2">
                  <c:v>2020</c:v>
                </c:pt>
                <c:pt idx="3">
                  <c:v>2020</c:v>
                </c:pt>
                <c:pt idx="4">
                  <c:v>2020</c:v>
                </c:pt>
                <c:pt idx="5">
                  <c:v>2020</c:v>
                </c:pt>
                <c:pt idx="6">
                  <c:v>2020</c:v>
                </c:pt>
                <c:pt idx="7">
                  <c:v>2020</c:v>
                </c:pt>
                <c:pt idx="8">
                  <c:v>2020</c:v>
                </c:pt>
                <c:pt idx="9">
                  <c:v>2020</c:v>
                </c:pt>
                <c:pt idx="10">
                  <c:v>2020</c:v>
                </c:pt>
                <c:pt idx="11">
                  <c:v>2020</c:v>
                </c:pt>
                <c:pt idx="12">
                  <c:v>2021</c:v>
                </c:pt>
                <c:pt idx="13">
                  <c:v>2021</c:v>
                </c:pt>
                <c:pt idx="14">
                  <c:v>2021</c:v>
                </c:pt>
                <c:pt idx="15">
                  <c:v>2021</c:v>
                </c:pt>
                <c:pt idx="16">
                  <c:v>2021</c:v>
                </c:pt>
                <c:pt idx="17">
                  <c:v>2021</c:v>
                </c:pt>
                <c:pt idx="18">
                  <c:v>2021</c:v>
                </c:pt>
                <c:pt idx="19">
                  <c:v>2021</c:v>
                </c:pt>
                <c:pt idx="20">
                  <c:v>2021</c:v>
                </c:pt>
                <c:pt idx="21">
                  <c:v>2021</c:v>
                </c:pt>
                <c:pt idx="22">
                  <c:v>2021</c:v>
                </c:pt>
                <c:pt idx="23">
                  <c:v>2021</c:v>
                </c:pt>
                <c:pt idx="24">
                  <c:v>2022</c:v>
                </c:pt>
                <c:pt idx="25">
                  <c:v>2022</c:v>
                </c:pt>
                <c:pt idx="26">
                  <c:v>2022</c:v>
                </c:pt>
                <c:pt idx="27">
                  <c:v>2022</c:v>
                </c:pt>
                <c:pt idx="28">
                  <c:v>2022</c:v>
                </c:pt>
                <c:pt idx="29">
                  <c:v>2022</c:v>
                </c:pt>
                <c:pt idx="30">
                  <c:v>2022</c:v>
                </c:pt>
                <c:pt idx="31">
                  <c:v>2022</c:v>
                </c:pt>
                <c:pt idx="32">
                  <c:v>2022</c:v>
                </c:pt>
                <c:pt idx="33">
                  <c:v>2022</c:v>
                </c:pt>
                <c:pt idx="34">
                  <c:v>2022</c:v>
                </c:pt>
                <c:pt idx="35">
                  <c:v>2022</c:v>
                </c:pt>
              </c:strCache>
            </c:strRef>
          </c:cat>
          <c:val>
            <c:numRef>
              <c:f>Sheet1!$D$2:$D$37</c:f>
              <c:numCache>
                <c:formatCode>General</c:formatCode>
                <c:ptCount val="36"/>
                <c:pt idx="0">
                  <c:v>4083.828219984443</c:v>
                </c:pt>
                <c:pt idx="1">
                  <c:v>3611.484276455117</c:v>
                </c:pt>
                <c:pt idx="2">
                  <c:v>2855.8636292865867</c:v>
                </c:pt>
                <c:pt idx="3">
                  <c:v>3743.619353718556</c:v>
                </c:pt>
                <c:pt idx="4">
                  <c:v>4219.274352194518</c:v>
                </c:pt>
                <c:pt idx="5">
                  <c:v>4750.923634731806</c:v>
                </c:pt>
                <c:pt idx="6">
                  <c:v>5469.489370697154</c:v>
                </c:pt>
                <c:pt idx="7">
                  <c:v>6726.959452389812</c:v>
                </c:pt>
                <c:pt idx="8">
                  <c:v>5927.530729686876</c:v>
                </c:pt>
                <c:pt idx="9">
                  <c:v>5538.815765450191</c:v>
                </c:pt>
                <c:pt idx="10">
                  <c:v>6801.951136130883</c:v>
                </c:pt>
                <c:pt idx="11">
                  <c:v>7481.06264591759</c:v>
                </c:pt>
                <c:pt idx="12">
                  <c:v>7508.25708915778</c:v>
                </c:pt>
                <c:pt idx="13">
                  <c:v>7463.690788133894</c:v>
                </c:pt>
                <c:pt idx="14">
                  <c:v>7646.016705322407</c:v>
                </c:pt>
                <c:pt idx="15">
                  <c:v>8562.400353293888</c:v>
                </c:pt>
                <c:pt idx="16">
                  <c:v>8331.148138060265</c:v>
                </c:pt>
                <c:pt idx="17">
                  <c:v>9404.633300792166</c:v>
                </c:pt>
                <c:pt idx="18">
                  <c:v>9937.719146861682</c:v>
                </c:pt>
                <c:pt idx="19">
                  <c:v>10782.370189911822</c:v>
                </c:pt>
                <c:pt idx="20">
                  <c:v>9558.872741776548</c:v>
                </c:pt>
                <c:pt idx="21">
                  <c:v>11116.396495789155</c:v>
                </c:pt>
                <c:pt idx="22">
                  <c:v>11530.356020757034</c:v>
                </c:pt>
                <c:pt idx="23">
                  <c:v>11726.42804310381</c:v>
                </c:pt>
                <c:pt idx="24">
                  <c:v>9717.771570515706</c:v>
                </c:pt>
                <c:pt idx="25">
                  <c:v>8798.55654162593</c:v>
                </c:pt>
                <c:pt idx="26">
                  <c:v>9502.544445396466</c:v>
                </c:pt>
                <c:pt idx="27">
                  <c:v>7036.527438255942</c:v>
                </c:pt>
                <c:pt idx="28">
                  <c:v>6711.096101501534</c:v>
                </c:pt>
                <c:pt idx="29">
                  <c:v>5492.915955393799</c:v>
                </c:pt>
                <c:pt idx="30">
                  <c:v>6912.683793981055</c:v>
                </c:pt>
                <c:pt idx="31">
                  <c:v>6170.793278616142</c:v>
                </c:pt>
                <c:pt idx="32">
                  <c:v>4886.50245156538</c:v>
                </c:pt>
                <c:pt idx="33">
                  <c:v>5219.234256293616</c:v>
                </c:pt>
                <c:pt idx="34">
                  <c:v>5740.592745540517</c:v>
                </c:pt>
                <c:pt idx="35">
                  <c:v>4710.759153829467</c:v>
                </c:pt>
              </c:numCache>
            </c:numRef>
          </c:val>
          <c:smooth val="0"/>
        </c:ser>
        <c:ser>
          <c:idx val="3"/>
          <c:order val="3"/>
          <c:tx>
            <c:strRef>
              <c:f>Sheet1!$E$1</c:f>
              <c:strCache>
                <c:ptCount val="1"/>
                <c:pt idx="0">
                  <c:v>원금</c:v>
                </c:pt>
              </c:strCache>
            </c:strRef>
          </c:tx>
          <c:spPr>
            <a:ln w="12700">
              <a:solidFill>
                <a:srgbClr val="1A1E25"/>
              </a:solidFill>
              <a:prstDash val="sysDash"/>
            </a:ln>
          </c:spPr>
          <c:marker>
            <c:symbol val="none"/>
          </c:marker>
          <c:cat>
            <c:strRef>
              <c:f>Sheet1!$A$2:$A$37</c:f>
              <c:strCache>
                <c:ptCount val="36"/>
                <c:pt idx="0">
                  <c:v>2020</c:v>
                </c:pt>
                <c:pt idx="1">
                  <c:v>2020</c:v>
                </c:pt>
                <c:pt idx="2">
                  <c:v>2020</c:v>
                </c:pt>
                <c:pt idx="3">
                  <c:v>2020</c:v>
                </c:pt>
                <c:pt idx="4">
                  <c:v>2020</c:v>
                </c:pt>
                <c:pt idx="5">
                  <c:v>2020</c:v>
                </c:pt>
                <c:pt idx="6">
                  <c:v>2020</c:v>
                </c:pt>
                <c:pt idx="7">
                  <c:v>2020</c:v>
                </c:pt>
                <c:pt idx="8">
                  <c:v>2020</c:v>
                </c:pt>
                <c:pt idx="9">
                  <c:v>2020</c:v>
                </c:pt>
                <c:pt idx="10">
                  <c:v>2020</c:v>
                </c:pt>
                <c:pt idx="11">
                  <c:v>2020</c:v>
                </c:pt>
                <c:pt idx="12">
                  <c:v>2021</c:v>
                </c:pt>
                <c:pt idx="13">
                  <c:v>2021</c:v>
                </c:pt>
                <c:pt idx="14">
                  <c:v>2021</c:v>
                </c:pt>
                <c:pt idx="15">
                  <c:v>2021</c:v>
                </c:pt>
                <c:pt idx="16">
                  <c:v>2021</c:v>
                </c:pt>
                <c:pt idx="17">
                  <c:v>2021</c:v>
                </c:pt>
                <c:pt idx="18">
                  <c:v>2021</c:v>
                </c:pt>
                <c:pt idx="19">
                  <c:v>2021</c:v>
                </c:pt>
                <c:pt idx="20">
                  <c:v>2021</c:v>
                </c:pt>
                <c:pt idx="21">
                  <c:v>2021</c:v>
                </c:pt>
                <c:pt idx="22">
                  <c:v>2021</c:v>
                </c:pt>
                <c:pt idx="23">
                  <c:v>2021</c:v>
                </c:pt>
                <c:pt idx="24">
                  <c:v>2022</c:v>
                </c:pt>
                <c:pt idx="25">
                  <c:v>2022</c:v>
                </c:pt>
                <c:pt idx="26">
                  <c:v>2022</c:v>
                </c:pt>
                <c:pt idx="27">
                  <c:v>2022</c:v>
                </c:pt>
                <c:pt idx="28">
                  <c:v>2022</c:v>
                </c:pt>
                <c:pt idx="29">
                  <c:v>2022</c:v>
                </c:pt>
                <c:pt idx="30">
                  <c:v>2022</c:v>
                </c:pt>
                <c:pt idx="31">
                  <c:v>2022</c:v>
                </c:pt>
                <c:pt idx="32">
                  <c:v>2022</c:v>
                </c:pt>
                <c:pt idx="33">
                  <c:v>2022</c:v>
                </c:pt>
                <c:pt idx="34">
                  <c:v>2022</c:v>
                </c:pt>
                <c:pt idx="35">
                  <c:v>2022</c:v>
                </c:pt>
              </c:strCache>
            </c:strRef>
          </c:cat>
          <c:val>
            <c:numRef>
              <c:f>Sheet1!$E$2:$E$37</c:f>
              <c:numCache>
                <c:formatCode>General</c:formatCode>
                <c:ptCount val="36"/>
                <c:pt idx="0">
                  <c:v>970</c:v>
                </c:pt>
                <c:pt idx="1">
                  <c:v>980</c:v>
                </c:pt>
                <c:pt idx="2">
                  <c:v>990</c:v>
                </c:pt>
                <c:pt idx="3">
                  <c:v>1000</c:v>
                </c:pt>
                <c:pt idx="4">
                  <c:v>1010</c:v>
                </c:pt>
                <c:pt idx="5">
                  <c:v>1020</c:v>
                </c:pt>
                <c:pt idx="6">
                  <c:v>1030</c:v>
                </c:pt>
                <c:pt idx="7">
                  <c:v>1040</c:v>
                </c:pt>
                <c:pt idx="8">
                  <c:v>1050</c:v>
                </c:pt>
                <c:pt idx="9">
                  <c:v>1060</c:v>
                </c:pt>
                <c:pt idx="10">
                  <c:v>1070</c:v>
                </c:pt>
                <c:pt idx="11">
                  <c:v>1080</c:v>
                </c:pt>
                <c:pt idx="12">
                  <c:v>1090</c:v>
                </c:pt>
                <c:pt idx="13">
                  <c:v>1100</c:v>
                </c:pt>
                <c:pt idx="14">
                  <c:v>1110</c:v>
                </c:pt>
                <c:pt idx="15">
                  <c:v>1120</c:v>
                </c:pt>
                <c:pt idx="16">
                  <c:v>1130</c:v>
                </c:pt>
                <c:pt idx="17">
                  <c:v>1140</c:v>
                </c:pt>
                <c:pt idx="18">
                  <c:v>1150</c:v>
                </c:pt>
                <c:pt idx="19">
                  <c:v>1160</c:v>
                </c:pt>
                <c:pt idx="20">
                  <c:v>1170</c:v>
                </c:pt>
                <c:pt idx="21">
                  <c:v>1180</c:v>
                </c:pt>
                <c:pt idx="22">
                  <c:v>1190</c:v>
                </c:pt>
                <c:pt idx="23">
                  <c:v>1200</c:v>
                </c:pt>
                <c:pt idx="24">
                  <c:v>1210</c:v>
                </c:pt>
                <c:pt idx="25">
                  <c:v>1220</c:v>
                </c:pt>
                <c:pt idx="26">
                  <c:v>1230</c:v>
                </c:pt>
                <c:pt idx="27">
                  <c:v>1240</c:v>
                </c:pt>
                <c:pt idx="28">
                  <c:v>1250</c:v>
                </c:pt>
                <c:pt idx="29">
                  <c:v>1260</c:v>
                </c:pt>
                <c:pt idx="30">
                  <c:v>1270</c:v>
                </c:pt>
                <c:pt idx="31">
                  <c:v>1280</c:v>
                </c:pt>
                <c:pt idx="32">
                  <c:v>1290</c:v>
                </c:pt>
                <c:pt idx="33">
                  <c:v>1300</c:v>
                </c:pt>
                <c:pt idx="34">
                  <c:v>1310</c:v>
                </c:pt>
                <c:pt idx="35">
                  <c:v>1320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40495176"/>
        <c:crosses val="autoZero"/>
        <c:auto val="1"/>
        <c:lblAlgn val="ctr"/>
        <c:lblOffset val="100"/>
        <c:noMultiLvlLbl val="0"/>
        <c:tickLblSkip val="12"/>
        <c:tickMarkSkip val="12"/>
      </c:catAx>
      <c:valAx>
        <c:axId val="2140495176"/>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118791784"/>
        <c:crosses val="autoZero"/>
      </c:valAx>
    </c:plotArea>
    <c:plotVisOnly val="1"/>
    <c:dispBlanksAs val="gap"/>
    <c:showDLblsOverMax val="0"/>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Deneb</c:v>
                </c:pt>
              </c:strCache>
            </c:strRef>
          </c:tx>
          <c:spPr>
            <a:ln w="28575">
              <a:solidFill>
                <a:srgbClr val="0B3D91"/>
              </a:solidFill>
            </a:ln>
          </c:spPr>
          <c:marker>
            <c:symbol val="none"/>
          </c:marker>
          <c:cat>
            <c:strRef>
              <c:f>Sheet1!$A$2:$A$45</c:f>
              <c:strCache>
                <c:ptCount val="44"/>
                <c:pt idx="0">
                  <c:v>2023</c:v>
                </c:pt>
                <c:pt idx="1">
                  <c:v>2023</c:v>
                </c:pt>
                <c:pt idx="2">
                  <c:v>2023</c:v>
                </c:pt>
                <c:pt idx="3">
                  <c:v>2023</c:v>
                </c:pt>
                <c:pt idx="4">
                  <c:v>2023</c:v>
                </c:pt>
                <c:pt idx="5">
                  <c:v>2023</c:v>
                </c:pt>
                <c:pt idx="6">
                  <c:v>2023</c:v>
                </c:pt>
                <c:pt idx="7">
                  <c:v>2023</c:v>
                </c:pt>
                <c:pt idx="8">
                  <c:v>2023</c:v>
                </c:pt>
                <c:pt idx="9">
                  <c:v>2023</c:v>
                </c:pt>
                <c:pt idx="10">
                  <c:v>2023</c:v>
                </c:pt>
                <c:pt idx="11">
                  <c:v>2023</c:v>
                </c:pt>
                <c:pt idx="12">
                  <c:v>2024</c:v>
                </c:pt>
                <c:pt idx="13">
                  <c:v>2024</c:v>
                </c:pt>
                <c:pt idx="14">
                  <c:v>2024</c:v>
                </c:pt>
                <c:pt idx="15">
                  <c:v>2024</c:v>
                </c:pt>
                <c:pt idx="16">
                  <c:v>2024</c:v>
                </c:pt>
                <c:pt idx="17">
                  <c:v>2024</c:v>
                </c:pt>
                <c:pt idx="18">
                  <c:v>2024</c:v>
                </c:pt>
                <c:pt idx="19">
                  <c:v>2024</c:v>
                </c:pt>
                <c:pt idx="20">
                  <c:v>2024</c:v>
                </c:pt>
                <c:pt idx="21">
                  <c:v>2024</c:v>
                </c:pt>
                <c:pt idx="22">
                  <c:v>2024</c:v>
                </c:pt>
                <c:pt idx="23">
                  <c:v>2024</c:v>
                </c:pt>
                <c:pt idx="24">
                  <c:v>2025</c:v>
                </c:pt>
                <c:pt idx="25">
                  <c:v>2025</c:v>
                </c:pt>
                <c:pt idx="26">
                  <c:v>2025</c:v>
                </c:pt>
                <c:pt idx="27">
                  <c:v>2025</c:v>
                </c:pt>
                <c:pt idx="28">
                  <c:v>2025</c:v>
                </c:pt>
                <c:pt idx="29">
                  <c:v>2025</c:v>
                </c:pt>
                <c:pt idx="30">
                  <c:v>2025</c:v>
                </c:pt>
                <c:pt idx="31">
                  <c:v>2025</c:v>
                </c:pt>
                <c:pt idx="32">
                  <c:v>2025</c:v>
                </c:pt>
                <c:pt idx="33">
                  <c:v>2025</c:v>
                </c:pt>
                <c:pt idx="34">
                  <c:v>2025</c:v>
                </c:pt>
                <c:pt idx="35">
                  <c:v>2025</c:v>
                </c:pt>
                <c:pt idx="36">
                  <c:v>2026</c:v>
                </c:pt>
                <c:pt idx="37">
                  <c:v>2026</c:v>
                </c:pt>
                <c:pt idx="38">
                  <c:v>2026</c:v>
                </c:pt>
                <c:pt idx="39">
                  <c:v>2026</c:v>
                </c:pt>
                <c:pt idx="40">
                  <c:v>2026</c:v>
                </c:pt>
                <c:pt idx="41">
                  <c:v>2026</c:v>
                </c:pt>
                <c:pt idx="42">
                  <c:v>2026</c:v>
                </c:pt>
                <c:pt idx="43">
                  <c:v>2026</c:v>
                </c:pt>
              </c:strCache>
            </c:strRef>
          </c:cat>
          <c:val>
            <c:numRef>
              <c:f>Sheet1!$B$2:$B$45</c:f>
              <c:numCache>
                <c:formatCode>General</c:formatCode>
                <c:ptCount val="44"/>
                <c:pt idx="0">
                  <c:v>8341.517259982676</c:v>
                </c:pt>
                <c:pt idx="1">
                  <c:v>7967.021205573781</c:v>
                </c:pt>
                <c:pt idx="2">
                  <c:v>9023.3730389591</c:v>
                </c:pt>
                <c:pt idx="3">
                  <c:v>9006.974274971204</c:v>
                </c:pt>
                <c:pt idx="4">
                  <c:v>10115.607608723467</c:v>
                </c:pt>
                <c:pt idx="5">
                  <c:v>11467.865218910349</c:v>
                </c:pt>
                <c:pt idx="6">
                  <c:v>12393.276140696524</c:v>
                </c:pt>
                <c:pt idx="7">
                  <c:v>11682.85837704981</c:v>
                </c:pt>
                <c:pt idx="8">
                  <c:v>11041.217468547662</c:v>
                </c:pt>
                <c:pt idx="9">
                  <c:v>10524.774812377062</c:v>
                </c:pt>
                <c:pt idx="10">
                  <c:v>12845.731955371068</c:v>
                </c:pt>
                <c:pt idx="11">
                  <c:v>14417.368233209818</c:v>
                </c:pt>
                <c:pt idx="12">
                  <c:v>14767.887303898979</c:v>
                </c:pt>
                <c:pt idx="13">
                  <c:v>16185.329718793711</c:v>
                </c:pt>
                <c:pt idx="14">
                  <c:v>16747.897614040332</c:v>
                </c:pt>
                <c:pt idx="15">
                  <c:v>14667.580281212744</c:v>
                </c:pt>
                <c:pt idx="16">
                  <c:v>16457.580659960604</c:v>
                </c:pt>
                <c:pt idx="17">
                  <c:v>18296.13568749444</c:v>
                </c:pt>
                <c:pt idx="18">
                  <c:v>18387.13214529933</c:v>
                </c:pt>
                <c:pt idx="19">
                  <c:v>19113.94544603529</c:v>
                </c:pt>
                <c:pt idx="20">
                  <c:v>19032.146642792046</c:v>
                </c:pt>
                <c:pt idx="21">
                  <c:v>18619.828472267225</c:v>
                </c:pt>
                <c:pt idx="22">
                  <c:v>20640.069577094357</c:v>
                </c:pt>
                <c:pt idx="23">
                  <c:v>20032.65574602465</c:v>
                </c:pt>
                <c:pt idx="24">
                  <c:v>20704.018262369966</c:v>
                </c:pt>
                <c:pt idx="25">
                  <c:v>20511.719160115685</c:v>
                </c:pt>
                <c:pt idx="26">
                  <c:v>19488.43364272791</c:v>
                </c:pt>
                <c:pt idx="27">
                  <c:v>18755.09566572177</c:v>
                </c:pt>
                <c:pt idx="28">
                  <c:v>18993.69845207694</c:v>
                </c:pt>
                <c:pt idx="29">
                  <c:v>21279.256001560105</c:v>
                </c:pt>
                <c:pt idx="30">
                  <c:v>22084.240963682525</c:v>
                </c:pt>
                <c:pt idx="31">
                  <c:v>22712.55515655553</c:v>
                </c:pt>
                <c:pt idx="32">
                  <c:v>24785.136397466296</c:v>
                </c:pt>
                <c:pt idx="33">
                  <c:v>26510.04465121707</c:v>
                </c:pt>
                <c:pt idx="34">
                  <c:v>25112.723494203474</c:v>
                </c:pt>
                <c:pt idx="35">
                  <c:v>24990.565104010657</c:v>
                </c:pt>
                <c:pt idx="36">
                  <c:v>26256.797829380677</c:v>
                </c:pt>
                <c:pt idx="37">
                  <c:v>26846.429071558297</c:v>
                </c:pt>
                <c:pt idx="38">
                  <c:v>24482.29406951958</c:v>
                </c:pt>
                <c:pt idx="39">
                  <c:v>29630.136447632074</c:v>
                </c:pt>
                <c:pt idx="40">
                  <c:v>35546.33665252652</c:v>
                </c:pt>
                <c:pt idx="41">
                  <c:v>33898.3093557915</c:v>
                </c:pt>
                <c:pt idx="42">
                  <c:v>33687.76486221718</c:v>
                </c:pt>
                <c:pt idx="43">
                  <c:v>36111.22577284591</c:v>
                </c:pt>
              </c:numCache>
            </c:numRef>
          </c:val>
          <c:smooth val="0"/>
        </c:ser>
        <c:ser>
          <c:idx val="1"/>
          <c:order val="1"/>
          <c:tx>
            <c:strRef>
              <c:f>Sheet1!$C$1</c:f>
              <c:strCache>
                <c:ptCount val="1"/>
                <c:pt idx="0">
                  <c:v>TQQQ 단독 적립</c:v>
                </c:pt>
              </c:strCache>
            </c:strRef>
          </c:tx>
          <c:spPr>
            <a:ln w="22225">
              <a:solidFill>
                <a:srgbClr val="7A4CB0"/>
              </a:solidFill>
              <a:prstDash val="dash"/>
            </a:ln>
          </c:spPr>
          <c:marker>
            <c:symbol val="none"/>
          </c:marker>
          <c:cat>
            <c:strRef>
              <c:f>Sheet1!$A$2:$A$45</c:f>
              <c:strCache>
                <c:ptCount val="44"/>
                <c:pt idx="0">
                  <c:v>2023</c:v>
                </c:pt>
                <c:pt idx="1">
                  <c:v>2023</c:v>
                </c:pt>
                <c:pt idx="2">
                  <c:v>2023</c:v>
                </c:pt>
                <c:pt idx="3">
                  <c:v>2023</c:v>
                </c:pt>
                <c:pt idx="4">
                  <c:v>2023</c:v>
                </c:pt>
                <c:pt idx="5">
                  <c:v>2023</c:v>
                </c:pt>
                <c:pt idx="6">
                  <c:v>2023</c:v>
                </c:pt>
                <c:pt idx="7">
                  <c:v>2023</c:v>
                </c:pt>
                <c:pt idx="8">
                  <c:v>2023</c:v>
                </c:pt>
                <c:pt idx="9">
                  <c:v>2023</c:v>
                </c:pt>
                <c:pt idx="10">
                  <c:v>2023</c:v>
                </c:pt>
                <c:pt idx="11">
                  <c:v>2023</c:v>
                </c:pt>
                <c:pt idx="12">
                  <c:v>2024</c:v>
                </c:pt>
                <c:pt idx="13">
                  <c:v>2024</c:v>
                </c:pt>
                <c:pt idx="14">
                  <c:v>2024</c:v>
                </c:pt>
                <c:pt idx="15">
                  <c:v>2024</c:v>
                </c:pt>
                <c:pt idx="16">
                  <c:v>2024</c:v>
                </c:pt>
                <c:pt idx="17">
                  <c:v>2024</c:v>
                </c:pt>
                <c:pt idx="18">
                  <c:v>2024</c:v>
                </c:pt>
                <c:pt idx="19">
                  <c:v>2024</c:v>
                </c:pt>
                <c:pt idx="20">
                  <c:v>2024</c:v>
                </c:pt>
                <c:pt idx="21">
                  <c:v>2024</c:v>
                </c:pt>
                <c:pt idx="22">
                  <c:v>2024</c:v>
                </c:pt>
                <c:pt idx="23">
                  <c:v>2024</c:v>
                </c:pt>
                <c:pt idx="24">
                  <c:v>2025</c:v>
                </c:pt>
                <c:pt idx="25">
                  <c:v>2025</c:v>
                </c:pt>
                <c:pt idx="26">
                  <c:v>2025</c:v>
                </c:pt>
                <c:pt idx="27">
                  <c:v>2025</c:v>
                </c:pt>
                <c:pt idx="28">
                  <c:v>2025</c:v>
                </c:pt>
                <c:pt idx="29">
                  <c:v>2025</c:v>
                </c:pt>
                <c:pt idx="30">
                  <c:v>2025</c:v>
                </c:pt>
                <c:pt idx="31">
                  <c:v>2025</c:v>
                </c:pt>
                <c:pt idx="32">
                  <c:v>2025</c:v>
                </c:pt>
                <c:pt idx="33">
                  <c:v>2025</c:v>
                </c:pt>
                <c:pt idx="34">
                  <c:v>2025</c:v>
                </c:pt>
                <c:pt idx="35">
                  <c:v>2025</c:v>
                </c:pt>
                <c:pt idx="36">
                  <c:v>2026</c:v>
                </c:pt>
                <c:pt idx="37">
                  <c:v>2026</c:v>
                </c:pt>
                <c:pt idx="38">
                  <c:v>2026</c:v>
                </c:pt>
                <c:pt idx="39">
                  <c:v>2026</c:v>
                </c:pt>
                <c:pt idx="40">
                  <c:v>2026</c:v>
                </c:pt>
                <c:pt idx="41">
                  <c:v>2026</c:v>
                </c:pt>
                <c:pt idx="42">
                  <c:v>2026</c:v>
                </c:pt>
                <c:pt idx="43">
                  <c:v>2026</c:v>
                </c:pt>
              </c:strCache>
            </c:strRef>
          </c:cat>
          <c:val>
            <c:numRef>
              <c:f>Sheet1!$C$2:$C$45</c:f>
              <c:numCache>
                <c:formatCode>General</c:formatCode>
                <c:ptCount val="44"/>
                <c:pt idx="0">
                  <c:v>7654.820009016366</c:v>
                </c:pt>
                <c:pt idx="1">
                  <c:v>7403.261839231441</c:v>
                </c:pt>
                <c:pt idx="2">
                  <c:v>9522.223990325461</c:v>
                </c:pt>
                <c:pt idx="3">
                  <c:v>9528.904810895528</c:v>
                </c:pt>
                <c:pt idx="4">
                  <c:v>11733.714812195076</c:v>
                </c:pt>
                <c:pt idx="5">
                  <c:v>13899.28222176357</c:v>
                </c:pt>
                <c:pt idx="6">
                  <c:v>15371.365805174193</c:v>
                </c:pt>
                <c:pt idx="7">
                  <c:v>14407.145884005125</c:v>
                </c:pt>
                <c:pt idx="8">
                  <c:v>12142.989315894294</c:v>
                </c:pt>
                <c:pt idx="9">
                  <c:v>11183.795175801015</c:v>
                </c:pt>
                <c:pt idx="10">
                  <c:v>14980.159618882644</c:v>
                </c:pt>
                <c:pt idx="11">
                  <c:v>17399.875694277594</c:v>
                </c:pt>
                <c:pt idx="12">
                  <c:v>18076.589828866287</c:v>
                </c:pt>
                <c:pt idx="13">
                  <c:v>20738.6993217755</c:v>
                </c:pt>
                <c:pt idx="14">
                  <c:v>21237.088654722837</c:v>
                </c:pt>
                <c:pt idx="15">
                  <c:v>18202.851372517765</c:v>
                </c:pt>
                <c:pt idx="16">
                  <c:v>21593.90158011377</c:v>
                </c:pt>
                <c:pt idx="17">
                  <c:v>25601.966689713587</c:v>
                </c:pt>
                <c:pt idx="18">
                  <c:v>23689.69241436799</c:v>
                </c:pt>
                <c:pt idx="19">
                  <c:v>23814.996512266964</c:v>
                </c:pt>
                <c:pt idx="20">
                  <c:v>25254.451888373558</c:v>
                </c:pt>
                <c:pt idx="21">
                  <c:v>24205.345030739358</c:v>
                </c:pt>
                <c:pt idx="22">
                  <c:v>27855.242001805836</c:v>
                </c:pt>
                <c:pt idx="23">
                  <c:v>27691.545675132656</c:v>
                </c:pt>
                <c:pt idx="24">
                  <c:v>28958.374796118027</c:v>
                </c:pt>
                <c:pt idx="25">
                  <c:v>26237.03672608073</c:v>
                </c:pt>
                <c:pt idx="26">
                  <c:v>20133.891382953923</c:v>
                </c:pt>
                <c:pt idx="27">
                  <c:v>19292.906949334927</c:v>
                </c:pt>
                <c:pt idx="28">
                  <c:v>24620.61097420794</c:v>
                </c:pt>
                <c:pt idx="29">
                  <c:v>29286.33176233989</c:v>
                </c:pt>
                <c:pt idx="30">
                  <c:v>31135.556827966833</c:v>
                </c:pt>
                <c:pt idx="31">
                  <c:v>31552.23269154414</c:v>
                </c:pt>
                <c:pt idx="32">
                  <c:v>36556.404978802166</c:v>
                </c:pt>
                <c:pt idx="33">
                  <c:v>41276.71215761591</c:v>
                </c:pt>
                <c:pt idx="34">
                  <c:v>38584.12320949664</c:v>
                </c:pt>
                <c:pt idx="35">
                  <c:v>37364.723282892104</c:v>
                </c:pt>
                <c:pt idx="36">
                  <c:v>38282.20929187723</c:v>
                </c:pt>
                <c:pt idx="37">
                  <c:v>35115.17930079034</c:v>
                </c:pt>
                <c:pt idx="38">
                  <c:v>29613.001279929602</c:v>
                </c:pt>
                <c:pt idx="39">
                  <c:v>45158.87295397881</c:v>
                </c:pt>
                <c:pt idx="40">
                  <c:v>60111.04412647579</c:v>
                </c:pt>
                <c:pt idx="41">
                  <c:v>57722.3520656482</c:v>
                </c:pt>
                <c:pt idx="42">
                  <c:v>46057.93867185595</c:v>
                </c:pt>
                <c:pt idx="43">
                  <c:v>51271.57911672567</c:v>
                </c:pt>
              </c:numCache>
            </c:numRef>
          </c:val>
          <c:smooth val="0"/>
        </c:ser>
        <c:ser>
          <c:idx val="2"/>
          <c:order val="2"/>
          <c:tx>
            <c:strRef>
              <c:f>Sheet1!$D$1</c:f>
              <c:strCache>
                <c:ptCount val="1"/>
                <c:pt idx="0">
                  <c:v>QLD 단독 적립</c:v>
                </c:pt>
              </c:strCache>
            </c:strRef>
          </c:tx>
          <c:spPr>
            <a:ln w="19050">
              <a:solidFill>
                <a:srgbClr val="3D9BE0"/>
              </a:solidFill>
            </a:ln>
          </c:spPr>
          <c:marker>
            <c:symbol val="none"/>
          </c:marker>
          <c:cat>
            <c:strRef>
              <c:f>Sheet1!$A$2:$A$45</c:f>
              <c:strCache>
                <c:ptCount val="44"/>
                <c:pt idx="0">
                  <c:v>2023</c:v>
                </c:pt>
                <c:pt idx="1">
                  <c:v>2023</c:v>
                </c:pt>
                <c:pt idx="2">
                  <c:v>2023</c:v>
                </c:pt>
                <c:pt idx="3">
                  <c:v>2023</c:v>
                </c:pt>
                <c:pt idx="4">
                  <c:v>2023</c:v>
                </c:pt>
                <c:pt idx="5">
                  <c:v>2023</c:v>
                </c:pt>
                <c:pt idx="6">
                  <c:v>2023</c:v>
                </c:pt>
                <c:pt idx="7">
                  <c:v>2023</c:v>
                </c:pt>
                <c:pt idx="8">
                  <c:v>2023</c:v>
                </c:pt>
                <c:pt idx="9">
                  <c:v>2023</c:v>
                </c:pt>
                <c:pt idx="10">
                  <c:v>2023</c:v>
                </c:pt>
                <c:pt idx="11">
                  <c:v>2023</c:v>
                </c:pt>
                <c:pt idx="12">
                  <c:v>2024</c:v>
                </c:pt>
                <c:pt idx="13">
                  <c:v>2024</c:v>
                </c:pt>
                <c:pt idx="14">
                  <c:v>2024</c:v>
                </c:pt>
                <c:pt idx="15">
                  <c:v>2024</c:v>
                </c:pt>
                <c:pt idx="16">
                  <c:v>2024</c:v>
                </c:pt>
                <c:pt idx="17">
                  <c:v>2024</c:v>
                </c:pt>
                <c:pt idx="18">
                  <c:v>2024</c:v>
                </c:pt>
                <c:pt idx="19">
                  <c:v>2024</c:v>
                </c:pt>
                <c:pt idx="20">
                  <c:v>2024</c:v>
                </c:pt>
                <c:pt idx="21">
                  <c:v>2024</c:v>
                </c:pt>
                <c:pt idx="22">
                  <c:v>2024</c:v>
                </c:pt>
                <c:pt idx="23">
                  <c:v>2024</c:v>
                </c:pt>
                <c:pt idx="24">
                  <c:v>2025</c:v>
                </c:pt>
                <c:pt idx="25">
                  <c:v>2025</c:v>
                </c:pt>
                <c:pt idx="26">
                  <c:v>2025</c:v>
                </c:pt>
                <c:pt idx="27">
                  <c:v>2025</c:v>
                </c:pt>
                <c:pt idx="28">
                  <c:v>2025</c:v>
                </c:pt>
                <c:pt idx="29">
                  <c:v>2025</c:v>
                </c:pt>
                <c:pt idx="30">
                  <c:v>2025</c:v>
                </c:pt>
                <c:pt idx="31">
                  <c:v>2025</c:v>
                </c:pt>
                <c:pt idx="32">
                  <c:v>2025</c:v>
                </c:pt>
                <c:pt idx="33">
                  <c:v>2025</c:v>
                </c:pt>
                <c:pt idx="34">
                  <c:v>2025</c:v>
                </c:pt>
                <c:pt idx="35">
                  <c:v>2025</c:v>
                </c:pt>
                <c:pt idx="36">
                  <c:v>2026</c:v>
                </c:pt>
                <c:pt idx="37">
                  <c:v>2026</c:v>
                </c:pt>
                <c:pt idx="38">
                  <c:v>2026</c:v>
                </c:pt>
                <c:pt idx="39">
                  <c:v>2026</c:v>
                </c:pt>
                <c:pt idx="40">
                  <c:v>2026</c:v>
                </c:pt>
                <c:pt idx="41">
                  <c:v>2026</c:v>
                </c:pt>
                <c:pt idx="42">
                  <c:v>2026</c:v>
                </c:pt>
                <c:pt idx="43">
                  <c:v>2026</c:v>
                </c:pt>
              </c:strCache>
            </c:strRef>
          </c:cat>
          <c:val>
            <c:numRef>
              <c:f>Sheet1!$D$2:$D$45</c:f>
              <c:numCache>
                <c:formatCode>General</c:formatCode>
                <c:ptCount val="44"/>
                <c:pt idx="0">
                  <c:v>5721.919280487793</c:v>
                </c:pt>
                <c:pt idx="1">
                  <c:v>5631.623548212585</c:v>
                </c:pt>
                <c:pt idx="2">
                  <c:v>6701.71544826556</c:v>
                </c:pt>
                <c:pt idx="3">
                  <c:v>6734.770843217427</c:v>
                </c:pt>
                <c:pt idx="4">
                  <c:v>7772.634291800545</c:v>
                </c:pt>
                <c:pt idx="5">
                  <c:v>8740.917060507778</c:v>
                </c:pt>
                <c:pt idx="6">
                  <c:v>9382.908453062202</c:v>
                </c:pt>
                <c:pt idx="7">
                  <c:v>9018.756714619556</c:v>
                </c:pt>
                <c:pt idx="8">
                  <c:v>8107.231674338971</c:v>
                </c:pt>
                <c:pt idx="9">
                  <c:v>7716.336556099712</c:v>
                </c:pt>
                <c:pt idx="10">
                  <c:v>9408.94155060189</c:v>
                </c:pt>
                <c:pt idx="11">
                  <c:v>10428.884594397423</c:v>
                </c:pt>
                <c:pt idx="12">
                  <c:v>10741.406594990403</c:v>
                </c:pt>
                <c:pt idx="13">
                  <c:v>11829.024883006674</c:v>
                </c:pt>
                <c:pt idx="14">
                  <c:v>12044.59433168725</c:v>
                </c:pt>
                <c:pt idx="15">
                  <c:v>10930.10369915106</c:v>
                </c:pt>
                <c:pt idx="16">
                  <c:v>12291.907036191024</c:v>
                </c:pt>
                <c:pt idx="17">
                  <c:v>13792.032712808807</c:v>
                </c:pt>
                <c:pt idx="18">
                  <c:v>13207.286602934975</c:v>
                </c:pt>
                <c:pt idx="19">
                  <c:v>13361.706786898385</c:v>
                </c:pt>
                <c:pt idx="20">
                  <c:v>13954.260100451409</c:v>
                </c:pt>
                <c:pt idx="21">
                  <c:v>13628.941004102666</c:v>
                </c:pt>
                <c:pt idx="22">
                  <c:v>15016.825053642351</c:v>
                </c:pt>
                <c:pt idx="23">
                  <c:v>15038.993630662257</c:v>
                </c:pt>
                <c:pt idx="24">
                  <c:v>15573.180161100147</c:v>
                </c:pt>
                <c:pt idx="25">
                  <c:v>14648.411548736072</c:v>
                </c:pt>
                <c:pt idx="26">
                  <c:v>12377.445736211308</c:v>
                </c:pt>
                <c:pt idx="27">
                  <c:v>12345.466716627736</c:v>
                </c:pt>
                <c:pt idx="28">
                  <c:v>14607.827847881657</c:v>
                </c:pt>
                <c:pt idx="29">
                  <c:v>16447.403584512045</c:v>
                </c:pt>
                <c:pt idx="30">
                  <c:v>17165.026187935906</c:v>
                </c:pt>
                <c:pt idx="31">
                  <c:v>17378.281110974232</c:v>
                </c:pt>
                <c:pt idx="32">
                  <c:v>19211.159162497508</c:v>
                </c:pt>
                <c:pt idx="33">
                  <c:v>20941.41815240649</c:v>
                </c:pt>
                <c:pt idx="34">
                  <c:v>20129.970434519342</c:v>
                </c:pt>
                <c:pt idx="35">
                  <c:v>19753.65337949952</c:v>
                </c:pt>
                <c:pt idx="36">
                  <c:v>20128.58433180373</c:v>
                </c:pt>
                <c:pt idx="37">
                  <c:v>19093.734336613117</c:v>
                </c:pt>
                <c:pt idx="38">
                  <c:v>17143.22028303017</c:v>
                </c:pt>
                <c:pt idx="39">
                  <c:v>22790.95209250824</c:v>
                </c:pt>
                <c:pt idx="40">
                  <c:v>27698.477493421193</c:v>
                </c:pt>
                <c:pt idx="41">
                  <c:v>27248.15769715314</c:v>
                </c:pt>
                <c:pt idx="42">
                  <c:v>23570.83735833887</c:v>
                </c:pt>
                <c:pt idx="43">
                  <c:v>25432.08632672166</c:v>
                </c:pt>
              </c:numCache>
            </c:numRef>
          </c:val>
          <c:smooth val="0"/>
        </c:ser>
        <c:ser>
          <c:idx val="3"/>
          <c:order val="3"/>
          <c:tx>
            <c:strRef>
              <c:f>Sheet1!$E$1</c:f>
              <c:strCache>
                <c:ptCount val="1"/>
                <c:pt idx="0">
                  <c:v>원금</c:v>
                </c:pt>
              </c:strCache>
            </c:strRef>
          </c:tx>
          <c:spPr>
            <a:ln w="12700">
              <a:solidFill>
                <a:srgbClr val="1A1E25"/>
              </a:solidFill>
              <a:prstDash val="sysDash"/>
            </a:ln>
          </c:spPr>
          <c:marker>
            <c:symbol val="none"/>
          </c:marker>
          <c:cat>
            <c:strRef>
              <c:f>Sheet1!$A$2:$A$45</c:f>
              <c:strCache>
                <c:ptCount val="44"/>
                <c:pt idx="0">
                  <c:v>2023</c:v>
                </c:pt>
                <c:pt idx="1">
                  <c:v>2023</c:v>
                </c:pt>
                <c:pt idx="2">
                  <c:v>2023</c:v>
                </c:pt>
                <c:pt idx="3">
                  <c:v>2023</c:v>
                </c:pt>
                <c:pt idx="4">
                  <c:v>2023</c:v>
                </c:pt>
                <c:pt idx="5">
                  <c:v>2023</c:v>
                </c:pt>
                <c:pt idx="6">
                  <c:v>2023</c:v>
                </c:pt>
                <c:pt idx="7">
                  <c:v>2023</c:v>
                </c:pt>
                <c:pt idx="8">
                  <c:v>2023</c:v>
                </c:pt>
                <c:pt idx="9">
                  <c:v>2023</c:v>
                </c:pt>
                <c:pt idx="10">
                  <c:v>2023</c:v>
                </c:pt>
                <c:pt idx="11">
                  <c:v>2023</c:v>
                </c:pt>
                <c:pt idx="12">
                  <c:v>2024</c:v>
                </c:pt>
                <c:pt idx="13">
                  <c:v>2024</c:v>
                </c:pt>
                <c:pt idx="14">
                  <c:v>2024</c:v>
                </c:pt>
                <c:pt idx="15">
                  <c:v>2024</c:v>
                </c:pt>
                <c:pt idx="16">
                  <c:v>2024</c:v>
                </c:pt>
                <c:pt idx="17">
                  <c:v>2024</c:v>
                </c:pt>
                <c:pt idx="18">
                  <c:v>2024</c:v>
                </c:pt>
                <c:pt idx="19">
                  <c:v>2024</c:v>
                </c:pt>
                <c:pt idx="20">
                  <c:v>2024</c:v>
                </c:pt>
                <c:pt idx="21">
                  <c:v>2024</c:v>
                </c:pt>
                <c:pt idx="22">
                  <c:v>2024</c:v>
                </c:pt>
                <c:pt idx="23">
                  <c:v>2024</c:v>
                </c:pt>
                <c:pt idx="24">
                  <c:v>2025</c:v>
                </c:pt>
                <c:pt idx="25">
                  <c:v>2025</c:v>
                </c:pt>
                <c:pt idx="26">
                  <c:v>2025</c:v>
                </c:pt>
                <c:pt idx="27">
                  <c:v>2025</c:v>
                </c:pt>
                <c:pt idx="28">
                  <c:v>2025</c:v>
                </c:pt>
                <c:pt idx="29">
                  <c:v>2025</c:v>
                </c:pt>
                <c:pt idx="30">
                  <c:v>2025</c:v>
                </c:pt>
                <c:pt idx="31">
                  <c:v>2025</c:v>
                </c:pt>
                <c:pt idx="32">
                  <c:v>2025</c:v>
                </c:pt>
                <c:pt idx="33">
                  <c:v>2025</c:v>
                </c:pt>
                <c:pt idx="34">
                  <c:v>2025</c:v>
                </c:pt>
                <c:pt idx="35">
                  <c:v>2025</c:v>
                </c:pt>
                <c:pt idx="36">
                  <c:v>2026</c:v>
                </c:pt>
                <c:pt idx="37">
                  <c:v>2026</c:v>
                </c:pt>
                <c:pt idx="38">
                  <c:v>2026</c:v>
                </c:pt>
                <c:pt idx="39">
                  <c:v>2026</c:v>
                </c:pt>
                <c:pt idx="40">
                  <c:v>2026</c:v>
                </c:pt>
                <c:pt idx="41">
                  <c:v>2026</c:v>
                </c:pt>
                <c:pt idx="42">
                  <c:v>2026</c:v>
                </c:pt>
                <c:pt idx="43">
                  <c:v>2026</c:v>
                </c:pt>
              </c:strCache>
            </c:strRef>
          </c:cat>
          <c:val>
            <c:numRef>
              <c:f>Sheet1!$E$2:$E$45</c:f>
              <c:numCache>
                <c:formatCode>General</c:formatCode>
                <c:ptCount val="44"/>
                <c:pt idx="0">
                  <c:v>1330</c:v>
                </c:pt>
                <c:pt idx="1">
                  <c:v>1340</c:v>
                </c:pt>
                <c:pt idx="2">
                  <c:v>1350</c:v>
                </c:pt>
                <c:pt idx="3">
                  <c:v>1360</c:v>
                </c:pt>
                <c:pt idx="4">
                  <c:v>1370</c:v>
                </c:pt>
                <c:pt idx="5">
                  <c:v>1380</c:v>
                </c:pt>
                <c:pt idx="6">
                  <c:v>1390</c:v>
                </c:pt>
                <c:pt idx="7">
                  <c:v>1400</c:v>
                </c:pt>
                <c:pt idx="8">
                  <c:v>1410</c:v>
                </c:pt>
                <c:pt idx="9">
                  <c:v>1420</c:v>
                </c:pt>
                <c:pt idx="10">
                  <c:v>1430</c:v>
                </c:pt>
                <c:pt idx="11">
                  <c:v>1440</c:v>
                </c:pt>
                <c:pt idx="12">
                  <c:v>1450</c:v>
                </c:pt>
                <c:pt idx="13">
                  <c:v>1460</c:v>
                </c:pt>
                <c:pt idx="14">
                  <c:v>1470</c:v>
                </c:pt>
                <c:pt idx="15">
                  <c:v>1480</c:v>
                </c:pt>
                <c:pt idx="16">
                  <c:v>1490</c:v>
                </c:pt>
                <c:pt idx="17">
                  <c:v>1500</c:v>
                </c:pt>
                <c:pt idx="18">
                  <c:v>1510</c:v>
                </c:pt>
                <c:pt idx="19">
                  <c:v>1520</c:v>
                </c:pt>
                <c:pt idx="20">
                  <c:v>1530</c:v>
                </c:pt>
                <c:pt idx="21">
                  <c:v>1540</c:v>
                </c:pt>
                <c:pt idx="22">
                  <c:v>1550</c:v>
                </c:pt>
                <c:pt idx="23">
                  <c:v>1560</c:v>
                </c:pt>
                <c:pt idx="24">
                  <c:v>1570</c:v>
                </c:pt>
                <c:pt idx="25">
                  <c:v>1580</c:v>
                </c:pt>
                <c:pt idx="26">
                  <c:v>1590</c:v>
                </c:pt>
                <c:pt idx="27">
                  <c:v>1600</c:v>
                </c:pt>
                <c:pt idx="28">
                  <c:v>1610</c:v>
                </c:pt>
                <c:pt idx="29">
                  <c:v>1620</c:v>
                </c:pt>
                <c:pt idx="30">
                  <c:v>1630</c:v>
                </c:pt>
                <c:pt idx="31">
                  <c:v>1640</c:v>
                </c:pt>
                <c:pt idx="32">
                  <c:v>1650</c:v>
                </c:pt>
                <c:pt idx="33">
                  <c:v>1660</c:v>
                </c:pt>
                <c:pt idx="34">
                  <c:v>1670</c:v>
                </c:pt>
                <c:pt idx="35">
                  <c:v>1680</c:v>
                </c:pt>
                <c:pt idx="36">
                  <c:v>1690</c:v>
                </c:pt>
                <c:pt idx="37">
                  <c:v>1700</c:v>
                </c:pt>
                <c:pt idx="38">
                  <c:v>1710</c:v>
                </c:pt>
                <c:pt idx="39">
                  <c:v>1720</c:v>
                </c:pt>
                <c:pt idx="40">
                  <c:v>1730</c:v>
                </c:pt>
                <c:pt idx="41">
                  <c:v>1740</c:v>
                </c:pt>
                <c:pt idx="42">
                  <c:v>1750</c:v>
                </c:pt>
                <c:pt idx="43">
                  <c:v>1760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40495176"/>
        <c:crosses val="autoZero"/>
        <c:auto val="1"/>
        <c:lblAlgn val="ctr"/>
        <c:lblOffset val="100"/>
        <c:noMultiLvlLbl val="0"/>
        <c:tickLblSkip val="12"/>
        <c:tickMarkSkip val="12"/>
      </c:catAx>
      <c:valAx>
        <c:axId val="2140495176"/>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118791784"/>
        <c:crosses val="autoZero"/>
      </c:valAx>
    </c:plotArea>
    <c:plotVisOnly val="1"/>
    <c:dispBlanksAs val="gap"/>
    <c:showDLblsOverMax val="0"/>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Deneb</c:v>
                </c:pt>
              </c:strCache>
            </c:strRef>
          </c:tx>
          <c:spPr>
            <a:solidFill>
              <a:srgbClr val="0B3D91"/>
            </a:solidFill>
          </c:spPr>
          <c:invertIfNegative val="0"/>
          <c:dLbls>
            <c:numFmt formatCode="0%;&quot;−&quot;0%" sourceLinked="0"/>
            <c:txPr>
              <a:bodyPr/>
              <a:lstStyle/>
              <a:p>
                <a:pPr>
                  <a:defRPr sz="700" b="0">
                    <a:solidFill>
                      <a:srgbClr val="1A1E25"/>
                    </a:solidFill>
                  </a:defRPr>
                </a:pPr>
              </a:p>
            </c:txPr>
            <c:dLblPos val="outEnd"/>
            <c:showLegendKey val="0"/>
            <c:showVal val="1"/>
            <c:showCatName val="0"/>
            <c:showSerName val="0"/>
            <c:showPercent val="0"/>
            <c:showBubbleSize val="0"/>
            <c:showLeaderLines val="1"/>
          </c:dLbls>
          <c:cat>
            <c:strRef>
              <c:f>Sheet1!$A$2:$A$5</c:f>
              <c:strCache>
                <c:ptCount val="4"/>
                <c:pt idx="0">
                  <c:v>2018년 4분기</c:v>
                </c:pt>
                <c:pt idx="1">
                  <c:v>2020년 코로나</c:v>
                </c:pt>
                <c:pt idx="2">
                  <c:v>2022년 한 해</c:v>
                </c:pt>
                <c:pt idx="3">
                  <c:v>2025년 봄</c:v>
                </c:pt>
              </c:strCache>
            </c:strRef>
          </c:cat>
          <c:val>
            <c:numRef>
              <c:f>Sheet1!$B$2:$B$5</c:f>
              <c:numCache>
                <c:formatCode>General</c:formatCode>
                <c:ptCount val="4"/>
                <c:pt idx="0">
                  <c:v>-0.307</c:v>
                </c:pt>
                <c:pt idx="1">
                  <c:v>-0.312</c:v>
                </c:pt>
                <c:pt idx="2">
                  <c:v>-0.276</c:v>
                </c:pt>
                <c:pt idx="3">
                  <c:v>-0.141</c:v>
                </c:pt>
              </c:numCache>
            </c:numRef>
          </c:val>
        </c:ser>
        <c:ser>
          <c:idx val="1"/>
          <c:order val="1"/>
          <c:tx>
            <c:strRef>
              <c:f>Sheet1!$C$1</c:f>
              <c:strCache>
                <c:ptCount val="1"/>
                <c:pt idx="0">
                  <c:v>QQQ 단독 적립</c:v>
                </c:pt>
              </c:strCache>
            </c:strRef>
          </c:tx>
          <c:spPr>
            <a:solidFill>
              <a:srgbClr val="E07A1F"/>
            </a:solidFill>
          </c:spPr>
          <c:invertIfNegative val="0"/>
          <c:dLbls>
            <c:numFmt formatCode="0%;&quot;−&quot;0%" sourceLinked="0"/>
            <c:txPr>
              <a:bodyPr/>
              <a:lstStyle/>
              <a:p>
                <a:pPr>
                  <a:defRPr sz="700" b="0">
                    <a:solidFill>
                      <a:srgbClr val="1A1E25"/>
                    </a:solidFill>
                  </a:defRPr>
                </a:pPr>
              </a:p>
            </c:txPr>
            <c:dLblPos val="outEnd"/>
            <c:showLegendKey val="0"/>
            <c:showVal val="1"/>
            <c:showCatName val="0"/>
            <c:showSerName val="0"/>
            <c:showPercent val="0"/>
            <c:showBubbleSize val="0"/>
            <c:showLeaderLines val="1"/>
          </c:dLbls>
          <c:cat>
            <c:strRef>
              <c:f>Sheet1!$A$2:$A$5</c:f>
              <c:strCache>
                <c:ptCount val="4"/>
                <c:pt idx="0">
                  <c:v>2018년 4분기</c:v>
                </c:pt>
                <c:pt idx="1">
                  <c:v>2020년 코로나</c:v>
                </c:pt>
                <c:pt idx="2">
                  <c:v>2022년 한 해</c:v>
                </c:pt>
                <c:pt idx="3">
                  <c:v>2025년 봄</c:v>
                </c:pt>
              </c:strCache>
            </c:strRef>
          </c:cat>
          <c:val>
            <c:numRef>
              <c:f>Sheet1!$C$2:$C$5</c:f>
              <c:numCache>
                <c:formatCode>General</c:formatCode>
                <c:ptCount val="4"/>
                <c:pt idx="0">
                  <c:v>-0.227</c:v>
                </c:pt>
                <c:pt idx="1">
                  <c:v>-0.286</c:v>
                </c:pt>
                <c:pt idx="2">
                  <c:v>-0.348</c:v>
                </c:pt>
                <c:pt idx="3">
                  <c:v>-0.228</c:v>
                </c:pt>
              </c:numCache>
            </c:numRef>
          </c:val>
        </c:ser>
        <c:ser>
          <c:idx val="2"/>
          <c:order val="2"/>
          <c:tx>
            <c:strRef>
              <c:f>Sheet1!$D$1</c:f>
              <c:strCache>
                <c:ptCount val="1"/>
                <c:pt idx="0">
                  <c:v>TQQQ 단독</c:v>
                </c:pt>
              </c:strCache>
            </c:strRef>
          </c:tx>
          <c:spPr>
            <a:solidFill>
              <a:srgbClr val="7A4CB0"/>
            </a:solidFill>
          </c:spPr>
          <c:invertIfNegative val="0"/>
          <c:dLbls>
            <c:numFmt formatCode="0%;&quot;−&quot;0%" sourceLinked="0"/>
            <c:txPr>
              <a:bodyPr/>
              <a:lstStyle/>
              <a:p>
                <a:pPr>
                  <a:defRPr sz="700" b="0">
                    <a:solidFill>
                      <a:srgbClr val="1A1E25"/>
                    </a:solidFill>
                  </a:defRPr>
                </a:pPr>
              </a:p>
            </c:txPr>
            <c:dLblPos val="outEnd"/>
            <c:showLegendKey val="0"/>
            <c:showVal val="1"/>
            <c:showCatName val="0"/>
            <c:showSerName val="0"/>
            <c:showPercent val="0"/>
            <c:showBubbleSize val="0"/>
            <c:showLeaderLines val="1"/>
          </c:dLbls>
          <c:cat>
            <c:strRef>
              <c:f>Sheet1!$A$2:$A$5</c:f>
              <c:strCache>
                <c:ptCount val="4"/>
                <c:pt idx="0">
                  <c:v>2018년 4분기</c:v>
                </c:pt>
                <c:pt idx="1">
                  <c:v>2020년 코로나</c:v>
                </c:pt>
                <c:pt idx="2">
                  <c:v>2022년 한 해</c:v>
                </c:pt>
                <c:pt idx="3">
                  <c:v>2025년 봄</c:v>
                </c:pt>
              </c:strCache>
            </c:strRef>
          </c:cat>
          <c:val>
            <c:numRef>
              <c:f>Sheet1!$D$2:$D$5</c:f>
              <c:numCache>
                <c:formatCode>General</c:formatCode>
                <c:ptCount val="4"/>
                <c:pt idx="0">
                  <c:v>-0.575</c:v>
                </c:pt>
                <c:pt idx="1">
                  <c:v>-0.699</c:v>
                </c:pt>
                <c:pt idx="2">
                  <c:v>-0.81</c:v>
                </c:pt>
                <c:pt idx="3">
                  <c:v>-0.568</c:v>
                </c:pt>
              </c:numCache>
            </c:numRef>
          </c:val>
        </c:ser>
        <c:ser>
          <c:idx val="3"/>
          <c:order val="3"/>
          <c:tx>
            <c:strRef>
              <c:f>Sheet1!$E$1</c:f>
              <c:strCache>
                <c:ptCount val="1"/>
                <c:pt idx="0">
                  <c:v>TQQQ 60 · SCHD 40</c:v>
                </c:pt>
              </c:strCache>
            </c:strRef>
          </c:tx>
          <c:spPr>
            <a:solidFill>
              <a:srgbClr val="BBA3DB"/>
            </a:solidFill>
          </c:spPr>
          <c:invertIfNegative val="0"/>
          <c:dLbls>
            <c:numFmt formatCode="0%;&quot;−&quot;0%" sourceLinked="0"/>
            <c:txPr>
              <a:bodyPr/>
              <a:lstStyle/>
              <a:p>
                <a:pPr>
                  <a:defRPr sz="700" b="0">
                    <a:solidFill>
                      <a:srgbClr val="1A1E25"/>
                    </a:solidFill>
                  </a:defRPr>
                </a:pPr>
              </a:p>
            </c:txPr>
            <c:dLblPos val="outEnd"/>
            <c:showLegendKey val="0"/>
            <c:showVal val="1"/>
            <c:showCatName val="0"/>
            <c:showSerName val="0"/>
            <c:showPercent val="0"/>
            <c:showBubbleSize val="0"/>
            <c:showLeaderLines val="1"/>
          </c:dLbls>
          <c:cat>
            <c:strRef>
              <c:f>Sheet1!$A$2:$A$5</c:f>
              <c:strCache>
                <c:ptCount val="4"/>
                <c:pt idx="0">
                  <c:v>2018년 4분기</c:v>
                </c:pt>
                <c:pt idx="1">
                  <c:v>2020년 코로나</c:v>
                </c:pt>
                <c:pt idx="2">
                  <c:v>2022년 한 해</c:v>
                </c:pt>
                <c:pt idx="3">
                  <c:v>2025년 봄</c:v>
                </c:pt>
              </c:strCache>
            </c:strRef>
          </c:cat>
          <c:val>
            <c:numRef>
              <c:f>Sheet1!$E$2:$E$5</c:f>
              <c:numCache>
                <c:formatCode>General</c:formatCode>
                <c:ptCount val="4"/>
                <c:pt idx="0">
                  <c:v>-0.427</c:v>
                </c:pt>
                <c:pt idx="1">
                  <c:v>-0.567</c:v>
                </c:pt>
                <c:pt idx="2">
                  <c:v>-0.612</c:v>
                </c:pt>
                <c:pt idx="3">
                  <c:v>-0.42</c:v>
                </c:pt>
              </c:numCache>
            </c:numRef>
          </c:val>
        </c:ser>
        <c:ser>
          <c:idx val="4"/>
          <c:order val="4"/>
          <c:tx>
            <c:strRef>
              <c:f>Sheet1!$F$1</c:f>
              <c:strCache>
                <c:ptCount val="1"/>
                <c:pt idx="0">
                  <c:v>S&amp;P500 단독</c:v>
                </c:pt>
              </c:strCache>
            </c:strRef>
          </c:tx>
          <c:spPr>
            <a:solidFill>
              <a:srgbClr val="B0862A"/>
            </a:solidFill>
          </c:spPr>
          <c:invertIfNegative val="0"/>
          <c:dLbls>
            <c:numFmt formatCode="0%;&quot;−&quot;0%" sourceLinked="0"/>
            <c:txPr>
              <a:bodyPr/>
              <a:lstStyle/>
              <a:p>
                <a:pPr>
                  <a:defRPr sz="700" b="0">
                    <a:solidFill>
                      <a:srgbClr val="1A1E25"/>
                    </a:solidFill>
                  </a:defRPr>
                </a:pPr>
              </a:p>
            </c:txPr>
            <c:dLblPos val="outEnd"/>
            <c:showLegendKey val="0"/>
            <c:showVal val="1"/>
            <c:showCatName val="0"/>
            <c:showSerName val="0"/>
            <c:showPercent val="0"/>
            <c:showBubbleSize val="0"/>
            <c:showLeaderLines val="1"/>
          </c:dLbls>
          <c:cat>
            <c:strRef>
              <c:f>Sheet1!$A$2:$A$5</c:f>
              <c:strCache>
                <c:ptCount val="4"/>
                <c:pt idx="0">
                  <c:v>2018년 4분기</c:v>
                </c:pt>
                <c:pt idx="1">
                  <c:v>2020년 코로나</c:v>
                </c:pt>
                <c:pt idx="2">
                  <c:v>2022년 한 해</c:v>
                </c:pt>
                <c:pt idx="3">
                  <c:v>2025년 봄</c:v>
                </c:pt>
              </c:strCache>
            </c:strRef>
          </c:cat>
          <c:val>
            <c:numRef>
              <c:f>Sheet1!$F$2:$F$5</c:f>
              <c:numCache>
                <c:formatCode>General</c:formatCode>
                <c:ptCount val="4"/>
                <c:pt idx="0">
                  <c:v>-0.192</c:v>
                </c:pt>
                <c:pt idx="1">
                  <c:v>-0.337</c:v>
                </c:pt>
                <c:pt idx="2">
                  <c:v>-0.245</c:v>
                </c:pt>
                <c:pt idx="3">
                  <c:v>-0.188</c:v>
                </c:pt>
              </c:numCache>
            </c:numRef>
          </c:val>
        </c:ser>
        <c:ser>
          <c:idx val="5"/>
          <c:order val="5"/>
          <c:tx>
            <c:strRef>
              <c:f>Sheet1!$G$1</c:f>
              <c:strCache>
                <c:ptCount val="1"/>
                <c:pt idx="0">
                  <c:v>Polaris</c:v>
                </c:pt>
              </c:strCache>
            </c:strRef>
          </c:tx>
          <c:spPr>
            <a:solidFill>
              <a:srgbClr val="1E9A84"/>
            </a:solidFill>
          </c:spPr>
          <c:invertIfNegative val="0"/>
          <c:dLbls>
            <c:numFmt formatCode="0%;&quot;−&quot;0%" sourceLinked="0"/>
            <c:txPr>
              <a:bodyPr/>
              <a:lstStyle/>
              <a:p>
                <a:pPr>
                  <a:defRPr sz="700" b="0">
                    <a:solidFill>
                      <a:srgbClr val="1A1E25"/>
                    </a:solidFill>
                  </a:defRPr>
                </a:pPr>
              </a:p>
            </c:txPr>
            <c:dLblPos val="outEnd"/>
            <c:showLegendKey val="0"/>
            <c:showVal val="1"/>
            <c:showCatName val="0"/>
            <c:showSerName val="0"/>
            <c:showPercent val="0"/>
            <c:showBubbleSize val="0"/>
            <c:showLeaderLines val="1"/>
          </c:dLbls>
          <c:cat>
            <c:strRef>
              <c:f>Sheet1!$A$2:$A$5</c:f>
              <c:strCache>
                <c:ptCount val="4"/>
                <c:pt idx="0">
                  <c:v>2018년 4분기</c:v>
                </c:pt>
                <c:pt idx="1">
                  <c:v>2020년 코로나</c:v>
                </c:pt>
                <c:pt idx="2">
                  <c:v>2022년 한 해</c:v>
                </c:pt>
                <c:pt idx="3">
                  <c:v>2025년 봄</c:v>
                </c:pt>
              </c:strCache>
            </c:strRef>
          </c:cat>
          <c:val>
            <c:numRef>
              <c:f>Sheet1!$G$2:$G$5</c:f>
              <c:numCache>
                <c:formatCode>General</c:formatCode>
                <c:ptCount val="4"/>
                <c:pt idx="0">
                  <c:v>-0.112</c:v>
                </c:pt>
                <c:pt idx="1">
                  <c:v>-0.189</c:v>
                </c:pt>
                <c:pt idx="2">
                  <c:v>-0.23</c:v>
                </c:pt>
                <c:pt idx="3">
                  <c:v>-0.116</c:v>
                </c:pt>
              </c:numCache>
            </c:numRef>
          </c:val>
        </c:ser>
        <c:gapWidth val="60"/>
        <c:axId val="-2068027336"/>
        <c:axId val="-2113994440"/>
      </c:barChart>
      <c:catAx>
        <c:axId val="-2068027336"/>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13994440"/>
        <c:crosses val="autoZero"/>
        <c:auto val="1"/>
        <c:lblAlgn val="ctr"/>
        <c:lblOffset val="100"/>
        <c:noMultiLvlLbl val="0"/>
      </c:catAx>
      <c:valAx>
        <c:axId val="-2113994440"/>
        <c:scaling>
          <c:max val="0.0"/>
          <c:min val="-1.0"/>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068027336"/>
        <c:crosses val="autoZero"/>
        <c:majorUnit val="0.25"/>
      </c:valAx>
    </c:plotArea>
    <c:legend>
      <c:legendPos val="t"/>
      <c:overlay val="0"/>
      <c:txPr>
        <a:bodyPr/>
        <a:lstStyle/>
        <a:p>
          <a:pPr>
            <a:defRPr sz="800"/>
          </a:pPr>
        </a:p>
      </c:txPr>
    </c:legend>
    <c:dispBlanksAs val="gap"/>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가격 정체</c:v>
                </c:pt>
              </c:strCache>
            </c:strRef>
          </c:tx>
          <c:spPr>
            <a:ln w="22225">
              <a:solidFill>
                <a:srgbClr val="8A94A6"/>
              </a:solidFill>
              <a:prstDash val="sysDash"/>
            </a:ln>
          </c:spPr>
          <c:marker>
            <c:symbol val="none"/>
          </c:marker>
          <c:cat>
            <c:strRef>
              <c:f>Sheet1!$A$2:$A$21</c:f>
              <c:strCache>
                <c:ptCount val="20"/>
                <c:pt idx="0">
                  <c:v>1년</c:v>
                </c:pt>
                <c:pt idx="1">
                  <c:v>2년</c:v>
                </c:pt>
                <c:pt idx="2">
                  <c:v>3년</c:v>
                </c:pt>
                <c:pt idx="3">
                  <c:v>4년</c:v>
                </c:pt>
                <c:pt idx="4">
                  <c:v>5년</c:v>
                </c:pt>
                <c:pt idx="5">
                  <c:v>6년</c:v>
                </c:pt>
                <c:pt idx="6">
                  <c:v>7년</c:v>
                </c:pt>
                <c:pt idx="7">
                  <c:v>8년</c:v>
                </c:pt>
                <c:pt idx="8">
                  <c:v>9년</c:v>
                </c:pt>
                <c:pt idx="9">
                  <c:v>10년</c:v>
                </c:pt>
                <c:pt idx="10">
                  <c:v>11년</c:v>
                </c:pt>
                <c:pt idx="11">
                  <c:v>12년</c:v>
                </c:pt>
                <c:pt idx="12">
                  <c:v>13년</c:v>
                </c:pt>
                <c:pt idx="13">
                  <c:v>14년</c:v>
                </c:pt>
                <c:pt idx="14">
                  <c:v>15년</c:v>
                </c:pt>
                <c:pt idx="15">
                  <c:v>16년</c:v>
                </c:pt>
                <c:pt idx="16">
                  <c:v>17년</c:v>
                </c:pt>
                <c:pt idx="17">
                  <c:v>18년</c:v>
                </c:pt>
                <c:pt idx="18">
                  <c:v>19년</c:v>
                </c:pt>
                <c:pt idx="19">
                  <c:v>20년</c:v>
                </c:pt>
              </c:strCache>
            </c:strRef>
          </c:cat>
          <c:val>
            <c:numRef>
              <c:f>Sheet1!$B$2:$B$21</c:f>
              <c:numCache>
                <c:formatCode>General</c:formatCode>
                <c:ptCount val="20"/>
                <c:pt idx="0">
                  <c:v>0.8939440097794479</c:v>
                </c:pt>
                <c:pt idx="1">
                  <c:v>2.3104110816896273</c:v>
                </c:pt>
                <c:pt idx="2">
                  <c:v>3.708909409631956</c:v>
                </c:pt>
                <c:pt idx="3">
                  <c:v>5.0897878354924595</c:v>
                </c:pt>
                <c:pt idx="4">
                  <c:v>8.463881780985702</c:v>
                </c:pt>
                <c:pt idx="5">
                  <c:v>11.058176653603622</c:v>
                </c:pt>
                <c:pt idx="6">
                  <c:v>13.674906265464895</c:v>
                </c:pt>
                <c:pt idx="7">
                  <c:v>16.31408065613444</c:v>
                </c:pt>
                <c:pt idx="8">
                  <c:v>19.124848481849888</c:v>
                </c:pt>
                <c:pt idx="9">
                  <c:v>23.113937757175268</c:v>
                </c:pt>
                <c:pt idx="10">
                  <c:v>27.450437747155437</c:v>
                </c:pt>
                <c:pt idx="11">
                  <c:v>31.918503637146344</c:v>
                </c:pt>
                <c:pt idx="12">
                  <c:v>36.52212703007331</c:v>
                </c:pt>
                <c:pt idx="13">
                  <c:v>41.2654206308638</c:v>
                </c:pt>
                <c:pt idx="14">
                  <c:v>46.15262192058429</c:v>
                </c:pt>
                <c:pt idx="15">
                  <c:v>51.18809694204726</c:v>
                </c:pt>
                <c:pt idx="16">
                  <c:v>56.37634420027053</c:v>
                </c:pt>
                <c:pt idx="17">
                  <c:v>61.72199868127335</c:v>
                </c:pt>
                <c:pt idx="18">
                  <c:v>67.22983599279948</c:v>
                </c:pt>
                <c:pt idx="19">
                  <c:v>72.90477663066666</c:v>
                </c:pt>
              </c:numCache>
            </c:numRef>
          </c:val>
          <c:smooth val="0"/>
        </c:ser>
        <c:ser>
          <c:idx val="1"/>
          <c:order val="1"/>
          <c:tx>
            <c:strRef>
              <c:f>Sheet1!$C$1</c:f>
              <c:strCache>
                <c:ptCount val="1"/>
                <c:pt idx="0">
                  <c:v>완만한 성장</c:v>
                </c:pt>
              </c:strCache>
            </c:strRef>
          </c:tx>
          <c:spPr>
            <a:ln w="28575">
              <a:solidFill>
                <a:srgbClr val="0B3D91"/>
              </a:solidFill>
            </a:ln>
          </c:spPr>
          <c:marker>
            <c:symbol val="none"/>
          </c:marker>
          <c:cat>
            <c:strRef>
              <c:f>Sheet1!$A$2:$A$21</c:f>
              <c:strCache>
                <c:ptCount val="20"/>
                <c:pt idx="0">
                  <c:v>1년</c:v>
                </c:pt>
                <c:pt idx="1">
                  <c:v>2년</c:v>
                </c:pt>
                <c:pt idx="2">
                  <c:v>3년</c:v>
                </c:pt>
                <c:pt idx="3">
                  <c:v>4년</c:v>
                </c:pt>
                <c:pt idx="4">
                  <c:v>5년</c:v>
                </c:pt>
                <c:pt idx="5">
                  <c:v>6년</c:v>
                </c:pt>
                <c:pt idx="6">
                  <c:v>7년</c:v>
                </c:pt>
                <c:pt idx="7">
                  <c:v>8년</c:v>
                </c:pt>
                <c:pt idx="8">
                  <c:v>9년</c:v>
                </c:pt>
                <c:pt idx="9">
                  <c:v>10년</c:v>
                </c:pt>
                <c:pt idx="10">
                  <c:v>11년</c:v>
                </c:pt>
                <c:pt idx="11">
                  <c:v>12년</c:v>
                </c:pt>
                <c:pt idx="12">
                  <c:v>13년</c:v>
                </c:pt>
                <c:pt idx="13">
                  <c:v>14년</c:v>
                </c:pt>
                <c:pt idx="14">
                  <c:v>15년</c:v>
                </c:pt>
                <c:pt idx="15">
                  <c:v>16년</c:v>
                </c:pt>
                <c:pt idx="16">
                  <c:v>17년</c:v>
                </c:pt>
                <c:pt idx="17">
                  <c:v>18년</c:v>
                </c:pt>
                <c:pt idx="18">
                  <c:v>19년</c:v>
                </c:pt>
                <c:pt idx="19">
                  <c:v>20년</c:v>
                </c:pt>
              </c:strCache>
            </c:strRef>
          </c:cat>
          <c:val>
            <c:numRef>
              <c:f>Sheet1!$C$2:$C$21</c:f>
              <c:numCache>
                <c:formatCode>General</c:formatCode>
                <c:ptCount val="20"/>
                <c:pt idx="0">
                  <c:v>0.9114431621223185</c:v>
                </c:pt>
                <c:pt idx="1">
                  <c:v>2.4947799543681923</c:v>
                </c:pt>
                <c:pt idx="2">
                  <c:v>4.250677300717409</c:v>
                </c:pt>
                <c:pt idx="3">
                  <c:v>6.197255934101565</c:v>
                </c:pt>
                <c:pt idx="4">
                  <c:v>8.355658661542739</c:v>
                </c:pt>
                <c:pt idx="5">
                  <c:v>10.74996705525805</c:v>
                </c:pt>
                <c:pt idx="6">
                  <c:v>13.407535520544558</c:v>
                </c:pt>
                <c:pt idx="7">
                  <c:v>16.360015701031582</c:v>
                </c:pt>
                <c:pt idx="8">
                  <c:v>19.63252967224595</c:v>
                </c:pt>
                <c:pt idx="9">
                  <c:v>23.25397561111227</c:v>
                </c:pt>
                <c:pt idx="10">
                  <c:v>27.269586253252584</c:v>
                </c:pt>
                <c:pt idx="11">
                  <c:v>31.728988416622823</c:v>
                </c:pt>
                <c:pt idx="12">
                  <c:v>36.68380634305017</c:v>
                </c:pt>
                <c:pt idx="13">
                  <c:v>42.18902783325187</c:v>
                </c:pt>
                <c:pt idx="14">
                  <c:v>48.27342307442245</c:v>
                </c:pt>
                <c:pt idx="15">
                  <c:v>55.01788591371939</c:v>
                </c:pt>
                <c:pt idx="16">
                  <c:v>62.501107098165996</c:v>
                </c:pt>
                <c:pt idx="17">
                  <c:v>70.82102481413584</c:v>
                </c:pt>
                <c:pt idx="18">
                  <c:v>80.0511113997952</c:v>
                </c:pt>
                <c:pt idx="19">
                  <c:v>90.28758936993361</c:v>
                </c:pt>
              </c:numCache>
            </c:numRef>
          </c:val>
          <c:smooth val="0"/>
        </c:ser>
        <c:ser>
          <c:idx val="2"/>
          <c:order val="2"/>
          <c:tx>
            <c:strRef>
              <c:f>Sheet1!$D$1</c:f>
              <c:strCache>
                <c:ptCount val="1"/>
                <c:pt idx="0">
                  <c:v>성장 중 급락</c:v>
                </c:pt>
              </c:strCache>
            </c:strRef>
          </c:tx>
          <c:spPr>
            <a:ln w="22225">
              <a:solidFill>
                <a:srgbClr val="E07A1F"/>
              </a:solidFill>
              <a:prstDash val="dash"/>
            </a:ln>
          </c:spPr>
          <c:marker>
            <c:symbol val="none"/>
          </c:marker>
          <c:cat>
            <c:strRef>
              <c:f>Sheet1!$A$2:$A$21</c:f>
              <c:strCache>
                <c:ptCount val="20"/>
                <c:pt idx="0">
                  <c:v>1년</c:v>
                </c:pt>
                <c:pt idx="1">
                  <c:v>2년</c:v>
                </c:pt>
                <c:pt idx="2">
                  <c:v>3년</c:v>
                </c:pt>
                <c:pt idx="3">
                  <c:v>4년</c:v>
                </c:pt>
                <c:pt idx="4">
                  <c:v>5년</c:v>
                </c:pt>
                <c:pt idx="5">
                  <c:v>6년</c:v>
                </c:pt>
                <c:pt idx="6">
                  <c:v>7년</c:v>
                </c:pt>
                <c:pt idx="7">
                  <c:v>8년</c:v>
                </c:pt>
                <c:pt idx="8">
                  <c:v>9년</c:v>
                </c:pt>
                <c:pt idx="9">
                  <c:v>10년</c:v>
                </c:pt>
                <c:pt idx="10">
                  <c:v>11년</c:v>
                </c:pt>
                <c:pt idx="11">
                  <c:v>12년</c:v>
                </c:pt>
                <c:pt idx="12">
                  <c:v>13년</c:v>
                </c:pt>
                <c:pt idx="13">
                  <c:v>14년</c:v>
                </c:pt>
                <c:pt idx="14">
                  <c:v>15년</c:v>
                </c:pt>
                <c:pt idx="15">
                  <c:v>16년</c:v>
                </c:pt>
                <c:pt idx="16">
                  <c:v>17년</c:v>
                </c:pt>
                <c:pt idx="17">
                  <c:v>18년</c:v>
                </c:pt>
                <c:pt idx="18">
                  <c:v>19년</c:v>
                </c:pt>
                <c:pt idx="19">
                  <c:v>20년</c:v>
                </c:pt>
              </c:strCache>
            </c:strRef>
          </c:cat>
          <c:val>
            <c:numRef>
              <c:f>Sheet1!$D$2:$D$21</c:f>
              <c:numCache>
                <c:formatCode>General</c:formatCode>
                <c:ptCount val="20"/>
                <c:pt idx="0">
                  <c:v>0.9114431621223185</c:v>
                </c:pt>
                <c:pt idx="1">
                  <c:v>2.4947799543681923</c:v>
                </c:pt>
                <c:pt idx="2">
                  <c:v>4.250677300717409</c:v>
                </c:pt>
                <c:pt idx="3">
                  <c:v>6.197255934101565</c:v>
                </c:pt>
                <c:pt idx="4">
                  <c:v>7.687574349143986</c:v>
                </c:pt>
                <c:pt idx="5">
                  <c:v>9.990755630363541</c:v>
                </c:pt>
                <c:pt idx="6">
                  <c:v>16.844841713573896</c:v>
                </c:pt>
                <c:pt idx="7">
                  <c:v>22.72637521345126</c:v>
                </c:pt>
                <c:pt idx="8">
                  <c:v>26.338712700275693</c:v>
                </c:pt>
                <c:pt idx="9">
                  <c:v>30.32486564773737</c:v>
                </c:pt>
                <c:pt idx="10">
                  <c:v>34.73419241404916</c:v>
                </c:pt>
                <c:pt idx="11">
                  <c:v>39.6202434173661</c:v>
                </c:pt>
                <c:pt idx="12">
                  <c:v>45.037443133050765</c:v>
                </c:pt>
                <c:pt idx="13">
                  <c:v>51.04342561783538</c:v>
                </c:pt>
                <c:pt idx="14">
                  <c:v>57.66298747466551</c:v>
                </c:pt>
                <c:pt idx="15">
                  <c:v>64.9832367954773</c:v>
                </c:pt>
                <c:pt idx="16">
                  <c:v>73.08670378487787</c:v>
                </c:pt>
                <c:pt idx="17">
                  <c:v>82.07688426776484</c:v>
                </c:pt>
                <c:pt idx="18">
                  <c:v>92.0272479069767</c:v>
                </c:pt>
                <c:pt idx="19">
                  <c:v>103.03656671048788</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40495176"/>
        <c:crosses val="autoZero"/>
        <c:auto val="1"/>
        <c:lblAlgn val="ctr"/>
        <c:lblOffset val="100"/>
        <c:noMultiLvlLbl val="0"/>
        <c:tickLblSkip val="1"/>
        <c:tickMarkSkip val="1"/>
      </c:catAx>
      <c:valAx>
        <c:axId val="2140495176"/>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118791784"/>
        <c:crosses val="autoZero"/>
      </c:valAx>
    </c:plotArea>
    <c:plotVisOnly val="1"/>
    <c:dispBlanksAs val="gap"/>
    <c:showDLblsOverMax val="0"/>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Deneb</c:v>
                </c:pt>
              </c:strCache>
            </c:strRef>
          </c:tx>
          <c:spPr>
            <a:ln w="28575">
              <a:solidFill>
                <a:srgbClr val="0B3D91"/>
              </a:solidFill>
            </a:ln>
          </c:spPr>
          <c:marker>
            <c:symbol val="none"/>
          </c:marker>
          <c:cat>
            <c:strRef>
              <c:f>Sheet1!$A$2:$A$16</c:f>
              <c:strCache>
                <c:ptCount val="15"/>
                <c:pt idx="0">
                  <c:v>19.10</c:v>
                </c:pt>
                <c:pt idx="1">
                  <c:v>19.11</c:v>
                </c:pt>
                <c:pt idx="2">
                  <c:v>19.12</c:v>
                </c:pt>
                <c:pt idx="3">
                  <c:v>20.01</c:v>
                </c:pt>
                <c:pt idx="4">
                  <c:v>20.02</c:v>
                </c:pt>
                <c:pt idx="5">
                  <c:v>20.03</c:v>
                </c:pt>
                <c:pt idx="6">
                  <c:v>20.04</c:v>
                </c:pt>
                <c:pt idx="7">
                  <c:v>20.05</c:v>
                </c:pt>
                <c:pt idx="8">
                  <c:v>20.06</c:v>
                </c:pt>
                <c:pt idx="9">
                  <c:v>20.07</c:v>
                </c:pt>
                <c:pt idx="10">
                  <c:v>20.08</c:v>
                </c:pt>
                <c:pt idx="11">
                  <c:v>20.09</c:v>
                </c:pt>
                <c:pt idx="12">
                  <c:v>20.10</c:v>
                </c:pt>
                <c:pt idx="13">
                  <c:v>20.11</c:v>
                </c:pt>
                <c:pt idx="14">
                  <c:v>20.12</c:v>
                </c:pt>
              </c:strCache>
            </c:strRef>
          </c:cat>
          <c:val>
            <c:numRef>
              <c:f>Sheet1!$B$2:$B$16</c:f>
              <c:numCache>
                <c:formatCode>General</c:formatCode>
                <c:ptCount val="15"/>
                <c:pt idx="0">
                  <c:v>2587.100277895019</c:v>
                </c:pt>
                <c:pt idx="1">
                  <c:v>2816.51927515442</c:v>
                </c:pt>
                <c:pt idx="2">
                  <c:v>3046.2283987884884</c:v>
                </c:pt>
                <c:pt idx="3">
                  <c:v>3186.3898639771614</c:v>
                </c:pt>
                <c:pt idx="4">
                  <c:v>2848.637801969334</c:v>
                </c:pt>
                <c:pt idx="5">
                  <c:v>2715.7585927780597</c:v>
                </c:pt>
                <c:pt idx="6">
                  <c:v>3458.998061786162</c:v>
                </c:pt>
                <c:pt idx="7">
                  <c:v>3687.114003300544</c:v>
                </c:pt>
                <c:pt idx="8">
                  <c:v>4066.095221699889</c:v>
                </c:pt>
                <c:pt idx="9">
                  <c:v>4638.741610774298</c:v>
                </c:pt>
                <c:pt idx="10">
                  <c:v>5616.157419120424</c:v>
                </c:pt>
                <c:pt idx="11">
                  <c:v>5061.302948085629</c:v>
                </c:pt>
                <c:pt idx="12">
                  <c:v>5079.903579767502</c:v>
                </c:pt>
                <c:pt idx="13">
                  <c:v>5745.026173742251</c:v>
                </c:pt>
                <c:pt idx="14">
                  <c:v>6288.365867343661</c:v>
                </c:pt>
              </c:numCache>
            </c:numRef>
          </c:val>
          <c:smooth val="0"/>
        </c:ser>
        <c:ser>
          <c:idx val="1"/>
          <c:order val="1"/>
          <c:tx>
            <c:strRef>
              <c:f>Sheet1!$C$1</c:f>
              <c:strCache>
                <c:ptCount val="1"/>
                <c:pt idx="0">
                  <c:v>변동성 조절만</c:v>
                </c:pt>
              </c:strCache>
            </c:strRef>
          </c:tx>
          <c:spPr>
            <a:ln w="22225">
              <a:solidFill>
                <a:srgbClr val="C8506A"/>
              </a:solidFill>
              <a:prstDash val="dash"/>
            </a:ln>
          </c:spPr>
          <c:marker>
            <c:symbol val="none"/>
          </c:marker>
          <c:cat>
            <c:strRef>
              <c:f>Sheet1!$A$2:$A$16</c:f>
              <c:strCache>
                <c:ptCount val="15"/>
                <c:pt idx="0">
                  <c:v>19.10</c:v>
                </c:pt>
                <c:pt idx="1">
                  <c:v>19.11</c:v>
                </c:pt>
                <c:pt idx="2">
                  <c:v>19.12</c:v>
                </c:pt>
                <c:pt idx="3">
                  <c:v>20.01</c:v>
                </c:pt>
                <c:pt idx="4">
                  <c:v>20.02</c:v>
                </c:pt>
                <c:pt idx="5">
                  <c:v>20.03</c:v>
                </c:pt>
                <c:pt idx="6">
                  <c:v>20.04</c:v>
                </c:pt>
                <c:pt idx="7">
                  <c:v>20.05</c:v>
                </c:pt>
                <c:pt idx="8">
                  <c:v>20.06</c:v>
                </c:pt>
                <c:pt idx="9">
                  <c:v>20.07</c:v>
                </c:pt>
                <c:pt idx="10">
                  <c:v>20.08</c:v>
                </c:pt>
                <c:pt idx="11">
                  <c:v>20.09</c:v>
                </c:pt>
                <c:pt idx="12">
                  <c:v>20.10</c:v>
                </c:pt>
                <c:pt idx="13">
                  <c:v>20.11</c:v>
                </c:pt>
                <c:pt idx="14">
                  <c:v>20.12</c:v>
                </c:pt>
              </c:strCache>
            </c:strRef>
          </c:cat>
          <c:val>
            <c:numRef>
              <c:f>Sheet1!$C$2:$C$16</c:f>
              <c:numCache>
                <c:formatCode>General</c:formatCode>
                <c:ptCount val="15"/>
                <c:pt idx="0">
                  <c:v>3424.2155765970188</c:v>
                </c:pt>
                <c:pt idx="1">
                  <c:v>3724.42931164567</c:v>
                </c:pt>
                <c:pt idx="2">
                  <c:v>4024.634026449917</c:v>
                </c:pt>
                <c:pt idx="3">
                  <c:v>4206.567095213674</c:v>
                </c:pt>
                <c:pt idx="4">
                  <c:v>3615.7777228698715</c:v>
                </c:pt>
                <c:pt idx="5">
                  <c:v>2849.4628027409462</c:v>
                </c:pt>
                <c:pt idx="6">
                  <c:v>3305.8988882211775</c:v>
                </c:pt>
                <c:pt idx="7">
                  <c:v>3637.9048055179005</c:v>
                </c:pt>
                <c:pt idx="8">
                  <c:v>4011.932027112967</c:v>
                </c:pt>
                <c:pt idx="9">
                  <c:v>4577.099042756247</c:v>
                </c:pt>
                <c:pt idx="10">
                  <c:v>5541.683665110708</c:v>
                </c:pt>
                <c:pt idx="11">
                  <c:v>4877.873502920708</c:v>
                </c:pt>
                <c:pt idx="12">
                  <c:v>4776.273278488965</c:v>
                </c:pt>
                <c:pt idx="13">
                  <c:v>5907.139063650012</c:v>
                </c:pt>
                <c:pt idx="14">
                  <c:v>6458.97307265433</c:v>
                </c:pt>
              </c:numCache>
            </c:numRef>
          </c:val>
          <c:smooth val="0"/>
        </c:ser>
        <c:ser>
          <c:idx val="2"/>
          <c:order val="2"/>
          <c:tx>
            <c:strRef>
              <c:f>Sheet1!$D$1</c:f>
              <c:strCache>
                <c:ptCount val="1"/>
                <c:pt idx="0">
                  <c:v>TQQQ 60 · SCHD 40</c:v>
                </c:pt>
              </c:strCache>
            </c:strRef>
          </c:tx>
          <c:spPr>
            <a:ln w="22225">
              <a:solidFill>
                <a:srgbClr val="BBA3DB"/>
              </a:solidFill>
            </a:ln>
          </c:spPr>
          <c:marker>
            <c:symbol val="none"/>
          </c:marker>
          <c:cat>
            <c:strRef>
              <c:f>Sheet1!$A$2:$A$16</c:f>
              <c:strCache>
                <c:ptCount val="15"/>
                <c:pt idx="0">
                  <c:v>19.10</c:v>
                </c:pt>
                <c:pt idx="1">
                  <c:v>19.11</c:v>
                </c:pt>
                <c:pt idx="2">
                  <c:v>19.12</c:v>
                </c:pt>
                <c:pt idx="3">
                  <c:v>20.01</c:v>
                </c:pt>
                <c:pt idx="4">
                  <c:v>20.02</c:v>
                </c:pt>
                <c:pt idx="5">
                  <c:v>20.03</c:v>
                </c:pt>
                <c:pt idx="6">
                  <c:v>20.04</c:v>
                </c:pt>
                <c:pt idx="7">
                  <c:v>20.05</c:v>
                </c:pt>
                <c:pt idx="8">
                  <c:v>20.06</c:v>
                </c:pt>
                <c:pt idx="9">
                  <c:v>20.07</c:v>
                </c:pt>
                <c:pt idx="10">
                  <c:v>20.08</c:v>
                </c:pt>
                <c:pt idx="11">
                  <c:v>20.09</c:v>
                </c:pt>
                <c:pt idx="12">
                  <c:v>20.10</c:v>
                </c:pt>
                <c:pt idx="13">
                  <c:v>20.11</c:v>
                </c:pt>
                <c:pt idx="14">
                  <c:v>20.12</c:v>
                </c:pt>
              </c:strCache>
            </c:strRef>
          </c:cat>
          <c:val>
            <c:numRef>
              <c:f>Sheet1!$D$2:$D$16</c:f>
              <c:numCache>
                <c:formatCode>General</c:formatCode>
                <c:ptCount val="15"/>
                <c:pt idx="0">
                  <c:v>3475.302920802509</c:v>
                </c:pt>
                <c:pt idx="1">
                  <c:v>3779.846199864725</c:v>
                </c:pt>
                <c:pt idx="2">
                  <c:v>4084.353775627127</c:v>
                </c:pt>
                <c:pt idx="3">
                  <c:v>4268.83649222082</c:v>
                </c:pt>
                <c:pt idx="4">
                  <c:v>3669.17833162194</c:v>
                </c:pt>
                <c:pt idx="5">
                  <c:v>2678.858727308432</c:v>
                </c:pt>
                <c:pt idx="6">
                  <c:v>3643.326528654157</c:v>
                </c:pt>
                <c:pt idx="7">
                  <c:v>4105.80758687349</c:v>
                </c:pt>
                <c:pt idx="8">
                  <c:v>4549.233511630372</c:v>
                </c:pt>
                <c:pt idx="9">
                  <c:v>5266.545468989681</c:v>
                </c:pt>
                <c:pt idx="10">
                  <c:v>6491.557504998732</c:v>
                </c:pt>
                <c:pt idx="11">
                  <c:v>5727.884901567309</c:v>
                </c:pt>
                <c:pt idx="12">
                  <c:v>5387.489060336313</c:v>
                </c:pt>
                <c:pt idx="13">
                  <c:v>6811.874672966281</c:v>
                </c:pt>
                <c:pt idx="14">
                  <c:v>7524.635576597882</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40495176"/>
        <c:crosses val="autoZero"/>
        <c:auto val="1"/>
        <c:lblAlgn val="ctr"/>
        <c:lblOffset val="100"/>
        <c:noMultiLvlLbl val="0"/>
        <c:tickLblSkip val="3"/>
        <c:tickMarkSkip val="3"/>
      </c:catAx>
      <c:valAx>
        <c:axId val="2140495176"/>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118791784"/>
        <c:crosses val="autoZero"/>
      </c:valAx>
    </c:plotArea>
    <c:plotVisOnly val="1"/>
    <c:dispBlanksAs val="gap"/>
    <c:showDLblsOverMax val="0"/>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Deneb</c:v>
                </c:pt>
              </c:strCache>
            </c:strRef>
          </c:tx>
          <c:spPr>
            <a:ln w="28575">
              <a:solidFill>
                <a:srgbClr val="0B3D91"/>
              </a:solidFill>
            </a:ln>
          </c:spPr>
          <c:marker>
            <c:symbol val="none"/>
          </c:marker>
          <c:cat>
            <c:strRef>
              <c:f>Sheet1!$A$2:$A$32</c:f>
              <c:strCache>
                <c:ptCount val="31"/>
                <c:pt idx="0">
                  <c:v>21.06</c:v>
                </c:pt>
                <c:pt idx="1">
                  <c:v>21.07</c:v>
                </c:pt>
                <c:pt idx="2">
                  <c:v>21.08</c:v>
                </c:pt>
                <c:pt idx="3">
                  <c:v>21.09</c:v>
                </c:pt>
                <c:pt idx="4">
                  <c:v>21.10</c:v>
                </c:pt>
                <c:pt idx="5">
                  <c:v>21.11</c:v>
                </c:pt>
                <c:pt idx="6">
                  <c:v>21.12</c:v>
                </c:pt>
                <c:pt idx="7">
                  <c:v>22.01</c:v>
                </c:pt>
                <c:pt idx="8">
                  <c:v>22.02</c:v>
                </c:pt>
                <c:pt idx="9">
                  <c:v>22.03</c:v>
                </c:pt>
                <c:pt idx="10">
                  <c:v>22.04</c:v>
                </c:pt>
                <c:pt idx="11">
                  <c:v>22.05</c:v>
                </c:pt>
                <c:pt idx="12">
                  <c:v>22.06</c:v>
                </c:pt>
                <c:pt idx="13">
                  <c:v>22.07</c:v>
                </c:pt>
                <c:pt idx="14">
                  <c:v>22.08</c:v>
                </c:pt>
                <c:pt idx="15">
                  <c:v>22.09</c:v>
                </c:pt>
                <c:pt idx="16">
                  <c:v>22.10</c:v>
                </c:pt>
                <c:pt idx="17">
                  <c:v>22.11</c:v>
                </c:pt>
                <c:pt idx="18">
                  <c:v>22.12</c:v>
                </c:pt>
                <c:pt idx="19">
                  <c:v>23.01</c:v>
                </c:pt>
                <c:pt idx="20">
                  <c:v>23.02</c:v>
                </c:pt>
                <c:pt idx="21">
                  <c:v>23.03</c:v>
                </c:pt>
                <c:pt idx="22">
                  <c:v>23.04</c:v>
                </c:pt>
                <c:pt idx="23">
                  <c:v>23.05</c:v>
                </c:pt>
                <c:pt idx="24">
                  <c:v>23.06</c:v>
                </c:pt>
                <c:pt idx="25">
                  <c:v>23.07</c:v>
                </c:pt>
                <c:pt idx="26">
                  <c:v>23.08</c:v>
                </c:pt>
                <c:pt idx="27">
                  <c:v>23.09</c:v>
                </c:pt>
                <c:pt idx="28">
                  <c:v>23.10</c:v>
                </c:pt>
                <c:pt idx="29">
                  <c:v>23.11</c:v>
                </c:pt>
                <c:pt idx="30">
                  <c:v>23.12</c:v>
                </c:pt>
              </c:strCache>
            </c:strRef>
          </c:cat>
          <c:val>
            <c:numRef>
              <c:f>Sheet1!$B$2:$B$32</c:f>
              <c:numCache>
                <c:formatCode>General</c:formatCode>
                <c:ptCount val="31"/>
                <c:pt idx="0">
                  <c:v>8506.723495525404</c:v>
                </c:pt>
                <c:pt idx="1">
                  <c:v>8963.745502286838</c:v>
                </c:pt>
                <c:pt idx="2">
                  <c:v>9727.582096123237</c:v>
                </c:pt>
                <c:pt idx="3">
                  <c:v>8648.370362923837</c:v>
                </c:pt>
                <c:pt idx="4">
                  <c:v>10045.385681642318</c:v>
                </c:pt>
                <c:pt idx="5">
                  <c:v>10289.783638430405</c:v>
                </c:pt>
                <c:pt idx="6">
                  <c:v>10450.287611808011</c:v>
                </c:pt>
                <c:pt idx="7">
                  <c:v>9729.063244213912</c:v>
                </c:pt>
                <c:pt idx="8">
                  <c:v>9632.945598186425</c:v>
                </c:pt>
                <c:pt idx="9">
                  <c:v>9891.302278795021</c:v>
                </c:pt>
                <c:pt idx="10">
                  <c:v>8841.102072682805</c:v>
                </c:pt>
                <c:pt idx="11">
                  <c:v>9084.500527954919</c:v>
                </c:pt>
                <c:pt idx="12">
                  <c:v>8598.97737275925</c:v>
                </c:pt>
                <c:pt idx="13">
                  <c:v>8833.407431250183</c:v>
                </c:pt>
                <c:pt idx="14">
                  <c:v>8232.188051876179</c:v>
                </c:pt>
                <c:pt idx="15">
                  <c:v>7744.870778276569</c:v>
                </c:pt>
                <c:pt idx="16">
                  <c:v>8298.160343634925</c:v>
                </c:pt>
                <c:pt idx="17">
                  <c:v>8677.25909143346</c:v>
                </c:pt>
                <c:pt idx="18">
                  <c:v>7840.207184216589</c:v>
                </c:pt>
                <c:pt idx="19">
                  <c:v>8341.517259982676</c:v>
                </c:pt>
                <c:pt idx="20">
                  <c:v>7967.021205573781</c:v>
                </c:pt>
                <c:pt idx="21">
                  <c:v>9023.3730389591</c:v>
                </c:pt>
                <c:pt idx="22">
                  <c:v>9006.974274971204</c:v>
                </c:pt>
                <c:pt idx="23">
                  <c:v>10115.607608723467</c:v>
                </c:pt>
                <c:pt idx="24">
                  <c:v>11467.865218910349</c:v>
                </c:pt>
                <c:pt idx="25">
                  <c:v>12393.276140696524</c:v>
                </c:pt>
                <c:pt idx="26">
                  <c:v>11682.85837704981</c:v>
                </c:pt>
                <c:pt idx="27">
                  <c:v>11041.217468547662</c:v>
                </c:pt>
                <c:pt idx="28">
                  <c:v>10524.774812377062</c:v>
                </c:pt>
                <c:pt idx="29">
                  <c:v>12845.731955371068</c:v>
                </c:pt>
                <c:pt idx="30">
                  <c:v>14417.368233209818</c:v>
                </c:pt>
              </c:numCache>
            </c:numRef>
          </c:val>
          <c:smooth val="0"/>
        </c:ser>
        <c:ser>
          <c:idx val="1"/>
          <c:order val="1"/>
          <c:tx>
            <c:strRef>
              <c:f>Sheet1!$C$1</c:f>
              <c:strCache>
                <c:ptCount val="1"/>
                <c:pt idx="0">
                  <c:v>변동성 조절만</c:v>
                </c:pt>
              </c:strCache>
            </c:strRef>
          </c:tx>
          <c:spPr>
            <a:ln w="22225">
              <a:solidFill>
                <a:srgbClr val="C8506A"/>
              </a:solidFill>
              <a:prstDash val="dash"/>
            </a:ln>
          </c:spPr>
          <c:marker>
            <c:symbol val="none"/>
          </c:marker>
          <c:cat>
            <c:strRef>
              <c:f>Sheet1!$A$2:$A$32</c:f>
              <c:strCache>
                <c:ptCount val="31"/>
                <c:pt idx="0">
                  <c:v>21.06</c:v>
                </c:pt>
                <c:pt idx="1">
                  <c:v>21.07</c:v>
                </c:pt>
                <c:pt idx="2">
                  <c:v>21.08</c:v>
                </c:pt>
                <c:pt idx="3">
                  <c:v>21.09</c:v>
                </c:pt>
                <c:pt idx="4">
                  <c:v>21.10</c:v>
                </c:pt>
                <c:pt idx="5">
                  <c:v>21.11</c:v>
                </c:pt>
                <c:pt idx="6">
                  <c:v>21.12</c:v>
                </c:pt>
                <c:pt idx="7">
                  <c:v>22.01</c:v>
                </c:pt>
                <c:pt idx="8">
                  <c:v>22.02</c:v>
                </c:pt>
                <c:pt idx="9">
                  <c:v>22.03</c:v>
                </c:pt>
                <c:pt idx="10">
                  <c:v>22.04</c:v>
                </c:pt>
                <c:pt idx="11">
                  <c:v>22.05</c:v>
                </c:pt>
                <c:pt idx="12">
                  <c:v>22.06</c:v>
                </c:pt>
                <c:pt idx="13">
                  <c:v>22.07</c:v>
                </c:pt>
                <c:pt idx="14">
                  <c:v>22.08</c:v>
                </c:pt>
                <c:pt idx="15">
                  <c:v>22.09</c:v>
                </c:pt>
                <c:pt idx="16">
                  <c:v>22.10</c:v>
                </c:pt>
                <c:pt idx="17">
                  <c:v>22.11</c:v>
                </c:pt>
                <c:pt idx="18">
                  <c:v>22.12</c:v>
                </c:pt>
                <c:pt idx="19">
                  <c:v>23.01</c:v>
                </c:pt>
                <c:pt idx="20">
                  <c:v>23.02</c:v>
                </c:pt>
                <c:pt idx="21">
                  <c:v>23.03</c:v>
                </c:pt>
                <c:pt idx="22">
                  <c:v>23.04</c:v>
                </c:pt>
                <c:pt idx="23">
                  <c:v>23.05</c:v>
                </c:pt>
                <c:pt idx="24">
                  <c:v>23.06</c:v>
                </c:pt>
                <c:pt idx="25">
                  <c:v>23.07</c:v>
                </c:pt>
                <c:pt idx="26">
                  <c:v>23.08</c:v>
                </c:pt>
                <c:pt idx="27">
                  <c:v>23.09</c:v>
                </c:pt>
                <c:pt idx="28">
                  <c:v>23.10</c:v>
                </c:pt>
                <c:pt idx="29">
                  <c:v>23.11</c:v>
                </c:pt>
                <c:pt idx="30">
                  <c:v>23.12</c:v>
                </c:pt>
              </c:strCache>
            </c:strRef>
          </c:cat>
          <c:val>
            <c:numRef>
              <c:f>Sheet1!$C$2:$C$32</c:f>
              <c:numCache>
                <c:formatCode>General</c:formatCode>
                <c:ptCount val="31"/>
                <c:pt idx="0">
                  <c:v>8408.2976482055</c:v>
                </c:pt>
                <c:pt idx="1">
                  <c:v>8860.153068236343</c:v>
                </c:pt>
                <c:pt idx="2">
                  <c:v>9615.287559948427</c:v>
                </c:pt>
                <c:pt idx="3">
                  <c:v>8524.947924103248</c:v>
                </c:pt>
                <c:pt idx="4">
                  <c:v>9937.774297234466</c:v>
                </c:pt>
                <c:pt idx="5">
                  <c:v>10187.204186600266</c:v>
                </c:pt>
                <c:pt idx="6">
                  <c:v>10593.43990655044</c:v>
                </c:pt>
                <c:pt idx="7">
                  <c:v>9092.933914960835</c:v>
                </c:pt>
                <c:pt idx="8">
                  <c:v>8414.767239618812</c:v>
                </c:pt>
                <c:pt idx="9">
                  <c:v>8913.717768311733</c:v>
                </c:pt>
                <c:pt idx="10">
                  <c:v>7462.429093203486</c:v>
                </c:pt>
                <c:pt idx="11">
                  <c:v>7387.8113624725</c:v>
                </c:pt>
                <c:pt idx="12">
                  <c:v>6387.2406387549045</c:v>
                </c:pt>
                <c:pt idx="13">
                  <c:v>7361.682176365239</c:v>
                </c:pt>
                <c:pt idx="14">
                  <c:v>6698.722860137678</c:v>
                </c:pt>
                <c:pt idx="15">
                  <c:v>5444.327749322343</c:v>
                </c:pt>
                <c:pt idx="16">
                  <c:v>6006.6271885112865</c:v>
                </c:pt>
                <c:pt idx="17">
                  <c:v>6548.979743057762</c:v>
                </c:pt>
                <c:pt idx="18">
                  <c:v>5862.256176176664</c:v>
                </c:pt>
                <c:pt idx="19">
                  <c:v>6989.6654384771155</c:v>
                </c:pt>
                <c:pt idx="20">
                  <c:v>6785.195945389655</c:v>
                </c:pt>
                <c:pt idx="21">
                  <c:v>7686.661789822084</c:v>
                </c:pt>
                <c:pt idx="22">
                  <c:v>7674.171358069898</c:v>
                </c:pt>
                <c:pt idx="23">
                  <c:v>8620.417959004777</c:v>
                </c:pt>
                <c:pt idx="24">
                  <c:v>9774.43173756956</c:v>
                </c:pt>
                <c:pt idx="25">
                  <c:v>10564.774077113178</c:v>
                </c:pt>
                <c:pt idx="26">
                  <c:v>10108.53265019367</c:v>
                </c:pt>
                <c:pt idx="27">
                  <c:v>8989.500824702423</c:v>
                </c:pt>
                <c:pt idx="28">
                  <c:v>8427.888379702275</c:v>
                </c:pt>
                <c:pt idx="29">
                  <c:v>10332.115822601849</c:v>
                </c:pt>
                <c:pt idx="30">
                  <c:v>11598.387972790224</c:v>
                </c:pt>
              </c:numCache>
            </c:numRef>
          </c:val>
          <c:smooth val="0"/>
        </c:ser>
        <c:ser>
          <c:idx val="2"/>
          <c:order val="2"/>
          <c:tx>
            <c:strRef>
              <c:f>Sheet1!$D$1</c:f>
              <c:strCache>
                <c:ptCount val="1"/>
                <c:pt idx="0">
                  <c:v>TQQQ 60 · SCHD 40</c:v>
                </c:pt>
              </c:strCache>
            </c:strRef>
          </c:tx>
          <c:spPr>
            <a:ln w="22225">
              <a:solidFill>
                <a:srgbClr val="BBA3DB"/>
              </a:solidFill>
            </a:ln>
          </c:spPr>
          <c:marker>
            <c:symbol val="none"/>
          </c:marker>
          <c:cat>
            <c:strRef>
              <c:f>Sheet1!$A$2:$A$32</c:f>
              <c:strCache>
                <c:ptCount val="31"/>
                <c:pt idx="0">
                  <c:v>21.06</c:v>
                </c:pt>
                <c:pt idx="1">
                  <c:v>21.07</c:v>
                </c:pt>
                <c:pt idx="2">
                  <c:v>21.08</c:v>
                </c:pt>
                <c:pt idx="3">
                  <c:v>21.09</c:v>
                </c:pt>
                <c:pt idx="4">
                  <c:v>21.10</c:v>
                </c:pt>
                <c:pt idx="5">
                  <c:v>21.11</c:v>
                </c:pt>
                <c:pt idx="6">
                  <c:v>21.12</c:v>
                </c:pt>
                <c:pt idx="7">
                  <c:v>22.01</c:v>
                </c:pt>
                <c:pt idx="8">
                  <c:v>22.02</c:v>
                </c:pt>
                <c:pt idx="9">
                  <c:v>22.03</c:v>
                </c:pt>
                <c:pt idx="10">
                  <c:v>22.04</c:v>
                </c:pt>
                <c:pt idx="11">
                  <c:v>22.05</c:v>
                </c:pt>
                <c:pt idx="12">
                  <c:v>22.06</c:v>
                </c:pt>
                <c:pt idx="13">
                  <c:v>22.07</c:v>
                </c:pt>
                <c:pt idx="14">
                  <c:v>22.08</c:v>
                </c:pt>
                <c:pt idx="15">
                  <c:v>22.09</c:v>
                </c:pt>
                <c:pt idx="16">
                  <c:v>22.10</c:v>
                </c:pt>
                <c:pt idx="17">
                  <c:v>22.11</c:v>
                </c:pt>
                <c:pt idx="18">
                  <c:v>22.12</c:v>
                </c:pt>
                <c:pt idx="19">
                  <c:v>23.01</c:v>
                </c:pt>
                <c:pt idx="20">
                  <c:v>23.02</c:v>
                </c:pt>
                <c:pt idx="21">
                  <c:v>23.03</c:v>
                </c:pt>
                <c:pt idx="22">
                  <c:v>23.04</c:v>
                </c:pt>
                <c:pt idx="23">
                  <c:v>23.05</c:v>
                </c:pt>
                <c:pt idx="24">
                  <c:v>23.06</c:v>
                </c:pt>
                <c:pt idx="25">
                  <c:v>23.07</c:v>
                </c:pt>
                <c:pt idx="26">
                  <c:v>23.08</c:v>
                </c:pt>
                <c:pt idx="27">
                  <c:v>23.09</c:v>
                </c:pt>
                <c:pt idx="28">
                  <c:v>23.10</c:v>
                </c:pt>
                <c:pt idx="29">
                  <c:v>23.11</c:v>
                </c:pt>
                <c:pt idx="30">
                  <c:v>23.12</c:v>
                </c:pt>
              </c:strCache>
            </c:strRef>
          </c:cat>
          <c:val>
            <c:numRef>
              <c:f>Sheet1!$D$2:$D$32</c:f>
              <c:numCache>
                <c:formatCode>General</c:formatCode>
                <c:ptCount val="31"/>
                <c:pt idx="0">
                  <c:v>9811.040858938435</c:v>
                </c:pt>
                <c:pt idx="1">
                  <c:v>10336.52544309968</c:v>
                </c:pt>
                <c:pt idx="2">
                  <c:v>11215.680025092524</c:v>
                </c:pt>
                <c:pt idx="3">
                  <c:v>9942.389242077112</c:v>
                </c:pt>
                <c:pt idx="4">
                  <c:v>11588.220981419388</c:v>
                </c:pt>
                <c:pt idx="5">
                  <c:v>11877.386254931125</c:v>
                </c:pt>
                <c:pt idx="6">
                  <c:v>12349.237855543963</c:v>
                </c:pt>
                <c:pt idx="7">
                  <c:v>10342.588487674373</c:v>
                </c:pt>
                <c:pt idx="8">
                  <c:v>9325.082777015328</c:v>
                </c:pt>
                <c:pt idx="9">
                  <c:v>10075.129284466988</c:v>
                </c:pt>
                <c:pt idx="10">
                  <c:v>7658.205677845594</c:v>
                </c:pt>
                <c:pt idx="11">
                  <c:v>7329.4047487485905</c:v>
                </c:pt>
                <c:pt idx="12">
                  <c:v>5898.465346000414</c:v>
                </c:pt>
                <c:pt idx="13">
                  <c:v>7374.394991398075</c:v>
                </c:pt>
                <c:pt idx="14">
                  <c:v>6563.699444227658</c:v>
                </c:pt>
                <c:pt idx="15">
                  <c:v>5173.568249556642</c:v>
                </c:pt>
                <c:pt idx="16">
                  <c:v>5664.613833765307</c:v>
                </c:pt>
                <c:pt idx="17">
                  <c:v>6261.426655149411</c:v>
                </c:pt>
                <c:pt idx="18">
                  <c:v>5201.752172632058</c:v>
                </c:pt>
                <c:pt idx="19">
                  <c:v>6285.619026392792</c:v>
                </c:pt>
                <c:pt idx="20">
                  <c:v>6109.385222984734</c:v>
                </c:pt>
                <c:pt idx="21">
                  <c:v>7151.76618854806</c:v>
                </c:pt>
                <c:pt idx="22">
                  <c:v>7130.3462659673405</c:v>
                </c:pt>
                <c:pt idx="23">
                  <c:v>8010.325319486429</c:v>
                </c:pt>
                <c:pt idx="24">
                  <c:v>9083.448364073061</c:v>
                </c:pt>
                <c:pt idx="25">
                  <c:v>9818.677735993973</c:v>
                </c:pt>
                <c:pt idx="26">
                  <c:v>9395.336305079087</c:v>
                </c:pt>
                <c:pt idx="27">
                  <c:v>8355.884011018068</c:v>
                </c:pt>
                <c:pt idx="28">
                  <c:v>7834.509652185723</c:v>
                </c:pt>
                <c:pt idx="29">
                  <c:v>9605.503317091745</c:v>
                </c:pt>
                <c:pt idx="30">
                  <c:v>10783.505767060458</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40495176"/>
        <c:crosses val="autoZero"/>
        <c:auto val="1"/>
        <c:lblAlgn val="ctr"/>
        <c:lblOffset val="100"/>
        <c:noMultiLvlLbl val="0"/>
        <c:tickLblSkip val="3"/>
        <c:tickMarkSkip val="3"/>
      </c:catAx>
      <c:valAx>
        <c:axId val="2140495176"/>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118791784"/>
        <c:crosses val="autoZero"/>
      </c:valAx>
    </c:plotArea>
    <c:plotVisOnly val="1"/>
    <c:dispBlanksAs val="gap"/>
    <c:showDLblsOverMax val="0"/>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차이</c:v>
                </c:pt>
              </c:strCache>
            </c:strRef>
          </c:tx>
          <c:invertIfNegative val="0"/>
          <c:dPt>
            <c:idx val="0"/>
            <c:invertIfNegative val="0"/>
            <c:spPr>
              <a:solidFill>
                <a:srgbClr val="0B3D91"/>
              </a:solidFill>
            </c:spPr>
          </c:dPt>
          <c:dPt>
            <c:idx val="1"/>
            <c:invertIfNegative val="0"/>
            <c:spPr>
              <a:solidFill>
                <a:srgbClr val="0B3D91"/>
              </a:solidFill>
            </c:spPr>
          </c:dPt>
          <c:dPt>
            <c:idx val="2"/>
            <c:invertIfNegative val="0"/>
            <c:spPr>
              <a:solidFill>
                <a:srgbClr val="E07A1F"/>
              </a:solidFill>
            </c:spPr>
          </c:dPt>
          <c:dPt>
            <c:idx val="3"/>
            <c:invertIfNegative val="0"/>
            <c:spPr>
              <a:solidFill>
                <a:srgbClr val="E07A1F"/>
              </a:solidFill>
            </c:spPr>
          </c:dPt>
          <c:dPt>
            <c:idx val="4"/>
            <c:invertIfNegative val="0"/>
            <c:spPr>
              <a:solidFill>
                <a:srgbClr val="E07A1F"/>
              </a:solidFill>
            </c:spPr>
          </c:dPt>
          <c:dPt>
            <c:idx val="5"/>
            <c:invertIfNegative val="0"/>
            <c:spPr>
              <a:solidFill>
                <a:srgbClr val="E07A1F"/>
              </a:solidFill>
            </c:spPr>
          </c:dPt>
          <c:dPt>
            <c:idx val="6"/>
            <c:invertIfNegative val="0"/>
            <c:spPr>
              <a:solidFill>
                <a:srgbClr val="E07A1F"/>
              </a:solidFill>
            </c:spPr>
          </c:dPt>
          <c:dPt>
            <c:idx val="7"/>
            <c:invertIfNegative val="0"/>
            <c:spPr>
              <a:solidFill>
                <a:srgbClr val="E07A1F"/>
              </a:solidFill>
            </c:spPr>
          </c:dPt>
          <c:dPt>
            <c:idx val="8"/>
            <c:invertIfNegative val="0"/>
            <c:spPr>
              <a:solidFill>
                <a:srgbClr val="0B3D91"/>
              </a:solidFill>
            </c:spPr>
          </c:dPt>
          <c:dPt>
            <c:idx val="9"/>
            <c:invertIfNegative val="0"/>
            <c:spPr>
              <a:solidFill>
                <a:srgbClr val="E07A1F"/>
              </a:solidFill>
            </c:spPr>
          </c:dPt>
          <c:dPt>
            <c:idx val="10"/>
            <c:invertIfNegative val="0"/>
            <c:spPr>
              <a:solidFill>
                <a:srgbClr val="E07A1F"/>
              </a:solidFill>
            </c:spPr>
          </c:dPt>
          <c:dPt>
            <c:idx val="11"/>
            <c:invertIfNegative val="0"/>
            <c:spPr>
              <a:solidFill>
                <a:srgbClr val="E07A1F"/>
              </a:solidFill>
            </c:spPr>
          </c:dPt>
          <c:dPt>
            <c:idx val="12"/>
            <c:invertIfNegative val="0"/>
            <c:spPr>
              <a:solidFill>
                <a:srgbClr val="E07A1F"/>
              </a:solidFill>
            </c:spPr>
          </c:dPt>
          <c:dPt>
            <c:idx val="13"/>
            <c:invertIfNegative val="0"/>
            <c:spPr>
              <a:solidFill>
                <a:srgbClr val="0B3D91"/>
              </a:solidFill>
            </c:spPr>
          </c:dPt>
          <c:dPt>
            <c:idx val="14"/>
            <c:invertIfNegative val="0"/>
            <c:spPr>
              <a:solidFill>
                <a:srgbClr val="0B3D91"/>
              </a:solidFill>
            </c:spPr>
          </c:dPt>
          <c:dPt>
            <c:idx val="15"/>
            <c:invertIfNegative val="0"/>
            <c:spPr>
              <a:solidFill>
                <a:srgbClr val="E07A1F"/>
              </a:solidFill>
            </c:spPr>
          </c:dPt>
          <c:dPt>
            <c:idx val="16"/>
            <c:invertIfNegative val="0"/>
            <c:spPr>
              <a:solidFill>
                <a:srgbClr val="0B3D91"/>
              </a:solidFill>
            </c:spPr>
          </c:dPt>
          <c:dPt>
            <c:idx val="17"/>
            <c:invertIfNegative val="0"/>
            <c:spPr>
              <a:solidFill>
                <a:srgbClr val="E07A1F"/>
              </a:solidFill>
            </c:spPr>
          </c:dPt>
          <c:dPt>
            <c:idx val="18"/>
            <c:invertIfNegative val="0"/>
            <c:spPr>
              <a:solidFill>
                <a:srgbClr val="0B3D91"/>
              </a:solidFill>
            </c:spPr>
          </c:dPt>
          <c:dPt>
            <c:idx val="19"/>
            <c:invertIfNegative val="0"/>
            <c:spPr>
              <a:solidFill>
                <a:srgbClr val="E07A1F"/>
              </a:solidFill>
            </c:spPr>
          </c:dPt>
          <c:dPt>
            <c:idx val="20"/>
            <c:invertIfNegative val="0"/>
            <c:spPr>
              <a:solidFill>
                <a:srgbClr val="0B3D91"/>
              </a:solidFill>
            </c:spPr>
          </c:dPt>
          <c:dPt>
            <c:idx val="21"/>
            <c:invertIfNegative val="0"/>
            <c:spPr>
              <a:solidFill>
                <a:srgbClr val="0B3D91"/>
              </a:solidFill>
            </c:spPr>
          </c:dPt>
          <c:dPt>
            <c:idx val="22"/>
            <c:invertIfNegative val="0"/>
            <c:spPr>
              <a:solidFill>
                <a:srgbClr val="0B3D91"/>
              </a:solidFill>
            </c:spPr>
          </c:dPt>
          <c:dPt>
            <c:idx val="23"/>
            <c:invertIfNegative val="0"/>
            <c:spPr>
              <a:solidFill>
                <a:srgbClr val="0B3D91"/>
              </a:solidFill>
            </c:spPr>
          </c:dPt>
          <c:dPt>
            <c:idx val="24"/>
            <c:invertIfNegative val="0"/>
            <c:spPr>
              <a:solidFill>
                <a:srgbClr val="E07A1F"/>
              </a:solidFill>
            </c:spPr>
          </c:dPt>
          <c:dPt>
            <c:idx val="25"/>
            <c:invertIfNegative val="0"/>
            <c:spPr>
              <a:solidFill>
                <a:srgbClr val="0B3D91"/>
              </a:solidFill>
            </c:spPr>
          </c:dPt>
          <c:dPt>
            <c:idx val="26"/>
            <c:invertIfNegative val="0"/>
            <c:spPr>
              <a:solidFill>
                <a:srgbClr val="0B3D91"/>
              </a:solidFill>
            </c:spPr>
          </c:dPt>
          <c:dPt>
            <c:idx val="27"/>
            <c:invertIfNegative val="0"/>
            <c:spPr>
              <a:solidFill>
                <a:srgbClr val="E07A1F"/>
              </a:solidFill>
            </c:spPr>
          </c:dPt>
          <c:dPt>
            <c:idx val="28"/>
            <c:invertIfNegative val="0"/>
            <c:spPr>
              <a:solidFill>
                <a:srgbClr val="0B3D91"/>
              </a:solidFill>
            </c:spPr>
          </c:dPt>
          <c:dPt>
            <c:idx val="29"/>
            <c:invertIfNegative val="0"/>
            <c:spPr>
              <a:solidFill>
                <a:srgbClr val="E07A1F"/>
              </a:solidFill>
            </c:spPr>
          </c:dPt>
          <c:dPt>
            <c:idx val="30"/>
            <c:invertIfNegative val="0"/>
            <c:spPr>
              <a:solidFill>
                <a:srgbClr val="0B3D91"/>
              </a:solidFill>
            </c:spPr>
          </c:dPt>
          <c:dPt>
            <c:idx val="31"/>
            <c:invertIfNegative val="0"/>
            <c:spPr>
              <a:solidFill>
                <a:srgbClr val="0B3D91"/>
              </a:solidFill>
            </c:spPr>
          </c:dPt>
          <c:dPt>
            <c:idx val="32"/>
            <c:invertIfNegative val="0"/>
            <c:spPr>
              <a:solidFill>
                <a:srgbClr val="E07A1F"/>
              </a:solidFill>
            </c:spPr>
          </c:dPt>
          <c:dPt>
            <c:idx val="33"/>
            <c:invertIfNegative val="0"/>
            <c:spPr>
              <a:solidFill>
                <a:srgbClr val="0B3D91"/>
              </a:solidFill>
            </c:spPr>
          </c:dPt>
          <c:dLbls>
            <c:numFmt formatCode="&quot;+&quot;0%;&quot;−&quot;0%;0%" sourceLinked="0"/>
            <c:txPr>
              <a:bodyPr/>
              <a:lstStyle/>
              <a:p>
                <a:pPr>
                  <a:defRPr sz="650" b="0">
                    <a:solidFill>
                      <a:srgbClr val="1A1E25"/>
                    </a:solidFill>
                  </a:defRPr>
                </a:pPr>
              </a:p>
            </c:txPr>
            <c:dLblPos val="outEnd"/>
            <c:showLegendKey val="0"/>
            <c:showVal val="1"/>
            <c:showCatName val="0"/>
            <c:showSerName val="0"/>
            <c:showPercent val="0"/>
            <c:showBubbleSize val="0"/>
            <c:showLeaderLines val="1"/>
          </c:dLbls>
          <c:cat>
            <c:strRef>
              <c:f>Sheet1!$A$2:$A$35</c:f>
              <c:strCache>
                <c:ptCount val="34"/>
                <c:pt idx="0">
                  <c:v>12.04</c:v>
                </c:pt>
                <c:pt idx="1">
                  <c:v>12.10</c:v>
                </c:pt>
                <c:pt idx="2">
                  <c:v>12.11</c:v>
                </c:pt>
                <c:pt idx="3">
                  <c:v>13.06</c:v>
                </c:pt>
                <c:pt idx="4">
                  <c:v>14.04</c:v>
                </c:pt>
                <c:pt idx="5">
                  <c:v>14.10</c:v>
                </c:pt>
                <c:pt idx="6">
                  <c:v>14.12</c:v>
                </c:pt>
                <c:pt idx="7">
                  <c:v>15.08</c:v>
                </c:pt>
                <c:pt idx="8">
                  <c:v>16.01</c:v>
                </c:pt>
                <c:pt idx="9">
                  <c:v>16.05</c:v>
                </c:pt>
                <c:pt idx="10">
                  <c:v>16.06</c:v>
                </c:pt>
                <c:pt idx="11">
                  <c:v>18.02</c:v>
                </c:pt>
                <c:pt idx="12">
                  <c:v>18.10</c:v>
                </c:pt>
                <c:pt idx="13">
                  <c:v>18.11</c:v>
                </c:pt>
                <c:pt idx="14">
                  <c:v>19.05</c:v>
                </c:pt>
                <c:pt idx="15">
                  <c:v>19.08</c:v>
                </c:pt>
                <c:pt idx="16">
                  <c:v>20.02</c:v>
                </c:pt>
                <c:pt idx="17">
                  <c:v>20.09</c:v>
                </c:pt>
                <c:pt idx="18">
                  <c:v>21.02</c:v>
                </c:pt>
                <c:pt idx="19">
                  <c:v>21.05</c:v>
                </c:pt>
                <c:pt idx="20">
                  <c:v>21.09</c:v>
                </c:pt>
                <c:pt idx="21">
                  <c:v>21.12</c:v>
                </c:pt>
                <c:pt idx="22">
                  <c:v>22.04</c:v>
                </c:pt>
                <c:pt idx="23">
                  <c:v>22.08</c:v>
                </c:pt>
                <c:pt idx="24">
                  <c:v>22.12</c:v>
                </c:pt>
                <c:pt idx="25">
                  <c:v>23.02</c:v>
                </c:pt>
                <c:pt idx="26">
                  <c:v>23.08</c:v>
                </c:pt>
                <c:pt idx="27">
                  <c:v>24.04</c:v>
                </c:pt>
                <c:pt idx="28">
                  <c:v>24.07</c:v>
                </c:pt>
                <c:pt idx="29">
                  <c:v>24.09</c:v>
                </c:pt>
                <c:pt idx="30">
                  <c:v>25.01</c:v>
                </c:pt>
                <c:pt idx="31">
                  <c:v>25.11</c:v>
                </c:pt>
                <c:pt idx="32">
                  <c:v>26.03</c:v>
                </c:pt>
                <c:pt idx="33">
                  <c:v>26.06</c:v>
                </c:pt>
              </c:strCache>
            </c:strRef>
          </c:cat>
          <c:val>
            <c:numRef>
              <c:f>Sheet1!$B$2:$B$35</c:f>
              <c:numCache>
                <c:formatCode>General</c:formatCode>
                <c:ptCount val="34"/>
                <c:pt idx="0">
                  <c:v>-0.05313334682130155</c:v>
                </c:pt>
                <c:pt idx="1">
                  <c:v>-0.03926271358687916</c:v>
                </c:pt>
                <c:pt idx="2">
                  <c:v>0.14363009480016808</c:v>
                </c:pt>
                <c:pt idx="3">
                  <c:v>1.032951957294363</c:v>
                </c:pt>
                <c:pt idx="4">
                  <c:v>0.06987287889304494</c:v>
                </c:pt>
                <c:pt idx="5">
                  <c:v>0.11048988831062334</c:v>
                </c:pt>
                <c:pt idx="6">
                  <c:v>0.03246051861504351</c:v>
                </c:pt>
                <c:pt idx="7">
                  <c:v>0.09425201160214924</c:v>
                </c:pt>
                <c:pt idx="8">
                  <c:v>-0.11173738100198416</c:v>
                </c:pt>
                <c:pt idx="9">
                  <c:v>0.11958040446556817</c:v>
                </c:pt>
                <c:pt idx="10">
                  <c:v>0.2683430704713352</c:v>
                </c:pt>
                <c:pt idx="11">
                  <c:v>0.03080694521906535</c:v>
                </c:pt>
                <c:pt idx="12">
                  <c:v>0.051466038605756825</c:v>
                </c:pt>
                <c:pt idx="13">
                  <c:v>-0.06484675668249273</c:v>
                </c:pt>
                <c:pt idx="14">
                  <c:v>-0.037184650287752974</c:v>
                </c:pt>
                <c:pt idx="15">
                  <c:v>0.08172503727472002</c:v>
                </c:pt>
                <c:pt idx="16">
                  <c:v>-0.37916816925403496</c:v>
                </c:pt>
                <c:pt idx="17">
                  <c:v>0.023565173167929387</c:v>
                </c:pt>
                <c:pt idx="18">
                  <c:v>-0.1414481261417332</c:v>
                </c:pt>
                <c:pt idx="19">
                  <c:v>0.0288537831248592</c:v>
                </c:pt>
                <c:pt idx="20">
                  <c:v>-0.05516310183597273</c:v>
                </c:pt>
                <c:pt idx="21">
                  <c:v>-0.17818801474343793</c:v>
                </c:pt>
                <c:pt idx="22">
                  <c:v>-0.21850661222131362</c:v>
                </c:pt>
                <c:pt idx="23">
                  <c:v>-0.17132194096112907</c:v>
                </c:pt>
                <c:pt idx="24">
                  <c:v>0.07331239832531677</c:v>
                </c:pt>
                <c:pt idx="25">
                  <c:v>-0.010728772218314475</c:v>
                </c:pt>
                <c:pt idx="26">
                  <c:v>-0.1530061412762791</c:v>
                </c:pt>
                <c:pt idx="27">
                  <c:v>0.08548921812024823</c:v>
                </c:pt>
                <c:pt idx="28">
                  <c:v>-0.10733437481239605</c:v>
                </c:pt>
                <c:pt idx="29">
                  <c:v>0.18643186962366798</c:v>
                </c:pt>
                <c:pt idx="30">
                  <c:v>-0.039042245030668</c:v>
                </c:pt>
                <c:pt idx="31">
                  <c:v>-0.017170298862804967</c:v>
                </c:pt>
                <c:pt idx="32">
                  <c:v>0.10503230374430372</c:v>
                </c:pt>
                <c:pt idx="33">
                  <c:v>-0.10407328959363893</c:v>
                </c:pt>
              </c:numCache>
            </c:numRef>
          </c:val>
        </c:ser>
        <c:gapWidth val="30"/>
        <c:axId val="-2068027336"/>
        <c:axId val="-2113994440"/>
      </c:barChart>
      <c:catAx>
        <c:axId val="-2068027336"/>
        <c:scaling>
          <c:orientation val="minMax"/>
        </c:scaling>
        <c:delete val="0"/>
        <c:axPos val="b"/>
        <c:majorTickMark val="out"/>
        <c:minorTickMark val="none"/>
        <c:tickLblPos val="low"/>
        <c:spPr>
          <a:ln w="9525">
            <a:solidFill>
              <a:srgbClr val="1A1E25"/>
            </a:solidFill>
          </a:ln>
        </c:spPr>
        <c:txPr>
          <a:bodyPr/>
          <a:lstStyle/>
          <a:p>
            <a:pPr>
              <a:defRPr sz="650">
                <a:solidFill>
                  <a:srgbClr val="1A1E25"/>
                </a:solidFill>
              </a:defRPr>
            </a:pPr>
          </a:p>
        </c:txPr>
        <c:crossAx val="-2113994440"/>
        <c:crosses val="autoZero"/>
        <c:auto val="1"/>
        <c:lblAlgn val="ctr"/>
        <c:lblOffset val="100"/>
        <c:noMultiLvlLbl val="0"/>
      </c:catAx>
      <c:valAx>
        <c:axId val="-2113994440"/>
        <c:scaling>
          <c:max val="1.2"/>
          <c:min val="-0.6"/>
        </c:scaling>
        <c:delete val="0"/>
        <c:axPos val="l"/>
        <c:majorGridlines>
          <c:spPr>
            <a:ln w="6350">
              <a:solidFill>
                <a:srgbClr val="E3E7ED"/>
              </a:solidFill>
            </a:ln>
          </c:spPr>
        </c:majorGridlines>
        <c:numFmt formatCode="&quot;+&quot;0%;&quot;−&quot;0%;0%" sourceLinked="0"/>
        <c:majorTickMark val="out"/>
        <c:minorTickMark val="none"/>
        <c:tickLblPos val="nextTo"/>
        <c:spPr>
          <a:ln>
            <a:noFill/>
          </a:ln>
        </c:spPr>
        <c:txPr>
          <a:bodyPr/>
          <a:lstStyle/>
          <a:p>
            <a:pPr>
              <a:defRPr sz="800">
                <a:solidFill>
                  <a:srgbClr val="5C6573"/>
                </a:solidFill>
              </a:defRPr>
            </a:pPr>
          </a:p>
        </c:txPr>
        <c:crossAx val="-2068027336"/>
        <c:crosses val="autoZero"/>
        <c:majorUnit val="0.2"/>
      </c:valAx>
    </c:plotArea>
    <c:dispBlanksAs val="gap"/>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비중</c:v>
                </c:pt>
              </c:strCache>
            </c:strRef>
          </c:tx>
          <c:dPt>
            <c:idx val="0"/>
            <c:spPr>
              <a:solidFill>
                <a:srgbClr val="7FB0F0"/>
              </a:solidFill>
              <a:ln w="19050">
                <a:solidFill>
                  <a:srgbClr val="0A2A5C"/>
                </a:solidFill>
              </a:ln>
            </c:spPr>
          </c:dPt>
          <c:dPt>
            <c:idx val="1"/>
            <c:spPr>
              <a:solidFill>
                <a:srgbClr val="3D7FD9"/>
              </a:solidFill>
              <a:ln w="19050">
                <a:solidFill>
                  <a:srgbClr val="0A2A5C"/>
                </a:solidFill>
              </a:ln>
            </c:spPr>
          </c:dPt>
          <c:dPt>
            <c:idx val="2"/>
            <c:spPr>
              <a:solidFill>
                <a:srgbClr val="BFD6F5"/>
              </a:solidFill>
              <a:ln w="19050">
                <a:solidFill>
                  <a:srgbClr val="0A2A5C"/>
                </a:solidFill>
              </a:ln>
            </c:spPr>
          </c:dPt>
          <c:dPt>
            <c:idx val="3"/>
            <c:spPr>
              <a:solidFill>
                <a:srgbClr val="C9A227"/>
              </a:solidFill>
              <a:ln w="19050">
                <a:solidFill>
                  <a:srgbClr val="0A2A5C"/>
                </a:solidFill>
              </a:ln>
            </c:spPr>
          </c:dPt>
          <c:cat>
            <c:strRef>
              <c:f>Sheet1!$A$2:$A$5</c:f>
              <c:strCache>
                <c:ptCount val="4"/>
                <c:pt idx="0">
                  <c:v>SPYM</c:v>
                </c:pt>
                <c:pt idx="1">
                  <c:v>QQQM</c:v>
                </c:pt>
                <c:pt idx="2">
                  <c:v>IEF</c:v>
                </c:pt>
                <c:pt idx="3">
                  <c:v>GLDM</c:v>
                </c:pt>
              </c:strCache>
            </c:strRef>
          </c:cat>
          <c:val>
            <c:numRef>
              <c:f>Sheet1!$B$2:$B$5</c:f>
              <c:numCache>
                <c:formatCode>General</c:formatCode>
                <c:ptCount val="4"/>
                <c:pt idx="0">
                  <c:v>0.3</c:v>
                </c:pt>
                <c:pt idx="1">
                  <c:v>0.3</c:v>
                </c:pt>
                <c:pt idx="2">
                  <c:v>0.2</c:v>
                </c:pt>
                <c:pt idx="3">
                  <c:v>0.2</c:v>
                </c:pt>
              </c:numCache>
            </c:numRef>
          </c:val>
        </c:ser>
        <c:dLbls>
          <c:showLegendKey val="0"/>
          <c:showVal val="0"/>
          <c:showCatName val="0"/>
          <c:showSerName val="0"/>
          <c:showPercent val="0"/>
          <c:showBubbleSize val="0"/>
          <c:showLeaderLines val="1"/>
        </c:dLbls>
        <c:firstSliceAng val="0"/>
        <c:holeSize val="58"/>
      </c:doughnutChart>
    </c:plotArea>
    <c:plotVisOnly val="1"/>
    <c:dispBlanksAs val="gap"/>
    <c:showDLblsOverMax val="0"/>
  </c:chart>
  <c:txPr>
    <a:bodyPr/>
    <a:lstStyle/>
    <a:p>
      <a:pPr>
        <a:defRPr sz="800">
          <a:solidFill>
            <a:srgbClr val="5C6573"/>
          </a:solidFill>
          <a:latin typeface="Noto Sans KR"/>
          <a:ea typeface="Noto Sans KR"/>
        </a:defRPr>
      </a:pPr>
      <a:endParaRPr/>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QQQ</c:v>
                </c:pt>
              </c:strCache>
            </c:strRef>
          </c:tx>
          <c:spPr>
            <a:solidFill>
              <a:srgbClr val="E07A1F"/>
            </a:solidFill>
          </c:spPr>
          <c:invertIfNegative val="0"/>
          <c:dLbls>
            <c:numFmt formatCode="0%;&quot;−&quot;0%" sourceLinked="0"/>
            <c:txPr>
              <a:bodyPr/>
              <a:lstStyle/>
              <a:p>
                <a:pPr>
                  <a:defRPr sz="700" b="0">
                    <a:solidFill>
                      <a:srgbClr val="1A1E25"/>
                    </a:solidFill>
                  </a:defRPr>
                </a:pPr>
              </a:p>
            </c:txPr>
            <c:dLblPos val="outEnd"/>
            <c:showLegendKey val="0"/>
            <c:showVal val="1"/>
            <c:showCatName val="0"/>
            <c:showSerName val="0"/>
            <c:showPercent val="0"/>
            <c:showBubbleSize val="0"/>
            <c:showLeaderLines val="1"/>
          </c:dLbls>
          <c:cat>
            <c:strRef>
              <c:f>Sheet1!$A$2:$A$6</c:f>
              <c:strCache>
                <c:ptCount val="5"/>
                <c:pt idx="0">
                  <c:v>2013년</c:v>
                </c:pt>
                <c:pt idx="1">
                  <c:v>2018년</c:v>
                </c:pt>
                <c:pt idx="2">
                  <c:v>2020년</c:v>
                </c:pt>
                <c:pt idx="3">
                  <c:v>2022년</c:v>
                </c:pt>
                <c:pt idx="4">
                  <c:v>2025년</c:v>
                </c:pt>
              </c:strCache>
            </c:strRef>
          </c:cat>
          <c:val>
            <c:numRef>
              <c:f>Sheet1!$B$2:$B$6</c:f>
              <c:numCache>
                <c:formatCode>General</c:formatCode>
                <c:ptCount val="5"/>
                <c:pt idx="0">
                  <c:v>0.37</c:v>
                </c:pt>
                <c:pt idx="1">
                  <c:v>-0.0</c:v>
                </c:pt>
                <c:pt idx="2">
                  <c:v>0.48</c:v>
                </c:pt>
                <c:pt idx="3">
                  <c:v>-0.33</c:v>
                </c:pt>
                <c:pt idx="4">
                  <c:v>0.21</c:v>
                </c:pt>
              </c:numCache>
            </c:numRef>
          </c:val>
        </c:ser>
        <c:ser>
          <c:idx val="1"/>
          <c:order val="1"/>
          <c:tx>
            <c:strRef>
              <c:f>Sheet1!$C$1</c:f>
              <c:strCache>
                <c:ptCount val="1"/>
                <c:pt idx="0">
                  <c:v>SPY</c:v>
                </c:pt>
              </c:strCache>
            </c:strRef>
          </c:tx>
          <c:spPr>
            <a:solidFill>
              <a:srgbClr val="B0862A"/>
            </a:solidFill>
          </c:spPr>
          <c:invertIfNegative val="0"/>
          <c:dLbls>
            <c:numFmt formatCode="0%;&quot;−&quot;0%" sourceLinked="0"/>
            <c:txPr>
              <a:bodyPr/>
              <a:lstStyle/>
              <a:p>
                <a:pPr>
                  <a:defRPr sz="700" b="0">
                    <a:solidFill>
                      <a:srgbClr val="1A1E25"/>
                    </a:solidFill>
                  </a:defRPr>
                </a:pPr>
              </a:p>
            </c:txPr>
            <c:dLblPos val="outEnd"/>
            <c:showLegendKey val="0"/>
            <c:showVal val="1"/>
            <c:showCatName val="0"/>
            <c:showSerName val="0"/>
            <c:showPercent val="0"/>
            <c:showBubbleSize val="0"/>
            <c:showLeaderLines val="1"/>
          </c:dLbls>
          <c:cat>
            <c:strRef>
              <c:f>Sheet1!$A$2:$A$6</c:f>
              <c:strCache>
                <c:ptCount val="5"/>
                <c:pt idx="0">
                  <c:v>2013년</c:v>
                </c:pt>
                <c:pt idx="1">
                  <c:v>2018년</c:v>
                </c:pt>
                <c:pt idx="2">
                  <c:v>2020년</c:v>
                </c:pt>
                <c:pt idx="3">
                  <c:v>2022년</c:v>
                </c:pt>
                <c:pt idx="4">
                  <c:v>2025년</c:v>
                </c:pt>
              </c:strCache>
            </c:strRef>
          </c:cat>
          <c:val>
            <c:numRef>
              <c:f>Sheet1!$C$2:$C$6</c:f>
              <c:numCache>
                <c:formatCode>General</c:formatCode>
                <c:ptCount val="5"/>
                <c:pt idx="0">
                  <c:v>0.32</c:v>
                </c:pt>
                <c:pt idx="1">
                  <c:v>-0.05</c:v>
                </c:pt>
                <c:pt idx="2">
                  <c:v>0.18</c:v>
                </c:pt>
                <c:pt idx="3">
                  <c:v>-0.18</c:v>
                </c:pt>
                <c:pt idx="4">
                  <c:v>0.18</c:v>
                </c:pt>
              </c:numCache>
            </c:numRef>
          </c:val>
        </c:ser>
        <c:ser>
          <c:idx val="2"/>
          <c:order val="2"/>
          <c:tx>
            <c:strRef>
              <c:f>Sheet1!$D$1</c:f>
              <c:strCache>
                <c:ptCount val="1"/>
                <c:pt idx="0">
                  <c:v>IEF 국채</c:v>
                </c:pt>
              </c:strCache>
            </c:strRef>
          </c:tx>
          <c:spPr>
            <a:solidFill>
              <a:srgbClr val="3D9BE0"/>
            </a:solidFill>
          </c:spPr>
          <c:invertIfNegative val="0"/>
          <c:dLbls>
            <c:numFmt formatCode="0%;&quot;−&quot;0%" sourceLinked="0"/>
            <c:txPr>
              <a:bodyPr/>
              <a:lstStyle/>
              <a:p>
                <a:pPr>
                  <a:defRPr sz="700" b="0">
                    <a:solidFill>
                      <a:srgbClr val="1A1E25"/>
                    </a:solidFill>
                  </a:defRPr>
                </a:pPr>
              </a:p>
            </c:txPr>
            <c:dLblPos val="outEnd"/>
            <c:showLegendKey val="0"/>
            <c:showVal val="1"/>
            <c:showCatName val="0"/>
            <c:showSerName val="0"/>
            <c:showPercent val="0"/>
            <c:showBubbleSize val="0"/>
            <c:showLeaderLines val="1"/>
          </c:dLbls>
          <c:cat>
            <c:strRef>
              <c:f>Sheet1!$A$2:$A$6</c:f>
              <c:strCache>
                <c:ptCount val="5"/>
                <c:pt idx="0">
                  <c:v>2013년</c:v>
                </c:pt>
                <c:pt idx="1">
                  <c:v>2018년</c:v>
                </c:pt>
                <c:pt idx="2">
                  <c:v>2020년</c:v>
                </c:pt>
                <c:pt idx="3">
                  <c:v>2022년</c:v>
                </c:pt>
                <c:pt idx="4">
                  <c:v>2025년</c:v>
                </c:pt>
              </c:strCache>
            </c:strRef>
          </c:cat>
          <c:val>
            <c:numRef>
              <c:f>Sheet1!$D$2:$D$6</c:f>
              <c:numCache>
                <c:formatCode>General</c:formatCode>
                <c:ptCount val="5"/>
                <c:pt idx="0">
                  <c:v>-0.06</c:v>
                </c:pt>
                <c:pt idx="1">
                  <c:v>0.01</c:v>
                </c:pt>
                <c:pt idx="2">
                  <c:v>0.1</c:v>
                </c:pt>
                <c:pt idx="3">
                  <c:v>-0.15</c:v>
                </c:pt>
                <c:pt idx="4">
                  <c:v>0.08</c:v>
                </c:pt>
              </c:numCache>
            </c:numRef>
          </c:val>
        </c:ser>
        <c:ser>
          <c:idx val="3"/>
          <c:order val="3"/>
          <c:tx>
            <c:strRef>
              <c:f>Sheet1!$E$1</c:f>
              <c:strCache>
                <c:ptCount val="1"/>
                <c:pt idx="0">
                  <c:v>GLD 금</c:v>
                </c:pt>
              </c:strCache>
            </c:strRef>
          </c:tx>
          <c:spPr>
            <a:solidFill>
              <a:srgbClr val="C9A227"/>
            </a:solidFill>
          </c:spPr>
          <c:invertIfNegative val="0"/>
          <c:dLbls>
            <c:numFmt formatCode="0%;&quot;−&quot;0%" sourceLinked="0"/>
            <c:txPr>
              <a:bodyPr/>
              <a:lstStyle/>
              <a:p>
                <a:pPr>
                  <a:defRPr sz="700" b="0">
                    <a:solidFill>
                      <a:srgbClr val="1A1E25"/>
                    </a:solidFill>
                  </a:defRPr>
                </a:pPr>
              </a:p>
            </c:txPr>
            <c:dLblPos val="outEnd"/>
            <c:showLegendKey val="0"/>
            <c:showVal val="1"/>
            <c:showCatName val="0"/>
            <c:showSerName val="0"/>
            <c:showPercent val="0"/>
            <c:showBubbleSize val="0"/>
            <c:showLeaderLines val="1"/>
          </c:dLbls>
          <c:cat>
            <c:strRef>
              <c:f>Sheet1!$A$2:$A$6</c:f>
              <c:strCache>
                <c:ptCount val="5"/>
                <c:pt idx="0">
                  <c:v>2013년</c:v>
                </c:pt>
                <c:pt idx="1">
                  <c:v>2018년</c:v>
                </c:pt>
                <c:pt idx="2">
                  <c:v>2020년</c:v>
                </c:pt>
                <c:pt idx="3">
                  <c:v>2022년</c:v>
                </c:pt>
                <c:pt idx="4">
                  <c:v>2025년</c:v>
                </c:pt>
              </c:strCache>
            </c:strRef>
          </c:cat>
          <c:val>
            <c:numRef>
              <c:f>Sheet1!$E$2:$E$6</c:f>
              <c:numCache>
                <c:formatCode>General</c:formatCode>
                <c:ptCount val="5"/>
                <c:pt idx="0">
                  <c:v>-0.28</c:v>
                </c:pt>
                <c:pt idx="1">
                  <c:v>-0.02</c:v>
                </c:pt>
                <c:pt idx="2">
                  <c:v>0.25</c:v>
                </c:pt>
                <c:pt idx="3">
                  <c:v>-0.01</c:v>
                </c:pt>
                <c:pt idx="4">
                  <c:v>0.64</c:v>
                </c:pt>
              </c:numCache>
            </c:numRef>
          </c:val>
        </c:ser>
        <c:gapWidth val="50"/>
        <c:axId val="-2068027336"/>
        <c:axId val="-2113994440"/>
      </c:barChart>
      <c:catAx>
        <c:axId val="-2068027336"/>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13994440"/>
        <c:crosses val="autoZero"/>
        <c:auto val="1"/>
        <c:lblAlgn val="ctr"/>
        <c:lblOffset val="100"/>
        <c:noMultiLvlLbl val="0"/>
      </c:catAx>
      <c:valAx>
        <c:axId val="-2113994440"/>
        <c:scaling>
          <c:max val="0.8"/>
          <c:min val="-0.4"/>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068027336"/>
        <c:crosses val="autoZero"/>
        <c:majorUnit val="0.2"/>
      </c:valAx>
    </c:plotArea>
    <c:legend>
      <c:legendPos val="t"/>
      <c:overlay val="0"/>
      <c:txPr>
        <a:bodyPr/>
        <a:lstStyle/>
        <a:p>
          <a:pPr>
            <a:defRPr sz="800"/>
          </a:pPr>
        </a:p>
      </c:txPr>
    </c:legend>
    <c:dispBlanksAs val="gap"/>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비중</c:v>
                </c:pt>
              </c:strCache>
            </c:strRef>
          </c:tx>
          <c:dPt>
            <c:idx val="0"/>
            <c:spPr>
              <a:solidFill>
                <a:srgbClr val="7FB0F0"/>
              </a:solidFill>
              <a:ln w="19050">
                <a:solidFill>
                  <a:srgbClr val="0A2A5C"/>
                </a:solidFill>
              </a:ln>
            </c:spPr>
          </c:dPt>
          <c:dPt>
            <c:idx val="1"/>
            <c:spPr>
              <a:solidFill>
                <a:srgbClr val="3D7FD9"/>
              </a:solidFill>
              <a:ln w="19050">
                <a:solidFill>
                  <a:srgbClr val="0A2A5C"/>
                </a:solidFill>
              </a:ln>
            </c:spPr>
          </c:dPt>
          <c:dPt>
            <c:idx val="2"/>
            <c:spPr>
              <a:solidFill>
                <a:srgbClr val="BFD6F5"/>
              </a:solidFill>
              <a:ln w="19050">
                <a:solidFill>
                  <a:srgbClr val="0A2A5C"/>
                </a:solidFill>
              </a:ln>
            </c:spPr>
          </c:dPt>
          <c:dPt>
            <c:idx val="3"/>
            <c:spPr>
              <a:solidFill>
                <a:srgbClr val="C9A227"/>
              </a:solidFill>
              <a:ln w="19050">
                <a:solidFill>
                  <a:srgbClr val="0A2A5C"/>
                </a:solidFill>
              </a:ln>
            </c:spPr>
          </c:dPt>
          <c:cat>
            <c:strRef>
              <c:f>Sheet1!$A$2:$A$5</c:f>
              <c:strCache>
                <c:ptCount val="4"/>
                <c:pt idx="0">
                  <c:v>SPYM</c:v>
                </c:pt>
                <c:pt idx="1">
                  <c:v>QQQM</c:v>
                </c:pt>
                <c:pt idx="2">
                  <c:v>IEF</c:v>
                </c:pt>
                <c:pt idx="3">
                  <c:v>GLDM</c:v>
                </c:pt>
              </c:strCache>
            </c:strRef>
          </c:cat>
          <c:val>
            <c:numRef>
              <c:f>Sheet1!$B$2:$B$5</c:f>
              <c:numCache>
                <c:formatCode>General</c:formatCode>
                <c:ptCount val="4"/>
                <c:pt idx="0">
                  <c:v>0.3</c:v>
                </c:pt>
                <c:pt idx="1">
                  <c:v>0.3</c:v>
                </c:pt>
                <c:pt idx="2">
                  <c:v>0.2</c:v>
                </c:pt>
                <c:pt idx="3">
                  <c:v>0.2</c:v>
                </c:pt>
              </c:numCache>
            </c:numRef>
          </c:val>
        </c:ser>
        <c:dLbls>
          <c:showLegendKey val="0"/>
          <c:showVal val="0"/>
          <c:showCatName val="0"/>
          <c:showSerName val="0"/>
          <c:showPercent val="0"/>
          <c:showBubbleSize val="0"/>
          <c:showLeaderLines val="1"/>
        </c:dLbls>
        <c:firstSliceAng val="0"/>
        <c:holeSize val="58"/>
      </c:doughnutChart>
    </c:plotArea>
    <c:plotVisOnly val="1"/>
    <c:dispBlanksAs val="gap"/>
    <c:showDLblsOverMax val="0"/>
  </c:chart>
  <c:txPr>
    <a:bodyPr/>
    <a:lstStyle/>
    <a:p>
      <a:pPr>
        <a:defRPr sz="800">
          <a:solidFill>
            <a:srgbClr val="5C6573"/>
          </a:solidFill>
          <a:latin typeface="Noto Sans KR"/>
          <a:ea typeface="Noto Sans KR"/>
        </a:defRPr>
      </a:pPr>
      <a:endParaRPr/>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GLD 금</c:v>
                </c:pt>
              </c:strCache>
            </c:strRef>
          </c:tx>
          <c:spPr>
            <a:solidFill>
              <a:srgbClr val="C9A227"/>
            </a:solidFill>
          </c:spPr>
          <c:invertIfNegative val="0"/>
          <c:dLbls>
            <c:numFmt formatCode="0%;&quot;−&quot;0%" sourceLinked="0"/>
            <c:txPr>
              <a:bodyPr/>
              <a:lstStyle/>
              <a:p>
                <a:pPr>
                  <a:defRPr sz="700" b="0">
                    <a:solidFill>
                      <a:srgbClr val="1A1E25"/>
                    </a:solidFill>
                  </a:defRPr>
                </a:pPr>
              </a:p>
            </c:txPr>
            <c:dLblPos val="outEnd"/>
            <c:showLegendKey val="0"/>
            <c:showVal val="1"/>
            <c:showCatName val="0"/>
            <c:showSerName val="0"/>
            <c:showPercent val="0"/>
            <c:showBubbleSize val="0"/>
            <c:showLeaderLines val="1"/>
          </c:dLbls>
          <c:cat>
            <c:strRef>
              <c:f>Sheet1!$A$2:$A$5</c:f>
              <c:strCache>
                <c:ptCount val="4"/>
                <c:pt idx="0">
                  <c:v>2022년</c:v>
                </c:pt>
                <c:pt idx="1">
                  <c:v>2020년</c:v>
                </c:pt>
                <c:pt idx="2">
                  <c:v>2018년</c:v>
                </c:pt>
                <c:pt idx="3">
                  <c:v>2013년</c:v>
                </c:pt>
              </c:strCache>
            </c:strRef>
          </c:cat>
          <c:val>
            <c:numRef>
              <c:f>Sheet1!$B$2:$B$5</c:f>
              <c:numCache>
                <c:formatCode>General</c:formatCode>
                <c:ptCount val="4"/>
                <c:pt idx="0">
                  <c:v>-0.01</c:v>
                </c:pt>
                <c:pt idx="1">
                  <c:v>0.25</c:v>
                </c:pt>
                <c:pt idx="2">
                  <c:v>-0.02</c:v>
                </c:pt>
                <c:pt idx="3">
                  <c:v>-0.28</c:v>
                </c:pt>
              </c:numCache>
            </c:numRef>
          </c:val>
        </c:ser>
        <c:ser>
          <c:idx val="1"/>
          <c:order val="1"/>
          <c:tx>
            <c:strRef>
              <c:f>Sheet1!$C$1</c:f>
              <c:strCache>
                <c:ptCount val="1"/>
                <c:pt idx="0">
                  <c:v>IEF 국채</c:v>
                </c:pt>
              </c:strCache>
            </c:strRef>
          </c:tx>
          <c:spPr>
            <a:solidFill>
              <a:srgbClr val="3D9BE0"/>
            </a:solidFill>
          </c:spPr>
          <c:invertIfNegative val="0"/>
          <c:dLbls>
            <c:numFmt formatCode="0%;&quot;−&quot;0%" sourceLinked="0"/>
            <c:txPr>
              <a:bodyPr/>
              <a:lstStyle/>
              <a:p>
                <a:pPr>
                  <a:defRPr sz="700" b="0">
                    <a:solidFill>
                      <a:srgbClr val="1A1E25"/>
                    </a:solidFill>
                  </a:defRPr>
                </a:pPr>
              </a:p>
            </c:txPr>
            <c:dLblPos val="outEnd"/>
            <c:showLegendKey val="0"/>
            <c:showVal val="1"/>
            <c:showCatName val="0"/>
            <c:showSerName val="0"/>
            <c:showPercent val="0"/>
            <c:showBubbleSize val="0"/>
            <c:showLeaderLines val="1"/>
          </c:dLbls>
          <c:cat>
            <c:strRef>
              <c:f>Sheet1!$A$2:$A$5</c:f>
              <c:strCache>
                <c:ptCount val="4"/>
                <c:pt idx="0">
                  <c:v>2022년</c:v>
                </c:pt>
                <c:pt idx="1">
                  <c:v>2020년</c:v>
                </c:pt>
                <c:pt idx="2">
                  <c:v>2018년</c:v>
                </c:pt>
                <c:pt idx="3">
                  <c:v>2013년</c:v>
                </c:pt>
              </c:strCache>
            </c:strRef>
          </c:cat>
          <c:val>
            <c:numRef>
              <c:f>Sheet1!$C$2:$C$5</c:f>
              <c:numCache>
                <c:formatCode>General</c:formatCode>
                <c:ptCount val="4"/>
                <c:pt idx="0">
                  <c:v>-0.15</c:v>
                </c:pt>
                <c:pt idx="1">
                  <c:v>0.1</c:v>
                </c:pt>
                <c:pt idx="2">
                  <c:v>0.01</c:v>
                </c:pt>
                <c:pt idx="3">
                  <c:v>-0.06</c:v>
                </c:pt>
              </c:numCache>
            </c:numRef>
          </c:val>
        </c:ser>
        <c:ser>
          <c:idx val="2"/>
          <c:order val="2"/>
          <c:tx>
            <c:strRef>
              <c:f>Sheet1!$D$1</c:f>
              <c:strCache>
                <c:ptCount val="1"/>
                <c:pt idx="0">
                  <c:v>SPY</c:v>
                </c:pt>
              </c:strCache>
            </c:strRef>
          </c:tx>
          <c:spPr>
            <a:solidFill>
              <a:srgbClr val="B0862A"/>
            </a:solidFill>
          </c:spPr>
          <c:invertIfNegative val="0"/>
          <c:dLbls>
            <c:numFmt formatCode="0%;&quot;−&quot;0%" sourceLinked="0"/>
            <c:txPr>
              <a:bodyPr/>
              <a:lstStyle/>
              <a:p>
                <a:pPr>
                  <a:defRPr sz="700" b="0">
                    <a:solidFill>
                      <a:srgbClr val="1A1E25"/>
                    </a:solidFill>
                  </a:defRPr>
                </a:pPr>
              </a:p>
            </c:txPr>
            <c:dLblPos val="outEnd"/>
            <c:showLegendKey val="0"/>
            <c:showVal val="1"/>
            <c:showCatName val="0"/>
            <c:showSerName val="0"/>
            <c:showPercent val="0"/>
            <c:showBubbleSize val="0"/>
            <c:showLeaderLines val="1"/>
          </c:dLbls>
          <c:cat>
            <c:strRef>
              <c:f>Sheet1!$A$2:$A$5</c:f>
              <c:strCache>
                <c:ptCount val="4"/>
                <c:pt idx="0">
                  <c:v>2022년</c:v>
                </c:pt>
                <c:pt idx="1">
                  <c:v>2020년</c:v>
                </c:pt>
                <c:pt idx="2">
                  <c:v>2018년</c:v>
                </c:pt>
                <c:pt idx="3">
                  <c:v>2013년</c:v>
                </c:pt>
              </c:strCache>
            </c:strRef>
          </c:cat>
          <c:val>
            <c:numRef>
              <c:f>Sheet1!$D$2:$D$5</c:f>
              <c:numCache>
                <c:formatCode>General</c:formatCode>
                <c:ptCount val="4"/>
                <c:pt idx="0">
                  <c:v>-0.18</c:v>
                </c:pt>
                <c:pt idx="1">
                  <c:v>0.18</c:v>
                </c:pt>
                <c:pt idx="2">
                  <c:v>-0.05</c:v>
                </c:pt>
                <c:pt idx="3">
                  <c:v>0.32</c:v>
                </c:pt>
              </c:numCache>
            </c:numRef>
          </c:val>
        </c:ser>
        <c:ser>
          <c:idx val="3"/>
          <c:order val="3"/>
          <c:tx>
            <c:strRef>
              <c:f>Sheet1!$E$1</c:f>
              <c:strCache>
                <c:ptCount val="1"/>
                <c:pt idx="0">
                  <c:v>QQQ</c:v>
                </c:pt>
              </c:strCache>
            </c:strRef>
          </c:tx>
          <c:spPr>
            <a:solidFill>
              <a:srgbClr val="E07A1F"/>
            </a:solidFill>
          </c:spPr>
          <c:invertIfNegative val="0"/>
          <c:dLbls>
            <c:numFmt formatCode="0%;&quot;−&quot;0%" sourceLinked="0"/>
            <c:txPr>
              <a:bodyPr/>
              <a:lstStyle/>
              <a:p>
                <a:pPr>
                  <a:defRPr sz="700" b="0">
                    <a:solidFill>
                      <a:srgbClr val="1A1E25"/>
                    </a:solidFill>
                  </a:defRPr>
                </a:pPr>
              </a:p>
            </c:txPr>
            <c:dLblPos val="outEnd"/>
            <c:showLegendKey val="0"/>
            <c:showVal val="1"/>
            <c:showCatName val="0"/>
            <c:showSerName val="0"/>
            <c:showPercent val="0"/>
            <c:showBubbleSize val="0"/>
            <c:showLeaderLines val="1"/>
          </c:dLbls>
          <c:cat>
            <c:strRef>
              <c:f>Sheet1!$A$2:$A$5</c:f>
              <c:strCache>
                <c:ptCount val="4"/>
                <c:pt idx="0">
                  <c:v>2022년</c:v>
                </c:pt>
                <c:pt idx="1">
                  <c:v>2020년</c:v>
                </c:pt>
                <c:pt idx="2">
                  <c:v>2018년</c:v>
                </c:pt>
                <c:pt idx="3">
                  <c:v>2013년</c:v>
                </c:pt>
              </c:strCache>
            </c:strRef>
          </c:cat>
          <c:val>
            <c:numRef>
              <c:f>Sheet1!$E$2:$E$5</c:f>
              <c:numCache>
                <c:formatCode>General</c:formatCode>
                <c:ptCount val="4"/>
                <c:pt idx="0">
                  <c:v>-0.33</c:v>
                </c:pt>
                <c:pt idx="1">
                  <c:v>0.48</c:v>
                </c:pt>
                <c:pt idx="2">
                  <c:v>-0.0</c:v>
                </c:pt>
                <c:pt idx="3">
                  <c:v>0.37</c:v>
                </c:pt>
              </c:numCache>
            </c:numRef>
          </c:val>
        </c:ser>
        <c:gapWidth val="40"/>
        <c:axId val="-2068027336"/>
        <c:axId val="-2113994440"/>
      </c:barChart>
      <c:catAx>
        <c:axId val="-2068027336"/>
        <c:scaling>
          <c:orientation val="minMax"/>
        </c:scaling>
        <c:delete val="0"/>
        <c:axPos val="l"/>
        <c:majorTickMark val="out"/>
        <c:minorTickMark val="none"/>
        <c:tickLblPos val="low"/>
        <c:spPr>
          <a:ln w="9525">
            <a:solidFill>
              <a:srgbClr val="1A1E25"/>
            </a:solidFill>
          </a:ln>
        </c:spPr>
        <c:txPr>
          <a:bodyPr/>
          <a:lstStyle/>
          <a:p>
            <a:pPr>
              <a:defRPr sz="800">
                <a:solidFill>
                  <a:srgbClr val="1A1E25"/>
                </a:solidFill>
              </a:defRPr>
            </a:pPr>
          </a:p>
        </c:txPr>
        <c:crossAx val="-2113994440"/>
        <c:crosses val="autoZero"/>
        <c:auto val="1"/>
        <c:lblAlgn val="ctr"/>
        <c:lblOffset val="100"/>
        <c:noMultiLvlLbl val="0"/>
      </c:catAx>
      <c:valAx>
        <c:axId val="-2113994440"/>
        <c:scaling>
          <c:max val="0.6"/>
          <c:min val="-0.5"/>
        </c:scaling>
        <c:delete val="0"/>
        <c:axPos val="b"/>
        <c:majorGridlines>
          <c:spPr>
            <a:ln w="6350">
              <a:solidFill>
                <a:srgbClr val="E3E7ED"/>
              </a:solidFill>
            </a:ln>
          </c:spPr>
        </c:majorGridlines>
        <c:numFmt formatCode="0%;&quot;−&quot;0%" sourceLinked="0"/>
        <c:majorTickMark val="out"/>
        <c:minorTickMark val="none"/>
        <c:tickLblPos val="nextTo"/>
        <c:spPr>
          <a:ln>
            <a:noFill/>
          </a:ln>
        </c:spPr>
        <c:txPr>
          <a:bodyPr/>
          <a:lstStyle/>
          <a:p>
            <a:pPr>
              <a:defRPr sz="800">
                <a:solidFill>
                  <a:srgbClr val="5C6573"/>
                </a:solidFill>
              </a:defRPr>
            </a:pPr>
          </a:p>
        </c:txPr>
        <c:crossAx val="-2068027336"/>
        <c:crosses val="autoZero"/>
        <c:majorUnit val="0.25"/>
      </c:valAx>
    </c:plotArea>
    <c:legend>
      <c:legendPos val="t"/>
      <c:overlay val="0"/>
      <c:txPr>
        <a:bodyPr/>
        <a:lstStyle/>
        <a:p>
          <a:pPr>
            <a:defRPr sz="800"/>
          </a:pPr>
        </a:p>
      </c:txPr>
    </c:legend>
    <c:dispBlanksAs val="gap"/>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맞춤 전</c:v>
                </c:pt>
              </c:strCache>
            </c:strRef>
          </c:tx>
          <c:spPr>
            <a:solidFill>
              <a:srgbClr val="B7CDEF"/>
            </a:solidFill>
          </c:spPr>
          <c:invertIfNegative val="0"/>
          <c:dLbls>
            <c:numFmt formatCode="#,##0" sourceLinked="0"/>
            <c:txPr>
              <a:bodyPr/>
              <a:lstStyle/>
              <a:p>
                <a:pPr>
                  <a:defRPr sz="750" b="0">
                    <a:solidFill>
                      <a:srgbClr val="1A1E25"/>
                    </a:solidFill>
                  </a:defRPr>
                </a:pPr>
              </a:p>
            </c:txPr>
            <c:dLblPos val="outEnd"/>
            <c:showLegendKey val="0"/>
            <c:showVal val="1"/>
            <c:showCatName val="0"/>
            <c:showSerName val="0"/>
            <c:showPercent val="0"/>
            <c:showBubbleSize val="0"/>
            <c:showLeaderLines val="1"/>
          </c:dLbls>
          <c:cat>
            <c:strRef>
              <c:f>Sheet1!$A$2:$A$4</c:f>
              <c:strCache>
                <c:ptCount val="3"/>
                <c:pt idx="0">
                  <c:v>주식</c:v>
                </c:pt>
                <c:pt idx="1">
                  <c:v>국채</c:v>
                </c:pt>
                <c:pt idx="2">
                  <c:v>금</c:v>
                </c:pt>
              </c:strCache>
            </c:strRef>
          </c:cat>
          <c:val>
            <c:numRef>
              <c:f>Sheet1!$B$2:$B$4</c:f>
              <c:numCache>
                <c:formatCode>General</c:formatCode>
                <c:ptCount val="3"/>
                <c:pt idx="0">
                  <c:v>680</c:v>
                </c:pt>
                <c:pt idx="1">
                  <c:v>160</c:v>
                </c:pt>
                <c:pt idx="2">
                  <c:v>160</c:v>
                </c:pt>
              </c:numCache>
            </c:numRef>
          </c:val>
        </c:ser>
        <c:ser>
          <c:idx val="1"/>
          <c:order val="1"/>
          <c:tx>
            <c:strRef>
              <c:f>Sheet1!$C$1</c:f>
              <c:strCache>
                <c:ptCount val="1"/>
                <c:pt idx="0">
                  <c:v>맞춤 후</c:v>
                </c:pt>
              </c:strCache>
            </c:strRef>
          </c:tx>
          <c:spPr>
            <a:solidFill>
              <a:srgbClr val="0B3D91"/>
            </a:solidFill>
          </c:spPr>
          <c:invertIfNegative val="0"/>
          <c:dLbls>
            <c:numFmt formatCode="#,##0" sourceLinked="0"/>
            <c:txPr>
              <a:bodyPr/>
              <a:lstStyle/>
              <a:p>
                <a:pPr>
                  <a:defRPr sz="750" b="0">
                    <a:solidFill>
                      <a:srgbClr val="1A1E25"/>
                    </a:solidFill>
                  </a:defRPr>
                </a:pPr>
              </a:p>
            </c:txPr>
            <c:dLblPos val="outEnd"/>
            <c:showLegendKey val="0"/>
            <c:showVal val="1"/>
            <c:showCatName val="0"/>
            <c:showSerName val="0"/>
            <c:showPercent val="0"/>
            <c:showBubbleSize val="0"/>
            <c:showLeaderLines val="1"/>
          </c:dLbls>
          <c:cat>
            <c:strRef>
              <c:f>Sheet1!$A$2:$A$4</c:f>
              <c:strCache>
                <c:ptCount val="3"/>
                <c:pt idx="0">
                  <c:v>주식</c:v>
                </c:pt>
                <c:pt idx="1">
                  <c:v>국채</c:v>
                </c:pt>
                <c:pt idx="2">
                  <c:v>금</c:v>
                </c:pt>
              </c:strCache>
            </c:strRef>
          </c:cat>
          <c:val>
            <c:numRef>
              <c:f>Sheet1!$C$2:$C$4</c:f>
              <c:numCache>
                <c:formatCode>General</c:formatCode>
                <c:ptCount val="3"/>
                <c:pt idx="0">
                  <c:v>600</c:v>
                </c:pt>
                <c:pt idx="1">
                  <c:v>200</c:v>
                </c:pt>
                <c:pt idx="2">
                  <c:v>200</c:v>
                </c:pt>
              </c:numCache>
            </c:numRef>
          </c:val>
        </c:ser>
        <c:gapWidth val="50"/>
        <c:axId val="-2068027336"/>
        <c:axId val="-2113994440"/>
      </c:barChart>
      <c:catAx>
        <c:axId val="-2068027336"/>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13994440"/>
        <c:crosses val="autoZero"/>
        <c:auto val="1"/>
        <c:lblAlgn val="ctr"/>
        <c:lblOffset val="100"/>
        <c:noMultiLvlLbl val="0"/>
      </c:catAx>
      <c:valAx>
        <c:axId val="-2113994440"/>
        <c:scaling>
          <c:max val="800.0"/>
          <c:min val="0.0"/>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068027336"/>
        <c:crosses val="autoZero"/>
        <c:majorUnit val="200.0"/>
      </c:valAx>
    </c:plotArea>
    <c:legend>
      <c:legendPos val="t"/>
      <c:overlay val="0"/>
      <c:txPr>
        <a:bodyPr/>
        <a:lstStyle/>
        <a:p>
          <a:pPr>
            <a:defRPr sz="800"/>
          </a:pPr>
        </a:p>
      </c:txPr>
    </c:legend>
    <c:dispBlanksAs val="gap"/>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12월 맞춤</c:v>
                </c:pt>
              </c:strCache>
            </c:strRef>
          </c:tx>
          <c:spPr>
            <a:ln w="28575">
              <a:solidFill>
                <a:srgbClr val="1E9A84"/>
              </a:solidFill>
            </a:ln>
          </c:spPr>
          <c:marker>
            <c:symbol val="none"/>
          </c:marker>
          <c:cat>
            <c:strRef>
              <c:f>Sheet1!$A$2:$A$177</c:f>
              <c:strCache>
                <c:ptCount val="176"/>
                <c:pt idx="0">
                  <c:v>2012</c:v>
                </c:pt>
                <c:pt idx="1">
                  <c:v>2012</c:v>
                </c:pt>
                <c:pt idx="2">
                  <c:v>2012</c:v>
                </c:pt>
                <c:pt idx="3">
                  <c:v>2012</c:v>
                </c:pt>
                <c:pt idx="4">
                  <c:v>2012</c:v>
                </c:pt>
                <c:pt idx="5">
                  <c:v>2012</c:v>
                </c:pt>
                <c:pt idx="6">
                  <c:v>2012</c:v>
                </c:pt>
                <c:pt idx="7">
                  <c:v>2012</c:v>
                </c:pt>
                <c:pt idx="8">
                  <c:v>2012</c:v>
                </c:pt>
                <c:pt idx="9">
                  <c:v>2012</c:v>
                </c:pt>
                <c:pt idx="10">
                  <c:v>2012</c:v>
                </c:pt>
                <c:pt idx="11">
                  <c:v>2012</c:v>
                </c:pt>
                <c:pt idx="12">
                  <c:v>2013</c:v>
                </c:pt>
                <c:pt idx="13">
                  <c:v>2013</c:v>
                </c:pt>
                <c:pt idx="14">
                  <c:v>2013</c:v>
                </c:pt>
                <c:pt idx="15">
                  <c:v>2013</c:v>
                </c:pt>
                <c:pt idx="16">
                  <c:v>2013</c:v>
                </c:pt>
                <c:pt idx="17">
                  <c:v>2013</c:v>
                </c:pt>
                <c:pt idx="18">
                  <c:v>2013</c:v>
                </c:pt>
                <c:pt idx="19">
                  <c:v>2013</c:v>
                </c:pt>
                <c:pt idx="20">
                  <c:v>2013</c:v>
                </c:pt>
                <c:pt idx="21">
                  <c:v>2013</c:v>
                </c:pt>
                <c:pt idx="22">
                  <c:v>2013</c:v>
                </c:pt>
                <c:pt idx="23">
                  <c:v>2013</c:v>
                </c:pt>
                <c:pt idx="24">
                  <c:v>2014</c:v>
                </c:pt>
                <c:pt idx="25">
                  <c:v>2014</c:v>
                </c:pt>
                <c:pt idx="26">
                  <c:v>2014</c:v>
                </c:pt>
                <c:pt idx="27">
                  <c:v>2014</c:v>
                </c:pt>
                <c:pt idx="28">
                  <c:v>2014</c:v>
                </c:pt>
                <c:pt idx="29">
                  <c:v>2014</c:v>
                </c:pt>
                <c:pt idx="30">
                  <c:v>2014</c:v>
                </c:pt>
                <c:pt idx="31">
                  <c:v>2014</c:v>
                </c:pt>
                <c:pt idx="32">
                  <c:v>2014</c:v>
                </c:pt>
                <c:pt idx="33">
                  <c:v>2014</c:v>
                </c:pt>
                <c:pt idx="34">
                  <c:v>2014</c:v>
                </c:pt>
                <c:pt idx="35">
                  <c:v>2014</c:v>
                </c:pt>
                <c:pt idx="36">
                  <c:v>2015</c:v>
                </c:pt>
                <c:pt idx="37">
                  <c:v>2015</c:v>
                </c:pt>
                <c:pt idx="38">
                  <c:v>2015</c:v>
                </c:pt>
                <c:pt idx="39">
                  <c:v>2015</c:v>
                </c:pt>
                <c:pt idx="40">
                  <c:v>2015</c:v>
                </c:pt>
                <c:pt idx="41">
                  <c:v>2015</c:v>
                </c:pt>
                <c:pt idx="42">
                  <c:v>2015</c:v>
                </c:pt>
                <c:pt idx="43">
                  <c:v>2015</c:v>
                </c:pt>
                <c:pt idx="44">
                  <c:v>2015</c:v>
                </c:pt>
                <c:pt idx="45">
                  <c:v>2015</c:v>
                </c:pt>
                <c:pt idx="46">
                  <c:v>2015</c:v>
                </c:pt>
                <c:pt idx="47">
                  <c:v>2015</c:v>
                </c:pt>
                <c:pt idx="48">
                  <c:v>2016</c:v>
                </c:pt>
                <c:pt idx="49">
                  <c:v>2016</c:v>
                </c:pt>
                <c:pt idx="50">
                  <c:v>2016</c:v>
                </c:pt>
                <c:pt idx="51">
                  <c:v>2016</c:v>
                </c:pt>
                <c:pt idx="52">
                  <c:v>2016</c:v>
                </c:pt>
                <c:pt idx="53">
                  <c:v>2016</c:v>
                </c:pt>
                <c:pt idx="54">
                  <c:v>2016</c:v>
                </c:pt>
                <c:pt idx="55">
                  <c:v>2016</c:v>
                </c:pt>
                <c:pt idx="56">
                  <c:v>2016</c:v>
                </c:pt>
                <c:pt idx="57">
                  <c:v>2016</c:v>
                </c:pt>
                <c:pt idx="58">
                  <c:v>2016</c:v>
                </c:pt>
                <c:pt idx="59">
                  <c:v>2016</c:v>
                </c:pt>
                <c:pt idx="60">
                  <c:v>2017</c:v>
                </c:pt>
                <c:pt idx="61">
                  <c:v>2017</c:v>
                </c:pt>
                <c:pt idx="62">
                  <c:v>2017</c:v>
                </c:pt>
                <c:pt idx="63">
                  <c:v>2017</c:v>
                </c:pt>
                <c:pt idx="64">
                  <c:v>2017</c:v>
                </c:pt>
                <c:pt idx="65">
                  <c:v>2017</c:v>
                </c:pt>
                <c:pt idx="66">
                  <c:v>2017</c:v>
                </c:pt>
                <c:pt idx="67">
                  <c:v>2017</c:v>
                </c:pt>
                <c:pt idx="68">
                  <c:v>2017</c:v>
                </c:pt>
                <c:pt idx="69">
                  <c:v>2017</c:v>
                </c:pt>
                <c:pt idx="70">
                  <c:v>2017</c:v>
                </c:pt>
                <c:pt idx="71">
                  <c:v>2017</c:v>
                </c:pt>
                <c:pt idx="72">
                  <c:v>2018</c:v>
                </c:pt>
                <c:pt idx="73">
                  <c:v>2018</c:v>
                </c:pt>
                <c:pt idx="74">
                  <c:v>2018</c:v>
                </c:pt>
                <c:pt idx="75">
                  <c:v>2018</c:v>
                </c:pt>
                <c:pt idx="76">
                  <c:v>2018</c:v>
                </c:pt>
                <c:pt idx="77">
                  <c:v>2018</c:v>
                </c:pt>
                <c:pt idx="78">
                  <c:v>2018</c:v>
                </c:pt>
                <c:pt idx="79">
                  <c:v>2018</c:v>
                </c:pt>
                <c:pt idx="80">
                  <c:v>2018</c:v>
                </c:pt>
                <c:pt idx="81">
                  <c:v>2018</c:v>
                </c:pt>
                <c:pt idx="82">
                  <c:v>2018</c:v>
                </c:pt>
                <c:pt idx="83">
                  <c:v>2018</c:v>
                </c:pt>
                <c:pt idx="84">
                  <c:v>2019</c:v>
                </c:pt>
                <c:pt idx="85">
                  <c:v>2019</c:v>
                </c:pt>
                <c:pt idx="86">
                  <c:v>2019</c:v>
                </c:pt>
                <c:pt idx="87">
                  <c:v>2019</c:v>
                </c:pt>
                <c:pt idx="88">
                  <c:v>2019</c:v>
                </c:pt>
                <c:pt idx="89">
                  <c:v>2019</c:v>
                </c:pt>
                <c:pt idx="90">
                  <c:v>2019</c:v>
                </c:pt>
                <c:pt idx="91">
                  <c:v>2019</c:v>
                </c:pt>
                <c:pt idx="92">
                  <c:v>2019</c:v>
                </c:pt>
                <c:pt idx="93">
                  <c:v>2019</c:v>
                </c:pt>
                <c:pt idx="94">
                  <c:v>2019</c:v>
                </c:pt>
                <c:pt idx="95">
                  <c:v>2019</c:v>
                </c:pt>
                <c:pt idx="96">
                  <c:v>2020</c:v>
                </c:pt>
                <c:pt idx="97">
                  <c:v>2020</c:v>
                </c:pt>
                <c:pt idx="98">
                  <c:v>2020</c:v>
                </c:pt>
                <c:pt idx="99">
                  <c:v>2020</c:v>
                </c:pt>
                <c:pt idx="100">
                  <c:v>2020</c:v>
                </c:pt>
                <c:pt idx="101">
                  <c:v>2020</c:v>
                </c:pt>
                <c:pt idx="102">
                  <c:v>2020</c:v>
                </c:pt>
                <c:pt idx="103">
                  <c:v>2020</c:v>
                </c:pt>
                <c:pt idx="104">
                  <c:v>2020</c:v>
                </c:pt>
                <c:pt idx="105">
                  <c:v>2020</c:v>
                </c:pt>
                <c:pt idx="106">
                  <c:v>2020</c:v>
                </c:pt>
                <c:pt idx="107">
                  <c:v>2020</c:v>
                </c:pt>
                <c:pt idx="108">
                  <c:v>2021</c:v>
                </c:pt>
                <c:pt idx="109">
                  <c:v>2021</c:v>
                </c:pt>
                <c:pt idx="110">
                  <c:v>2021</c:v>
                </c:pt>
                <c:pt idx="111">
                  <c:v>2021</c:v>
                </c:pt>
                <c:pt idx="112">
                  <c:v>2021</c:v>
                </c:pt>
                <c:pt idx="113">
                  <c:v>2021</c:v>
                </c:pt>
                <c:pt idx="114">
                  <c:v>2021</c:v>
                </c:pt>
                <c:pt idx="115">
                  <c:v>2021</c:v>
                </c:pt>
                <c:pt idx="116">
                  <c:v>2021</c:v>
                </c:pt>
                <c:pt idx="117">
                  <c:v>2021</c:v>
                </c:pt>
                <c:pt idx="118">
                  <c:v>2021</c:v>
                </c:pt>
                <c:pt idx="119">
                  <c:v>2021</c:v>
                </c:pt>
                <c:pt idx="120">
                  <c:v>2022</c:v>
                </c:pt>
                <c:pt idx="121">
                  <c:v>2022</c:v>
                </c:pt>
                <c:pt idx="122">
                  <c:v>2022</c:v>
                </c:pt>
                <c:pt idx="123">
                  <c:v>2022</c:v>
                </c:pt>
                <c:pt idx="124">
                  <c:v>2022</c:v>
                </c:pt>
                <c:pt idx="125">
                  <c:v>2022</c:v>
                </c:pt>
                <c:pt idx="126">
                  <c:v>2022</c:v>
                </c:pt>
                <c:pt idx="127">
                  <c:v>2022</c:v>
                </c:pt>
                <c:pt idx="128">
                  <c:v>2022</c:v>
                </c:pt>
                <c:pt idx="129">
                  <c:v>2022</c:v>
                </c:pt>
                <c:pt idx="130">
                  <c:v>2022</c:v>
                </c:pt>
                <c:pt idx="131">
                  <c:v>2022</c:v>
                </c:pt>
                <c:pt idx="132">
                  <c:v>2023</c:v>
                </c:pt>
                <c:pt idx="133">
                  <c:v>2023</c:v>
                </c:pt>
                <c:pt idx="134">
                  <c:v>2023</c:v>
                </c:pt>
                <c:pt idx="135">
                  <c:v>2023</c:v>
                </c:pt>
                <c:pt idx="136">
                  <c:v>2023</c:v>
                </c:pt>
                <c:pt idx="137">
                  <c:v>2023</c:v>
                </c:pt>
                <c:pt idx="138">
                  <c:v>2023</c:v>
                </c:pt>
                <c:pt idx="139">
                  <c:v>2023</c:v>
                </c:pt>
                <c:pt idx="140">
                  <c:v>2023</c:v>
                </c:pt>
                <c:pt idx="141">
                  <c:v>2023</c:v>
                </c:pt>
                <c:pt idx="142">
                  <c:v>2023</c:v>
                </c:pt>
                <c:pt idx="143">
                  <c:v>2023</c:v>
                </c:pt>
                <c:pt idx="144">
                  <c:v>2024</c:v>
                </c:pt>
                <c:pt idx="145">
                  <c:v>2024</c:v>
                </c:pt>
                <c:pt idx="146">
                  <c:v>2024</c:v>
                </c:pt>
                <c:pt idx="147">
                  <c:v>2024</c:v>
                </c:pt>
                <c:pt idx="148">
                  <c:v>2024</c:v>
                </c:pt>
                <c:pt idx="149">
                  <c:v>2024</c:v>
                </c:pt>
                <c:pt idx="150">
                  <c:v>2024</c:v>
                </c:pt>
                <c:pt idx="151">
                  <c:v>2024</c:v>
                </c:pt>
                <c:pt idx="152">
                  <c:v>2024</c:v>
                </c:pt>
                <c:pt idx="153">
                  <c:v>2024</c:v>
                </c:pt>
                <c:pt idx="154">
                  <c:v>2024</c:v>
                </c:pt>
                <c:pt idx="155">
                  <c:v>2024</c:v>
                </c:pt>
                <c:pt idx="156">
                  <c:v>2025</c:v>
                </c:pt>
                <c:pt idx="157">
                  <c:v>2025</c:v>
                </c:pt>
                <c:pt idx="158">
                  <c:v>2025</c:v>
                </c:pt>
                <c:pt idx="159">
                  <c:v>2025</c:v>
                </c:pt>
                <c:pt idx="160">
                  <c:v>2025</c:v>
                </c:pt>
                <c:pt idx="161">
                  <c:v>2025</c:v>
                </c:pt>
                <c:pt idx="162">
                  <c:v>2025</c:v>
                </c:pt>
                <c:pt idx="163">
                  <c:v>2025</c:v>
                </c:pt>
                <c:pt idx="164">
                  <c:v>2025</c:v>
                </c:pt>
                <c:pt idx="165">
                  <c:v>2025</c:v>
                </c:pt>
                <c:pt idx="166">
                  <c:v>2025</c:v>
                </c:pt>
                <c:pt idx="167">
                  <c:v>2025</c:v>
                </c:pt>
                <c:pt idx="168">
                  <c:v>2026</c:v>
                </c:pt>
                <c:pt idx="169">
                  <c:v>2026</c:v>
                </c:pt>
                <c:pt idx="170">
                  <c:v>2026</c:v>
                </c:pt>
                <c:pt idx="171">
                  <c:v>2026</c:v>
                </c:pt>
                <c:pt idx="172">
                  <c:v>2026</c:v>
                </c:pt>
                <c:pt idx="173">
                  <c:v>2026</c:v>
                </c:pt>
                <c:pt idx="174">
                  <c:v>2026</c:v>
                </c:pt>
                <c:pt idx="175">
                  <c:v>2026</c:v>
                </c:pt>
              </c:strCache>
            </c:strRef>
          </c:cat>
          <c:val>
            <c:numRef>
              <c:f>Sheet1!$B$2:$B$177</c:f>
              <c:numCache>
                <c:formatCode>General</c:formatCode>
                <c:ptCount val="176"/>
                <c:pt idx="0">
                  <c:v>0.5991779300650477</c:v>
                </c:pt>
                <c:pt idx="1">
                  <c:v>0.6151343936028685</c:v>
                </c:pt>
                <c:pt idx="2">
                  <c:v>0.6129044686682454</c:v>
                </c:pt>
                <c:pt idx="3">
                  <c:v>0.593746347976135</c:v>
                </c:pt>
                <c:pt idx="4">
                  <c:v>0.5863613177003976</c:v>
                </c:pt>
                <c:pt idx="5">
                  <c:v>0.6184498025515521</c:v>
                </c:pt>
                <c:pt idx="6">
                  <c:v>0.5997179993126192</c:v>
                </c:pt>
                <c:pt idx="7">
                  <c:v>0.6023025911674792</c:v>
                </c:pt>
                <c:pt idx="8">
                  <c:v>0.599103938794316</c:v>
                </c:pt>
                <c:pt idx="9">
                  <c:v>0.5957098530744347</c:v>
                </c:pt>
                <c:pt idx="10">
                  <c:v>0.5978985679817833</c:v>
                </c:pt>
                <c:pt idx="11">
                  <c:v>0.6054158441497531</c:v>
                </c:pt>
                <c:pt idx="12">
                  <c:v>0.6048665723184684</c:v>
                </c:pt>
                <c:pt idx="13">
                  <c:v>0.6038545867407685</c:v>
                </c:pt>
                <c:pt idx="14">
                  <c:v>0.6055277256931597</c:v>
                </c:pt>
                <c:pt idx="15">
                  <c:v>0.614356091576893</c:v>
                </c:pt>
                <c:pt idx="16">
                  <c:v>0.6189392761439411</c:v>
                </c:pt>
                <c:pt idx="17">
                  <c:v>0.6138222402958144</c:v>
                </c:pt>
                <c:pt idx="18">
                  <c:v>0.6057461406697184</c:v>
                </c:pt>
                <c:pt idx="19">
                  <c:v>0.586402911787874</c:v>
                </c:pt>
                <c:pt idx="20">
                  <c:v>0.608185638776432</c:v>
                </c:pt>
                <c:pt idx="21">
                  <c:v>0.6048901841044184</c:v>
                </c:pt>
                <c:pt idx="22">
                  <c:v>0.61368625726888</c:v>
                </c:pt>
                <c:pt idx="23">
                  <c:v>0.6106647949709161</c:v>
                </c:pt>
                <c:pt idx="24">
                  <c:v>0.5901840319532399</c:v>
                </c:pt>
                <c:pt idx="25">
                  <c:v>0.6085443800770947</c:v>
                </c:pt>
                <c:pt idx="26">
                  <c:v>0.6069581092365229</c:v>
                </c:pt>
                <c:pt idx="27">
                  <c:v>0.5956253002082187</c:v>
                </c:pt>
                <c:pt idx="28">
                  <c:v>0.6090491120374688</c:v>
                </c:pt>
                <c:pt idx="29">
                  <c:v>0.59764346617045</c:v>
                </c:pt>
                <c:pt idx="30">
                  <c:v>0.6013393729466519</c:v>
                </c:pt>
                <c:pt idx="31">
                  <c:v>0.6102396308154029</c:v>
                </c:pt>
                <c:pt idx="32">
                  <c:v>0.6038171015228361</c:v>
                </c:pt>
                <c:pt idx="33">
                  <c:v>0.612840726564444</c:v>
                </c:pt>
                <c:pt idx="34">
                  <c:v>0.6070339445697549</c:v>
                </c:pt>
                <c:pt idx="35">
                  <c:v>0.6018368369616407</c:v>
                </c:pt>
                <c:pt idx="36">
                  <c:v>0.580173743961871</c:v>
                </c:pt>
                <c:pt idx="37">
                  <c:v>0.6146448591854449</c:v>
                </c:pt>
                <c:pt idx="38">
                  <c:v>0.5990884328739767</c:v>
                </c:pt>
                <c:pt idx="39">
                  <c:v>0.6080418055385395</c:v>
                </c:pt>
                <c:pt idx="40">
                  <c:v>0.6015680265001607</c:v>
                </c:pt>
                <c:pt idx="41">
                  <c:v>0.5970442615448265</c:v>
                </c:pt>
                <c:pt idx="42">
                  <c:v>0.6112296058478416</c:v>
                </c:pt>
                <c:pt idx="43">
                  <c:v>0.5819227149021853</c:v>
                </c:pt>
                <c:pt idx="44">
                  <c:v>0.5849611459792283</c:v>
                </c:pt>
                <c:pt idx="45">
                  <c:v>0.613808269187725</c:v>
                </c:pt>
                <c:pt idx="46">
                  <c:v>0.612954888982295</c:v>
                </c:pt>
                <c:pt idx="47">
                  <c:v>0.5957861224691555</c:v>
                </c:pt>
                <c:pt idx="48">
                  <c:v>0.5780049357464547</c:v>
                </c:pt>
                <c:pt idx="49">
                  <c:v>0.5687483552390533</c:v>
                </c:pt>
                <c:pt idx="50">
                  <c:v>0.5913323967247197</c:v>
                </c:pt>
                <c:pt idx="51">
                  <c:v>0.5823669708467976</c:v>
                </c:pt>
                <c:pt idx="52">
                  <c:v>0.6004122667389522</c:v>
                </c:pt>
                <c:pt idx="53">
                  <c:v>0.583086082906255</c:v>
                </c:pt>
                <c:pt idx="54">
                  <c:v>0.598746020837542</c:v>
                </c:pt>
                <c:pt idx="55">
                  <c:v>0.6035929116399533</c:v>
                </c:pt>
                <c:pt idx="56">
                  <c:v>0.6019029749143554</c:v>
                </c:pt>
                <c:pt idx="57">
                  <c:v>0.6014049890040108</c:v>
                </c:pt>
                <c:pt idx="58">
                  <c:v>0.6227913691805387</c:v>
                </c:pt>
                <c:pt idx="59">
                  <c:v>0.60803152221133</c:v>
                </c:pt>
                <c:pt idx="60">
                  <c:v>0.601703366601239</c:v>
                </c:pt>
                <c:pt idx="61">
                  <c:v>0.605532204304496</c:v>
                </c:pt>
                <c:pt idx="62">
                  <c:v>0.6018276355045538</c:v>
                </c:pt>
                <c:pt idx="63">
                  <c:v>0.6031055616007786</c:v>
                </c:pt>
                <c:pt idx="64">
                  <c:v>0.6052479674642728</c:v>
                </c:pt>
                <c:pt idx="65">
                  <c:v>0.6028137639519776</c:v>
                </c:pt>
                <c:pt idx="66">
                  <c:v>0.6036048708695317</c:v>
                </c:pt>
                <c:pt idx="67">
                  <c:v>0.5972521492330098</c:v>
                </c:pt>
                <c:pt idx="68">
                  <c:v>0.6057934760291555</c:v>
                </c:pt>
                <c:pt idx="69">
                  <c:v>0.6102834219404564</c:v>
                </c:pt>
                <c:pt idx="70">
                  <c:v>0.6096861573551421</c:v>
                </c:pt>
                <c:pt idx="71">
                  <c:v>0.6011234872553579</c:v>
                </c:pt>
                <c:pt idx="72">
                  <c:v>0.6134404901129044</c:v>
                </c:pt>
                <c:pt idx="73">
                  <c:v>0.60523824303343</c:v>
                </c:pt>
                <c:pt idx="74">
                  <c:v>0.5949374852437683</c:v>
                </c:pt>
                <c:pt idx="75">
                  <c:v>0.6029067335648625</c:v>
                </c:pt>
                <c:pt idx="76">
                  <c:v>0.6090253263428876</c:v>
                </c:pt>
                <c:pt idx="77">
                  <c:v>0.6104367232678897</c:v>
                </c:pt>
                <c:pt idx="78">
                  <c:v>0.6167495300523457</c:v>
                </c:pt>
                <c:pt idx="79">
                  <c:v>0.6228176690101885</c:v>
                </c:pt>
                <c:pt idx="80">
                  <c:v>0.6198947175291005</c:v>
                </c:pt>
                <c:pt idx="81">
                  <c:v>0.5929933786861483</c:v>
                </c:pt>
                <c:pt idx="82">
                  <c:v>0.5958816494336288</c:v>
                </c:pt>
                <c:pt idx="83">
                  <c:v>0.56604023400629</c:v>
                </c:pt>
                <c:pt idx="84">
                  <c:v>0.5856182269687003</c:v>
                </c:pt>
                <c:pt idx="85">
                  <c:v>0.5979597522506246</c:v>
                </c:pt>
                <c:pt idx="86">
                  <c:v>0.6015192722506059</c:v>
                </c:pt>
                <c:pt idx="87">
                  <c:v>0.6111088878302086</c:v>
                </c:pt>
                <c:pt idx="88">
                  <c:v>0.5831882129787387</c:v>
                </c:pt>
                <c:pt idx="89">
                  <c:v>0.5927617934062438</c:v>
                </c:pt>
                <c:pt idx="90">
                  <c:v>0.5976382239283003</c:v>
                </c:pt>
                <c:pt idx="91">
                  <c:v>0.5811737916668194</c:v>
                </c:pt>
                <c:pt idx="92">
                  <c:v>0.5933909832624831</c:v>
                </c:pt>
                <c:pt idx="93">
                  <c:v>0.6002066609366709</c:v>
                </c:pt>
                <c:pt idx="94">
                  <c:v>0.6114679012129487</c:v>
                </c:pt>
                <c:pt idx="95">
                  <c:v>0.6065208248985303</c:v>
                </c:pt>
                <c:pt idx="96">
                  <c:v>0.5971241304505349</c:v>
                </c:pt>
                <c:pt idx="97">
                  <c:v>0.5775102189906489</c:v>
                </c:pt>
                <c:pt idx="98">
                  <c:v>0.5504007051639846</c:v>
                </c:pt>
                <c:pt idx="99">
                  <c:v>0.576743899591827</c:v>
                </c:pt>
                <c:pt idx="100">
                  <c:v>0.5894601124790184</c:v>
                </c:pt>
                <c:pt idx="101">
                  <c:v>0.5982510837656232</c:v>
                </c:pt>
                <c:pt idx="102">
                  <c:v>0.600541140546926</c:v>
                </c:pt>
                <c:pt idx="103">
                  <c:v>0.622167807952554</c:v>
                </c:pt>
                <c:pt idx="104">
                  <c:v>0.6137521876496569</c:v>
                </c:pt>
                <c:pt idx="105">
                  <c:v>0.6082365294716758</c:v>
                </c:pt>
                <c:pt idx="106">
                  <c:v>0.6383078796373748</c:v>
                </c:pt>
                <c:pt idx="107">
                  <c:v>0.6012319508069917</c:v>
                </c:pt>
                <c:pt idx="108">
                  <c:v>0.6056072949632191</c:v>
                </c:pt>
                <c:pt idx="109">
                  <c:v>0.6166258738938216</c:v>
                </c:pt>
                <c:pt idx="110">
                  <c:v>0.6250828355854741</c:v>
                </c:pt>
                <c:pt idx="111">
                  <c:v>0.6295674106143683</c:v>
                </c:pt>
                <c:pt idx="112">
                  <c:v>0.6167057192706469</c:v>
                </c:pt>
                <c:pt idx="113">
                  <c:v>0.6314817799626371</c:v>
                </c:pt>
                <c:pt idx="114">
                  <c:v>0.6295675696277846</c:v>
                </c:pt>
                <c:pt idx="115">
                  <c:v>0.6356185729315947</c:v>
                </c:pt>
                <c:pt idx="116">
                  <c:v>0.626231728234154</c:v>
                </c:pt>
                <c:pt idx="117">
                  <c:v>0.6390162791409357</c:v>
                </c:pt>
                <c:pt idx="118">
                  <c:v>0.637273987119346</c:v>
                </c:pt>
                <c:pt idx="119">
                  <c:v>0.6075988125656805</c:v>
                </c:pt>
                <c:pt idx="120">
                  <c:v>0.5923203023585103</c:v>
                </c:pt>
                <c:pt idx="121">
                  <c:v>0.5774766793258828</c:v>
                </c:pt>
                <c:pt idx="122">
                  <c:v>0.5923818617657897</c:v>
                </c:pt>
                <c:pt idx="123">
                  <c:v>0.5708351164389127</c:v>
                </c:pt>
                <c:pt idx="124">
                  <c:v>0.5740798931932136</c:v>
                </c:pt>
                <c:pt idx="125">
                  <c:v>0.5570204200784535</c:v>
                </c:pt>
                <c:pt idx="126">
                  <c:v>0.5841410868347054</c:v>
                </c:pt>
                <c:pt idx="127">
                  <c:v>0.5829343094586262</c:v>
                </c:pt>
                <c:pt idx="128">
                  <c:v>0.5688862657390864</c:v>
                </c:pt>
                <c:pt idx="129">
                  <c:v>0.5894030335512062</c:v>
                </c:pt>
                <c:pt idx="130">
                  <c:v>0.5894154381446808</c:v>
                </c:pt>
                <c:pt idx="131">
                  <c:v>0.5831969516555079</c:v>
                </c:pt>
                <c:pt idx="132">
                  <c:v>0.5936675767886728</c:v>
                </c:pt>
                <c:pt idx="133">
                  <c:v>0.6009461250865771</c:v>
                </c:pt>
                <c:pt idx="134">
                  <c:v>0.6022311268605886</c:v>
                </c:pt>
                <c:pt idx="135">
                  <c:v>0.6027048348811442</c:v>
                </c:pt>
                <c:pt idx="136">
                  <c:v>0.6153503581388693</c:v>
                </c:pt>
                <c:pt idx="137">
                  <c:v>0.6330819601538047</c:v>
                </c:pt>
                <c:pt idx="138">
                  <c:v>0.6370692181806465</c:v>
                </c:pt>
                <c:pt idx="139">
                  <c:v>0.6334246129257146</c:v>
                </c:pt>
                <c:pt idx="140">
                  <c:v>0.6288810389252318</c:v>
                </c:pt>
                <c:pt idx="141">
                  <c:v>0.6153903373323858</c:v>
                </c:pt>
                <c:pt idx="142">
                  <c:v>0.6287420513907671</c:v>
                </c:pt>
                <c:pt idx="143">
                  <c:v>0.6079874603539555</c:v>
                </c:pt>
                <c:pt idx="144">
                  <c:v>0.6114662827523254</c:v>
                </c:pt>
                <c:pt idx="145">
                  <c:v>0.6234214921099737</c:v>
                </c:pt>
                <c:pt idx="146">
                  <c:v>0.615789774848921</c:v>
                </c:pt>
                <c:pt idx="147">
                  <c:v>0.6034956859713378</c:v>
                </c:pt>
                <c:pt idx="148">
                  <c:v>0.6109783931791605</c:v>
                </c:pt>
                <c:pt idx="149">
                  <c:v>0.6193905365413744</c:v>
                </c:pt>
                <c:pt idx="150">
                  <c:v>0.607160559517192</c:v>
                </c:pt>
                <c:pt idx="151">
                  <c:v>0.6055052834351031</c:v>
                </c:pt>
                <c:pt idx="152">
                  <c:v>0.6026784091088403</c:v>
                </c:pt>
                <c:pt idx="153">
                  <c:v>0.598056281809777</c:v>
                </c:pt>
                <c:pt idx="154">
                  <c:v>0.6125874627678829</c:v>
                </c:pt>
                <c:pt idx="155">
                  <c:v>0.5994879184174997</c:v>
                </c:pt>
                <c:pt idx="156">
                  <c:v>0.5967491468572478</c:v>
                </c:pt>
                <c:pt idx="157">
                  <c:v>0.5863606213983373</c:v>
                </c:pt>
                <c:pt idx="158">
                  <c:v>0.5588929620274283</c:v>
                </c:pt>
                <c:pt idx="159">
                  <c:v>0.5524833778887218</c:v>
                </c:pt>
                <c:pt idx="160">
                  <c:v>0.5734626692222488</c:v>
                </c:pt>
                <c:pt idx="161">
                  <c:v>0.5852477699930939</c:v>
                </c:pt>
                <c:pt idx="162">
                  <c:v>0.5924125038583603</c:v>
                </c:pt>
                <c:pt idx="163">
                  <c:v>0.5877986344101322</c:v>
                </c:pt>
                <c:pt idx="164">
                  <c:v>0.5824442516695485</c:v>
                </c:pt>
                <c:pt idx="165">
                  <c:v>0.585099448540382</c:v>
                </c:pt>
                <c:pt idx="166">
                  <c:v>0.5744865083473013</c:v>
                </c:pt>
                <c:pt idx="167">
                  <c:v>0.5985003682095636</c:v>
                </c:pt>
                <c:pt idx="168">
                  <c:v>0.5876322157642943</c:v>
                </c:pt>
                <c:pt idx="169">
                  <c:v>0.569740507763046</c:v>
                </c:pt>
                <c:pt idx="170">
                  <c:v>0.5759880188265173</c:v>
                </c:pt>
                <c:pt idx="171">
                  <c:v>0.6086748782296174</c:v>
                </c:pt>
                <c:pt idx="172">
                  <c:v>0.6275464401747399</c:v>
                </c:pt>
                <c:pt idx="173">
                  <c:v>0.6390176329992125</c:v>
                </c:pt>
                <c:pt idx="174">
                  <c:v>0.6304012111070917</c:v>
                </c:pt>
                <c:pt idx="175">
                  <c:v>0.6258223349637004</c:v>
                </c:pt>
              </c:numCache>
            </c:numRef>
          </c:val>
          <c:smooth val="0"/>
        </c:ser>
        <c:ser>
          <c:idx val="1"/>
          <c:order val="1"/>
          <c:tx>
            <c:strRef>
              <c:f>Sheet1!$C$1</c:f>
              <c:strCache>
                <c:ptCount val="1"/>
                <c:pt idx="0">
                  <c:v>사기만</c:v>
                </c:pt>
              </c:strCache>
            </c:strRef>
          </c:tx>
          <c:spPr>
            <a:ln w="22225">
              <a:solidFill>
                <a:srgbClr val="E07A1F"/>
              </a:solidFill>
              <a:prstDash val="dash"/>
            </a:ln>
          </c:spPr>
          <c:marker>
            <c:symbol val="none"/>
          </c:marker>
          <c:cat>
            <c:strRef>
              <c:f>Sheet1!$A$2:$A$177</c:f>
              <c:strCache>
                <c:ptCount val="176"/>
                <c:pt idx="0">
                  <c:v>2012</c:v>
                </c:pt>
                <c:pt idx="1">
                  <c:v>2012</c:v>
                </c:pt>
                <c:pt idx="2">
                  <c:v>2012</c:v>
                </c:pt>
                <c:pt idx="3">
                  <c:v>2012</c:v>
                </c:pt>
                <c:pt idx="4">
                  <c:v>2012</c:v>
                </c:pt>
                <c:pt idx="5">
                  <c:v>2012</c:v>
                </c:pt>
                <c:pt idx="6">
                  <c:v>2012</c:v>
                </c:pt>
                <c:pt idx="7">
                  <c:v>2012</c:v>
                </c:pt>
                <c:pt idx="8">
                  <c:v>2012</c:v>
                </c:pt>
                <c:pt idx="9">
                  <c:v>2012</c:v>
                </c:pt>
                <c:pt idx="10">
                  <c:v>2012</c:v>
                </c:pt>
                <c:pt idx="11">
                  <c:v>2012</c:v>
                </c:pt>
                <c:pt idx="12">
                  <c:v>2013</c:v>
                </c:pt>
                <c:pt idx="13">
                  <c:v>2013</c:v>
                </c:pt>
                <c:pt idx="14">
                  <c:v>2013</c:v>
                </c:pt>
                <c:pt idx="15">
                  <c:v>2013</c:v>
                </c:pt>
                <c:pt idx="16">
                  <c:v>2013</c:v>
                </c:pt>
                <c:pt idx="17">
                  <c:v>2013</c:v>
                </c:pt>
                <c:pt idx="18">
                  <c:v>2013</c:v>
                </c:pt>
                <c:pt idx="19">
                  <c:v>2013</c:v>
                </c:pt>
                <c:pt idx="20">
                  <c:v>2013</c:v>
                </c:pt>
                <c:pt idx="21">
                  <c:v>2013</c:v>
                </c:pt>
                <c:pt idx="22">
                  <c:v>2013</c:v>
                </c:pt>
                <c:pt idx="23">
                  <c:v>2013</c:v>
                </c:pt>
                <c:pt idx="24">
                  <c:v>2014</c:v>
                </c:pt>
                <c:pt idx="25">
                  <c:v>2014</c:v>
                </c:pt>
                <c:pt idx="26">
                  <c:v>2014</c:v>
                </c:pt>
                <c:pt idx="27">
                  <c:v>2014</c:v>
                </c:pt>
                <c:pt idx="28">
                  <c:v>2014</c:v>
                </c:pt>
                <c:pt idx="29">
                  <c:v>2014</c:v>
                </c:pt>
                <c:pt idx="30">
                  <c:v>2014</c:v>
                </c:pt>
                <c:pt idx="31">
                  <c:v>2014</c:v>
                </c:pt>
                <c:pt idx="32">
                  <c:v>2014</c:v>
                </c:pt>
                <c:pt idx="33">
                  <c:v>2014</c:v>
                </c:pt>
                <c:pt idx="34">
                  <c:v>2014</c:v>
                </c:pt>
                <c:pt idx="35">
                  <c:v>2014</c:v>
                </c:pt>
                <c:pt idx="36">
                  <c:v>2015</c:v>
                </c:pt>
                <c:pt idx="37">
                  <c:v>2015</c:v>
                </c:pt>
                <c:pt idx="38">
                  <c:v>2015</c:v>
                </c:pt>
                <c:pt idx="39">
                  <c:v>2015</c:v>
                </c:pt>
                <c:pt idx="40">
                  <c:v>2015</c:v>
                </c:pt>
                <c:pt idx="41">
                  <c:v>2015</c:v>
                </c:pt>
                <c:pt idx="42">
                  <c:v>2015</c:v>
                </c:pt>
                <c:pt idx="43">
                  <c:v>2015</c:v>
                </c:pt>
                <c:pt idx="44">
                  <c:v>2015</c:v>
                </c:pt>
                <c:pt idx="45">
                  <c:v>2015</c:v>
                </c:pt>
                <c:pt idx="46">
                  <c:v>2015</c:v>
                </c:pt>
                <c:pt idx="47">
                  <c:v>2015</c:v>
                </c:pt>
                <c:pt idx="48">
                  <c:v>2016</c:v>
                </c:pt>
                <c:pt idx="49">
                  <c:v>2016</c:v>
                </c:pt>
                <c:pt idx="50">
                  <c:v>2016</c:v>
                </c:pt>
                <c:pt idx="51">
                  <c:v>2016</c:v>
                </c:pt>
                <c:pt idx="52">
                  <c:v>2016</c:v>
                </c:pt>
                <c:pt idx="53">
                  <c:v>2016</c:v>
                </c:pt>
                <c:pt idx="54">
                  <c:v>2016</c:v>
                </c:pt>
                <c:pt idx="55">
                  <c:v>2016</c:v>
                </c:pt>
                <c:pt idx="56">
                  <c:v>2016</c:v>
                </c:pt>
                <c:pt idx="57">
                  <c:v>2016</c:v>
                </c:pt>
                <c:pt idx="58">
                  <c:v>2016</c:v>
                </c:pt>
                <c:pt idx="59">
                  <c:v>2016</c:v>
                </c:pt>
                <c:pt idx="60">
                  <c:v>2017</c:v>
                </c:pt>
                <c:pt idx="61">
                  <c:v>2017</c:v>
                </c:pt>
                <c:pt idx="62">
                  <c:v>2017</c:v>
                </c:pt>
                <c:pt idx="63">
                  <c:v>2017</c:v>
                </c:pt>
                <c:pt idx="64">
                  <c:v>2017</c:v>
                </c:pt>
                <c:pt idx="65">
                  <c:v>2017</c:v>
                </c:pt>
                <c:pt idx="66">
                  <c:v>2017</c:v>
                </c:pt>
                <c:pt idx="67">
                  <c:v>2017</c:v>
                </c:pt>
                <c:pt idx="68">
                  <c:v>2017</c:v>
                </c:pt>
                <c:pt idx="69">
                  <c:v>2017</c:v>
                </c:pt>
                <c:pt idx="70">
                  <c:v>2017</c:v>
                </c:pt>
                <c:pt idx="71">
                  <c:v>2017</c:v>
                </c:pt>
                <c:pt idx="72">
                  <c:v>2018</c:v>
                </c:pt>
                <c:pt idx="73">
                  <c:v>2018</c:v>
                </c:pt>
                <c:pt idx="74">
                  <c:v>2018</c:v>
                </c:pt>
                <c:pt idx="75">
                  <c:v>2018</c:v>
                </c:pt>
                <c:pt idx="76">
                  <c:v>2018</c:v>
                </c:pt>
                <c:pt idx="77">
                  <c:v>2018</c:v>
                </c:pt>
                <c:pt idx="78">
                  <c:v>2018</c:v>
                </c:pt>
                <c:pt idx="79">
                  <c:v>2018</c:v>
                </c:pt>
                <c:pt idx="80">
                  <c:v>2018</c:v>
                </c:pt>
                <c:pt idx="81">
                  <c:v>2018</c:v>
                </c:pt>
                <c:pt idx="82">
                  <c:v>2018</c:v>
                </c:pt>
                <c:pt idx="83">
                  <c:v>2018</c:v>
                </c:pt>
                <c:pt idx="84">
                  <c:v>2019</c:v>
                </c:pt>
                <c:pt idx="85">
                  <c:v>2019</c:v>
                </c:pt>
                <c:pt idx="86">
                  <c:v>2019</c:v>
                </c:pt>
                <c:pt idx="87">
                  <c:v>2019</c:v>
                </c:pt>
                <c:pt idx="88">
                  <c:v>2019</c:v>
                </c:pt>
                <c:pt idx="89">
                  <c:v>2019</c:v>
                </c:pt>
                <c:pt idx="90">
                  <c:v>2019</c:v>
                </c:pt>
                <c:pt idx="91">
                  <c:v>2019</c:v>
                </c:pt>
                <c:pt idx="92">
                  <c:v>2019</c:v>
                </c:pt>
                <c:pt idx="93">
                  <c:v>2019</c:v>
                </c:pt>
                <c:pt idx="94">
                  <c:v>2019</c:v>
                </c:pt>
                <c:pt idx="95">
                  <c:v>2019</c:v>
                </c:pt>
                <c:pt idx="96">
                  <c:v>2020</c:v>
                </c:pt>
                <c:pt idx="97">
                  <c:v>2020</c:v>
                </c:pt>
                <c:pt idx="98">
                  <c:v>2020</c:v>
                </c:pt>
                <c:pt idx="99">
                  <c:v>2020</c:v>
                </c:pt>
                <c:pt idx="100">
                  <c:v>2020</c:v>
                </c:pt>
                <c:pt idx="101">
                  <c:v>2020</c:v>
                </c:pt>
                <c:pt idx="102">
                  <c:v>2020</c:v>
                </c:pt>
                <c:pt idx="103">
                  <c:v>2020</c:v>
                </c:pt>
                <c:pt idx="104">
                  <c:v>2020</c:v>
                </c:pt>
                <c:pt idx="105">
                  <c:v>2020</c:v>
                </c:pt>
                <c:pt idx="106">
                  <c:v>2020</c:v>
                </c:pt>
                <c:pt idx="107">
                  <c:v>2020</c:v>
                </c:pt>
                <c:pt idx="108">
                  <c:v>2021</c:v>
                </c:pt>
                <c:pt idx="109">
                  <c:v>2021</c:v>
                </c:pt>
                <c:pt idx="110">
                  <c:v>2021</c:v>
                </c:pt>
                <c:pt idx="111">
                  <c:v>2021</c:v>
                </c:pt>
                <c:pt idx="112">
                  <c:v>2021</c:v>
                </c:pt>
                <c:pt idx="113">
                  <c:v>2021</c:v>
                </c:pt>
                <c:pt idx="114">
                  <c:v>2021</c:v>
                </c:pt>
                <c:pt idx="115">
                  <c:v>2021</c:v>
                </c:pt>
                <c:pt idx="116">
                  <c:v>2021</c:v>
                </c:pt>
                <c:pt idx="117">
                  <c:v>2021</c:v>
                </c:pt>
                <c:pt idx="118">
                  <c:v>2021</c:v>
                </c:pt>
                <c:pt idx="119">
                  <c:v>2021</c:v>
                </c:pt>
                <c:pt idx="120">
                  <c:v>2022</c:v>
                </c:pt>
                <c:pt idx="121">
                  <c:v>2022</c:v>
                </c:pt>
                <c:pt idx="122">
                  <c:v>2022</c:v>
                </c:pt>
                <c:pt idx="123">
                  <c:v>2022</c:v>
                </c:pt>
                <c:pt idx="124">
                  <c:v>2022</c:v>
                </c:pt>
                <c:pt idx="125">
                  <c:v>2022</c:v>
                </c:pt>
                <c:pt idx="126">
                  <c:v>2022</c:v>
                </c:pt>
                <c:pt idx="127">
                  <c:v>2022</c:v>
                </c:pt>
                <c:pt idx="128">
                  <c:v>2022</c:v>
                </c:pt>
                <c:pt idx="129">
                  <c:v>2022</c:v>
                </c:pt>
                <c:pt idx="130">
                  <c:v>2022</c:v>
                </c:pt>
                <c:pt idx="131">
                  <c:v>2022</c:v>
                </c:pt>
                <c:pt idx="132">
                  <c:v>2023</c:v>
                </c:pt>
                <c:pt idx="133">
                  <c:v>2023</c:v>
                </c:pt>
                <c:pt idx="134">
                  <c:v>2023</c:v>
                </c:pt>
                <c:pt idx="135">
                  <c:v>2023</c:v>
                </c:pt>
                <c:pt idx="136">
                  <c:v>2023</c:v>
                </c:pt>
                <c:pt idx="137">
                  <c:v>2023</c:v>
                </c:pt>
                <c:pt idx="138">
                  <c:v>2023</c:v>
                </c:pt>
                <c:pt idx="139">
                  <c:v>2023</c:v>
                </c:pt>
                <c:pt idx="140">
                  <c:v>2023</c:v>
                </c:pt>
                <c:pt idx="141">
                  <c:v>2023</c:v>
                </c:pt>
                <c:pt idx="142">
                  <c:v>2023</c:v>
                </c:pt>
                <c:pt idx="143">
                  <c:v>2023</c:v>
                </c:pt>
                <c:pt idx="144">
                  <c:v>2024</c:v>
                </c:pt>
                <c:pt idx="145">
                  <c:v>2024</c:v>
                </c:pt>
                <c:pt idx="146">
                  <c:v>2024</c:v>
                </c:pt>
                <c:pt idx="147">
                  <c:v>2024</c:v>
                </c:pt>
                <c:pt idx="148">
                  <c:v>2024</c:v>
                </c:pt>
                <c:pt idx="149">
                  <c:v>2024</c:v>
                </c:pt>
                <c:pt idx="150">
                  <c:v>2024</c:v>
                </c:pt>
                <c:pt idx="151">
                  <c:v>2024</c:v>
                </c:pt>
                <c:pt idx="152">
                  <c:v>2024</c:v>
                </c:pt>
                <c:pt idx="153">
                  <c:v>2024</c:v>
                </c:pt>
                <c:pt idx="154">
                  <c:v>2024</c:v>
                </c:pt>
                <c:pt idx="155">
                  <c:v>2024</c:v>
                </c:pt>
                <c:pt idx="156">
                  <c:v>2025</c:v>
                </c:pt>
                <c:pt idx="157">
                  <c:v>2025</c:v>
                </c:pt>
                <c:pt idx="158">
                  <c:v>2025</c:v>
                </c:pt>
                <c:pt idx="159">
                  <c:v>2025</c:v>
                </c:pt>
                <c:pt idx="160">
                  <c:v>2025</c:v>
                </c:pt>
                <c:pt idx="161">
                  <c:v>2025</c:v>
                </c:pt>
                <c:pt idx="162">
                  <c:v>2025</c:v>
                </c:pt>
                <c:pt idx="163">
                  <c:v>2025</c:v>
                </c:pt>
                <c:pt idx="164">
                  <c:v>2025</c:v>
                </c:pt>
                <c:pt idx="165">
                  <c:v>2025</c:v>
                </c:pt>
                <c:pt idx="166">
                  <c:v>2025</c:v>
                </c:pt>
                <c:pt idx="167">
                  <c:v>2025</c:v>
                </c:pt>
                <c:pt idx="168">
                  <c:v>2026</c:v>
                </c:pt>
                <c:pt idx="169">
                  <c:v>2026</c:v>
                </c:pt>
                <c:pt idx="170">
                  <c:v>2026</c:v>
                </c:pt>
                <c:pt idx="171">
                  <c:v>2026</c:v>
                </c:pt>
                <c:pt idx="172">
                  <c:v>2026</c:v>
                </c:pt>
                <c:pt idx="173">
                  <c:v>2026</c:v>
                </c:pt>
                <c:pt idx="174">
                  <c:v>2026</c:v>
                </c:pt>
                <c:pt idx="175">
                  <c:v>2026</c:v>
                </c:pt>
              </c:strCache>
            </c:strRef>
          </c:cat>
          <c:val>
            <c:numRef>
              <c:f>Sheet1!$C$2:$C$177</c:f>
              <c:numCache>
                <c:formatCode>General</c:formatCode>
                <c:ptCount val="176"/>
                <c:pt idx="0">
                  <c:v>0.5991779300650477</c:v>
                </c:pt>
                <c:pt idx="1">
                  <c:v>0.6151343936028685</c:v>
                </c:pt>
                <c:pt idx="2">
                  <c:v>0.6129044686682454</c:v>
                </c:pt>
                <c:pt idx="3">
                  <c:v>0.593746347976135</c:v>
                </c:pt>
                <c:pt idx="4">
                  <c:v>0.5863613177003976</c:v>
                </c:pt>
                <c:pt idx="5">
                  <c:v>0.6184498025515521</c:v>
                </c:pt>
                <c:pt idx="6">
                  <c:v>0.5997179993126192</c:v>
                </c:pt>
                <c:pt idx="7">
                  <c:v>0.6023025911674792</c:v>
                </c:pt>
                <c:pt idx="8">
                  <c:v>0.599103938794316</c:v>
                </c:pt>
                <c:pt idx="9">
                  <c:v>0.5957098530744347</c:v>
                </c:pt>
                <c:pt idx="10">
                  <c:v>0.5978985679817833</c:v>
                </c:pt>
                <c:pt idx="11">
                  <c:v>0.605411790566549</c:v>
                </c:pt>
                <c:pt idx="12">
                  <c:v>0.6048665667439507</c:v>
                </c:pt>
                <c:pt idx="13">
                  <c:v>0.6038545867328997</c:v>
                </c:pt>
                <c:pt idx="14">
                  <c:v>0.6055277256931387</c:v>
                </c:pt>
                <c:pt idx="15">
                  <c:v>0.6143560915768863</c:v>
                </c:pt>
                <c:pt idx="16">
                  <c:v>0.6189392761439202</c:v>
                </c:pt>
                <c:pt idx="17">
                  <c:v>0.6138222402957905</c:v>
                </c:pt>
                <c:pt idx="18">
                  <c:v>0.6057461406697006</c:v>
                </c:pt>
                <c:pt idx="19">
                  <c:v>0.586402911787862</c:v>
                </c:pt>
                <c:pt idx="20">
                  <c:v>0.6081856388896925</c:v>
                </c:pt>
                <c:pt idx="21">
                  <c:v>0.6048901841045653</c:v>
                </c:pt>
                <c:pt idx="22">
                  <c:v>0.6136862572688747</c:v>
                </c:pt>
                <c:pt idx="23">
                  <c:v>0.6106884599315741</c:v>
                </c:pt>
                <c:pt idx="24">
                  <c:v>0.5901840665537291</c:v>
                </c:pt>
                <c:pt idx="25">
                  <c:v>0.6085444063654618</c:v>
                </c:pt>
                <c:pt idx="26">
                  <c:v>0.606958109274333</c:v>
                </c:pt>
                <c:pt idx="27">
                  <c:v>0.5956253002085053</c:v>
                </c:pt>
                <c:pt idx="28">
                  <c:v>0.6090491120373857</c:v>
                </c:pt>
                <c:pt idx="29">
                  <c:v>0.5976434661706563</c:v>
                </c:pt>
                <c:pt idx="30">
                  <c:v>0.601339371609794</c:v>
                </c:pt>
                <c:pt idx="31">
                  <c:v>0.6102396308134735</c:v>
                </c:pt>
                <c:pt idx="32">
                  <c:v>0.6038171044328021</c:v>
                </c:pt>
                <c:pt idx="33">
                  <c:v>0.6128407265686273</c:v>
                </c:pt>
                <c:pt idx="34">
                  <c:v>0.6070339473415067</c:v>
                </c:pt>
                <c:pt idx="35">
                  <c:v>0.6018375266748405</c:v>
                </c:pt>
                <c:pt idx="36">
                  <c:v>0.5801737448556934</c:v>
                </c:pt>
                <c:pt idx="37">
                  <c:v>0.6146448539834446</c:v>
                </c:pt>
                <c:pt idx="38">
                  <c:v>0.5990884326064758</c:v>
                </c:pt>
                <c:pt idx="39">
                  <c:v>0.6080418055381128</c:v>
                </c:pt>
                <c:pt idx="40">
                  <c:v>0.6015680279174209</c:v>
                </c:pt>
                <c:pt idx="41">
                  <c:v>0.5970442615469269</c:v>
                </c:pt>
                <c:pt idx="42">
                  <c:v>0.6112296058478445</c:v>
                </c:pt>
                <c:pt idx="43">
                  <c:v>0.5819227161434439</c:v>
                </c:pt>
                <c:pt idx="44">
                  <c:v>0.5849611453390078</c:v>
                </c:pt>
                <c:pt idx="45">
                  <c:v>0.6138082668952969</c:v>
                </c:pt>
                <c:pt idx="46">
                  <c:v>0.612954889140681</c:v>
                </c:pt>
                <c:pt idx="47">
                  <c:v>0.6009123087072087</c:v>
                </c:pt>
                <c:pt idx="48">
                  <c:v>0.5813169798193086</c:v>
                </c:pt>
                <c:pt idx="49">
                  <c:v>0.5721021583088647</c:v>
                </c:pt>
                <c:pt idx="50">
                  <c:v>0.5942491544042217</c:v>
                </c:pt>
                <c:pt idx="51">
                  <c:v>0.5844837462725992</c:v>
                </c:pt>
                <c:pt idx="52">
                  <c:v>0.6024730521383362</c:v>
                </c:pt>
                <c:pt idx="53">
                  <c:v>0.5830892377144082</c:v>
                </c:pt>
                <c:pt idx="54">
                  <c:v>0.5987516873862605</c:v>
                </c:pt>
                <c:pt idx="55">
                  <c:v>0.6035965182994314</c:v>
                </c:pt>
                <c:pt idx="56">
                  <c:v>0.6019029802047251</c:v>
                </c:pt>
                <c:pt idx="57">
                  <c:v>0.6014049889921722</c:v>
                </c:pt>
                <c:pt idx="58">
                  <c:v>0.6227913691915041</c:v>
                </c:pt>
                <c:pt idx="59">
                  <c:v>0.6205288285173032</c:v>
                </c:pt>
                <c:pt idx="60">
                  <c:v>0.6134701612800468</c:v>
                </c:pt>
                <c:pt idx="61">
                  <c:v>0.6104063289100901</c:v>
                </c:pt>
                <c:pt idx="62">
                  <c:v>0.6056231641503822</c:v>
                </c:pt>
                <c:pt idx="63">
                  <c:v>0.6032002778974945</c:v>
                </c:pt>
                <c:pt idx="64">
                  <c:v>0.6050047829615383</c:v>
                </c:pt>
                <c:pt idx="65">
                  <c:v>0.6024973321099237</c:v>
                </c:pt>
                <c:pt idx="66">
                  <c:v>0.6036683391952166</c:v>
                </c:pt>
                <c:pt idx="67">
                  <c:v>0.5972070033786028</c:v>
                </c:pt>
                <c:pt idx="68">
                  <c:v>0.6057838685680811</c:v>
                </c:pt>
                <c:pt idx="69">
                  <c:v>0.6102896241694539</c:v>
                </c:pt>
                <c:pt idx="70">
                  <c:v>0.6096821707139595</c:v>
                </c:pt>
                <c:pt idx="71">
                  <c:v>0.6028511446961681</c:v>
                </c:pt>
                <c:pt idx="72">
                  <c:v>0.6137173718652794</c:v>
                </c:pt>
                <c:pt idx="73">
                  <c:v>0.6055152169591411</c:v>
                </c:pt>
                <c:pt idx="74">
                  <c:v>0.5951079995701736</c:v>
                </c:pt>
                <c:pt idx="75">
                  <c:v>0.6030747493721312</c:v>
                </c:pt>
                <c:pt idx="76">
                  <c:v>0.6091790247509676</c:v>
                </c:pt>
                <c:pt idx="77">
                  <c:v>0.6105995045508796</c:v>
                </c:pt>
                <c:pt idx="78">
                  <c:v>0.6169131891428241</c:v>
                </c:pt>
                <c:pt idx="79">
                  <c:v>0.6229783292778531</c:v>
                </c:pt>
                <c:pt idx="80">
                  <c:v>0.6200532312867877</c:v>
                </c:pt>
                <c:pt idx="81">
                  <c:v>0.5931529833231074</c:v>
                </c:pt>
                <c:pt idx="82">
                  <c:v>0.5959934237116833</c:v>
                </c:pt>
                <c:pt idx="83">
                  <c:v>0.5660379463028513</c:v>
                </c:pt>
                <c:pt idx="84">
                  <c:v>0.5856160592024009</c:v>
                </c:pt>
                <c:pt idx="85">
                  <c:v>0.5979576973132524</c:v>
                </c:pt>
                <c:pt idx="86">
                  <c:v>0.6015192691931898</c:v>
                </c:pt>
                <c:pt idx="87">
                  <c:v>0.6111088374342387</c:v>
                </c:pt>
                <c:pt idx="88">
                  <c:v>0.5831880975877415</c:v>
                </c:pt>
                <c:pt idx="89">
                  <c:v>0.592761750028954</c:v>
                </c:pt>
                <c:pt idx="90">
                  <c:v>0.5976382073758195</c:v>
                </c:pt>
                <c:pt idx="91">
                  <c:v>0.5811738104638803</c:v>
                </c:pt>
                <c:pt idx="92">
                  <c:v>0.5933910644053196</c:v>
                </c:pt>
                <c:pt idx="93">
                  <c:v>0.6002067636730528</c:v>
                </c:pt>
                <c:pt idx="94">
                  <c:v>0.6114679401691553</c:v>
                </c:pt>
                <c:pt idx="95">
                  <c:v>0.6119850645336151</c:v>
                </c:pt>
                <c:pt idx="96">
                  <c:v>0.6021893741488487</c:v>
                </c:pt>
                <c:pt idx="97">
                  <c:v>0.5812989953174668</c:v>
                </c:pt>
                <c:pt idx="98">
                  <c:v>0.554308306274517</c:v>
                </c:pt>
                <c:pt idx="99">
                  <c:v>0.5805594534020171</c:v>
                </c:pt>
                <c:pt idx="100">
                  <c:v>0.5932220271746897</c:v>
                </c:pt>
                <c:pt idx="101">
                  <c:v>0.6013024155424632</c:v>
                </c:pt>
                <c:pt idx="102">
                  <c:v>0.603290628468702</c:v>
                </c:pt>
                <c:pt idx="103">
                  <c:v>0.6247958392265405</c:v>
                </c:pt>
                <c:pt idx="104">
                  <c:v>0.6163478978238913</c:v>
                </c:pt>
                <c:pt idx="105">
                  <c:v>0.6107215684830782</c:v>
                </c:pt>
                <c:pt idx="106">
                  <c:v>0.6406519322893804</c:v>
                </c:pt>
                <c:pt idx="107">
                  <c:v>0.6395503926556225</c:v>
                </c:pt>
                <c:pt idx="108">
                  <c:v>0.641164098383024</c:v>
                </c:pt>
                <c:pt idx="109">
                  <c:v>0.6511124667142059</c:v>
                </c:pt>
                <c:pt idx="110">
                  <c:v>0.6587757230466426</c:v>
                </c:pt>
                <c:pt idx="111">
                  <c:v>0.6628262670151501</c:v>
                </c:pt>
                <c:pt idx="112">
                  <c:v>0.6500497472023589</c:v>
                </c:pt>
                <c:pt idx="113">
                  <c:v>0.6640505938721477</c:v>
                </c:pt>
                <c:pt idx="114">
                  <c:v>0.6619948585222569</c:v>
                </c:pt>
                <c:pt idx="115">
                  <c:v>0.6676408909187138</c:v>
                </c:pt>
                <c:pt idx="116">
                  <c:v>0.6583586750707486</c:v>
                </c:pt>
                <c:pt idx="117">
                  <c:v>0.6704387649099994</c:v>
                </c:pt>
                <c:pt idx="118">
                  <c:v>0.6687348671049034</c:v>
                </c:pt>
                <c:pt idx="119">
                  <c:v>0.6690319773226144</c:v>
                </c:pt>
                <c:pt idx="120">
                  <c:v>0.6541003501522787</c:v>
                </c:pt>
                <c:pt idx="121">
                  <c:v>0.6359432800530134</c:v>
                </c:pt>
                <c:pt idx="122">
                  <c:v>0.6458245299259533</c:v>
                </c:pt>
                <c:pt idx="123">
                  <c:v>0.6226793182176578</c:v>
                </c:pt>
                <c:pt idx="124">
                  <c:v>0.6216639163330103</c:v>
                </c:pt>
                <c:pt idx="125">
                  <c:v>0.6004574047445184</c:v>
                </c:pt>
                <c:pt idx="126">
                  <c:v>0.623789675519737</c:v>
                </c:pt>
                <c:pt idx="127">
                  <c:v>0.6180682644116743</c:v>
                </c:pt>
                <c:pt idx="128">
                  <c:v>0.5996286361622283</c:v>
                </c:pt>
                <c:pt idx="129">
                  <c:v>0.6163153393220341</c:v>
                </c:pt>
                <c:pt idx="130">
                  <c:v>0.6127823174788108</c:v>
                </c:pt>
                <c:pt idx="131">
                  <c:v>0.5906934367967911</c:v>
                </c:pt>
                <c:pt idx="132">
                  <c:v>0.6005776705761564</c:v>
                </c:pt>
                <c:pt idx="133">
                  <c:v>0.60555646621638</c:v>
                </c:pt>
                <c:pt idx="134">
                  <c:v>0.6045641942453959</c:v>
                </c:pt>
                <c:pt idx="135">
                  <c:v>0.6044936903428635</c:v>
                </c:pt>
                <c:pt idx="136">
                  <c:v>0.6165739262502469</c:v>
                </c:pt>
                <c:pt idx="137">
                  <c:v>0.6340732533063134</c:v>
                </c:pt>
                <c:pt idx="138">
                  <c:v>0.6378924834797979</c:v>
                </c:pt>
                <c:pt idx="139">
                  <c:v>0.6341987478692475</c:v>
                </c:pt>
                <c:pt idx="140">
                  <c:v>0.6295261192496306</c:v>
                </c:pt>
                <c:pt idx="141">
                  <c:v>0.6159205899143453</c:v>
                </c:pt>
                <c:pt idx="142">
                  <c:v>0.6291467012945141</c:v>
                </c:pt>
                <c:pt idx="143">
                  <c:v>0.63333448324898</c:v>
                </c:pt>
                <c:pt idx="144">
                  <c:v>0.636974687183127</c:v>
                </c:pt>
                <c:pt idx="145">
                  <c:v>0.6485698817448408</c:v>
                </c:pt>
                <c:pt idx="146">
                  <c:v>0.6407149249367449</c:v>
                </c:pt>
                <c:pt idx="147">
                  <c:v>0.6284254214681616</c:v>
                </c:pt>
                <c:pt idx="148">
                  <c:v>0.6355489334761933</c:v>
                </c:pt>
                <c:pt idx="149">
                  <c:v>0.6440215993945653</c:v>
                </c:pt>
                <c:pt idx="150">
                  <c:v>0.6318352367959692</c:v>
                </c:pt>
                <c:pt idx="151">
                  <c:v>0.6301026881718775</c:v>
                </c:pt>
                <c:pt idx="152">
                  <c:v>0.6263350932407635</c:v>
                </c:pt>
                <c:pt idx="153">
                  <c:v>0.621251531317413</c:v>
                </c:pt>
                <c:pt idx="154">
                  <c:v>0.6356235349295426</c:v>
                </c:pt>
                <c:pt idx="155">
                  <c:v>0.6359494089717447</c:v>
                </c:pt>
                <c:pt idx="156">
                  <c:v>0.6310212457382853</c:v>
                </c:pt>
                <c:pt idx="157">
                  <c:v>0.6195775000335846</c:v>
                </c:pt>
                <c:pt idx="158">
                  <c:v>0.5899728343201791</c:v>
                </c:pt>
                <c:pt idx="159">
                  <c:v>0.581974451186266</c:v>
                </c:pt>
                <c:pt idx="160">
                  <c:v>0.6012480000787335</c:v>
                </c:pt>
                <c:pt idx="161">
                  <c:v>0.611905485192674</c:v>
                </c:pt>
                <c:pt idx="162">
                  <c:v>0.6180935454605937</c:v>
                </c:pt>
                <c:pt idx="163">
                  <c:v>0.6126124682448221</c:v>
                </c:pt>
                <c:pt idx="164">
                  <c:v>0.6063475489396946</c:v>
                </c:pt>
                <c:pt idx="165">
                  <c:v>0.6085620584905399</c:v>
                </c:pt>
                <c:pt idx="166">
                  <c:v>0.5976495320340017</c:v>
                </c:pt>
                <c:pt idx="167">
                  <c:v>0.5939015681889517</c:v>
                </c:pt>
                <c:pt idx="168">
                  <c:v>0.5793448351633389</c:v>
                </c:pt>
                <c:pt idx="169">
                  <c:v>0.559509265004343</c:v>
                </c:pt>
                <c:pt idx="170">
                  <c:v>0.5674019424652859</c:v>
                </c:pt>
                <c:pt idx="171">
                  <c:v>0.5997990395171252</c:v>
                </c:pt>
                <c:pt idx="172">
                  <c:v>0.6200056864674021</c:v>
                </c:pt>
                <c:pt idx="173">
                  <c:v>0.6350350976345004</c:v>
                </c:pt>
                <c:pt idx="174">
                  <c:v>0.6258973099337245</c:v>
                </c:pt>
                <c:pt idx="175">
                  <c:v>0.6196054050119159</c:v>
                </c:pt>
              </c:numCache>
            </c:numRef>
          </c:val>
          <c:smooth val="0"/>
        </c:ser>
        <c:ser>
          <c:idx val="2"/>
          <c:order val="2"/>
          <c:tx>
            <c:strRef>
              <c:f>Sheet1!$D$1</c:f>
              <c:strCache>
                <c:ptCount val="1"/>
                <c:pt idx="0">
                  <c:v>목표</c:v>
                </c:pt>
              </c:strCache>
            </c:strRef>
          </c:tx>
          <c:spPr>
            <a:ln w="12700">
              <a:solidFill>
                <a:srgbClr val="1A1E25"/>
              </a:solidFill>
              <a:prstDash val="sysDash"/>
            </a:ln>
          </c:spPr>
          <c:marker>
            <c:symbol val="none"/>
          </c:marker>
          <c:cat>
            <c:strRef>
              <c:f>Sheet1!$A$2:$A$177</c:f>
              <c:strCache>
                <c:ptCount val="176"/>
                <c:pt idx="0">
                  <c:v>2012</c:v>
                </c:pt>
                <c:pt idx="1">
                  <c:v>2012</c:v>
                </c:pt>
                <c:pt idx="2">
                  <c:v>2012</c:v>
                </c:pt>
                <c:pt idx="3">
                  <c:v>2012</c:v>
                </c:pt>
                <c:pt idx="4">
                  <c:v>2012</c:v>
                </c:pt>
                <c:pt idx="5">
                  <c:v>2012</c:v>
                </c:pt>
                <c:pt idx="6">
                  <c:v>2012</c:v>
                </c:pt>
                <c:pt idx="7">
                  <c:v>2012</c:v>
                </c:pt>
                <c:pt idx="8">
                  <c:v>2012</c:v>
                </c:pt>
                <c:pt idx="9">
                  <c:v>2012</c:v>
                </c:pt>
                <c:pt idx="10">
                  <c:v>2012</c:v>
                </c:pt>
                <c:pt idx="11">
                  <c:v>2012</c:v>
                </c:pt>
                <c:pt idx="12">
                  <c:v>2013</c:v>
                </c:pt>
                <c:pt idx="13">
                  <c:v>2013</c:v>
                </c:pt>
                <c:pt idx="14">
                  <c:v>2013</c:v>
                </c:pt>
                <c:pt idx="15">
                  <c:v>2013</c:v>
                </c:pt>
                <c:pt idx="16">
                  <c:v>2013</c:v>
                </c:pt>
                <c:pt idx="17">
                  <c:v>2013</c:v>
                </c:pt>
                <c:pt idx="18">
                  <c:v>2013</c:v>
                </c:pt>
                <c:pt idx="19">
                  <c:v>2013</c:v>
                </c:pt>
                <c:pt idx="20">
                  <c:v>2013</c:v>
                </c:pt>
                <c:pt idx="21">
                  <c:v>2013</c:v>
                </c:pt>
                <c:pt idx="22">
                  <c:v>2013</c:v>
                </c:pt>
                <c:pt idx="23">
                  <c:v>2013</c:v>
                </c:pt>
                <c:pt idx="24">
                  <c:v>2014</c:v>
                </c:pt>
                <c:pt idx="25">
                  <c:v>2014</c:v>
                </c:pt>
                <c:pt idx="26">
                  <c:v>2014</c:v>
                </c:pt>
                <c:pt idx="27">
                  <c:v>2014</c:v>
                </c:pt>
                <c:pt idx="28">
                  <c:v>2014</c:v>
                </c:pt>
                <c:pt idx="29">
                  <c:v>2014</c:v>
                </c:pt>
                <c:pt idx="30">
                  <c:v>2014</c:v>
                </c:pt>
                <c:pt idx="31">
                  <c:v>2014</c:v>
                </c:pt>
                <c:pt idx="32">
                  <c:v>2014</c:v>
                </c:pt>
                <c:pt idx="33">
                  <c:v>2014</c:v>
                </c:pt>
                <c:pt idx="34">
                  <c:v>2014</c:v>
                </c:pt>
                <c:pt idx="35">
                  <c:v>2014</c:v>
                </c:pt>
                <c:pt idx="36">
                  <c:v>2015</c:v>
                </c:pt>
                <c:pt idx="37">
                  <c:v>2015</c:v>
                </c:pt>
                <c:pt idx="38">
                  <c:v>2015</c:v>
                </c:pt>
                <c:pt idx="39">
                  <c:v>2015</c:v>
                </c:pt>
                <c:pt idx="40">
                  <c:v>2015</c:v>
                </c:pt>
                <c:pt idx="41">
                  <c:v>2015</c:v>
                </c:pt>
                <c:pt idx="42">
                  <c:v>2015</c:v>
                </c:pt>
                <c:pt idx="43">
                  <c:v>2015</c:v>
                </c:pt>
                <c:pt idx="44">
                  <c:v>2015</c:v>
                </c:pt>
                <c:pt idx="45">
                  <c:v>2015</c:v>
                </c:pt>
                <c:pt idx="46">
                  <c:v>2015</c:v>
                </c:pt>
                <c:pt idx="47">
                  <c:v>2015</c:v>
                </c:pt>
                <c:pt idx="48">
                  <c:v>2016</c:v>
                </c:pt>
                <c:pt idx="49">
                  <c:v>2016</c:v>
                </c:pt>
                <c:pt idx="50">
                  <c:v>2016</c:v>
                </c:pt>
                <c:pt idx="51">
                  <c:v>2016</c:v>
                </c:pt>
                <c:pt idx="52">
                  <c:v>2016</c:v>
                </c:pt>
                <c:pt idx="53">
                  <c:v>2016</c:v>
                </c:pt>
                <c:pt idx="54">
                  <c:v>2016</c:v>
                </c:pt>
                <c:pt idx="55">
                  <c:v>2016</c:v>
                </c:pt>
                <c:pt idx="56">
                  <c:v>2016</c:v>
                </c:pt>
                <c:pt idx="57">
                  <c:v>2016</c:v>
                </c:pt>
                <c:pt idx="58">
                  <c:v>2016</c:v>
                </c:pt>
                <c:pt idx="59">
                  <c:v>2016</c:v>
                </c:pt>
                <c:pt idx="60">
                  <c:v>2017</c:v>
                </c:pt>
                <c:pt idx="61">
                  <c:v>2017</c:v>
                </c:pt>
                <c:pt idx="62">
                  <c:v>2017</c:v>
                </c:pt>
                <c:pt idx="63">
                  <c:v>2017</c:v>
                </c:pt>
                <c:pt idx="64">
                  <c:v>2017</c:v>
                </c:pt>
                <c:pt idx="65">
                  <c:v>2017</c:v>
                </c:pt>
                <c:pt idx="66">
                  <c:v>2017</c:v>
                </c:pt>
                <c:pt idx="67">
                  <c:v>2017</c:v>
                </c:pt>
                <c:pt idx="68">
                  <c:v>2017</c:v>
                </c:pt>
                <c:pt idx="69">
                  <c:v>2017</c:v>
                </c:pt>
                <c:pt idx="70">
                  <c:v>2017</c:v>
                </c:pt>
                <c:pt idx="71">
                  <c:v>2017</c:v>
                </c:pt>
                <c:pt idx="72">
                  <c:v>2018</c:v>
                </c:pt>
                <c:pt idx="73">
                  <c:v>2018</c:v>
                </c:pt>
                <c:pt idx="74">
                  <c:v>2018</c:v>
                </c:pt>
                <c:pt idx="75">
                  <c:v>2018</c:v>
                </c:pt>
                <c:pt idx="76">
                  <c:v>2018</c:v>
                </c:pt>
                <c:pt idx="77">
                  <c:v>2018</c:v>
                </c:pt>
                <c:pt idx="78">
                  <c:v>2018</c:v>
                </c:pt>
                <c:pt idx="79">
                  <c:v>2018</c:v>
                </c:pt>
                <c:pt idx="80">
                  <c:v>2018</c:v>
                </c:pt>
                <c:pt idx="81">
                  <c:v>2018</c:v>
                </c:pt>
                <c:pt idx="82">
                  <c:v>2018</c:v>
                </c:pt>
                <c:pt idx="83">
                  <c:v>2018</c:v>
                </c:pt>
                <c:pt idx="84">
                  <c:v>2019</c:v>
                </c:pt>
                <c:pt idx="85">
                  <c:v>2019</c:v>
                </c:pt>
                <c:pt idx="86">
                  <c:v>2019</c:v>
                </c:pt>
                <c:pt idx="87">
                  <c:v>2019</c:v>
                </c:pt>
                <c:pt idx="88">
                  <c:v>2019</c:v>
                </c:pt>
                <c:pt idx="89">
                  <c:v>2019</c:v>
                </c:pt>
                <c:pt idx="90">
                  <c:v>2019</c:v>
                </c:pt>
                <c:pt idx="91">
                  <c:v>2019</c:v>
                </c:pt>
                <c:pt idx="92">
                  <c:v>2019</c:v>
                </c:pt>
                <c:pt idx="93">
                  <c:v>2019</c:v>
                </c:pt>
                <c:pt idx="94">
                  <c:v>2019</c:v>
                </c:pt>
                <c:pt idx="95">
                  <c:v>2019</c:v>
                </c:pt>
                <c:pt idx="96">
                  <c:v>2020</c:v>
                </c:pt>
                <c:pt idx="97">
                  <c:v>2020</c:v>
                </c:pt>
                <c:pt idx="98">
                  <c:v>2020</c:v>
                </c:pt>
                <c:pt idx="99">
                  <c:v>2020</c:v>
                </c:pt>
                <c:pt idx="100">
                  <c:v>2020</c:v>
                </c:pt>
                <c:pt idx="101">
                  <c:v>2020</c:v>
                </c:pt>
                <c:pt idx="102">
                  <c:v>2020</c:v>
                </c:pt>
                <c:pt idx="103">
                  <c:v>2020</c:v>
                </c:pt>
                <c:pt idx="104">
                  <c:v>2020</c:v>
                </c:pt>
                <c:pt idx="105">
                  <c:v>2020</c:v>
                </c:pt>
                <c:pt idx="106">
                  <c:v>2020</c:v>
                </c:pt>
                <c:pt idx="107">
                  <c:v>2020</c:v>
                </c:pt>
                <c:pt idx="108">
                  <c:v>2021</c:v>
                </c:pt>
                <c:pt idx="109">
                  <c:v>2021</c:v>
                </c:pt>
                <c:pt idx="110">
                  <c:v>2021</c:v>
                </c:pt>
                <c:pt idx="111">
                  <c:v>2021</c:v>
                </c:pt>
                <c:pt idx="112">
                  <c:v>2021</c:v>
                </c:pt>
                <c:pt idx="113">
                  <c:v>2021</c:v>
                </c:pt>
                <c:pt idx="114">
                  <c:v>2021</c:v>
                </c:pt>
                <c:pt idx="115">
                  <c:v>2021</c:v>
                </c:pt>
                <c:pt idx="116">
                  <c:v>2021</c:v>
                </c:pt>
                <c:pt idx="117">
                  <c:v>2021</c:v>
                </c:pt>
                <c:pt idx="118">
                  <c:v>2021</c:v>
                </c:pt>
                <c:pt idx="119">
                  <c:v>2021</c:v>
                </c:pt>
                <c:pt idx="120">
                  <c:v>2022</c:v>
                </c:pt>
                <c:pt idx="121">
                  <c:v>2022</c:v>
                </c:pt>
                <c:pt idx="122">
                  <c:v>2022</c:v>
                </c:pt>
                <c:pt idx="123">
                  <c:v>2022</c:v>
                </c:pt>
                <c:pt idx="124">
                  <c:v>2022</c:v>
                </c:pt>
                <c:pt idx="125">
                  <c:v>2022</c:v>
                </c:pt>
                <c:pt idx="126">
                  <c:v>2022</c:v>
                </c:pt>
                <c:pt idx="127">
                  <c:v>2022</c:v>
                </c:pt>
                <c:pt idx="128">
                  <c:v>2022</c:v>
                </c:pt>
                <c:pt idx="129">
                  <c:v>2022</c:v>
                </c:pt>
                <c:pt idx="130">
                  <c:v>2022</c:v>
                </c:pt>
                <c:pt idx="131">
                  <c:v>2022</c:v>
                </c:pt>
                <c:pt idx="132">
                  <c:v>2023</c:v>
                </c:pt>
                <c:pt idx="133">
                  <c:v>2023</c:v>
                </c:pt>
                <c:pt idx="134">
                  <c:v>2023</c:v>
                </c:pt>
                <c:pt idx="135">
                  <c:v>2023</c:v>
                </c:pt>
                <c:pt idx="136">
                  <c:v>2023</c:v>
                </c:pt>
                <c:pt idx="137">
                  <c:v>2023</c:v>
                </c:pt>
                <c:pt idx="138">
                  <c:v>2023</c:v>
                </c:pt>
                <c:pt idx="139">
                  <c:v>2023</c:v>
                </c:pt>
                <c:pt idx="140">
                  <c:v>2023</c:v>
                </c:pt>
                <c:pt idx="141">
                  <c:v>2023</c:v>
                </c:pt>
                <c:pt idx="142">
                  <c:v>2023</c:v>
                </c:pt>
                <c:pt idx="143">
                  <c:v>2023</c:v>
                </c:pt>
                <c:pt idx="144">
                  <c:v>2024</c:v>
                </c:pt>
                <c:pt idx="145">
                  <c:v>2024</c:v>
                </c:pt>
                <c:pt idx="146">
                  <c:v>2024</c:v>
                </c:pt>
                <c:pt idx="147">
                  <c:v>2024</c:v>
                </c:pt>
                <c:pt idx="148">
                  <c:v>2024</c:v>
                </c:pt>
                <c:pt idx="149">
                  <c:v>2024</c:v>
                </c:pt>
                <c:pt idx="150">
                  <c:v>2024</c:v>
                </c:pt>
                <c:pt idx="151">
                  <c:v>2024</c:v>
                </c:pt>
                <c:pt idx="152">
                  <c:v>2024</c:v>
                </c:pt>
                <c:pt idx="153">
                  <c:v>2024</c:v>
                </c:pt>
                <c:pt idx="154">
                  <c:v>2024</c:v>
                </c:pt>
                <c:pt idx="155">
                  <c:v>2024</c:v>
                </c:pt>
                <c:pt idx="156">
                  <c:v>2025</c:v>
                </c:pt>
                <c:pt idx="157">
                  <c:v>2025</c:v>
                </c:pt>
                <c:pt idx="158">
                  <c:v>2025</c:v>
                </c:pt>
                <c:pt idx="159">
                  <c:v>2025</c:v>
                </c:pt>
                <c:pt idx="160">
                  <c:v>2025</c:v>
                </c:pt>
                <c:pt idx="161">
                  <c:v>2025</c:v>
                </c:pt>
                <c:pt idx="162">
                  <c:v>2025</c:v>
                </c:pt>
                <c:pt idx="163">
                  <c:v>2025</c:v>
                </c:pt>
                <c:pt idx="164">
                  <c:v>2025</c:v>
                </c:pt>
                <c:pt idx="165">
                  <c:v>2025</c:v>
                </c:pt>
                <c:pt idx="166">
                  <c:v>2025</c:v>
                </c:pt>
                <c:pt idx="167">
                  <c:v>2025</c:v>
                </c:pt>
                <c:pt idx="168">
                  <c:v>2026</c:v>
                </c:pt>
                <c:pt idx="169">
                  <c:v>2026</c:v>
                </c:pt>
                <c:pt idx="170">
                  <c:v>2026</c:v>
                </c:pt>
                <c:pt idx="171">
                  <c:v>2026</c:v>
                </c:pt>
                <c:pt idx="172">
                  <c:v>2026</c:v>
                </c:pt>
                <c:pt idx="173">
                  <c:v>2026</c:v>
                </c:pt>
                <c:pt idx="174">
                  <c:v>2026</c:v>
                </c:pt>
                <c:pt idx="175">
                  <c:v>2026</c:v>
                </c:pt>
              </c:strCache>
            </c:strRef>
          </c:cat>
          <c:val>
            <c:numRef>
              <c:f>Sheet1!$D$2:$D$177</c:f>
              <c:numCache>
                <c:formatCode>General</c:formatCode>
                <c:ptCount val="176"/>
                <c:pt idx="0">
                  <c:v>0.6</c:v>
                </c:pt>
                <c:pt idx="1">
                  <c:v>0.6</c:v>
                </c:pt>
                <c:pt idx="2">
                  <c:v>0.6</c:v>
                </c:pt>
                <c:pt idx="3">
                  <c:v>0.6</c:v>
                </c:pt>
                <c:pt idx="4">
                  <c:v>0.6</c:v>
                </c:pt>
                <c:pt idx="5">
                  <c:v>0.6</c:v>
                </c:pt>
                <c:pt idx="6">
                  <c:v>0.6</c:v>
                </c:pt>
                <c:pt idx="7">
                  <c:v>0.6</c:v>
                </c:pt>
                <c:pt idx="8">
                  <c:v>0.6</c:v>
                </c:pt>
                <c:pt idx="9">
                  <c:v>0.6</c:v>
                </c:pt>
                <c:pt idx="10">
                  <c:v>0.6</c:v>
                </c:pt>
                <c:pt idx="11">
                  <c:v>0.6</c:v>
                </c:pt>
                <c:pt idx="12">
                  <c:v>0.6</c:v>
                </c:pt>
                <c:pt idx="13">
                  <c:v>0.6</c:v>
                </c:pt>
                <c:pt idx="14">
                  <c:v>0.6</c:v>
                </c:pt>
                <c:pt idx="15">
                  <c:v>0.6</c:v>
                </c:pt>
                <c:pt idx="16">
                  <c:v>0.6</c:v>
                </c:pt>
                <c:pt idx="17">
                  <c:v>0.6</c:v>
                </c:pt>
                <c:pt idx="18">
                  <c:v>0.6</c:v>
                </c:pt>
                <c:pt idx="19">
                  <c:v>0.6</c:v>
                </c:pt>
                <c:pt idx="20">
                  <c:v>0.6</c:v>
                </c:pt>
                <c:pt idx="21">
                  <c:v>0.6</c:v>
                </c:pt>
                <c:pt idx="22">
                  <c:v>0.6</c:v>
                </c:pt>
                <c:pt idx="23">
                  <c:v>0.6</c:v>
                </c:pt>
                <c:pt idx="24">
                  <c:v>0.6</c:v>
                </c:pt>
                <c:pt idx="25">
                  <c:v>0.6</c:v>
                </c:pt>
                <c:pt idx="26">
                  <c:v>0.6</c:v>
                </c:pt>
                <c:pt idx="27">
                  <c:v>0.6</c:v>
                </c:pt>
                <c:pt idx="28">
                  <c:v>0.6</c:v>
                </c:pt>
                <c:pt idx="29">
                  <c:v>0.6</c:v>
                </c:pt>
                <c:pt idx="30">
                  <c:v>0.6</c:v>
                </c:pt>
                <c:pt idx="31">
                  <c:v>0.6</c:v>
                </c:pt>
                <c:pt idx="32">
                  <c:v>0.6</c:v>
                </c:pt>
                <c:pt idx="33">
                  <c:v>0.6</c:v>
                </c:pt>
                <c:pt idx="34">
                  <c:v>0.6</c:v>
                </c:pt>
                <c:pt idx="35">
                  <c:v>0.6</c:v>
                </c:pt>
                <c:pt idx="36">
                  <c:v>0.6</c:v>
                </c:pt>
                <c:pt idx="37">
                  <c:v>0.6</c:v>
                </c:pt>
                <c:pt idx="38">
                  <c:v>0.6</c:v>
                </c:pt>
                <c:pt idx="39">
                  <c:v>0.6</c:v>
                </c:pt>
                <c:pt idx="40">
                  <c:v>0.6</c:v>
                </c:pt>
                <c:pt idx="41">
                  <c:v>0.6</c:v>
                </c:pt>
                <c:pt idx="42">
                  <c:v>0.6</c:v>
                </c:pt>
                <c:pt idx="43">
                  <c:v>0.6</c:v>
                </c:pt>
                <c:pt idx="44">
                  <c:v>0.6</c:v>
                </c:pt>
                <c:pt idx="45">
                  <c:v>0.6</c:v>
                </c:pt>
                <c:pt idx="46">
                  <c:v>0.6</c:v>
                </c:pt>
                <c:pt idx="47">
                  <c:v>0.6</c:v>
                </c:pt>
                <c:pt idx="48">
                  <c:v>0.6</c:v>
                </c:pt>
                <c:pt idx="49">
                  <c:v>0.6</c:v>
                </c:pt>
                <c:pt idx="50">
                  <c:v>0.6</c:v>
                </c:pt>
                <c:pt idx="51">
                  <c:v>0.6</c:v>
                </c:pt>
                <c:pt idx="52">
                  <c:v>0.6</c:v>
                </c:pt>
                <c:pt idx="53">
                  <c:v>0.6</c:v>
                </c:pt>
                <c:pt idx="54">
                  <c:v>0.6</c:v>
                </c:pt>
                <c:pt idx="55">
                  <c:v>0.6</c:v>
                </c:pt>
                <c:pt idx="56">
                  <c:v>0.6</c:v>
                </c:pt>
                <c:pt idx="57">
                  <c:v>0.6</c:v>
                </c:pt>
                <c:pt idx="58">
                  <c:v>0.6</c:v>
                </c:pt>
                <c:pt idx="59">
                  <c:v>0.6</c:v>
                </c:pt>
                <c:pt idx="60">
                  <c:v>0.6</c:v>
                </c:pt>
                <c:pt idx="61">
                  <c:v>0.6</c:v>
                </c:pt>
                <c:pt idx="62">
                  <c:v>0.6</c:v>
                </c:pt>
                <c:pt idx="63">
                  <c:v>0.6</c:v>
                </c:pt>
                <c:pt idx="64">
                  <c:v>0.6</c:v>
                </c:pt>
                <c:pt idx="65">
                  <c:v>0.6</c:v>
                </c:pt>
                <c:pt idx="66">
                  <c:v>0.6</c:v>
                </c:pt>
                <c:pt idx="67">
                  <c:v>0.6</c:v>
                </c:pt>
                <c:pt idx="68">
                  <c:v>0.6</c:v>
                </c:pt>
                <c:pt idx="69">
                  <c:v>0.6</c:v>
                </c:pt>
                <c:pt idx="70">
                  <c:v>0.6</c:v>
                </c:pt>
                <c:pt idx="71">
                  <c:v>0.6</c:v>
                </c:pt>
                <c:pt idx="72">
                  <c:v>0.6</c:v>
                </c:pt>
                <c:pt idx="73">
                  <c:v>0.6</c:v>
                </c:pt>
                <c:pt idx="74">
                  <c:v>0.6</c:v>
                </c:pt>
                <c:pt idx="75">
                  <c:v>0.6</c:v>
                </c:pt>
                <c:pt idx="76">
                  <c:v>0.6</c:v>
                </c:pt>
                <c:pt idx="77">
                  <c:v>0.6</c:v>
                </c:pt>
                <c:pt idx="78">
                  <c:v>0.6</c:v>
                </c:pt>
                <c:pt idx="79">
                  <c:v>0.6</c:v>
                </c:pt>
                <c:pt idx="80">
                  <c:v>0.6</c:v>
                </c:pt>
                <c:pt idx="81">
                  <c:v>0.6</c:v>
                </c:pt>
                <c:pt idx="82">
                  <c:v>0.6</c:v>
                </c:pt>
                <c:pt idx="83">
                  <c:v>0.6</c:v>
                </c:pt>
                <c:pt idx="84">
                  <c:v>0.6</c:v>
                </c:pt>
                <c:pt idx="85">
                  <c:v>0.6</c:v>
                </c:pt>
                <c:pt idx="86">
                  <c:v>0.6</c:v>
                </c:pt>
                <c:pt idx="87">
                  <c:v>0.6</c:v>
                </c:pt>
                <c:pt idx="88">
                  <c:v>0.6</c:v>
                </c:pt>
                <c:pt idx="89">
                  <c:v>0.6</c:v>
                </c:pt>
                <c:pt idx="90">
                  <c:v>0.6</c:v>
                </c:pt>
                <c:pt idx="91">
                  <c:v>0.6</c:v>
                </c:pt>
                <c:pt idx="92">
                  <c:v>0.6</c:v>
                </c:pt>
                <c:pt idx="93">
                  <c:v>0.6</c:v>
                </c:pt>
                <c:pt idx="94">
                  <c:v>0.6</c:v>
                </c:pt>
                <c:pt idx="95">
                  <c:v>0.6</c:v>
                </c:pt>
                <c:pt idx="96">
                  <c:v>0.6</c:v>
                </c:pt>
                <c:pt idx="97">
                  <c:v>0.6</c:v>
                </c:pt>
                <c:pt idx="98">
                  <c:v>0.6</c:v>
                </c:pt>
                <c:pt idx="99">
                  <c:v>0.6</c:v>
                </c:pt>
                <c:pt idx="100">
                  <c:v>0.6</c:v>
                </c:pt>
                <c:pt idx="101">
                  <c:v>0.6</c:v>
                </c:pt>
                <c:pt idx="102">
                  <c:v>0.6</c:v>
                </c:pt>
                <c:pt idx="103">
                  <c:v>0.6</c:v>
                </c:pt>
                <c:pt idx="104">
                  <c:v>0.6</c:v>
                </c:pt>
                <c:pt idx="105">
                  <c:v>0.6</c:v>
                </c:pt>
                <c:pt idx="106">
                  <c:v>0.6</c:v>
                </c:pt>
                <c:pt idx="107">
                  <c:v>0.6</c:v>
                </c:pt>
                <c:pt idx="108">
                  <c:v>0.6</c:v>
                </c:pt>
                <c:pt idx="109">
                  <c:v>0.6</c:v>
                </c:pt>
                <c:pt idx="110">
                  <c:v>0.6</c:v>
                </c:pt>
                <c:pt idx="111">
                  <c:v>0.6</c:v>
                </c:pt>
                <c:pt idx="112">
                  <c:v>0.6</c:v>
                </c:pt>
                <c:pt idx="113">
                  <c:v>0.6</c:v>
                </c:pt>
                <c:pt idx="114">
                  <c:v>0.6</c:v>
                </c:pt>
                <c:pt idx="115">
                  <c:v>0.6</c:v>
                </c:pt>
                <c:pt idx="116">
                  <c:v>0.6</c:v>
                </c:pt>
                <c:pt idx="117">
                  <c:v>0.6</c:v>
                </c:pt>
                <c:pt idx="118">
                  <c:v>0.6</c:v>
                </c:pt>
                <c:pt idx="119">
                  <c:v>0.6</c:v>
                </c:pt>
                <c:pt idx="120">
                  <c:v>0.6</c:v>
                </c:pt>
                <c:pt idx="121">
                  <c:v>0.6</c:v>
                </c:pt>
                <c:pt idx="122">
                  <c:v>0.6</c:v>
                </c:pt>
                <c:pt idx="123">
                  <c:v>0.6</c:v>
                </c:pt>
                <c:pt idx="124">
                  <c:v>0.6</c:v>
                </c:pt>
                <c:pt idx="125">
                  <c:v>0.6</c:v>
                </c:pt>
                <c:pt idx="126">
                  <c:v>0.6</c:v>
                </c:pt>
                <c:pt idx="127">
                  <c:v>0.6</c:v>
                </c:pt>
                <c:pt idx="128">
                  <c:v>0.6</c:v>
                </c:pt>
                <c:pt idx="129">
                  <c:v>0.6</c:v>
                </c:pt>
                <c:pt idx="130">
                  <c:v>0.6</c:v>
                </c:pt>
                <c:pt idx="131">
                  <c:v>0.6</c:v>
                </c:pt>
                <c:pt idx="132">
                  <c:v>0.6</c:v>
                </c:pt>
                <c:pt idx="133">
                  <c:v>0.6</c:v>
                </c:pt>
                <c:pt idx="134">
                  <c:v>0.6</c:v>
                </c:pt>
                <c:pt idx="135">
                  <c:v>0.6</c:v>
                </c:pt>
                <c:pt idx="136">
                  <c:v>0.6</c:v>
                </c:pt>
                <c:pt idx="137">
                  <c:v>0.6</c:v>
                </c:pt>
                <c:pt idx="138">
                  <c:v>0.6</c:v>
                </c:pt>
                <c:pt idx="139">
                  <c:v>0.6</c:v>
                </c:pt>
                <c:pt idx="140">
                  <c:v>0.6</c:v>
                </c:pt>
                <c:pt idx="141">
                  <c:v>0.6</c:v>
                </c:pt>
                <c:pt idx="142">
                  <c:v>0.6</c:v>
                </c:pt>
                <c:pt idx="143">
                  <c:v>0.6</c:v>
                </c:pt>
                <c:pt idx="144">
                  <c:v>0.6</c:v>
                </c:pt>
                <c:pt idx="145">
                  <c:v>0.6</c:v>
                </c:pt>
                <c:pt idx="146">
                  <c:v>0.6</c:v>
                </c:pt>
                <c:pt idx="147">
                  <c:v>0.6</c:v>
                </c:pt>
                <c:pt idx="148">
                  <c:v>0.6</c:v>
                </c:pt>
                <c:pt idx="149">
                  <c:v>0.6</c:v>
                </c:pt>
                <c:pt idx="150">
                  <c:v>0.6</c:v>
                </c:pt>
                <c:pt idx="151">
                  <c:v>0.6</c:v>
                </c:pt>
                <c:pt idx="152">
                  <c:v>0.6</c:v>
                </c:pt>
                <c:pt idx="153">
                  <c:v>0.6</c:v>
                </c:pt>
                <c:pt idx="154">
                  <c:v>0.6</c:v>
                </c:pt>
                <c:pt idx="155">
                  <c:v>0.6</c:v>
                </c:pt>
                <c:pt idx="156">
                  <c:v>0.6</c:v>
                </c:pt>
                <c:pt idx="157">
                  <c:v>0.6</c:v>
                </c:pt>
                <c:pt idx="158">
                  <c:v>0.6</c:v>
                </c:pt>
                <c:pt idx="159">
                  <c:v>0.6</c:v>
                </c:pt>
                <c:pt idx="160">
                  <c:v>0.6</c:v>
                </c:pt>
                <c:pt idx="161">
                  <c:v>0.6</c:v>
                </c:pt>
                <c:pt idx="162">
                  <c:v>0.6</c:v>
                </c:pt>
                <c:pt idx="163">
                  <c:v>0.6</c:v>
                </c:pt>
                <c:pt idx="164">
                  <c:v>0.6</c:v>
                </c:pt>
                <c:pt idx="165">
                  <c:v>0.6</c:v>
                </c:pt>
                <c:pt idx="166">
                  <c:v>0.6</c:v>
                </c:pt>
                <c:pt idx="167">
                  <c:v>0.6</c:v>
                </c:pt>
                <c:pt idx="168">
                  <c:v>0.6</c:v>
                </c:pt>
                <c:pt idx="169">
                  <c:v>0.6</c:v>
                </c:pt>
                <c:pt idx="170">
                  <c:v>0.6</c:v>
                </c:pt>
                <c:pt idx="171">
                  <c:v>0.6</c:v>
                </c:pt>
                <c:pt idx="172">
                  <c:v>0.6</c:v>
                </c:pt>
                <c:pt idx="173">
                  <c:v>0.6</c:v>
                </c:pt>
                <c:pt idx="174">
                  <c:v>0.6</c:v>
                </c:pt>
                <c:pt idx="175">
                  <c:v>0.6</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40495176"/>
        <c:crosses val="autoZero"/>
        <c:auto val="1"/>
        <c:lblAlgn val="ctr"/>
        <c:lblOffset val="100"/>
        <c:noMultiLvlLbl val="0"/>
        <c:tickLblSkip val="12"/>
        <c:tickMarkSkip val="12"/>
      </c:catAx>
      <c:valAx>
        <c:axId val="2140495176"/>
        <c:scaling>
          <c:max val="0.75"/>
          <c:min val="0.4"/>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118791784"/>
        <c:crosses val="autoZero"/>
      </c:valAx>
    </c:plotArea>
    <c:plotVisOnly val="1"/>
    <c:dispBlanksAs val="gap"/>
    <c:showDLblsOverMax val="0"/>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국채</c:v>
                </c:pt>
              </c:strCache>
            </c:strRef>
          </c:tx>
          <c:spPr>
            <a:ln w="25400">
              <a:solidFill>
                <a:srgbClr val="3D9BE0"/>
              </a:solidFill>
            </a:ln>
          </c:spPr>
          <c:marker>
            <c:symbol val="none"/>
          </c:marker>
          <c:cat>
            <c:strRef>
              <c:f>Sheet1!$A$2:$A$177</c:f>
              <c:strCache>
                <c:ptCount val="176"/>
                <c:pt idx="0">
                  <c:v>2012</c:v>
                </c:pt>
                <c:pt idx="1">
                  <c:v>2012</c:v>
                </c:pt>
                <c:pt idx="2">
                  <c:v>2012</c:v>
                </c:pt>
                <c:pt idx="3">
                  <c:v>2012</c:v>
                </c:pt>
                <c:pt idx="4">
                  <c:v>2012</c:v>
                </c:pt>
                <c:pt idx="5">
                  <c:v>2012</c:v>
                </c:pt>
                <c:pt idx="6">
                  <c:v>2012</c:v>
                </c:pt>
                <c:pt idx="7">
                  <c:v>2012</c:v>
                </c:pt>
                <c:pt idx="8">
                  <c:v>2012</c:v>
                </c:pt>
                <c:pt idx="9">
                  <c:v>2012</c:v>
                </c:pt>
                <c:pt idx="10">
                  <c:v>2012</c:v>
                </c:pt>
                <c:pt idx="11">
                  <c:v>2012</c:v>
                </c:pt>
                <c:pt idx="12">
                  <c:v>2013</c:v>
                </c:pt>
                <c:pt idx="13">
                  <c:v>2013</c:v>
                </c:pt>
                <c:pt idx="14">
                  <c:v>2013</c:v>
                </c:pt>
                <c:pt idx="15">
                  <c:v>2013</c:v>
                </c:pt>
                <c:pt idx="16">
                  <c:v>2013</c:v>
                </c:pt>
                <c:pt idx="17">
                  <c:v>2013</c:v>
                </c:pt>
                <c:pt idx="18">
                  <c:v>2013</c:v>
                </c:pt>
                <c:pt idx="19">
                  <c:v>2013</c:v>
                </c:pt>
                <c:pt idx="20">
                  <c:v>2013</c:v>
                </c:pt>
                <c:pt idx="21">
                  <c:v>2013</c:v>
                </c:pt>
                <c:pt idx="22">
                  <c:v>2013</c:v>
                </c:pt>
                <c:pt idx="23">
                  <c:v>2013</c:v>
                </c:pt>
                <c:pt idx="24">
                  <c:v>2014</c:v>
                </c:pt>
                <c:pt idx="25">
                  <c:v>2014</c:v>
                </c:pt>
                <c:pt idx="26">
                  <c:v>2014</c:v>
                </c:pt>
                <c:pt idx="27">
                  <c:v>2014</c:v>
                </c:pt>
                <c:pt idx="28">
                  <c:v>2014</c:v>
                </c:pt>
                <c:pt idx="29">
                  <c:v>2014</c:v>
                </c:pt>
                <c:pt idx="30">
                  <c:v>2014</c:v>
                </c:pt>
                <c:pt idx="31">
                  <c:v>2014</c:v>
                </c:pt>
                <c:pt idx="32">
                  <c:v>2014</c:v>
                </c:pt>
                <c:pt idx="33">
                  <c:v>2014</c:v>
                </c:pt>
                <c:pt idx="34">
                  <c:v>2014</c:v>
                </c:pt>
                <c:pt idx="35">
                  <c:v>2014</c:v>
                </c:pt>
                <c:pt idx="36">
                  <c:v>2015</c:v>
                </c:pt>
                <c:pt idx="37">
                  <c:v>2015</c:v>
                </c:pt>
                <c:pt idx="38">
                  <c:v>2015</c:v>
                </c:pt>
                <c:pt idx="39">
                  <c:v>2015</c:v>
                </c:pt>
                <c:pt idx="40">
                  <c:v>2015</c:v>
                </c:pt>
                <c:pt idx="41">
                  <c:v>2015</c:v>
                </c:pt>
                <c:pt idx="42">
                  <c:v>2015</c:v>
                </c:pt>
                <c:pt idx="43">
                  <c:v>2015</c:v>
                </c:pt>
                <c:pt idx="44">
                  <c:v>2015</c:v>
                </c:pt>
                <c:pt idx="45">
                  <c:v>2015</c:v>
                </c:pt>
                <c:pt idx="46">
                  <c:v>2015</c:v>
                </c:pt>
                <c:pt idx="47">
                  <c:v>2015</c:v>
                </c:pt>
                <c:pt idx="48">
                  <c:v>2016</c:v>
                </c:pt>
                <c:pt idx="49">
                  <c:v>2016</c:v>
                </c:pt>
                <c:pt idx="50">
                  <c:v>2016</c:v>
                </c:pt>
                <c:pt idx="51">
                  <c:v>2016</c:v>
                </c:pt>
                <c:pt idx="52">
                  <c:v>2016</c:v>
                </c:pt>
                <c:pt idx="53">
                  <c:v>2016</c:v>
                </c:pt>
                <c:pt idx="54">
                  <c:v>2016</c:v>
                </c:pt>
                <c:pt idx="55">
                  <c:v>2016</c:v>
                </c:pt>
                <c:pt idx="56">
                  <c:v>2016</c:v>
                </c:pt>
                <c:pt idx="57">
                  <c:v>2016</c:v>
                </c:pt>
                <c:pt idx="58">
                  <c:v>2016</c:v>
                </c:pt>
                <c:pt idx="59">
                  <c:v>2016</c:v>
                </c:pt>
                <c:pt idx="60">
                  <c:v>2017</c:v>
                </c:pt>
                <c:pt idx="61">
                  <c:v>2017</c:v>
                </c:pt>
                <c:pt idx="62">
                  <c:v>2017</c:v>
                </c:pt>
                <c:pt idx="63">
                  <c:v>2017</c:v>
                </c:pt>
                <c:pt idx="64">
                  <c:v>2017</c:v>
                </c:pt>
                <c:pt idx="65">
                  <c:v>2017</c:v>
                </c:pt>
                <c:pt idx="66">
                  <c:v>2017</c:v>
                </c:pt>
                <c:pt idx="67">
                  <c:v>2017</c:v>
                </c:pt>
                <c:pt idx="68">
                  <c:v>2017</c:v>
                </c:pt>
                <c:pt idx="69">
                  <c:v>2017</c:v>
                </c:pt>
                <c:pt idx="70">
                  <c:v>2017</c:v>
                </c:pt>
                <c:pt idx="71">
                  <c:v>2017</c:v>
                </c:pt>
                <c:pt idx="72">
                  <c:v>2018</c:v>
                </c:pt>
                <c:pt idx="73">
                  <c:v>2018</c:v>
                </c:pt>
                <c:pt idx="74">
                  <c:v>2018</c:v>
                </c:pt>
                <c:pt idx="75">
                  <c:v>2018</c:v>
                </c:pt>
                <c:pt idx="76">
                  <c:v>2018</c:v>
                </c:pt>
                <c:pt idx="77">
                  <c:v>2018</c:v>
                </c:pt>
                <c:pt idx="78">
                  <c:v>2018</c:v>
                </c:pt>
                <c:pt idx="79">
                  <c:v>2018</c:v>
                </c:pt>
                <c:pt idx="80">
                  <c:v>2018</c:v>
                </c:pt>
                <c:pt idx="81">
                  <c:v>2018</c:v>
                </c:pt>
                <c:pt idx="82">
                  <c:v>2018</c:v>
                </c:pt>
                <c:pt idx="83">
                  <c:v>2018</c:v>
                </c:pt>
                <c:pt idx="84">
                  <c:v>2019</c:v>
                </c:pt>
                <c:pt idx="85">
                  <c:v>2019</c:v>
                </c:pt>
                <c:pt idx="86">
                  <c:v>2019</c:v>
                </c:pt>
                <c:pt idx="87">
                  <c:v>2019</c:v>
                </c:pt>
                <c:pt idx="88">
                  <c:v>2019</c:v>
                </c:pt>
                <c:pt idx="89">
                  <c:v>2019</c:v>
                </c:pt>
                <c:pt idx="90">
                  <c:v>2019</c:v>
                </c:pt>
                <c:pt idx="91">
                  <c:v>2019</c:v>
                </c:pt>
                <c:pt idx="92">
                  <c:v>2019</c:v>
                </c:pt>
                <c:pt idx="93">
                  <c:v>2019</c:v>
                </c:pt>
                <c:pt idx="94">
                  <c:v>2019</c:v>
                </c:pt>
                <c:pt idx="95">
                  <c:v>2019</c:v>
                </c:pt>
                <c:pt idx="96">
                  <c:v>2020</c:v>
                </c:pt>
                <c:pt idx="97">
                  <c:v>2020</c:v>
                </c:pt>
                <c:pt idx="98">
                  <c:v>2020</c:v>
                </c:pt>
                <c:pt idx="99">
                  <c:v>2020</c:v>
                </c:pt>
                <c:pt idx="100">
                  <c:v>2020</c:v>
                </c:pt>
                <c:pt idx="101">
                  <c:v>2020</c:v>
                </c:pt>
                <c:pt idx="102">
                  <c:v>2020</c:v>
                </c:pt>
                <c:pt idx="103">
                  <c:v>2020</c:v>
                </c:pt>
                <c:pt idx="104">
                  <c:v>2020</c:v>
                </c:pt>
                <c:pt idx="105">
                  <c:v>2020</c:v>
                </c:pt>
                <c:pt idx="106">
                  <c:v>2020</c:v>
                </c:pt>
                <c:pt idx="107">
                  <c:v>2020</c:v>
                </c:pt>
                <c:pt idx="108">
                  <c:v>2021</c:v>
                </c:pt>
                <c:pt idx="109">
                  <c:v>2021</c:v>
                </c:pt>
                <c:pt idx="110">
                  <c:v>2021</c:v>
                </c:pt>
                <c:pt idx="111">
                  <c:v>2021</c:v>
                </c:pt>
                <c:pt idx="112">
                  <c:v>2021</c:v>
                </c:pt>
                <c:pt idx="113">
                  <c:v>2021</c:v>
                </c:pt>
                <c:pt idx="114">
                  <c:v>2021</c:v>
                </c:pt>
                <c:pt idx="115">
                  <c:v>2021</c:v>
                </c:pt>
                <c:pt idx="116">
                  <c:v>2021</c:v>
                </c:pt>
                <c:pt idx="117">
                  <c:v>2021</c:v>
                </c:pt>
                <c:pt idx="118">
                  <c:v>2021</c:v>
                </c:pt>
                <c:pt idx="119">
                  <c:v>2021</c:v>
                </c:pt>
                <c:pt idx="120">
                  <c:v>2022</c:v>
                </c:pt>
                <c:pt idx="121">
                  <c:v>2022</c:v>
                </c:pt>
                <c:pt idx="122">
                  <c:v>2022</c:v>
                </c:pt>
                <c:pt idx="123">
                  <c:v>2022</c:v>
                </c:pt>
                <c:pt idx="124">
                  <c:v>2022</c:v>
                </c:pt>
                <c:pt idx="125">
                  <c:v>2022</c:v>
                </c:pt>
                <c:pt idx="126">
                  <c:v>2022</c:v>
                </c:pt>
                <c:pt idx="127">
                  <c:v>2022</c:v>
                </c:pt>
                <c:pt idx="128">
                  <c:v>2022</c:v>
                </c:pt>
                <c:pt idx="129">
                  <c:v>2022</c:v>
                </c:pt>
                <c:pt idx="130">
                  <c:v>2022</c:v>
                </c:pt>
                <c:pt idx="131">
                  <c:v>2022</c:v>
                </c:pt>
                <c:pt idx="132">
                  <c:v>2023</c:v>
                </c:pt>
                <c:pt idx="133">
                  <c:v>2023</c:v>
                </c:pt>
                <c:pt idx="134">
                  <c:v>2023</c:v>
                </c:pt>
                <c:pt idx="135">
                  <c:v>2023</c:v>
                </c:pt>
                <c:pt idx="136">
                  <c:v>2023</c:v>
                </c:pt>
                <c:pt idx="137">
                  <c:v>2023</c:v>
                </c:pt>
                <c:pt idx="138">
                  <c:v>2023</c:v>
                </c:pt>
                <c:pt idx="139">
                  <c:v>2023</c:v>
                </c:pt>
                <c:pt idx="140">
                  <c:v>2023</c:v>
                </c:pt>
                <c:pt idx="141">
                  <c:v>2023</c:v>
                </c:pt>
                <c:pt idx="142">
                  <c:v>2023</c:v>
                </c:pt>
                <c:pt idx="143">
                  <c:v>2023</c:v>
                </c:pt>
                <c:pt idx="144">
                  <c:v>2024</c:v>
                </c:pt>
                <c:pt idx="145">
                  <c:v>2024</c:v>
                </c:pt>
                <c:pt idx="146">
                  <c:v>2024</c:v>
                </c:pt>
                <c:pt idx="147">
                  <c:v>2024</c:v>
                </c:pt>
                <c:pt idx="148">
                  <c:v>2024</c:v>
                </c:pt>
                <c:pt idx="149">
                  <c:v>2024</c:v>
                </c:pt>
                <c:pt idx="150">
                  <c:v>2024</c:v>
                </c:pt>
                <c:pt idx="151">
                  <c:v>2024</c:v>
                </c:pt>
                <c:pt idx="152">
                  <c:v>2024</c:v>
                </c:pt>
                <c:pt idx="153">
                  <c:v>2024</c:v>
                </c:pt>
                <c:pt idx="154">
                  <c:v>2024</c:v>
                </c:pt>
                <c:pt idx="155">
                  <c:v>2024</c:v>
                </c:pt>
                <c:pt idx="156">
                  <c:v>2025</c:v>
                </c:pt>
                <c:pt idx="157">
                  <c:v>2025</c:v>
                </c:pt>
                <c:pt idx="158">
                  <c:v>2025</c:v>
                </c:pt>
                <c:pt idx="159">
                  <c:v>2025</c:v>
                </c:pt>
                <c:pt idx="160">
                  <c:v>2025</c:v>
                </c:pt>
                <c:pt idx="161">
                  <c:v>2025</c:v>
                </c:pt>
                <c:pt idx="162">
                  <c:v>2025</c:v>
                </c:pt>
                <c:pt idx="163">
                  <c:v>2025</c:v>
                </c:pt>
                <c:pt idx="164">
                  <c:v>2025</c:v>
                </c:pt>
                <c:pt idx="165">
                  <c:v>2025</c:v>
                </c:pt>
                <c:pt idx="166">
                  <c:v>2025</c:v>
                </c:pt>
                <c:pt idx="167">
                  <c:v>2025</c:v>
                </c:pt>
                <c:pt idx="168">
                  <c:v>2026</c:v>
                </c:pt>
                <c:pt idx="169">
                  <c:v>2026</c:v>
                </c:pt>
                <c:pt idx="170">
                  <c:v>2026</c:v>
                </c:pt>
                <c:pt idx="171">
                  <c:v>2026</c:v>
                </c:pt>
                <c:pt idx="172">
                  <c:v>2026</c:v>
                </c:pt>
                <c:pt idx="173">
                  <c:v>2026</c:v>
                </c:pt>
                <c:pt idx="174">
                  <c:v>2026</c:v>
                </c:pt>
                <c:pt idx="175">
                  <c:v>2026</c:v>
                </c:pt>
              </c:strCache>
            </c:strRef>
          </c:cat>
          <c:val>
            <c:numRef>
              <c:f>Sheet1!$B$2:$B$177</c:f>
              <c:numCache>
                <c:formatCode>General</c:formatCode>
                <c:ptCount val="176"/>
                <c:pt idx="0">
                  <c:v>0.19365585356906054</c:v>
                </c:pt>
                <c:pt idx="1">
                  <c:v>0.19473577372150325</c:v>
                </c:pt>
                <c:pt idx="2">
                  <c:v>0.19495390784816088</c:v>
                </c:pt>
                <c:pt idx="3">
                  <c:v>0.20606478637082248</c:v>
                </c:pt>
                <c:pt idx="4">
                  <c:v>0.21634311912827944</c:v>
                </c:pt>
                <c:pt idx="5">
                  <c:v>0.19098047158471623</c:v>
                </c:pt>
                <c:pt idx="6">
                  <c:v>0.2001718068926562</c:v>
                </c:pt>
                <c:pt idx="7">
                  <c:v>0.19344227327383823</c:v>
                </c:pt>
                <c:pt idx="8">
                  <c:v>0.19590453424740722</c:v>
                </c:pt>
                <c:pt idx="9">
                  <c:v>0.2048051151988547</c:v>
                </c:pt>
                <c:pt idx="10">
                  <c:v>0.20224721165872472</c:v>
                </c:pt>
                <c:pt idx="11">
                  <c:v>0.19887023525745914</c:v>
                </c:pt>
                <c:pt idx="12">
                  <c:v>0.19793278735429568</c:v>
                </c:pt>
                <c:pt idx="13">
                  <c:v>0.2048461678292456</c:v>
                </c:pt>
                <c:pt idx="14">
                  <c:v>0.19599129329746298</c:v>
                </c:pt>
                <c:pt idx="15">
                  <c:v>0.20173611072509043</c:v>
                </c:pt>
                <c:pt idx="16">
                  <c:v>0.1922108229749039</c:v>
                </c:pt>
                <c:pt idx="17">
                  <c:v>0.20361291301272635</c:v>
                </c:pt>
                <c:pt idx="18">
                  <c:v>0.19134880802453133</c:v>
                </c:pt>
                <c:pt idx="19">
                  <c:v>0.199885181931466</c:v>
                </c:pt>
                <c:pt idx="20">
                  <c:v>0.20093645060158297</c:v>
                </c:pt>
                <c:pt idx="21">
                  <c:v>0.19608461714929265</c:v>
                </c:pt>
                <c:pt idx="22">
                  <c:v>0.1977168973282215</c:v>
                </c:pt>
                <c:pt idx="23">
                  <c:v>0.19424618008492608</c:v>
                </c:pt>
                <c:pt idx="24">
                  <c:v>0.20579634571183159</c:v>
                </c:pt>
                <c:pt idx="25">
                  <c:v>0.19097478686789265</c:v>
                </c:pt>
                <c:pt idx="26">
                  <c:v>0.20064522785878244</c:v>
                </c:pt>
                <c:pt idx="27">
                  <c:v>0.20248852332424244</c:v>
                </c:pt>
                <c:pt idx="28">
                  <c:v>0.19966052303783827</c:v>
                </c:pt>
                <c:pt idx="29">
                  <c:v>0.19465479023920734</c:v>
                </c:pt>
                <c:pt idx="30">
                  <c:v>0.20245836081085142</c:v>
                </c:pt>
                <c:pt idx="31">
                  <c:v>0.1965358538309137</c:v>
                </c:pt>
                <c:pt idx="32">
                  <c:v>0.20229968261860334</c:v>
                </c:pt>
                <c:pt idx="33">
                  <c:v>0.1977194989692902</c:v>
                </c:pt>
                <c:pt idx="34">
                  <c:v>0.19789383982777178</c:v>
                </c:pt>
                <c:pt idx="35">
                  <c:v>0.2020495369859216</c:v>
                </c:pt>
                <c:pt idx="36">
                  <c:v>0.20552132855502342</c:v>
                </c:pt>
                <c:pt idx="37">
                  <c:v>0.19215366293577885</c:v>
                </c:pt>
                <c:pt idx="38">
                  <c:v>0.20364743916022437</c:v>
                </c:pt>
                <c:pt idx="39">
                  <c:v>0.19671676089547577</c:v>
                </c:pt>
                <c:pt idx="40">
                  <c:v>0.19849060248683958</c:v>
                </c:pt>
                <c:pt idx="41">
                  <c:v>0.20171600185887537</c:v>
                </c:pt>
                <c:pt idx="42">
                  <c:v>0.2026743630780638</c:v>
                </c:pt>
                <c:pt idx="43">
                  <c:v>0.20540827874166664</c:v>
                </c:pt>
                <c:pt idx="44">
                  <c:v>0.20742672577589527</c:v>
                </c:pt>
                <c:pt idx="45">
                  <c:v>0.19021322496864645</c:v>
                </c:pt>
                <c:pt idx="46">
                  <c:v>0.19883643815665303</c:v>
                </c:pt>
                <c:pt idx="47">
                  <c:v>0.20192544819475594</c:v>
                </c:pt>
                <c:pt idx="48">
                  <c:v>0.20870833559506585</c:v>
                </c:pt>
                <c:pt idx="49">
                  <c:v>0.20370507408937433</c:v>
                </c:pt>
                <c:pt idx="50">
                  <c:v>0.19475506842059973</c:v>
                </c:pt>
                <c:pt idx="51">
                  <c:v>0.1969493073035814</c:v>
                </c:pt>
                <c:pt idx="52">
                  <c:v>0.19660920456591233</c:v>
                </c:pt>
                <c:pt idx="53">
                  <c:v>0.2025976438511497</c:v>
                </c:pt>
                <c:pt idx="54">
                  <c:v>0.19356954378104282</c:v>
                </c:pt>
                <c:pt idx="55">
                  <c:v>0.19737743369568803</c:v>
                </c:pt>
                <c:pt idx="56">
                  <c:v>0.19884938090746992</c:v>
                </c:pt>
                <c:pt idx="57">
                  <c:v>0.200753234880799</c:v>
                </c:pt>
                <c:pt idx="58">
                  <c:v>0.19336620305899246</c:v>
                </c:pt>
                <c:pt idx="59">
                  <c:v>0.1979529677610068</c:v>
                </c:pt>
                <c:pt idx="60">
                  <c:v>0.19503809835309743</c:v>
                </c:pt>
                <c:pt idx="61">
                  <c:v>0.1938574916274092</c:v>
                </c:pt>
                <c:pt idx="62">
                  <c:v>0.1993959346550913</c:v>
                </c:pt>
                <c:pt idx="63">
                  <c:v>0.19790888864636935</c:v>
                </c:pt>
                <c:pt idx="64">
                  <c:v>0.19765780569290453</c:v>
                </c:pt>
                <c:pt idx="65">
                  <c:v>0.20042347735391217</c:v>
                </c:pt>
                <c:pt idx="66">
                  <c:v>0.19535973590627181</c:v>
                </c:pt>
                <c:pt idx="67">
                  <c:v>0.1979168328666214</c:v>
                </c:pt>
                <c:pt idx="68">
                  <c:v>0.19754753909327286</c:v>
                </c:pt>
                <c:pt idx="69">
                  <c:v>0.195076978609138</c:v>
                </c:pt>
                <c:pt idx="70">
                  <c:v>0.19481448206985752</c:v>
                </c:pt>
                <c:pt idx="71">
                  <c:v>0.19757933723437618</c:v>
                </c:pt>
                <c:pt idx="72">
                  <c:v>0.18958420959736294</c:v>
                </c:pt>
                <c:pt idx="73">
                  <c:v>0.19753028964407865</c:v>
                </c:pt>
                <c:pt idx="74">
                  <c:v>0.20262176636872375</c:v>
                </c:pt>
                <c:pt idx="75">
                  <c:v>0.1983115187828845</c:v>
                </c:pt>
                <c:pt idx="76">
                  <c:v>0.19714410810824334</c:v>
                </c:pt>
                <c:pt idx="77">
                  <c:v>0.19930624992036455</c:v>
                </c:pt>
                <c:pt idx="78">
                  <c:v>0.1950211392499018</c:v>
                </c:pt>
                <c:pt idx="79">
                  <c:v>0.19326682054103858</c:v>
                </c:pt>
                <c:pt idx="80">
                  <c:v>0.19249787043388772</c:v>
                </c:pt>
                <c:pt idx="81">
                  <c:v>0.20273549125263515</c:v>
                </c:pt>
                <c:pt idx="82">
                  <c:v>0.2026215854314854</c:v>
                </c:pt>
                <c:pt idx="83">
                  <c:v>0.21532404150715323</c:v>
                </c:pt>
                <c:pt idx="84">
                  <c:v>0.20333598380783993</c:v>
                </c:pt>
                <c:pt idx="85">
                  <c:v>0.1973646569929527</c:v>
                </c:pt>
                <c:pt idx="86">
                  <c:v>0.20206867552725288</c:v>
                </c:pt>
                <c:pt idx="87">
                  <c:v>0.19563015122408473</c:v>
                </c:pt>
                <c:pt idx="88">
                  <c:v>0.21000121235541788</c:v>
                </c:pt>
                <c:pt idx="89">
                  <c:v>0.19857239941453944</c:v>
                </c:pt>
                <c:pt idx="90">
                  <c:v>0.1976069988908588</c:v>
                </c:pt>
                <c:pt idx="91">
                  <c:v>0.20236896133940982</c:v>
                </c:pt>
                <c:pt idx="92">
                  <c:v>0.19876188667559616</c:v>
                </c:pt>
                <c:pt idx="93">
                  <c:v>0.19339097315917997</c:v>
                </c:pt>
                <c:pt idx="94">
                  <c:v>0.19309359160539674</c:v>
                </c:pt>
                <c:pt idx="95">
                  <c:v>0.1925947745619474</c:v>
                </c:pt>
                <c:pt idx="96">
                  <c:v>0.19881242509962718</c:v>
                </c:pt>
                <c:pt idx="97">
                  <c:v>0.21326546829141366</c:v>
                </c:pt>
                <c:pt idx="98">
                  <c:v>0.23130661587249268</c:v>
                </c:pt>
                <c:pt idx="99">
                  <c:v>0.21062934195289226</c:v>
                </c:pt>
                <c:pt idx="100">
                  <c:v>0.20201443608794598</c:v>
                </c:pt>
                <c:pt idx="101">
                  <c:v>0.1950201925185619</c:v>
                </c:pt>
                <c:pt idx="102">
                  <c:v>0.18538711861277468</c:v>
                </c:pt>
                <c:pt idx="103">
                  <c:v>0.176078527526277</c:v>
                </c:pt>
                <c:pt idx="104">
                  <c:v>0.18623671873817416</c:v>
                </c:pt>
                <c:pt idx="105">
                  <c:v>0.18947904042148508</c:v>
                </c:pt>
                <c:pt idx="106">
                  <c:v>0.18163115218620082</c:v>
                </c:pt>
                <c:pt idx="107">
                  <c:v>0.1949982392069332</c:v>
                </c:pt>
                <c:pt idx="108">
                  <c:v>0.1959899725948855</c:v>
                </c:pt>
                <c:pt idx="109">
                  <c:v>0.19520482846515197</c:v>
                </c:pt>
                <c:pt idx="110">
                  <c:v>0.18900221272178389</c:v>
                </c:pt>
                <c:pt idx="111">
                  <c:v>0.18428200898388453</c:v>
                </c:pt>
                <c:pt idx="112">
                  <c:v>0.18434419723291862</c:v>
                </c:pt>
                <c:pt idx="113">
                  <c:v>0.1866324240529117</c:v>
                </c:pt>
                <c:pt idx="114">
                  <c:v>0.18682707399865894</c:v>
                </c:pt>
                <c:pt idx="115">
                  <c:v>0.18316739988557662</c:v>
                </c:pt>
                <c:pt idx="116">
                  <c:v>0.18931573360681253</c:v>
                </c:pt>
                <c:pt idx="117">
                  <c:v>0.18071500996452927</c:v>
                </c:pt>
                <c:pt idx="118">
                  <c:v>0.18322881264655871</c:v>
                </c:pt>
                <c:pt idx="119">
                  <c:v>0.19270714468618796</c:v>
                </c:pt>
                <c:pt idx="120">
                  <c:v>0.20064690134225477</c:v>
                </c:pt>
                <c:pt idx="121">
                  <c:v>0.20154477810901758</c:v>
                </c:pt>
                <c:pt idx="122">
                  <c:v>0.18894155795662976</c:v>
                </c:pt>
                <c:pt idx="123">
                  <c:v>0.19774686358591576</c:v>
                </c:pt>
                <c:pt idx="124">
                  <c:v>0.20079475295703686</c:v>
                </c:pt>
                <c:pt idx="125">
                  <c:v>0.20965550026332028</c:v>
                </c:pt>
                <c:pt idx="126">
                  <c:v>0.2025706811269819</c:v>
                </c:pt>
                <c:pt idx="127">
                  <c:v>0.20217652610241413</c:v>
                </c:pt>
                <c:pt idx="128">
                  <c:v>0.20691962554088889</c:v>
                </c:pt>
                <c:pt idx="129">
                  <c:v>0.19741654270748185</c:v>
                </c:pt>
                <c:pt idx="130">
                  <c:v>0.19302471365126256</c:v>
                </c:pt>
                <c:pt idx="131">
                  <c:v>0.20459620045538426</c:v>
                </c:pt>
                <c:pt idx="132">
                  <c:v>0.19734371202371234</c:v>
                </c:pt>
                <c:pt idx="133">
                  <c:v>0.19684613943490423</c:v>
                </c:pt>
                <c:pt idx="134">
                  <c:v>0.19342807462089112</c:v>
                </c:pt>
                <c:pt idx="135">
                  <c:v>0.19399675830548566</c:v>
                </c:pt>
                <c:pt idx="136">
                  <c:v>0.1888509091891753</c:v>
                </c:pt>
                <c:pt idx="137">
                  <c:v>0.18158105456090676</c:v>
                </c:pt>
                <c:pt idx="138">
                  <c:v>0.1772286694843112</c:v>
                </c:pt>
                <c:pt idx="139">
                  <c:v>0.179914294242114</c:v>
                </c:pt>
                <c:pt idx="140">
                  <c:v>0.18415398191226665</c:v>
                </c:pt>
                <c:pt idx="141">
                  <c:v>0.18228531595950728</c:v>
                </c:pt>
                <c:pt idx="142">
                  <c:v>0.17890895928544628</c:v>
                </c:pt>
                <c:pt idx="143">
                  <c:v>0.19914425306772085</c:v>
                </c:pt>
                <c:pt idx="144">
                  <c:v>0.1973974749037721</c:v>
                </c:pt>
                <c:pt idx="145">
                  <c:v>0.18823472198651126</c:v>
                </c:pt>
                <c:pt idx="146">
                  <c:v>0.1849713617576707</c:v>
                </c:pt>
                <c:pt idx="147">
                  <c:v>0.18658389496934352</c:v>
                </c:pt>
                <c:pt idx="148">
                  <c:v>0.18469244512176572</c:v>
                </c:pt>
                <c:pt idx="149">
                  <c:v>0.18360131101149185</c:v>
                </c:pt>
                <c:pt idx="150">
                  <c:v>0.18833655732131535</c:v>
                </c:pt>
                <c:pt idx="151">
                  <c:v>0.18987303414202428</c:v>
                </c:pt>
                <c:pt idx="152">
                  <c:v>0.18862959078859187</c:v>
                </c:pt>
                <c:pt idx="153">
                  <c:v>0.18430254310636576</c:v>
                </c:pt>
                <c:pt idx="154">
                  <c:v>0.1830815995615707</c:v>
                </c:pt>
                <c:pt idx="155">
                  <c:v>0.19851755381178748</c:v>
                </c:pt>
                <c:pt idx="156">
                  <c:v>0.19430891138675122</c:v>
                </c:pt>
                <c:pt idx="157">
                  <c:v>0.2009204408142949</c:v>
                </c:pt>
                <c:pt idx="158">
                  <c:v>0.20471032682143803</c:v>
                </c:pt>
                <c:pt idx="159">
                  <c:v>0.20298261169831697</c:v>
                </c:pt>
                <c:pt idx="160">
                  <c:v>0.19220815773041008</c:v>
                </c:pt>
                <c:pt idx="161">
                  <c:v>0.18848949586501523</c:v>
                </c:pt>
                <c:pt idx="162">
                  <c:v>0.1857934098301044</c:v>
                </c:pt>
                <c:pt idx="163">
                  <c:v>0.18514053054189647</c:v>
                </c:pt>
                <c:pt idx="164">
                  <c:v>0.17741843066719526</c:v>
                </c:pt>
                <c:pt idx="165">
                  <c:v>0.17418990182190325</c:v>
                </c:pt>
                <c:pt idx="166">
                  <c:v>0.1750725163845918</c:v>
                </c:pt>
                <c:pt idx="167">
                  <c:v>0.19884795466361418</c:v>
                </c:pt>
                <c:pt idx="168">
                  <c:v>0.19247871751080292</c:v>
                </c:pt>
                <c:pt idx="169">
                  <c:v>0.19510744889792997</c:v>
                </c:pt>
                <c:pt idx="170">
                  <c:v>0.20235003004284294</c:v>
                </c:pt>
                <c:pt idx="171">
                  <c:v>0.18812683151864962</c:v>
                </c:pt>
                <c:pt idx="172">
                  <c:v>0.18142650875988076</c:v>
                </c:pt>
                <c:pt idx="173">
                  <c:v>0.18751351850094405</c:v>
                </c:pt>
                <c:pt idx="174">
                  <c:v>0.18953147021053254</c:v>
                </c:pt>
                <c:pt idx="175">
                  <c:v>0.18282205868264312</c:v>
                </c:pt>
              </c:numCache>
            </c:numRef>
          </c:val>
          <c:smooth val="0"/>
        </c:ser>
        <c:ser>
          <c:idx val="1"/>
          <c:order val="1"/>
          <c:tx>
            <c:strRef>
              <c:f>Sheet1!$C$1</c:f>
              <c:strCache>
                <c:ptCount val="1"/>
                <c:pt idx="0">
                  <c:v>금</c:v>
                </c:pt>
              </c:strCache>
            </c:strRef>
          </c:tx>
          <c:spPr>
            <a:ln w="25400">
              <a:solidFill>
                <a:srgbClr val="C9A227"/>
              </a:solidFill>
              <a:prstDash val="dash"/>
            </a:ln>
          </c:spPr>
          <c:marker>
            <c:symbol val="none"/>
          </c:marker>
          <c:cat>
            <c:strRef>
              <c:f>Sheet1!$A$2:$A$177</c:f>
              <c:strCache>
                <c:ptCount val="176"/>
                <c:pt idx="0">
                  <c:v>2012</c:v>
                </c:pt>
                <c:pt idx="1">
                  <c:v>2012</c:v>
                </c:pt>
                <c:pt idx="2">
                  <c:v>2012</c:v>
                </c:pt>
                <c:pt idx="3">
                  <c:v>2012</c:v>
                </c:pt>
                <c:pt idx="4">
                  <c:v>2012</c:v>
                </c:pt>
                <c:pt idx="5">
                  <c:v>2012</c:v>
                </c:pt>
                <c:pt idx="6">
                  <c:v>2012</c:v>
                </c:pt>
                <c:pt idx="7">
                  <c:v>2012</c:v>
                </c:pt>
                <c:pt idx="8">
                  <c:v>2012</c:v>
                </c:pt>
                <c:pt idx="9">
                  <c:v>2012</c:v>
                </c:pt>
                <c:pt idx="10">
                  <c:v>2012</c:v>
                </c:pt>
                <c:pt idx="11">
                  <c:v>2012</c:v>
                </c:pt>
                <c:pt idx="12">
                  <c:v>2013</c:v>
                </c:pt>
                <c:pt idx="13">
                  <c:v>2013</c:v>
                </c:pt>
                <c:pt idx="14">
                  <c:v>2013</c:v>
                </c:pt>
                <c:pt idx="15">
                  <c:v>2013</c:v>
                </c:pt>
                <c:pt idx="16">
                  <c:v>2013</c:v>
                </c:pt>
                <c:pt idx="17">
                  <c:v>2013</c:v>
                </c:pt>
                <c:pt idx="18">
                  <c:v>2013</c:v>
                </c:pt>
                <c:pt idx="19">
                  <c:v>2013</c:v>
                </c:pt>
                <c:pt idx="20">
                  <c:v>2013</c:v>
                </c:pt>
                <c:pt idx="21">
                  <c:v>2013</c:v>
                </c:pt>
                <c:pt idx="22">
                  <c:v>2013</c:v>
                </c:pt>
                <c:pt idx="23">
                  <c:v>2013</c:v>
                </c:pt>
                <c:pt idx="24">
                  <c:v>2014</c:v>
                </c:pt>
                <c:pt idx="25">
                  <c:v>2014</c:v>
                </c:pt>
                <c:pt idx="26">
                  <c:v>2014</c:v>
                </c:pt>
                <c:pt idx="27">
                  <c:v>2014</c:v>
                </c:pt>
                <c:pt idx="28">
                  <c:v>2014</c:v>
                </c:pt>
                <c:pt idx="29">
                  <c:v>2014</c:v>
                </c:pt>
                <c:pt idx="30">
                  <c:v>2014</c:v>
                </c:pt>
                <c:pt idx="31">
                  <c:v>2014</c:v>
                </c:pt>
                <c:pt idx="32">
                  <c:v>2014</c:v>
                </c:pt>
                <c:pt idx="33">
                  <c:v>2014</c:v>
                </c:pt>
                <c:pt idx="34">
                  <c:v>2014</c:v>
                </c:pt>
                <c:pt idx="35">
                  <c:v>2014</c:v>
                </c:pt>
                <c:pt idx="36">
                  <c:v>2015</c:v>
                </c:pt>
                <c:pt idx="37">
                  <c:v>2015</c:v>
                </c:pt>
                <c:pt idx="38">
                  <c:v>2015</c:v>
                </c:pt>
                <c:pt idx="39">
                  <c:v>2015</c:v>
                </c:pt>
                <c:pt idx="40">
                  <c:v>2015</c:v>
                </c:pt>
                <c:pt idx="41">
                  <c:v>2015</c:v>
                </c:pt>
                <c:pt idx="42">
                  <c:v>2015</c:v>
                </c:pt>
                <c:pt idx="43">
                  <c:v>2015</c:v>
                </c:pt>
                <c:pt idx="44">
                  <c:v>2015</c:v>
                </c:pt>
                <c:pt idx="45">
                  <c:v>2015</c:v>
                </c:pt>
                <c:pt idx="46">
                  <c:v>2015</c:v>
                </c:pt>
                <c:pt idx="47">
                  <c:v>2015</c:v>
                </c:pt>
                <c:pt idx="48">
                  <c:v>2016</c:v>
                </c:pt>
                <c:pt idx="49">
                  <c:v>2016</c:v>
                </c:pt>
                <c:pt idx="50">
                  <c:v>2016</c:v>
                </c:pt>
                <c:pt idx="51">
                  <c:v>2016</c:v>
                </c:pt>
                <c:pt idx="52">
                  <c:v>2016</c:v>
                </c:pt>
                <c:pt idx="53">
                  <c:v>2016</c:v>
                </c:pt>
                <c:pt idx="54">
                  <c:v>2016</c:v>
                </c:pt>
                <c:pt idx="55">
                  <c:v>2016</c:v>
                </c:pt>
                <c:pt idx="56">
                  <c:v>2016</c:v>
                </c:pt>
                <c:pt idx="57">
                  <c:v>2016</c:v>
                </c:pt>
                <c:pt idx="58">
                  <c:v>2016</c:v>
                </c:pt>
                <c:pt idx="59">
                  <c:v>2016</c:v>
                </c:pt>
                <c:pt idx="60">
                  <c:v>2017</c:v>
                </c:pt>
                <c:pt idx="61">
                  <c:v>2017</c:v>
                </c:pt>
                <c:pt idx="62">
                  <c:v>2017</c:v>
                </c:pt>
                <c:pt idx="63">
                  <c:v>2017</c:v>
                </c:pt>
                <c:pt idx="64">
                  <c:v>2017</c:v>
                </c:pt>
                <c:pt idx="65">
                  <c:v>2017</c:v>
                </c:pt>
                <c:pt idx="66">
                  <c:v>2017</c:v>
                </c:pt>
                <c:pt idx="67">
                  <c:v>2017</c:v>
                </c:pt>
                <c:pt idx="68">
                  <c:v>2017</c:v>
                </c:pt>
                <c:pt idx="69">
                  <c:v>2017</c:v>
                </c:pt>
                <c:pt idx="70">
                  <c:v>2017</c:v>
                </c:pt>
                <c:pt idx="71">
                  <c:v>2017</c:v>
                </c:pt>
                <c:pt idx="72">
                  <c:v>2018</c:v>
                </c:pt>
                <c:pt idx="73">
                  <c:v>2018</c:v>
                </c:pt>
                <c:pt idx="74">
                  <c:v>2018</c:v>
                </c:pt>
                <c:pt idx="75">
                  <c:v>2018</c:v>
                </c:pt>
                <c:pt idx="76">
                  <c:v>2018</c:v>
                </c:pt>
                <c:pt idx="77">
                  <c:v>2018</c:v>
                </c:pt>
                <c:pt idx="78">
                  <c:v>2018</c:v>
                </c:pt>
                <c:pt idx="79">
                  <c:v>2018</c:v>
                </c:pt>
                <c:pt idx="80">
                  <c:v>2018</c:v>
                </c:pt>
                <c:pt idx="81">
                  <c:v>2018</c:v>
                </c:pt>
                <c:pt idx="82">
                  <c:v>2018</c:v>
                </c:pt>
                <c:pt idx="83">
                  <c:v>2018</c:v>
                </c:pt>
                <c:pt idx="84">
                  <c:v>2019</c:v>
                </c:pt>
                <c:pt idx="85">
                  <c:v>2019</c:v>
                </c:pt>
                <c:pt idx="86">
                  <c:v>2019</c:v>
                </c:pt>
                <c:pt idx="87">
                  <c:v>2019</c:v>
                </c:pt>
                <c:pt idx="88">
                  <c:v>2019</c:v>
                </c:pt>
                <c:pt idx="89">
                  <c:v>2019</c:v>
                </c:pt>
                <c:pt idx="90">
                  <c:v>2019</c:v>
                </c:pt>
                <c:pt idx="91">
                  <c:v>2019</c:v>
                </c:pt>
                <c:pt idx="92">
                  <c:v>2019</c:v>
                </c:pt>
                <c:pt idx="93">
                  <c:v>2019</c:v>
                </c:pt>
                <c:pt idx="94">
                  <c:v>2019</c:v>
                </c:pt>
                <c:pt idx="95">
                  <c:v>2019</c:v>
                </c:pt>
                <c:pt idx="96">
                  <c:v>2020</c:v>
                </c:pt>
                <c:pt idx="97">
                  <c:v>2020</c:v>
                </c:pt>
                <c:pt idx="98">
                  <c:v>2020</c:v>
                </c:pt>
                <c:pt idx="99">
                  <c:v>2020</c:v>
                </c:pt>
                <c:pt idx="100">
                  <c:v>2020</c:v>
                </c:pt>
                <c:pt idx="101">
                  <c:v>2020</c:v>
                </c:pt>
                <c:pt idx="102">
                  <c:v>2020</c:v>
                </c:pt>
                <c:pt idx="103">
                  <c:v>2020</c:v>
                </c:pt>
                <c:pt idx="104">
                  <c:v>2020</c:v>
                </c:pt>
                <c:pt idx="105">
                  <c:v>2020</c:v>
                </c:pt>
                <c:pt idx="106">
                  <c:v>2020</c:v>
                </c:pt>
                <c:pt idx="107">
                  <c:v>2020</c:v>
                </c:pt>
                <c:pt idx="108">
                  <c:v>2021</c:v>
                </c:pt>
                <c:pt idx="109">
                  <c:v>2021</c:v>
                </c:pt>
                <c:pt idx="110">
                  <c:v>2021</c:v>
                </c:pt>
                <c:pt idx="111">
                  <c:v>2021</c:v>
                </c:pt>
                <c:pt idx="112">
                  <c:v>2021</c:v>
                </c:pt>
                <c:pt idx="113">
                  <c:v>2021</c:v>
                </c:pt>
                <c:pt idx="114">
                  <c:v>2021</c:v>
                </c:pt>
                <c:pt idx="115">
                  <c:v>2021</c:v>
                </c:pt>
                <c:pt idx="116">
                  <c:v>2021</c:v>
                </c:pt>
                <c:pt idx="117">
                  <c:v>2021</c:v>
                </c:pt>
                <c:pt idx="118">
                  <c:v>2021</c:v>
                </c:pt>
                <c:pt idx="119">
                  <c:v>2021</c:v>
                </c:pt>
                <c:pt idx="120">
                  <c:v>2022</c:v>
                </c:pt>
                <c:pt idx="121">
                  <c:v>2022</c:v>
                </c:pt>
                <c:pt idx="122">
                  <c:v>2022</c:v>
                </c:pt>
                <c:pt idx="123">
                  <c:v>2022</c:v>
                </c:pt>
                <c:pt idx="124">
                  <c:v>2022</c:v>
                </c:pt>
                <c:pt idx="125">
                  <c:v>2022</c:v>
                </c:pt>
                <c:pt idx="126">
                  <c:v>2022</c:v>
                </c:pt>
                <c:pt idx="127">
                  <c:v>2022</c:v>
                </c:pt>
                <c:pt idx="128">
                  <c:v>2022</c:v>
                </c:pt>
                <c:pt idx="129">
                  <c:v>2022</c:v>
                </c:pt>
                <c:pt idx="130">
                  <c:v>2022</c:v>
                </c:pt>
                <c:pt idx="131">
                  <c:v>2022</c:v>
                </c:pt>
                <c:pt idx="132">
                  <c:v>2023</c:v>
                </c:pt>
                <c:pt idx="133">
                  <c:v>2023</c:v>
                </c:pt>
                <c:pt idx="134">
                  <c:v>2023</c:v>
                </c:pt>
                <c:pt idx="135">
                  <c:v>2023</c:v>
                </c:pt>
                <c:pt idx="136">
                  <c:v>2023</c:v>
                </c:pt>
                <c:pt idx="137">
                  <c:v>2023</c:v>
                </c:pt>
                <c:pt idx="138">
                  <c:v>2023</c:v>
                </c:pt>
                <c:pt idx="139">
                  <c:v>2023</c:v>
                </c:pt>
                <c:pt idx="140">
                  <c:v>2023</c:v>
                </c:pt>
                <c:pt idx="141">
                  <c:v>2023</c:v>
                </c:pt>
                <c:pt idx="142">
                  <c:v>2023</c:v>
                </c:pt>
                <c:pt idx="143">
                  <c:v>2023</c:v>
                </c:pt>
                <c:pt idx="144">
                  <c:v>2024</c:v>
                </c:pt>
                <c:pt idx="145">
                  <c:v>2024</c:v>
                </c:pt>
                <c:pt idx="146">
                  <c:v>2024</c:v>
                </c:pt>
                <c:pt idx="147">
                  <c:v>2024</c:v>
                </c:pt>
                <c:pt idx="148">
                  <c:v>2024</c:v>
                </c:pt>
                <c:pt idx="149">
                  <c:v>2024</c:v>
                </c:pt>
                <c:pt idx="150">
                  <c:v>2024</c:v>
                </c:pt>
                <c:pt idx="151">
                  <c:v>2024</c:v>
                </c:pt>
                <c:pt idx="152">
                  <c:v>2024</c:v>
                </c:pt>
                <c:pt idx="153">
                  <c:v>2024</c:v>
                </c:pt>
                <c:pt idx="154">
                  <c:v>2024</c:v>
                </c:pt>
                <c:pt idx="155">
                  <c:v>2024</c:v>
                </c:pt>
                <c:pt idx="156">
                  <c:v>2025</c:v>
                </c:pt>
                <c:pt idx="157">
                  <c:v>2025</c:v>
                </c:pt>
                <c:pt idx="158">
                  <c:v>2025</c:v>
                </c:pt>
                <c:pt idx="159">
                  <c:v>2025</c:v>
                </c:pt>
                <c:pt idx="160">
                  <c:v>2025</c:v>
                </c:pt>
                <c:pt idx="161">
                  <c:v>2025</c:v>
                </c:pt>
                <c:pt idx="162">
                  <c:v>2025</c:v>
                </c:pt>
                <c:pt idx="163">
                  <c:v>2025</c:v>
                </c:pt>
                <c:pt idx="164">
                  <c:v>2025</c:v>
                </c:pt>
                <c:pt idx="165">
                  <c:v>2025</c:v>
                </c:pt>
                <c:pt idx="166">
                  <c:v>2025</c:v>
                </c:pt>
                <c:pt idx="167">
                  <c:v>2025</c:v>
                </c:pt>
                <c:pt idx="168">
                  <c:v>2026</c:v>
                </c:pt>
                <c:pt idx="169">
                  <c:v>2026</c:v>
                </c:pt>
                <c:pt idx="170">
                  <c:v>2026</c:v>
                </c:pt>
                <c:pt idx="171">
                  <c:v>2026</c:v>
                </c:pt>
                <c:pt idx="172">
                  <c:v>2026</c:v>
                </c:pt>
                <c:pt idx="173">
                  <c:v>2026</c:v>
                </c:pt>
                <c:pt idx="174">
                  <c:v>2026</c:v>
                </c:pt>
                <c:pt idx="175">
                  <c:v>2026</c:v>
                </c:pt>
              </c:strCache>
            </c:strRef>
          </c:cat>
          <c:val>
            <c:numRef>
              <c:f>Sheet1!$C$2:$C$177</c:f>
              <c:numCache>
                <c:formatCode>General</c:formatCode>
                <c:ptCount val="176"/>
                <c:pt idx="0">
                  <c:v>0.2071662163658917</c:v>
                </c:pt>
                <c:pt idx="1">
                  <c:v>0.1901298326756283</c:v>
                </c:pt>
                <c:pt idx="2">
                  <c:v>0.1921416234835937</c:v>
                </c:pt>
                <c:pt idx="3">
                  <c:v>0.20018886565304259</c:v>
                </c:pt>
                <c:pt idx="4">
                  <c:v>0.19729556317132296</c:v>
                </c:pt>
                <c:pt idx="5">
                  <c:v>0.19056972586373158</c:v>
                </c:pt>
                <c:pt idx="6">
                  <c:v>0.2001101937947247</c:v>
                </c:pt>
                <c:pt idx="7">
                  <c:v>0.20425513555868258</c:v>
                </c:pt>
                <c:pt idx="8">
                  <c:v>0.20499152695827677</c:v>
                </c:pt>
                <c:pt idx="9">
                  <c:v>0.19948503172671062</c:v>
                </c:pt>
                <c:pt idx="10">
                  <c:v>0.19985422035949207</c:v>
                </c:pt>
                <c:pt idx="11">
                  <c:v>0.19571392059278767</c:v>
                </c:pt>
                <c:pt idx="12">
                  <c:v>0.19720064032723605</c:v>
                </c:pt>
                <c:pt idx="13">
                  <c:v>0.19129924542998597</c:v>
                </c:pt>
                <c:pt idx="14">
                  <c:v>0.19848098100937728</c:v>
                </c:pt>
                <c:pt idx="15">
                  <c:v>0.18390779769801663</c:v>
                </c:pt>
                <c:pt idx="16">
                  <c:v>0.18884990088115494</c:v>
                </c:pt>
                <c:pt idx="17">
                  <c:v>0.1825648466914592</c:v>
                </c:pt>
                <c:pt idx="18">
                  <c:v>0.2029050513057503</c:v>
                </c:pt>
                <c:pt idx="19">
                  <c:v>0.21371190628066006</c:v>
                </c:pt>
                <c:pt idx="20">
                  <c:v>0.190877910621985</c:v>
                </c:pt>
                <c:pt idx="21">
                  <c:v>0.1990251987462889</c:v>
                </c:pt>
                <c:pt idx="22">
                  <c:v>0.18859684540289837</c:v>
                </c:pt>
                <c:pt idx="23">
                  <c:v>0.1950890249441578</c:v>
                </c:pt>
                <c:pt idx="24">
                  <c:v>0.20401962233492865</c:v>
                </c:pt>
                <c:pt idx="25">
                  <c:v>0.20048083305501263</c:v>
                </c:pt>
                <c:pt idx="26">
                  <c:v>0.1923966629046946</c:v>
                </c:pt>
                <c:pt idx="27">
                  <c:v>0.20188617646753887</c:v>
                </c:pt>
                <c:pt idx="28">
                  <c:v>0.19129036492469276</c:v>
                </c:pt>
                <c:pt idx="29">
                  <c:v>0.2077017435903426</c:v>
                </c:pt>
                <c:pt idx="30">
                  <c:v>0.1962022662424968</c:v>
                </c:pt>
                <c:pt idx="31">
                  <c:v>0.19322451535368335</c:v>
                </c:pt>
                <c:pt idx="32">
                  <c:v>0.19388321585856066</c:v>
                </c:pt>
                <c:pt idx="33">
                  <c:v>0.18943977446626578</c:v>
                </c:pt>
                <c:pt idx="34">
                  <c:v>0.1950722156024734</c:v>
                </c:pt>
                <c:pt idx="35">
                  <c:v>0.19611362605243762</c:v>
                </c:pt>
                <c:pt idx="36">
                  <c:v>0.21430492748310545</c:v>
                </c:pt>
                <c:pt idx="37">
                  <c:v>0.19320147787877628</c:v>
                </c:pt>
                <c:pt idx="38">
                  <c:v>0.197264127965799</c:v>
                </c:pt>
                <c:pt idx="39">
                  <c:v>0.19524143356598478</c:v>
                </c:pt>
                <c:pt idx="40">
                  <c:v>0.1999413710129998</c:v>
                </c:pt>
                <c:pt idx="41">
                  <c:v>0.20123973659629807</c:v>
                </c:pt>
                <c:pt idx="42">
                  <c:v>0.18609603107409464</c:v>
                </c:pt>
                <c:pt idx="43">
                  <c:v>0.21266900635614808</c:v>
                </c:pt>
                <c:pt idx="44">
                  <c:v>0.2076121282448764</c:v>
                </c:pt>
                <c:pt idx="45">
                  <c:v>0.19597850584362853</c:v>
                </c:pt>
                <c:pt idx="46">
                  <c:v>0.18820867286105206</c:v>
                </c:pt>
                <c:pt idx="47">
                  <c:v>0.20228842933608868</c:v>
                </c:pt>
                <c:pt idx="48">
                  <c:v>0.2132867286584794</c:v>
                </c:pt>
                <c:pt idx="49">
                  <c:v>0.22754657067157236</c:v>
                </c:pt>
                <c:pt idx="50">
                  <c:v>0.21391253485468045</c:v>
                </c:pt>
                <c:pt idx="51">
                  <c:v>0.22068372184962112</c:v>
                </c:pt>
                <c:pt idx="52">
                  <c:v>0.20297852869513552</c:v>
                </c:pt>
                <c:pt idx="53">
                  <c:v>0.2143162732425952</c:v>
                </c:pt>
                <c:pt idx="54">
                  <c:v>0.20768443538141515</c:v>
                </c:pt>
                <c:pt idx="55">
                  <c:v>0.1990296546643587</c:v>
                </c:pt>
                <c:pt idx="56">
                  <c:v>0.19924764417817467</c:v>
                </c:pt>
                <c:pt idx="57">
                  <c:v>0.19784177611519008</c:v>
                </c:pt>
                <c:pt idx="58">
                  <c:v>0.18384242776046889</c:v>
                </c:pt>
                <c:pt idx="59">
                  <c:v>0.1940155100276631</c:v>
                </c:pt>
                <c:pt idx="60">
                  <c:v>0.2032585350456636</c:v>
                </c:pt>
                <c:pt idx="61">
                  <c:v>0.20061030406809496</c:v>
                </c:pt>
                <c:pt idx="62">
                  <c:v>0.19877642984035507</c:v>
                </c:pt>
                <c:pt idx="63">
                  <c:v>0.19898554975285218</c:v>
                </c:pt>
                <c:pt idx="64">
                  <c:v>0.19709422684282263</c:v>
                </c:pt>
                <c:pt idx="65">
                  <c:v>0.1967627586941104</c:v>
                </c:pt>
                <c:pt idx="66">
                  <c:v>0.2010353932241965</c:v>
                </c:pt>
                <c:pt idx="67">
                  <c:v>0.2048310179003687</c:v>
                </c:pt>
                <c:pt idx="68">
                  <c:v>0.19665898487757166</c:v>
                </c:pt>
                <c:pt idx="69">
                  <c:v>0.19463959945040557</c:v>
                </c:pt>
                <c:pt idx="70">
                  <c:v>0.19549936057500036</c:v>
                </c:pt>
                <c:pt idx="71">
                  <c:v>0.20129717551026585</c:v>
                </c:pt>
                <c:pt idx="72">
                  <c:v>0.19697530028973262</c:v>
                </c:pt>
                <c:pt idx="73">
                  <c:v>0.19723146732249153</c:v>
                </c:pt>
                <c:pt idx="74">
                  <c:v>0.20244074838750803</c:v>
                </c:pt>
                <c:pt idx="75">
                  <c:v>0.1987817476522531</c:v>
                </c:pt>
                <c:pt idx="76">
                  <c:v>0.1938305655488691</c:v>
                </c:pt>
                <c:pt idx="77">
                  <c:v>0.19025702681174583</c:v>
                </c:pt>
                <c:pt idx="78">
                  <c:v>0.18822933069775258</c:v>
                </c:pt>
                <c:pt idx="79">
                  <c:v>0.18391551044877288</c:v>
                </c:pt>
                <c:pt idx="80">
                  <c:v>0.18760741203701184</c:v>
                </c:pt>
                <c:pt idx="81">
                  <c:v>0.20427113006121664</c:v>
                </c:pt>
                <c:pt idx="82">
                  <c:v>0.20149676513488587</c:v>
                </c:pt>
                <c:pt idx="83">
                  <c:v>0.21863572448655688</c:v>
                </c:pt>
                <c:pt idx="84">
                  <c:v>0.2110457892234599</c:v>
                </c:pt>
                <c:pt idx="85">
                  <c:v>0.20467559075642275</c:v>
                </c:pt>
                <c:pt idx="86">
                  <c:v>0.1964120522221413</c:v>
                </c:pt>
                <c:pt idx="87">
                  <c:v>0.19326096094570672</c:v>
                </c:pt>
                <c:pt idx="88">
                  <c:v>0.20681057466584343</c:v>
                </c:pt>
                <c:pt idx="89">
                  <c:v>0.20866580717921676</c:v>
                </c:pt>
                <c:pt idx="90">
                  <c:v>0.2047547771808408</c:v>
                </c:pt>
                <c:pt idx="91">
                  <c:v>0.2164572469937708</c:v>
                </c:pt>
                <c:pt idx="92">
                  <c:v>0.20784713006192074</c:v>
                </c:pt>
                <c:pt idx="93">
                  <c:v>0.2064023659041493</c:v>
                </c:pt>
                <c:pt idx="94">
                  <c:v>0.19543850718165456</c:v>
                </c:pt>
                <c:pt idx="95">
                  <c:v>0.20088440053952233</c:v>
                </c:pt>
                <c:pt idx="96">
                  <c:v>0.2040634444498378</c:v>
                </c:pt>
                <c:pt idx="97">
                  <c:v>0.20922431271793743</c:v>
                </c:pt>
                <c:pt idx="98">
                  <c:v>0.2182926789635227</c:v>
                </c:pt>
                <c:pt idx="99">
                  <c:v>0.21262675845528067</c:v>
                </c:pt>
                <c:pt idx="100">
                  <c:v>0.2085254514330355</c:v>
                </c:pt>
                <c:pt idx="101">
                  <c:v>0.20672872371581494</c:v>
                </c:pt>
                <c:pt idx="102">
                  <c:v>0.21407174084029928</c:v>
                </c:pt>
                <c:pt idx="103">
                  <c:v>0.20175366452116897</c:v>
                </c:pt>
                <c:pt idx="104">
                  <c:v>0.20001109361216884</c:v>
                </c:pt>
                <c:pt idx="105">
                  <c:v>0.2022844301068391</c:v>
                </c:pt>
                <c:pt idx="106">
                  <c:v>0.18006096817642436</c:v>
                </c:pt>
                <c:pt idx="107">
                  <c:v>0.20376980998607508</c:v>
                </c:pt>
                <c:pt idx="108">
                  <c:v>0.1984027324418955</c:v>
                </c:pt>
                <c:pt idx="109">
                  <c:v>0.1881692976410264</c:v>
                </c:pt>
                <c:pt idx="110">
                  <c:v>0.18591495169274197</c:v>
                </c:pt>
                <c:pt idx="111">
                  <c:v>0.18615058040174715</c:v>
                </c:pt>
                <c:pt idx="112">
                  <c:v>0.19895008349643448</c:v>
                </c:pt>
                <c:pt idx="113">
                  <c:v>0.18188579598445112</c:v>
                </c:pt>
                <c:pt idx="114">
                  <c:v>0.18360535637355654</c:v>
                </c:pt>
                <c:pt idx="115">
                  <c:v>0.18121402718282859</c:v>
                </c:pt>
                <c:pt idx="116">
                  <c:v>0.18445253815903345</c:v>
                </c:pt>
                <c:pt idx="117">
                  <c:v>0.18026871089453506</c:v>
                </c:pt>
                <c:pt idx="118">
                  <c:v>0.17949720023409532</c:v>
                </c:pt>
                <c:pt idx="119">
                  <c:v>0.19969404274813157</c:v>
                </c:pt>
                <c:pt idx="120">
                  <c:v>0.20703279629923493</c:v>
                </c:pt>
                <c:pt idx="121">
                  <c:v>0.22097854256509958</c:v>
                </c:pt>
                <c:pt idx="122">
                  <c:v>0.2186765802775806</c:v>
                </c:pt>
                <c:pt idx="123">
                  <c:v>0.2314180199751715</c:v>
                </c:pt>
                <c:pt idx="124">
                  <c:v>0.22512535384974958</c:v>
                </c:pt>
                <c:pt idx="125">
                  <c:v>0.23332407965822605</c:v>
                </c:pt>
                <c:pt idx="126">
                  <c:v>0.21328823203831274</c:v>
                </c:pt>
                <c:pt idx="127">
                  <c:v>0.21488916443895958</c:v>
                </c:pt>
                <c:pt idx="128">
                  <c:v>0.22419410872002468</c:v>
                </c:pt>
                <c:pt idx="129">
                  <c:v>0.21318042374131194</c:v>
                </c:pt>
                <c:pt idx="130">
                  <c:v>0.21755984820405672</c:v>
                </c:pt>
                <c:pt idx="131">
                  <c:v>0.2122068478891079</c:v>
                </c:pt>
                <c:pt idx="132">
                  <c:v>0.2089887111876148</c:v>
                </c:pt>
                <c:pt idx="133">
                  <c:v>0.2022077354785187</c:v>
                </c:pt>
                <c:pt idx="134">
                  <c:v>0.2043407985185204</c:v>
                </c:pt>
                <c:pt idx="135">
                  <c:v>0.20329840681337005</c:v>
                </c:pt>
                <c:pt idx="136">
                  <c:v>0.19579873267195544</c:v>
                </c:pt>
                <c:pt idx="137">
                  <c:v>0.18533698528528864</c:v>
                </c:pt>
                <c:pt idx="138">
                  <c:v>0.18570211233504239</c:v>
                </c:pt>
                <c:pt idx="139">
                  <c:v>0.18666109283217147</c:v>
                </c:pt>
                <c:pt idx="140">
                  <c:v>0.1869649791625016</c:v>
                </c:pt>
                <c:pt idx="141">
                  <c:v>0.20232434670810684</c:v>
                </c:pt>
                <c:pt idx="142">
                  <c:v>0.1923489893237866</c:v>
                </c:pt>
                <c:pt idx="143">
                  <c:v>0.19286828657832367</c:v>
                </c:pt>
                <c:pt idx="144">
                  <c:v>0.19113624234390258</c:v>
                </c:pt>
                <c:pt idx="145">
                  <c:v>0.18834378590351528</c:v>
                </c:pt>
                <c:pt idx="146">
                  <c:v>0.19923886339340835</c:v>
                </c:pt>
                <c:pt idx="147">
                  <c:v>0.20992041905931869</c:v>
                </c:pt>
                <c:pt idx="148">
                  <c:v>0.2043291616990737</c:v>
                </c:pt>
                <c:pt idx="149">
                  <c:v>0.1970081524471337</c:v>
                </c:pt>
                <c:pt idx="150">
                  <c:v>0.20450288316149265</c:v>
                </c:pt>
                <c:pt idx="151">
                  <c:v>0.2046216824228725</c:v>
                </c:pt>
                <c:pt idx="152">
                  <c:v>0.20869200010256786</c:v>
                </c:pt>
                <c:pt idx="153">
                  <c:v>0.21764117508385725</c:v>
                </c:pt>
                <c:pt idx="154">
                  <c:v>0.2043309376705464</c:v>
                </c:pt>
                <c:pt idx="155">
                  <c:v>0.20199452777071272</c:v>
                </c:pt>
                <c:pt idx="156">
                  <c:v>0.20894194175600098</c:v>
                </c:pt>
                <c:pt idx="157">
                  <c:v>0.21271893778736778</c:v>
                </c:pt>
                <c:pt idx="158">
                  <c:v>0.23639671115113364</c:v>
                </c:pt>
                <c:pt idx="159">
                  <c:v>0.24453401041296124</c:v>
                </c:pt>
                <c:pt idx="160">
                  <c:v>0.2343291730473412</c:v>
                </c:pt>
                <c:pt idx="161">
                  <c:v>0.2262627341418908</c:v>
                </c:pt>
                <c:pt idx="162">
                  <c:v>0.22179408631153527</c:v>
                </c:pt>
                <c:pt idx="163">
                  <c:v>0.22706083504797125</c:v>
                </c:pt>
                <c:pt idx="164">
                  <c:v>0.24013731766325633</c:v>
                </c:pt>
                <c:pt idx="165">
                  <c:v>0.2407106496377148</c:v>
                </c:pt>
                <c:pt idx="166">
                  <c:v>0.250440975268107</c:v>
                </c:pt>
                <c:pt idx="167">
                  <c:v>0.20265167712682217</c:v>
                </c:pt>
                <c:pt idx="168">
                  <c:v>0.21988906672490283</c:v>
                </c:pt>
                <c:pt idx="169">
                  <c:v>0.23515204333902415</c:v>
                </c:pt>
                <c:pt idx="170">
                  <c:v>0.2216619511306398</c:v>
                </c:pt>
                <c:pt idx="171">
                  <c:v>0.20319829025173292</c:v>
                </c:pt>
                <c:pt idx="172">
                  <c:v>0.1910270510653793</c:v>
                </c:pt>
                <c:pt idx="173">
                  <c:v>0.17346884849984337</c:v>
                </c:pt>
                <c:pt idx="174">
                  <c:v>0.18006731868237583</c:v>
                </c:pt>
                <c:pt idx="175">
                  <c:v>0.19135560635365656</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40495176"/>
        <c:crosses val="autoZero"/>
        <c:auto val="1"/>
        <c:lblAlgn val="ctr"/>
        <c:lblOffset val="100"/>
        <c:noMultiLvlLbl val="0"/>
        <c:tickLblSkip val="12"/>
        <c:tickMarkSkip val="12"/>
      </c:catAx>
      <c:valAx>
        <c:axId val="2140495176"/>
        <c:scaling>
          <c:max val="0.3"/>
          <c:min val="0.1"/>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118791784"/>
        <c:crosses val="autoZero"/>
      </c:valAx>
    </c:plotArea>
    <c:plotVisOnly val="1"/>
    <c:dispBlanksAs val="gap"/>
    <c:showDLblsOverMax val="0"/>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Polaris</c:v>
                </c:pt>
              </c:strCache>
            </c:strRef>
          </c:tx>
          <c:spPr>
            <a:solidFill>
              <a:srgbClr val="1E9A84"/>
            </a:solidFill>
          </c:spPr>
          <c:invertIfNegative val="0"/>
          <c:dLbls>
            <c:numFmt formatCode="0%;&quot;−&quot;0%" sourceLinked="0"/>
            <c:txPr>
              <a:bodyPr/>
              <a:lstStyle/>
              <a:p>
                <a:pPr>
                  <a:defRPr sz="700" b="0">
                    <a:solidFill>
                      <a:srgbClr val="1A1E25"/>
                    </a:solidFill>
                  </a:defRPr>
                </a:pPr>
              </a:p>
            </c:txPr>
            <c:dLblPos val="outEnd"/>
            <c:showLegendKey val="0"/>
            <c:showVal val="1"/>
            <c:showCatName val="0"/>
            <c:showSerName val="0"/>
            <c:showPercent val="0"/>
            <c:showBubbleSize val="0"/>
            <c:showLeaderLines val="1"/>
          </c:dLbls>
          <c:cat>
            <c:strRef>
              <c:f>Sheet1!$A$2:$A$5</c:f>
              <c:strCache>
                <c:ptCount val="4"/>
                <c:pt idx="0">
                  <c:v>2018년 4분기</c:v>
                </c:pt>
                <c:pt idx="1">
                  <c:v>2020년 코로나</c:v>
                </c:pt>
                <c:pt idx="2">
                  <c:v>2022년 한 해</c:v>
                </c:pt>
                <c:pt idx="3">
                  <c:v>2025년 봄</c:v>
                </c:pt>
              </c:strCache>
            </c:strRef>
          </c:cat>
          <c:val>
            <c:numRef>
              <c:f>Sheet1!$B$2:$B$5</c:f>
              <c:numCache>
                <c:formatCode>General</c:formatCode>
                <c:ptCount val="4"/>
                <c:pt idx="0">
                  <c:v>-0.112</c:v>
                </c:pt>
                <c:pt idx="1">
                  <c:v>-0.189</c:v>
                </c:pt>
                <c:pt idx="2">
                  <c:v>-0.23</c:v>
                </c:pt>
                <c:pt idx="3">
                  <c:v>-0.116</c:v>
                </c:pt>
              </c:numCache>
            </c:numRef>
          </c:val>
        </c:ser>
        <c:ser>
          <c:idx val="1"/>
          <c:order val="1"/>
          <c:tx>
            <c:strRef>
              <c:f>Sheet1!$C$1</c:f>
              <c:strCache>
                <c:ptCount val="1"/>
                <c:pt idx="0">
                  <c:v>S&amp;P500 단독</c:v>
                </c:pt>
              </c:strCache>
            </c:strRef>
          </c:tx>
          <c:spPr>
            <a:solidFill>
              <a:srgbClr val="B0862A"/>
            </a:solidFill>
          </c:spPr>
          <c:invertIfNegative val="0"/>
          <c:dLbls>
            <c:numFmt formatCode="0%;&quot;−&quot;0%" sourceLinked="0"/>
            <c:txPr>
              <a:bodyPr/>
              <a:lstStyle/>
              <a:p>
                <a:pPr>
                  <a:defRPr sz="700" b="0">
                    <a:solidFill>
                      <a:srgbClr val="1A1E25"/>
                    </a:solidFill>
                  </a:defRPr>
                </a:pPr>
              </a:p>
            </c:txPr>
            <c:dLblPos val="outEnd"/>
            <c:showLegendKey val="0"/>
            <c:showVal val="1"/>
            <c:showCatName val="0"/>
            <c:showSerName val="0"/>
            <c:showPercent val="0"/>
            <c:showBubbleSize val="0"/>
            <c:showLeaderLines val="1"/>
          </c:dLbls>
          <c:cat>
            <c:strRef>
              <c:f>Sheet1!$A$2:$A$5</c:f>
              <c:strCache>
                <c:ptCount val="4"/>
                <c:pt idx="0">
                  <c:v>2018년 4분기</c:v>
                </c:pt>
                <c:pt idx="1">
                  <c:v>2020년 코로나</c:v>
                </c:pt>
                <c:pt idx="2">
                  <c:v>2022년 한 해</c:v>
                </c:pt>
                <c:pt idx="3">
                  <c:v>2025년 봄</c:v>
                </c:pt>
              </c:strCache>
            </c:strRef>
          </c:cat>
          <c:val>
            <c:numRef>
              <c:f>Sheet1!$C$2:$C$5</c:f>
              <c:numCache>
                <c:formatCode>General</c:formatCode>
                <c:ptCount val="4"/>
                <c:pt idx="0">
                  <c:v>-0.192</c:v>
                </c:pt>
                <c:pt idx="1">
                  <c:v>-0.337</c:v>
                </c:pt>
                <c:pt idx="2">
                  <c:v>-0.245</c:v>
                </c:pt>
                <c:pt idx="3">
                  <c:v>-0.188</c:v>
                </c:pt>
              </c:numCache>
            </c:numRef>
          </c:val>
        </c:ser>
        <c:ser>
          <c:idx val="2"/>
          <c:order val="2"/>
          <c:tx>
            <c:strRef>
              <c:f>Sheet1!$D$1</c:f>
              <c:strCache>
                <c:ptCount val="1"/>
                <c:pt idx="0">
                  <c:v>QQQ 단독 적립</c:v>
                </c:pt>
              </c:strCache>
            </c:strRef>
          </c:tx>
          <c:spPr>
            <a:solidFill>
              <a:srgbClr val="E07A1F"/>
            </a:solidFill>
          </c:spPr>
          <c:invertIfNegative val="0"/>
          <c:dLbls>
            <c:numFmt formatCode="0%;&quot;−&quot;0%" sourceLinked="0"/>
            <c:txPr>
              <a:bodyPr/>
              <a:lstStyle/>
              <a:p>
                <a:pPr>
                  <a:defRPr sz="700" b="0">
                    <a:solidFill>
                      <a:srgbClr val="1A1E25"/>
                    </a:solidFill>
                  </a:defRPr>
                </a:pPr>
              </a:p>
            </c:txPr>
            <c:dLblPos val="outEnd"/>
            <c:showLegendKey val="0"/>
            <c:showVal val="1"/>
            <c:showCatName val="0"/>
            <c:showSerName val="0"/>
            <c:showPercent val="0"/>
            <c:showBubbleSize val="0"/>
            <c:showLeaderLines val="1"/>
          </c:dLbls>
          <c:cat>
            <c:strRef>
              <c:f>Sheet1!$A$2:$A$5</c:f>
              <c:strCache>
                <c:ptCount val="4"/>
                <c:pt idx="0">
                  <c:v>2018년 4분기</c:v>
                </c:pt>
                <c:pt idx="1">
                  <c:v>2020년 코로나</c:v>
                </c:pt>
                <c:pt idx="2">
                  <c:v>2022년 한 해</c:v>
                </c:pt>
                <c:pt idx="3">
                  <c:v>2025년 봄</c:v>
                </c:pt>
              </c:strCache>
            </c:strRef>
          </c:cat>
          <c:val>
            <c:numRef>
              <c:f>Sheet1!$D$2:$D$5</c:f>
              <c:numCache>
                <c:formatCode>General</c:formatCode>
                <c:ptCount val="4"/>
                <c:pt idx="0">
                  <c:v>-0.227</c:v>
                </c:pt>
                <c:pt idx="1">
                  <c:v>-0.286</c:v>
                </c:pt>
                <c:pt idx="2">
                  <c:v>-0.348</c:v>
                </c:pt>
                <c:pt idx="3">
                  <c:v>-0.228</c:v>
                </c:pt>
              </c:numCache>
            </c:numRef>
          </c:val>
        </c:ser>
        <c:gapWidth val="50"/>
        <c:axId val="-2068027336"/>
        <c:axId val="-2113994440"/>
      </c:barChart>
      <c:catAx>
        <c:axId val="-2068027336"/>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13994440"/>
        <c:crosses val="autoZero"/>
        <c:auto val="1"/>
        <c:lblAlgn val="ctr"/>
        <c:lblOffset val="100"/>
        <c:noMultiLvlLbl val="0"/>
      </c:catAx>
      <c:valAx>
        <c:axId val="-2113994440"/>
        <c:scaling>
          <c:max val="0.0"/>
          <c:min val="-0.4"/>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068027336"/>
        <c:crosses val="autoZero"/>
        <c:majorUnit val="0.1"/>
      </c:valAx>
    </c:plotArea>
    <c:legend>
      <c:legendPos val="t"/>
      <c:overlay val="0"/>
      <c:txPr>
        <a:bodyPr/>
        <a:lstStyle/>
        <a:p>
          <a:pPr>
            <a:defRPr sz="800"/>
          </a:pPr>
        </a:p>
      </c:txPr>
    </c:legend>
    <c:dispBlanksAs val="gap"/>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배수</c:v>
                </c:pt>
              </c:strCache>
            </c:strRef>
          </c:tx>
          <c:invertIfNegative val="0"/>
          <c:dPt>
            <c:idx val="0"/>
            <c:invertIfNegative val="0"/>
            <c:spPr>
              <a:solidFill>
                <a:srgbClr val="0B3D91"/>
              </a:solidFill>
            </c:spPr>
          </c:dPt>
          <c:dPt>
            <c:idx val="1"/>
            <c:invertIfNegative val="0"/>
            <c:spPr>
              <a:solidFill>
                <a:srgbClr val="E07A1F"/>
              </a:solidFill>
            </c:spPr>
          </c:dPt>
          <c:dPt>
            <c:idx val="2"/>
            <c:invertIfNegative val="0"/>
            <c:spPr>
              <a:solidFill>
                <a:srgbClr val="1E9A84"/>
              </a:solidFill>
            </c:spPr>
          </c:dPt>
          <c:dPt>
            <c:idx val="3"/>
            <c:invertIfNegative val="0"/>
            <c:spPr>
              <a:solidFill>
                <a:srgbClr val="4C6A8C"/>
              </a:solidFill>
            </c:spPr>
          </c:dPt>
          <c:dPt>
            <c:idx val="4"/>
            <c:invertIfNegative val="0"/>
            <c:spPr>
              <a:solidFill>
                <a:srgbClr val="8FA9C6"/>
              </a:solidFill>
            </c:spPr>
          </c:dPt>
          <c:dLbls>
            <c:numFmt formatCode="0.00&quot;배&quot;" sourceLinked="0"/>
            <c:txPr>
              <a:bodyPr/>
              <a:lstStyle/>
              <a:p>
                <a:pPr>
                  <a:defRPr sz="800" b="0">
                    <a:solidFill>
                      <a:srgbClr val="1A1E25"/>
                    </a:solidFill>
                  </a:defRPr>
                </a:pPr>
              </a:p>
            </c:txPr>
            <c:dLblPos val="outEnd"/>
            <c:showLegendKey val="0"/>
            <c:showVal val="1"/>
            <c:showCatName val="0"/>
            <c:showSerName val="0"/>
            <c:showPercent val="0"/>
            <c:showBubbleSize val="0"/>
            <c:showLeaderLines val="1"/>
          </c:dLbls>
          <c:cat>
            <c:strRef>
              <c:f>Sheet1!$A$2:$A$6</c:f>
              <c:strCache>
                <c:ptCount val="5"/>
                <c:pt idx="0">
                  <c:v>Deneb</c:v>
                </c:pt>
                <c:pt idx="1">
                  <c:v>QQQ 단독 적립</c:v>
                </c:pt>
                <c:pt idx="2">
                  <c:v>Polaris</c:v>
                </c:pt>
                <c:pt idx="3">
                  <c:v>적금 4%</c:v>
                </c:pt>
                <c:pt idx="4">
                  <c:v>적금 3%</c:v>
                </c:pt>
              </c:strCache>
            </c:strRef>
          </c:cat>
          <c:val>
            <c:numRef>
              <c:f>Sheet1!$B$2:$B$6</c:f>
              <c:numCache>
                <c:formatCode>General</c:formatCode>
                <c:ptCount val="5"/>
                <c:pt idx="0">
                  <c:v>20.51774191638972</c:v>
                </c:pt>
                <c:pt idx="1">
                  <c:v>5.002577185252653</c:v>
                </c:pt>
                <c:pt idx="2">
                  <c:v>2.8845112605776806</c:v>
                </c:pt>
                <c:pt idx="3">
                  <c:v>1.3543128789128762</c:v>
                </c:pt>
                <c:pt idx="4">
                  <c:v>1.2535515773674701</c:v>
                </c:pt>
              </c:numCache>
            </c:numRef>
          </c:val>
        </c:ser>
        <c:gapWidth val="45"/>
        <c:axId val="-2068027336"/>
        <c:axId val="-2113994440"/>
      </c:barChart>
      <c:catAx>
        <c:axId val="-2068027336"/>
        <c:scaling>
          <c:orientation val="minMax"/>
        </c:scaling>
        <c:delete val="0"/>
        <c:axPos val="l"/>
        <c:majorTickMark val="out"/>
        <c:minorTickMark val="none"/>
        <c:tickLblPos val="low"/>
        <c:spPr>
          <a:ln w="9525">
            <a:solidFill>
              <a:srgbClr val="1A1E25"/>
            </a:solidFill>
          </a:ln>
        </c:spPr>
        <c:txPr>
          <a:bodyPr/>
          <a:lstStyle/>
          <a:p>
            <a:pPr>
              <a:defRPr sz="800">
                <a:solidFill>
                  <a:srgbClr val="1A1E25"/>
                </a:solidFill>
              </a:defRPr>
            </a:pPr>
          </a:p>
        </c:txPr>
        <c:crossAx val="-2113994440"/>
        <c:crosses val="autoZero"/>
        <c:auto val="1"/>
        <c:lblAlgn val="ctr"/>
        <c:lblOffset val="100"/>
        <c:noMultiLvlLbl val="0"/>
      </c:catAx>
      <c:valAx>
        <c:axId val="-2113994440"/>
        <c:scaling>
          <c:max val="25.0"/>
          <c:min val="0.0"/>
        </c:scaling>
        <c:delete val="0"/>
        <c:axPos val="b"/>
        <c:majorGridlines>
          <c:spPr>
            <a:ln w="6350">
              <a:solidFill>
                <a:srgbClr val="E3E7ED"/>
              </a:solidFill>
            </a:ln>
          </c:spPr>
        </c:majorGridlines>
        <c:numFmt formatCode="0&quot;배&quot;" sourceLinked="0"/>
        <c:majorTickMark val="out"/>
        <c:minorTickMark val="none"/>
        <c:tickLblPos val="nextTo"/>
        <c:spPr>
          <a:ln>
            <a:noFill/>
          </a:ln>
        </c:spPr>
        <c:txPr>
          <a:bodyPr/>
          <a:lstStyle/>
          <a:p>
            <a:pPr>
              <a:defRPr sz="800">
                <a:solidFill>
                  <a:srgbClr val="5C6573"/>
                </a:solidFill>
              </a:defRPr>
            </a:pPr>
          </a:p>
        </c:txPr>
        <c:crossAx val="-2068027336"/>
        <c:crosses val="autoZero"/>
        <c:majorUnit val="5.0"/>
      </c:valAx>
    </c:plotArea>
    <c:dispBlanksAs val="gap"/>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최대 낙폭</c:v>
                </c:pt>
              </c:strCache>
            </c:strRef>
          </c:tx>
          <c:invertIfNegative val="0"/>
          <c:dPt>
            <c:idx val="0"/>
            <c:invertIfNegative val="0"/>
            <c:spPr>
              <a:solidFill>
                <a:srgbClr val="0B3D91"/>
              </a:solidFill>
            </c:spPr>
          </c:dPt>
          <c:dPt>
            <c:idx val="1"/>
            <c:invertIfNegative val="0"/>
            <c:spPr>
              <a:solidFill>
                <a:srgbClr val="E07A1F"/>
              </a:solidFill>
            </c:spPr>
          </c:dPt>
          <c:dPt>
            <c:idx val="2"/>
            <c:invertIfNegative val="0"/>
            <c:spPr>
              <a:solidFill>
                <a:srgbClr val="1E9A84"/>
              </a:solidFill>
            </c:spPr>
          </c:dPt>
          <c:dPt>
            <c:idx val="3"/>
            <c:invertIfNegative val="0"/>
            <c:spPr>
              <a:solidFill>
                <a:srgbClr val="4C6A8C"/>
              </a:solidFill>
            </c:spPr>
          </c:dPt>
          <c:dPt>
            <c:idx val="4"/>
            <c:invertIfNegative val="0"/>
            <c:spPr>
              <a:solidFill>
                <a:srgbClr val="8FA9C6"/>
              </a:solidFill>
            </c:spPr>
          </c:dPt>
          <c:dLbls>
            <c:numFmt formatCode="0.0%;&quot;−&quot;0.0%;" sourceLinked="0"/>
            <c:txPr>
              <a:bodyPr/>
              <a:lstStyle/>
              <a:p>
                <a:pPr>
                  <a:defRPr sz="800" b="0">
                    <a:solidFill>
                      <a:srgbClr val="1A1E25"/>
                    </a:solidFill>
                  </a:defRPr>
                </a:pPr>
              </a:p>
            </c:txPr>
            <c:dLblPos val="outEnd"/>
            <c:showLegendKey val="0"/>
            <c:showVal val="1"/>
            <c:showCatName val="0"/>
            <c:showSerName val="0"/>
            <c:showPercent val="0"/>
            <c:showBubbleSize val="0"/>
            <c:showLeaderLines val="1"/>
          </c:dLbls>
          <c:cat>
            <c:strRef>
              <c:f>Sheet1!$A$2:$A$6</c:f>
              <c:strCache>
                <c:ptCount val="5"/>
                <c:pt idx="0">
                  <c:v>Deneb</c:v>
                </c:pt>
                <c:pt idx="1">
                  <c:v>QQQ 단독 적립</c:v>
                </c:pt>
                <c:pt idx="2">
                  <c:v>Polaris</c:v>
                </c:pt>
                <c:pt idx="3">
                  <c:v>적금 4%</c:v>
                </c:pt>
                <c:pt idx="4">
                  <c:v>적금 3%</c:v>
                </c:pt>
              </c:strCache>
            </c:strRef>
          </c:cat>
          <c:val>
            <c:numRef>
              <c:f>Sheet1!$B$2:$B$6</c:f>
              <c:numCache>
                <c:formatCode>General</c:formatCode>
                <c:ptCount val="5"/>
                <c:pt idx="0">
                  <c:v>-0.3171535684070895</c:v>
                </c:pt>
                <c:pt idx="1">
                  <c:v>-0.351218255181172</c:v>
                </c:pt>
                <c:pt idx="2">
                  <c:v>-0.23359004913534087</c:v>
                </c:pt>
                <c:pt idx="3">
                  <c:v>0.0</c:v>
                </c:pt>
                <c:pt idx="4">
                  <c:v>0.0</c:v>
                </c:pt>
              </c:numCache>
            </c:numRef>
          </c:val>
        </c:ser>
        <c:gapWidth val="45"/>
        <c:axId val="-2068027336"/>
        <c:axId val="-2113994440"/>
      </c:barChart>
      <c:catAx>
        <c:axId val="-2068027336"/>
        <c:scaling>
          <c:orientation val="minMax"/>
        </c:scaling>
        <c:delete val="0"/>
        <c:axPos val="l"/>
        <c:majorTickMark val="out"/>
        <c:minorTickMark val="none"/>
        <c:tickLblPos val="high"/>
        <c:spPr>
          <a:ln w="9525">
            <a:solidFill>
              <a:srgbClr val="1A1E25"/>
            </a:solidFill>
          </a:ln>
        </c:spPr>
        <c:txPr>
          <a:bodyPr/>
          <a:lstStyle/>
          <a:p>
            <a:pPr>
              <a:defRPr sz="800">
                <a:solidFill>
                  <a:srgbClr val="1A1E25"/>
                </a:solidFill>
              </a:defRPr>
            </a:pPr>
          </a:p>
        </c:txPr>
        <c:crossAx val="-2113994440"/>
        <c:crosses val="autoZero"/>
        <c:auto val="1"/>
        <c:lblAlgn val="ctr"/>
        <c:lblOffset val="100"/>
        <c:noMultiLvlLbl val="0"/>
      </c:catAx>
      <c:valAx>
        <c:axId val="-2113994440"/>
        <c:scaling>
          <c:max val="0.0"/>
          <c:min val="-0.5"/>
        </c:scaling>
        <c:delete val="0"/>
        <c:axPos val="b"/>
        <c:majorGridlines>
          <c:spPr>
            <a:ln w="6350">
              <a:solidFill>
                <a:srgbClr val="E3E7ED"/>
              </a:solidFill>
            </a:ln>
          </c:spPr>
        </c:majorGridlines>
        <c:numFmt formatCode="0%;&quot;−&quot;0%;0%" sourceLinked="0"/>
        <c:majorTickMark val="out"/>
        <c:minorTickMark val="none"/>
        <c:tickLblPos val="nextTo"/>
        <c:spPr>
          <a:ln>
            <a:noFill/>
          </a:ln>
        </c:spPr>
        <c:txPr>
          <a:bodyPr/>
          <a:lstStyle/>
          <a:p>
            <a:pPr>
              <a:defRPr sz="800">
                <a:solidFill>
                  <a:srgbClr val="5C6573"/>
                </a:solidFill>
              </a:defRPr>
            </a:pPr>
          </a:p>
        </c:txPr>
        <c:crossAx val="-2068027336"/>
        <c:crosses val="autoZero"/>
        <c:majorUnit val="0.1"/>
      </c:valAx>
    </c:plotArea>
    <c:dispBlanksAs val="gap"/>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상위 10%</c:v>
                </c:pt>
              </c:strCache>
            </c:strRef>
          </c:tx>
          <c:spPr>
            <a:ln w="12700">
              <a:solidFill>
                <a:srgbClr val="0B3D91"/>
              </a:solidFill>
              <a:prstDash val="dash"/>
            </a:ln>
          </c:spPr>
          <c:marker>
            <c:symbol val="none"/>
          </c:marker>
          <c:cat>
            <c:strRef>
              <c:f>Sheet1!$A$2:$A$241</c:f>
              <c:strCache>
                <c:ptCount val="240"/>
                <c:pt idx="0">
                  <c:v>1년</c:v>
                </c:pt>
                <c:pt idx="1">
                  <c:v>1년</c:v>
                </c:pt>
                <c:pt idx="2">
                  <c:v>1년</c:v>
                </c:pt>
                <c:pt idx="3">
                  <c:v>1년</c:v>
                </c:pt>
                <c:pt idx="4">
                  <c:v>1년</c:v>
                </c:pt>
                <c:pt idx="5">
                  <c:v>1년</c:v>
                </c:pt>
                <c:pt idx="6">
                  <c:v>1년</c:v>
                </c:pt>
                <c:pt idx="7">
                  <c:v>1년</c:v>
                </c:pt>
                <c:pt idx="8">
                  <c:v>1년</c:v>
                </c:pt>
                <c:pt idx="9">
                  <c:v>1년</c:v>
                </c:pt>
                <c:pt idx="10">
                  <c:v>1년</c:v>
                </c:pt>
                <c:pt idx="11">
                  <c:v>1년</c:v>
                </c:pt>
                <c:pt idx="12">
                  <c:v>2년</c:v>
                </c:pt>
                <c:pt idx="13">
                  <c:v>2년</c:v>
                </c:pt>
                <c:pt idx="14">
                  <c:v>2년</c:v>
                </c:pt>
                <c:pt idx="15">
                  <c:v>2년</c:v>
                </c:pt>
                <c:pt idx="16">
                  <c:v>2년</c:v>
                </c:pt>
                <c:pt idx="17">
                  <c:v>2년</c:v>
                </c:pt>
                <c:pt idx="18">
                  <c:v>2년</c:v>
                </c:pt>
                <c:pt idx="19">
                  <c:v>2년</c:v>
                </c:pt>
                <c:pt idx="20">
                  <c:v>2년</c:v>
                </c:pt>
                <c:pt idx="21">
                  <c:v>2년</c:v>
                </c:pt>
                <c:pt idx="22">
                  <c:v>2년</c:v>
                </c:pt>
                <c:pt idx="23">
                  <c:v>2년</c:v>
                </c:pt>
                <c:pt idx="24">
                  <c:v>3년</c:v>
                </c:pt>
                <c:pt idx="25">
                  <c:v>3년</c:v>
                </c:pt>
                <c:pt idx="26">
                  <c:v>3년</c:v>
                </c:pt>
                <c:pt idx="27">
                  <c:v>3년</c:v>
                </c:pt>
                <c:pt idx="28">
                  <c:v>3년</c:v>
                </c:pt>
                <c:pt idx="29">
                  <c:v>3년</c:v>
                </c:pt>
                <c:pt idx="30">
                  <c:v>3년</c:v>
                </c:pt>
                <c:pt idx="31">
                  <c:v>3년</c:v>
                </c:pt>
                <c:pt idx="32">
                  <c:v>3년</c:v>
                </c:pt>
                <c:pt idx="33">
                  <c:v>3년</c:v>
                </c:pt>
                <c:pt idx="34">
                  <c:v>3년</c:v>
                </c:pt>
                <c:pt idx="35">
                  <c:v>3년</c:v>
                </c:pt>
                <c:pt idx="36">
                  <c:v>4년</c:v>
                </c:pt>
                <c:pt idx="37">
                  <c:v>4년</c:v>
                </c:pt>
                <c:pt idx="38">
                  <c:v>4년</c:v>
                </c:pt>
                <c:pt idx="39">
                  <c:v>4년</c:v>
                </c:pt>
                <c:pt idx="40">
                  <c:v>4년</c:v>
                </c:pt>
                <c:pt idx="41">
                  <c:v>4년</c:v>
                </c:pt>
                <c:pt idx="42">
                  <c:v>4년</c:v>
                </c:pt>
                <c:pt idx="43">
                  <c:v>4년</c:v>
                </c:pt>
                <c:pt idx="44">
                  <c:v>4년</c:v>
                </c:pt>
                <c:pt idx="45">
                  <c:v>4년</c:v>
                </c:pt>
                <c:pt idx="46">
                  <c:v>4년</c:v>
                </c:pt>
                <c:pt idx="47">
                  <c:v>4년</c:v>
                </c:pt>
                <c:pt idx="48">
                  <c:v>5년</c:v>
                </c:pt>
                <c:pt idx="49">
                  <c:v>5년</c:v>
                </c:pt>
                <c:pt idx="50">
                  <c:v>5년</c:v>
                </c:pt>
                <c:pt idx="51">
                  <c:v>5년</c:v>
                </c:pt>
                <c:pt idx="52">
                  <c:v>5년</c:v>
                </c:pt>
                <c:pt idx="53">
                  <c:v>5년</c:v>
                </c:pt>
                <c:pt idx="54">
                  <c:v>5년</c:v>
                </c:pt>
                <c:pt idx="55">
                  <c:v>5년</c:v>
                </c:pt>
                <c:pt idx="56">
                  <c:v>5년</c:v>
                </c:pt>
                <c:pt idx="57">
                  <c:v>5년</c:v>
                </c:pt>
                <c:pt idx="58">
                  <c:v>5년</c:v>
                </c:pt>
                <c:pt idx="59">
                  <c:v>5년</c:v>
                </c:pt>
                <c:pt idx="60">
                  <c:v>6년</c:v>
                </c:pt>
                <c:pt idx="61">
                  <c:v>6년</c:v>
                </c:pt>
                <c:pt idx="62">
                  <c:v>6년</c:v>
                </c:pt>
                <c:pt idx="63">
                  <c:v>6년</c:v>
                </c:pt>
                <c:pt idx="64">
                  <c:v>6년</c:v>
                </c:pt>
                <c:pt idx="65">
                  <c:v>6년</c:v>
                </c:pt>
                <c:pt idx="66">
                  <c:v>6년</c:v>
                </c:pt>
                <c:pt idx="67">
                  <c:v>6년</c:v>
                </c:pt>
                <c:pt idx="68">
                  <c:v>6년</c:v>
                </c:pt>
                <c:pt idx="69">
                  <c:v>6년</c:v>
                </c:pt>
                <c:pt idx="70">
                  <c:v>6년</c:v>
                </c:pt>
                <c:pt idx="71">
                  <c:v>6년</c:v>
                </c:pt>
                <c:pt idx="72">
                  <c:v>7년</c:v>
                </c:pt>
                <c:pt idx="73">
                  <c:v>7년</c:v>
                </c:pt>
                <c:pt idx="74">
                  <c:v>7년</c:v>
                </c:pt>
                <c:pt idx="75">
                  <c:v>7년</c:v>
                </c:pt>
                <c:pt idx="76">
                  <c:v>7년</c:v>
                </c:pt>
                <c:pt idx="77">
                  <c:v>7년</c:v>
                </c:pt>
                <c:pt idx="78">
                  <c:v>7년</c:v>
                </c:pt>
                <c:pt idx="79">
                  <c:v>7년</c:v>
                </c:pt>
                <c:pt idx="80">
                  <c:v>7년</c:v>
                </c:pt>
                <c:pt idx="81">
                  <c:v>7년</c:v>
                </c:pt>
                <c:pt idx="82">
                  <c:v>7년</c:v>
                </c:pt>
                <c:pt idx="83">
                  <c:v>7년</c:v>
                </c:pt>
                <c:pt idx="84">
                  <c:v>8년</c:v>
                </c:pt>
                <c:pt idx="85">
                  <c:v>8년</c:v>
                </c:pt>
                <c:pt idx="86">
                  <c:v>8년</c:v>
                </c:pt>
                <c:pt idx="87">
                  <c:v>8년</c:v>
                </c:pt>
                <c:pt idx="88">
                  <c:v>8년</c:v>
                </c:pt>
                <c:pt idx="89">
                  <c:v>8년</c:v>
                </c:pt>
                <c:pt idx="90">
                  <c:v>8년</c:v>
                </c:pt>
                <c:pt idx="91">
                  <c:v>8년</c:v>
                </c:pt>
                <c:pt idx="92">
                  <c:v>8년</c:v>
                </c:pt>
                <c:pt idx="93">
                  <c:v>8년</c:v>
                </c:pt>
                <c:pt idx="94">
                  <c:v>8년</c:v>
                </c:pt>
                <c:pt idx="95">
                  <c:v>8년</c:v>
                </c:pt>
                <c:pt idx="96">
                  <c:v>9년</c:v>
                </c:pt>
                <c:pt idx="97">
                  <c:v>9년</c:v>
                </c:pt>
                <c:pt idx="98">
                  <c:v>9년</c:v>
                </c:pt>
                <c:pt idx="99">
                  <c:v>9년</c:v>
                </c:pt>
                <c:pt idx="100">
                  <c:v>9년</c:v>
                </c:pt>
                <c:pt idx="101">
                  <c:v>9년</c:v>
                </c:pt>
                <c:pt idx="102">
                  <c:v>9년</c:v>
                </c:pt>
                <c:pt idx="103">
                  <c:v>9년</c:v>
                </c:pt>
                <c:pt idx="104">
                  <c:v>9년</c:v>
                </c:pt>
                <c:pt idx="105">
                  <c:v>9년</c:v>
                </c:pt>
                <c:pt idx="106">
                  <c:v>9년</c:v>
                </c:pt>
                <c:pt idx="107">
                  <c:v>9년</c:v>
                </c:pt>
                <c:pt idx="108">
                  <c:v>10년</c:v>
                </c:pt>
                <c:pt idx="109">
                  <c:v>10년</c:v>
                </c:pt>
                <c:pt idx="110">
                  <c:v>10년</c:v>
                </c:pt>
                <c:pt idx="111">
                  <c:v>10년</c:v>
                </c:pt>
                <c:pt idx="112">
                  <c:v>10년</c:v>
                </c:pt>
                <c:pt idx="113">
                  <c:v>10년</c:v>
                </c:pt>
                <c:pt idx="114">
                  <c:v>10년</c:v>
                </c:pt>
                <c:pt idx="115">
                  <c:v>10년</c:v>
                </c:pt>
                <c:pt idx="116">
                  <c:v>10년</c:v>
                </c:pt>
                <c:pt idx="117">
                  <c:v>10년</c:v>
                </c:pt>
                <c:pt idx="118">
                  <c:v>10년</c:v>
                </c:pt>
                <c:pt idx="119">
                  <c:v>10년</c:v>
                </c:pt>
                <c:pt idx="120">
                  <c:v>11년</c:v>
                </c:pt>
                <c:pt idx="121">
                  <c:v>11년</c:v>
                </c:pt>
                <c:pt idx="122">
                  <c:v>11년</c:v>
                </c:pt>
                <c:pt idx="123">
                  <c:v>11년</c:v>
                </c:pt>
                <c:pt idx="124">
                  <c:v>11년</c:v>
                </c:pt>
                <c:pt idx="125">
                  <c:v>11년</c:v>
                </c:pt>
                <c:pt idx="126">
                  <c:v>11년</c:v>
                </c:pt>
                <c:pt idx="127">
                  <c:v>11년</c:v>
                </c:pt>
                <c:pt idx="128">
                  <c:v>11년</c:v>
                </c:pt>
                <c:pt idx="129">
                  <c:v>11년</c:v>
                </c:pt>
                <c:pt idx="130">
                  <c:v>11년</c:v>
                </c:pt>
                <c:pt idx="131">
                  <c:v>11년</c:v>
                </c:pt>
                <c:pt idx="132">
                  <c:v>12년</c:v>
                </c:pt>
                <c:pt idx="133">
                  <c:v>12년</c:v>
                </c:pt>
                <c:pt idx="134">
                  <c:v>12년</c:v>
                </c:pt>
                <c:pt idx="135">
                  <c:v>12년</c:v>
                </c:pt>
                <c:pt idx="136">
                  <c:v>12년</c:v>
                </c:pt>
                <c:pt idx="137">
                  <c:v>12년</c:v>
                </c:pt>
                <c:pt idx="138">
                  <c:v>12년</c:v>
                </c:pt>
                <c:pt idx="139">
                  <c:v>12년</c:v>
                </c:pt>
                <c:pt idx="140">
                  <c:v>12년</c:v>
                </c:pt>
                <c:pt idx="141">
                  <c:v>12년</c:v>
                </c:pt>
                <c:pt idx="142">
                  <c:v>12년</c:v>
                </c:pt>
                <c:pt idx="143">
                  <c:v>12년</c:v>
                </c:pt>
                <c:pt idx="144">
                  <c:v>13년</c:v>
                </c:pt>
                <c:pt idx="145">
                  <c:v>13년</c:v>
                </c:pt>
                <c:pt idx="146">
                  <c:v>13년</c:v>
                </c:pt>
                <c:pt idx="147">
                  <c:v>13년</c:v>
                </c:pt>
                <c:pt idx="148">
                  <c:v>13년</c:v>
                </c:pt>
                <c:pt idx="149">
                  <c:v>13년</c:v>
                </c:pt>
                <c:pt idx="150">
                  <c:v>13년</c:v>
                </c:pt>
                <c:pt idx="151">
                  <c:v>13년</c:v>
                </c:pt>
                <c:pt idx="152">
                  <c:v>13년</c:v>
                </c:pt>
                <c:pt idx="153">
                  <c:v>13년</c:v>
                </c:pt>
                <c:pt idx="154">
                  <c:v>13년</c:v>
                </c:pt>
                <c:pt idx="155">
                  <c:v>13년</c:v>
                </c:pt>
                <c:pt idx="156">
                  <c:v>14년</c:v>
                </c:pt>
                <c:pt idx="157">
                  <c:v>14년</c:v>
                </c:pt>
                <c:pt idx="158">
                  <c:v>14년</c:v>
                </c:pt>
                <c:pt idx="159">
                  <c:v>14년</c:v>
                </c:pt>
                <c:pt idx="160">
                  <c:v>14년</c:v>
                </c:pt>
                <c:pt idx="161">
                  <c:v>14년</c:v>
                </c:pt>
                <c:pt idx="162">
                  <c:v>14년</c:v>
                </c:pt>
                <c:pt idx="163">
                  <c:v>14년</c:v>
                </c:pt>
                <c:pt idx="164">
                  <c:v>14년</c:v>
                </c:pt>
                <c:pt idx="165">
                  <c:v>14년</c:v>
                </c:pt>
                <c:pt idx="166">
                  <c:v>14년</c:v>
                </c:pt>
                <c:pt idx="167">
                  <c:v>14년</c:v>
                </c:pt>
                <c:pt idx="168">
                  <c:v>15년</c:v>
                </c:pt>
                <c:pt idx="169">
                  <c:v>15년</c:v>
                </c:pt>
                <c:pt idx="170">
                  <c:v>15년</c:v>
                </c:pt>
                <c:pt idx="171">
                  <c:v>15년</c:v>
                </c:pt>
                <c:pt idx="172">
                  <c:v>15년</c:v>
                </c:pt>
                <c:pt idx="173">
                  <c:v>15년</c:v>
                </c:pt>
                <c:pt idx="174">
                  <c:v>15년</c:v>
                </c:pt>
                <c:pt idx="175">
                  <c:v>15년</c:v>
                </c:pt>
                <c:pt idx="176">
                  <c:v>15년</c:v>
                </c:pt>
                <c:pt idx="177">
                  <c:v>15년</c:v>
                </c:pt>
                <c:pt idx="178">
                  <c:v>15년</c:v>
                </c:pt>
                <c:pt idx="179">
                  <c:v>15년</c:v>
                </c:pt>
                <c:pt idx="180">
                  <c:v>16년</c:v>
                </c:pt>
                <c:pt idx="181">
                  <c:v>16년</c:v>
                </c:pt>
                <c:pt idx="182">
                  <c:v>16년</c:v>
                </c:pt>
                <c:pt idx="183">
                  <c:v>16년</c:v>
                </c:pt>
                <c:pt idx="184">
                  <c:v>16년</c:v>
                </c:pt>
                <c:pt idx="185">
                  <c:v>16년</c:v>
                </c:pt>
                <c:pt idx="186">
                  <c:v>16년</c:v>
                </c:pt>
                <c:pt idx="187">
                  <c:v>16년</c:v>
                </c:pt>
                <c:pt idx="188">
                  <c:v>16년</c:v>
                </c:pt>
                <c:pt idx="189">
                  <c:v>16년</c:v>
                </c:pt>
                <c:pt idx="190">
                  <c:v>16년</c:v>
                </c:pt>
                <c:pt idx="191">
                  <c:v>16년</c:v>
                </c:pt>
                <c:pt idx="192">
                  <c:v>17년</c:v>
                </c:pt>
                <c:pt idx="193">
                  <c:v>17년</c:v>
                </c:pt>
                <c:pt idx="194">
                  <c:v>17년</c:v>
                </c:pt>
                <c:pt idx="195">
                  <c:v>17년</c:v>
                </c:pt>
                <c:pt idx="196">
                  <c:v>17년</c:v>
                </c:pt>
                <c:pt idx="197">
                  <c:v>17년</c:v>
                </c:pt>
                <c:pt idx="198">
                  <c:v>17년</c:v>
                </c:pt>
                <c:pt idx="199">
                  <c:v>17년</c:v>
                </c:pt>
                <c:pt idx="200">
                  <c:v>17년</c:v>
                </c:pt>
                <c:pt idx="201">
                  <c:v>17년</c:v>
                </c:pt>
                <c:pt idx="202">
                  <c:v>17년</c:v>
                </c:pt>
                <c:pt idx="203">
                  <c:v>17년</c:v>
                </c:pt>
                <c:pt idx="204">
                  <c:v>18년</c:v>
                </c:pt>
                <c:pt idx="205">
                  <c:v>18년</c:v>
                </c:pt>
                <c:pt idx="206">
                  <c:v>18년</c:v>
                </c:pt>
                <c:pt idx="207">
                  <c:v>18년</c:v>
                </c:pt>
                <c:pt idx="208">
                  <c:v>18년</c:v>
                </c:pt>
                <c:pt idx="209">
                  <c:v>18년</c:v>
                </c:pt>
                <c:pt idx="210">
                  <c:v>18년</c:v>
                </c:pt>
                <c:pt idx="211">
                  <c:v>18년</c:v>
                </c:pt>
                <c:pt idx="212">
                  <c:v>18년</c:v>
                </c:pt>
                <c:pt idx="213">
                  <c:v>18년</c:v>
                </c:pt>
                <c:pt idx="214">
                  <c:v>18년</c:v>
                </c:pt>
                <c:pt idx="215">
                  <c:v>18년</c:v>
                </c:pt>
                <c:pt idx="216">
                  <c:v>19년</c:v>
                </c:pt>
                <c:pt idx="217">
                  <c:v>19년</c:v>
                </c:pt>
                <c:pt idx="218">
                  <c:v>19년</c:v>
                </c:pt>
                <c:pt idx="219">
                  <c:v>19년</c:v>
                </c:pt>
                <c:pt idx="220">
                  <c:v>19년</c:v>
                </c:pt>
                <c:pt idx="221">
                  <c:v>19년</c:v>
                </c:pt>
                <c:pt idx="222">
                  <c:v>19년</c:v>
                </c:pt>
                <c:pt idx="223">
                  <c:v>19년</c:v>
                </c:pt>
                <c:pt idx="224">
                  <c:v>19년</c:v>
                </c:pt>
                <c:pt idx="225">
                  <c:v>19년</c:v>
                </c:pt>
                <c:pt idx="226">
                  <c:v>19년</c:v>
                </c:pt>
                <c:pt idx="227">
                  <c:v>19년</c:v>
                </c:pt>
                <c:pt idx="228">
                  <c:v>20년</c:v>
                </c:pt>
                <c:pt idx="229">
                  <c:v>20년</c:v>
                </c:pt>
                <c:pt idx="230">
                  <c:v>20년</c:v>
                </c:pt>
                <c:pt idx="231">
                  <c:v>20년</c:v>
                </c:pt>
                <c:pt idx="232">
                  <c:v>20년</c:v>
                </c:pt>
                <c:pt idx="233">
                  <c:v>20년</c:v>
                </c:pt>
                <c:pt idx="234">
                  <c:v>20년</c:v>
                </c:pt>
                <c:pt idx="235">
                  <c:v>20년</c:v>
                </c:pt>
                <c:pt idx="236">
                  <c:v>20년</c:v>
                </c:pt>
                <c:pt idx="237">
                  <c:v>20년</c:v>
                </c:pt>
                <c:pt idx="238">
                  <c:v>20년</c:v>
                </c:pt>
                <c:pt idx="239">
                  <c:v>20년</c:v>
                </c:pt>
              </c:strCache>
            </c:strRef>
          </c:cat>
          <c:val>
            <c:numRef>
              <c:f>Sheet1!$B$2:$B$241</c:f>
              <c:numCache>
                <c:formatCode>General</c:formatCode>
                <c:ptCount val="240"/>
                <c:pt idx="0">
                  <c:v>11.223342038247344</c:v>
                </c:pt>
                <c:pt idx="1">
                  <c:v>22.83953683693865</c:v>
                </c:pt>
                <c:pt idx="2">
                  <c:v>34.958677554966926</c:v>
                </c:pt>
                <c:pt idx="3">
                  <c:v>47.39638067058906</c:v>
                </c:pt>
                <c:pt idx="4">
                  <c:v>60.277283740578234</c:v>
                </c:pt>
                <c:pt idx="5">
                  <c:v>73.82876611153819</c:v>
                </c:pt>
                <c:pt idx="6">
                  <c:v>88.1550509420444</c:v>
                </c:pt>
                <c:pt idx="7">
                  <c:v>103.66251199754961</c:v>
                </c:pt>
                <c:pt idx="8">
                  <c:v>119.36626666043291</c:v>
                </c:pt>
                <c:pt idx="9">
                  <c:v>137.09458233785492</c:v>
                </c:pt>
                <c:pt idx="10">
                  <c:v>154.06835015889115</c:v>
                </c:pt>
                <c:pt idx="11">
                  <c:v>175.53324991395854</c:v>
                </c:pt>
                <c:pt idx="12">
                  <c:v>192.46525353358973</c:v>
                </c:pt>
                <c:pt idx="13">
                  <c:v>208.99921835131696</c:v>
                </c:pt>
                <c:pt idx="14">
                  <c:v>227.4117052539228</c:v>
                </c:pt>
                <c:pt idx="15">
                  <c:v>245.6428137349774</c:v>
                </c:pt>
                <c:pt idx="16">
                  <c:v>265.82276544705746</c:v>
                </c:pt>
                <c:pt idx="17">
                  <c:v>284.8160621832515</c:v>
                </c:pt>
                <c:pt idx="18">
                  <c:v>308.7205917326592</c:v>
                </c:pt>
                <c:pt idx="19">
                  <c:v>332.62507058454884</c:v>
                </c:pt>
                <c:pt idx="20">
                  <c:v>358.5790926657342</c:v>
                </c:pt>
                <c:pt idx="21">
                  <c:v>382.4767156720871</c:v>
                </c:pt>
                <c:pt idx="22">
                  <c:v>420.5655888303711</c:v>
                </c:pt>
                <c:pt idx="23">
                  <c:v>442.36994850893973</c:v>
                </c:pt>
                <c:pt idx="24">
                  <c:v>464.6940547631411</c:v>
                </c:pt>
                <c:pt idx="25">
                  <c:v>479.0432041682455</c:v>
                </c:pt>
                <c:pt idx="26">
                  <c:v>508.4851993722825</c:v>
                </c:pt>
                <c:pt idx="27">
                  <c:v>538.761689897389</c:v>
                </c:pt>
                <c:pt idx="28">
                  <c:v>568.1595406225724</c:v>
                </c:pt>
                <c:pt idx="29">
                  <c:v>594.4888423825223</c:v>
                </c:pt>
                <c:pt idx="30">
                  <c:v>630.5534773066588</c:v>
                </c:pt>
                <c:pt idx="31">
                  <c:v>674.4327094119067</c:v>
                </c:pt>
                <c:pt idx="32">
                  <c:v>702.9290147529124</c:v>
                </c:pt>
                <c:pt idx="33">
                  <c:v>742.1245578891892</c:v>
                </c:pt>
                <c:pt idx="34">
                  <c:v>802.1909793591827</c:v>
                </c:pt>
                <c:pt idx="35">
                  <c:v>828.7174806250056</c:v>
                </c:pt>
                <c:pt idx="36">
                  <c:v>868.1359061427542</c:v>
                </c:pt>
                <c:pt idx="37">
                  <c:v>907.7142319446912</c:v>
                </c:pt>
                <c:pt idx="38">
                  <c:v>925.2445978452764</c:v>
                </c:pt>
                <c:pt idx="39">
                  <c:v>982.4730417101225</c:v>
                </c:pt>
                <c:pt idx="40">
                  <c:v>1012.8786694976433</c:v>
                </c:pt>
                <c:pt idx="41">
                  <c:v>1062.0504493764267</c:v>
                </c:pt>
                <c:pt idx="42">
                  <c:v>1104.207658138861</c:v>
                </c:pt>
                <c:pt idx="43">
                  <c:v>1189.3259863161636</c:v>
                </c:pt>
                <c:pt idx="44">
                  <c:v>1232.6932465364519</c:v>
                </c:pt>
                <c:pt idx="45">
                  <c:v>1286.2768362954057</c:v>
                </c:pt>
                <c:pt idx="46">
                  <c:v>1351.8898948948172</c:v>
                </c:pt>
                <c:pt idx="47">
                  <c:v>1419.0763870777937</c:v>
                </c:pt>
                <c:pt idx="48">
                  <c:v>1463.67680154764</c:v>
                </c:pt>
                <c:pt idx="49">
                  <c:v>1503.2912406559021</c:v>
                </c:pt>
                <c:pt idx="50">
                  <c:v>1569.0213254025143</c:v>
                </c:pt>
                <c:pt idx="51">
                  <c:v>1625.9980101330443</c:v>
                </c:pt>
                <c:pt idx="52">
                  <c:v>1706.4298407276428</c:v>
                </c:pt>
                <c:pt idx="53">
                  <c:v>1773.896583801357</c:v>
                </c:pt>
                <c:pt idx="54">
                  <c:v>1864.4831638357502</c:v>
                </c:pt>
                <c:pt idx="55">
                  <c:v>1945.7297534579027</c:v>
                </c:pt>
                <c:pt idx="56">
                  <c:v>1993.1270008025392</c:v>
                </c:pt>
                <c:pt idx="57">
                  <c:v>2133.641054681975</c:v>
                </c:pt>
                <c:pt idx="58">
                  <c:v>2200.0403226564176</c:v>
                </c:pt>
                <c:pt idx="59">
                  <c:v>2240.772643644722</c:v>
                </c:pt>
                <c:pt idx="60">
                  <c:v>2318.2463896665977</c:v>
                </c:pt>
                <c:pt idx="61">
                  <c:v>2370.05261467766</c:v>
                </c:pt>
                <c:pt idx="62">
                  <c:v>2453.2778101910403</c:v>
                </c:pt>
                <c:pt idx="63">
                  <c:v>2554.765875921322</c:v>
                </c:pt>
                <c:pt idx="64">
                  <c:v>2665.846249845259</c:v>
                </c:pt>
                <c:pt idx="65">
                  <c:v>2747.813065621414</c:v>
                </c:pt>
                <c:pt idx="66">
                  <c:v>2886.3474497909324</c:v>
                </c:pt>
                <c:pt idx="67">
                  <c:v>2996.3158381618</c:v>
                </c:pt>
                <c:pt idx="68">
                  <c:v>3153.425328306321</c:v>
                </c:pt>
                <c:pt idx="69">
                  <c:v>3303.5053092802905</c:v>
                </c:pt>
                <c:pt idx="70">
                  <c:v>3310.974404390844</c:v>
                </c:pt>
                <c:pt idx="71">
                  <c:v>3422.6778242210416</c:v>
                </c:pt>
                <c:pt idx="72">
                  <c:v>3543.8218120089473</c:v>
                </c:pt>
                <c:pt idx="73">
                  <c:v>3580.450282722358</c:v>
                </c:pt>
                <c:pt idx="74">
                  <c:v>3747.485813417953</c:v>
                </c:pt>
                <c:pt idx="75">
                  <c:v>3824.719975414219</c:v>
                </c:pt>
                <c:pt idx="76">
                  <c:v>3942.643939461293</c:v>
                </c:pt>
                <c:pt idx="77">
                  <c:v>4166.1657005314855</c:v>
                </c:pt>
                <c:pt idx="78">
                  <c:v>4263.902542268448</c:v>
                </c:pt>
                <c:pt idx="79">
                  <c:v>4414.870503976692</c:v>
                </c:pt>
                <c:pt idx="80">
                  <c:v>4593.450938758848</c:v>
                </c:pt>
                <c:pt idx="81">
                  <c:v>4861.892217518319</c:v>
                </c:pt>
                <c:pt idx="82">
                  <c:v>4975.012418474204</c:v>
                </c:pt>
                <c:pt idx="83">
                  <c:v>5083.498390345243</c:v>
                </c:pt>
                <c:pt idx="84">
                  <c:v>5273.130216490121</c:v>
                </c:pt>
                <c:pt idx="85">
                  <c:v>5497.485820275756</c:v>
                </c:pt>
                <c:pt idx="86">
                  <c:v>5650.114355585989</c:v>
                </c:pt>
                <c:pt idx="87">
                  <c:v>5789.305896483498</c:v>
                </c:pt>
                <c:pt idx="88">
                  <c:v>6026.24686756245</c:v>
                </c:pt>
                <c:pt idx="89">
                  <c:v>6258.09395767828</c:v>
                </c:pt>
                <c:pt idx="90">
                  <c:v>6474.404876294329</c:v>
                </c:pt>
                <c:pt idx="91">
                  <c:v>6740.129177790813</c:v>
                </c:pt>
                <c:pt idx="92">
                  <c:v>6925.379924975254</c:v>
                </c:pt>
                <c:pt idx="93">
                  <c:v>7177.1926804538725</c:v>
                </c:pt>
                <c:pt idx="94">
                  <c:v>7326.190418600738</c:v>
                </c:pt>
                <c:pt idx="95">
                  <c:v>7508.91319364757</c:v>
                </c:pt>
                <c:pt idx="96">
                  <c:v>7634.282110848665</c:v>
                </c:pt>
                <c:pt idx="97">
                  <c:v>7963.396899668546</c:v>
                </c:pt>
                <c:pt idx="98">
                  <c:v>8223.143594753546</c:v>
                </c:pt>
                <c:pt idx="99">
                  <c:v>8502.958784117882</c:v>
                </c:pt>
                <c:pt idx="100">
                  <c:v>8901.652825444526</c:v>
                </c:pt>
                <c:pt idx="101">
                  <c:v>9089.335377114592</c:v>
                </c:pt>
                <c:pt idx="102">
                  <c:v>9561.633847030387</c:v>
                </c:pt>
                <c:pt idx="103">
                  <c:v>9801.75980016562</c:v>
                </c:pt>
                <c:pt idx="104">
                  <c:v>10080.472551098554</c:v>
                </c:pt>
                <c:pt idx="105">
                  <c:v>10333.383342815281</c:v>
                </c:pt>
                <c:pt idx="106">
                  <c:v>10563.272643010256</c:v>
                </c:pt>
                <c:pt idx="107">
                  <c:v>10732.329384390221</c:v>
                </c:pt>
                <c:pt idx="108">
                  <c:v>10946.42280652413</c:v>
                </c:pt>
                <c:pt idx="109">
                  <c:v>11264.254099733787</c:v>
                </c:pt>
                <c:pt idx="110">
                  <c:v>11665.668521806445</c:v>
                </c:pt>
                <c:pt idx="111">
                  <c:v>12015.147246297496</c:v>
                </c:pt>
                <c:pt idx="112">
                  <c:v>12489.126063485932</c:v>
                </c:pt>
                <c:pt idx="113">
                  <c:v>12587.214933991865</c:v>
                </c:pt>
                <c:pt idx="114">
                  <c:v>13115.984004122274</c:v>
                </c:pt>
                <c:pt idx="115">
                  <c:v>13456.043991710645</c:v>
                </c:pt>
                <c:pt idx="116">
                  <c:v>13991.577270325946</c:v>
                </c:pt>
                <c:pt idx="117">
                  <c:v>14390.826807170853</c:v>
                </c:pt>
                <c:pt idx="118">
                  <c:v>14918.125488108262</c:v>
                </c:pt>
                <c:pt idx="119">
                  <c:v>15050.113110729822</c:v>
                </c:pt>
                <c:pt idx="120">
                  <c:v>15301.409876340726</c:v>
                </c:pt>
                <c:pt idx="121">
                  <c:v>15751.910340774533</c:v>
                </c:pt>
                <c:pt idx="122">
                  <c:v>16423.89914153548</c:v>
                </c:pt>
                <c:pt idx="123">
                  <c:v>16676.16512986541</c:v>
                </c:pt>
                <c:pt idx="124">
                  <c:v>17159.178550303237</c:v>
                </c:pt>
                <c:pt idx="125">
                  <c:v>17859.86301722065</c:v>
                </c:pt>
                <c:pt idx="126">
                  <c:v>18252.20483507022</c:v>
                </c:pt>
                <c:pt idx="127">
                  <c:v>19355.308595945335</c:v>
                </c:pt>
                <c:pt idx="128">
                  <c:v>20167.24586024886</c:v>
                </c:pt>
                <c:pt idx="129">
                  <c:v>20069.21972623485</c:v>
                </c:pt>
                <c:pt idx="130">
                  <c:v>20310.872759238915</c:v>
                </c:pt>
                <c:pt idx="131">
                  <c:v>21104.044694265325</c:v>
                </c:pt>
                <c:pt idx="132">
                  <c:v>21962.515789880068</c:v>
                </c:pt>
                <c:pt idx="133">
                  <c:v>22908.870693811357</c:v>
                </c:pt>
                <c:pt idx="134">
                  <c:v>23129.456132112493</c:v>
                </c:pt>
                <c:pt idx="135">
                  <c:v>23880.70056019627</c:v>
                </c:pt>
                <c:pt idx="136">
                  <c:v>24488.30311458158</c:v>
                </c:pt>
                <c:pt idx="137">
                  <c:v>25403.874703394307</c:v>
                </c:pt>
                <c:pt idx="138">
                  <c:v>27414.205577730936</c:v>
                </c:pt>
                <c:pt idx="139">
                  <c:v>27866.861734888513</c:v>
                </c:pt>
                <c:pt idx="140">
                  <c:v>28097.426204594307</c:v>
                </c:pt>
                <c:pt idx="141">
                  <c:v>29234.897456901366</c:v>
                </c:pt>
                <c:pt idx="142">
                  <c:v>30135.71355617259</c:v>
                </c:pt>
                <c:pt idx="143">
                  <c:v>30871.82076022732</c:v>
                </c:pt>
                <c:pt idx="144">
                  <c:v>31469.67944930734</c:v>
                </c:pt>
                <c:pt idx="145">
                  <c:v>33162.467083150885</c:v>
                </c:pt>
                <c:pt idx="146">
                  <c:v>33795.1813937909</c:v>
                </c:pt>
                <c:pt idx="147">
                  <c:v>34712.01859458926</c:v>
                </c:pt>
                <c:pt idx="148">
                  <c:v>35343.01907195238</c:v>
                </c:pt>
                <c:pt idx="149">
                  <c:v>36050.76360366731</c:v>
                </c:pt>
                <c:pt idx="150">
                  <c:v>37181.37856370229</c:v>
                </c:pt>
                <c:pt idx="151">
                  <c:v>38908.20441350953</c:v>
                </c:pt>
                <c:pt idx="152">
                  <c:v>39753.95304454815</c:v>
                </c:pt>
                <c:pt idx="153">
                  <c:v>41381.843496810725</c:v>
                </c:pt>
                <c:pt idx="154">
                  <c:v>42364.20098137115</c:v>
                </c:pt>
                <c:pt idx="155">
                  <c:v>43232.36457906791</c:v>
                </c:pt>
                <c:pt idx="156">
                  <c:v>44641.02982983018</c:v>
                </c:pt>
                <c:pt idx="157">
                  <c:v>44831.92262295261</c:v>
                </c:pt>
                <c:pt idx="158">
                  <c:v>48190.39467350237</c:v>
                </c:pt>
                <c:pt idx="159">
                  <c:v>49203.00866577075</c:v>
                </c:pt>
                <c:pt idx="160">
                  <c:v>49984.13744903592</c:v>
                </c:pt>
                <c:pt idx="161">
                  <c:v>53123.606341817394</c:v>
                </c:pt>
                <c:pt idx="162">
                  <c:v>54394.520360887924</c:v>
                </c:pt>
                <c:pt idx="163">
                  <c:v>55339.388371256064</c:v>
                </c:pt>
                <c:pt idx="164">
                  <c:v>58575.2053674041</c:v>
                </c:pt>
                <c:pt idx="165">
                  <c:v>60811.98678040079</c:v>
                </c:pt>
                <c:pt idx="166">
                  <c:v>61514.20396327629</c:v>
                </c:pt>
                <c:pt idx="167">
                  <c:v>63633.15168890549</c:v>
                </c:pt>
                <c:pt idx="168">
                  <c:v>65803.58770016412</c:v>
                </c:pt>
                <c:pt idx="169">
                  <c:v>67793.97562380417</c:v>
                </c:pt>
                <c:pt idx="170">
                  <c:v>71402.94882097655</c:v>
                </c:pt>
                <c:pt idx="171">
                  <c:v>70441.6078940561</c:v>
                </c:pt>
                <c:pt idx="172">
                  <c:v>74507.05582359395</c:v>
                </c:pt>
                <c:pt idx="173">
                  <c:v>75546.79535409845</c:v>
                </c:pt>
                <c:pt idx="174">
                  <c:v>75622.74426948056</c:v>
                </c:pt>
                <c:pt idx="175">
                  <c:v>79321.03870248176</c:v>
                </c:pt>
                <c:pt idx="176">
                  <c:v>83285.53235394279</c:v>
                </c:pt>
                <c:pt idx="177">
                  <c:v>84329.730273895</c:v>
                </c:pt>
                <c:pt idx="178">
                  <c:v>87636.06186793432</c:v>
                </c:pt>
                <c:pt idx="179">
                  <c:v>88839.62509161403</c:v>
                </c:pt>
                <c:pt idx="180">
                  <c:v>93244.98719801127</c:v>
                </c:pt>
                <c:pt idx="181">
                  <c:v>98061.57020032588</c:v>
                </c:pt>
                <c:pt idx="182">
                  <c:v>98946.01266457821</c:v>
                </c:pt>
                <c:pt idx="183">
                  <c:v>100678.17583189295</c:v>
                </c:pt>
                <c:pt idx="184">
                  <c:v>100741.00290569436</c:v>
                </c:pt>
                <c:pt idx="185">
                  <c:v>109477.79169395666</c:v>
                </c:pt>
                <c:pt idx="186">
                  <c:v>109565.41661694754</c:v>
                </c:pt>
                <c:pt idx="187">
                  <c:v>113169.80588100298</c:v>
                </c:pt>
                <c:pt idx="188">
                  <c:v>117842.25866647503</c:v>
                </c:pt>
                <c:pt idx="189">
                  <c:v>120238.88551409206</c:v>
                </c:pt>
                <c:pt idx="190">
                  <c:v>121207.72501770644</c:v>
                </c:pt>
                <c:pt idx="191">
                  <c:v>122862.24097060626</c:v>
                </c:pt>
                <c:pt idx="192">
                  <c:v>124257.7330656263</c:v>
                </c:pt>
                <c:pt idx="193">
                  <c:v>132916.99642775307</c:v>
                </c:pt>
                <c:pt idx="194">
                  <c:v>135296.49512031215</c:v>
                </c:pt>
                <c:pt idx="195">
                  <c:v>140468.36218566168</c:v>
                </c:pt>
                <c:pt idx="196">
                  <c:v>145665.615202159</c:v>
                </c:pt>
                <c:pt idx="197">
                  <c:v>149863.07630204858</c:v>
                </c:pt>
                <c:pt idx="198">
                  <c:v>152484.1382940413</c:v>
                </c:pt>
                <c:pt idx="199">
                  <c:v>151233.6965019651</c:v>
                </c:pt>
                <c:pt idx="200">
                  <c:v>154087.1989316521</c:v>
                </c:pt>
                <c:pt idx="201">
                  <c:v>157374.01607428023</c:v>
                </c:pt>
                <c:pt idx="202">
                  <c:v>168538.95372239134</c:v>
                </c:pt>
                <c:pt idx="203">
                  <c:v>174429.91439032397</c:v>
                </c:pt>
                <c:pt idx="204">
                  <c:v>187489.04984818868</c:v>
                </c:pt>
                <c:pt idx="205">
                  <c:v>197220.55066270172</c:v>
                </c:pt>
                <c:pt idx="206">
                  <c:v>201466.67140198906</c:v>
                </c:pt>
                <c:pt idx="207">
                  <c:v>195873.0391198181</c:v>
                </c:pt>
                <c:pt idx="208">
                  <c:v>203938.59209892066</c:v>
                </c:pt>
                <c:pt idx="209">
                  <c:v>209832.65673909395</c:v>
                </c:pt>
                <c:pt idx="210">
                  <c:v>210485.0594559185</c:v>
                </c:pt>
                <c:pt idx="211">
                  <c:v>217579.99389654957</c:v>
                </c:pt>
                <c:pt idx="212">
                  <c:v>221099.47956462984</c:v>
                </c:pt>
                <c:pt idx="213">
                  <c:v>229731.1172325895</c:v>
                </c:pt>
                <c:pt idx="214">
                  <c:v>229451.19742855476</c:v>
                </c:pt>
                <c:pt idx="215">
                  <c:v>242179.86435674582</c:v>
                </c:pt>
                <c:pt idx="216">
                  <c:v>246893.37445075857</c:v>
                </c:pt>
                <c:pt idx="217">
                  <c:v>257856.4768489428</c:v>
                </c:pt>
                <c:pt idx="218">
                  <c:v>272148.5524294575</c:v>
                </c:pt>
                <c:pt idx="219">
                  <c:v>281054.92326907394</c:v>
                </c:pt>
                <c:pt idx="220">
                  <c:v>283888.89194480266</c:v>
                </c:pt>
                <c:pt idx="221">
                  <c:v>279204.6815399686</c:v>
                </c:pt>
                <c:pt idx="222">
                  <c:v>283573.2147502969</c:v>
                </c:pt>
                <c:pt idx="223">
                  <c:v>285804.31707250874</c:v>
                </c:pt>
                <c:pt idx="224">
                  <c:v>298081.7831662144</c:v>
                </c:pt>
                <c:pt idx="225">
                  <c:v>306324.17434768897</c:v>
                </c:pt>
                <c:pt idx="226">
                  <c:v>325365.5199028954</c:v>
                </c:pt>
                <c:pt idx="227">
                  <c:v>337864.05151408404</c:v>
                </c:pt>
                <c:pt idx="228">
                  <c:v>345515.2145483401</c:v>
                </c:pt>
                <c:pt idx="229">
                  <c:v>352385.24846348027</c:v>
                </c:pt>
                <c:pt idx="230">
                  <c:v>356571.36975026433</c:v>
                </c:pt>
                <c:pt idx="231">
                  <c:v>372774.90081201826</c:v>
                </c:pt>
                <c:pt idx="232">
                  <c:v>384968.95489868225</c:v>
                </c:pt>
                <c:pt idx="233">
                  <c:v>387964.4626597068</c:v>
                </c:pt>
                <c:pt idx="234">
                  <c:v>393370.59611479595</c:v>
                </c:pt>
                <c:pt idx="235">
                  <c:v>404434.70072680333</c:v>
                </c:pt>
                <c:pt idx="236">
                  <c:v>418339.7403046931</c:v>
                </c:pt>
                <c:pt idx="237">
                  <c:v>426175.35600434535</c:v>
                </c:pt>
                <c:pt idx="238">
                  <c:v>441562.40631563845</c:v>
                </c:pt>
                <c:pt idx="239">
                  <c:v>454274.0067068116</c:v>
                </c:pt>
              </c:numCache>
            </c:numRef>
          </c:val>
          <c:smooth val="0"/>
        </c:ser>
        <c:ser>
          <c:idx val="1"/>
          <c:order val="1"/>
          <c:tx>
            <c:strRef>
              <c:f>Sheet1!$C$1</c:f>
              <c:strCache>
                <c:ptCount val="1"/>
                <c:pt idx="0">
                  <c:v>중간</c:v>
                </c:pt>
              </c:strCache>
            </c:strRef>
          </c:tx>
          <c:spPr>
            <a:ln w="28575">
              <a:solidFill>
                <a:srgbClr val="0B3D91"/>
              </a:solidFill>
            </a:ln>
          </c:spPr>
          <c:marker>
            <c:symbol val="none"/>
          </c:marker>
          <c:cat>
            <c:strRef>
              <c:f>Sheet1!$A$2:$A$241</c:f>
              <c:strCache>
                <c:ptCount val="240"/>
                <c:pt idx="0">
                  <c:v>1년</c:v>
                </c:pt>
                <c:pt idx="1">
                  <c:v>1년</c:v>
                </c:pt>
                <c:pt idx="2">
                  <c:v>1년</c:v>
                </c:pt>
                <c:pt idx="3">
                  <c:v>1년</c:v>
                </c:pt>
                <c:pt idx="4">
                  <c:v>1년</c:v>
                </c:pt>
                <c:pt idx="5">
                  <c:v>1년</c:v>
                </c:pt>
                <c:pt idx="6">
                  <c:v>1년</c:v>
                </c:pt>
                <c:pt idx="7">
                  <c:v>1년</c:v>
                </c:pt>
                <c:pt idx="8">
                  <c:v>1년</c:v>
                </c:pt>
                <c:pt idx="9">
                  <c:v>1년</c:v>
                </c:pt>
                <c:pt idx="10">
                  <c:v>1년</c:v>
                </c:pt>
                <c:pt idx="11">
                  <c:v>1년</c:v>
                </c:pt>
                <c:pt idx="12">
                  <c:v>2년</c:v>
                </c:pt>
                <c:pt idx="13">
                  <c:v>2년</c:v>
                </c:pt>
                <c:pt idx="14">
                  <c:v>2년</c:v>
                </c:pt>
                <c:pt idx="15">
                  <c:v>2년</c:v>
                </c:pt>
                <c:pt idx="16">
                  <c:v>2년</c:v>
                </c:pt>
                <c:pt idx="17">
                  <c:v>2년</c:v>
                </c:pt>
                <c:pt idx="18">
                  <c:v>2년</c:v>
                </c:pt>
                <c:pt idx="19">
                  <c:v>2년</c:v>
                </c:pt>
                <c:pt idx="20">
                  <c:v>2년</c:v>
                </c:pt>
                <c:pt idx="21">
                  <c:v>2년</c:v>
                </c:pt>
                <c:pt idx="22">
                  <c:v>2년</c:v>
                </c:pt>
                <c:pt idx="23">
                  <c:v>2년</c:v>
                </c:pt>
                <c:pt idx="24">
                  <c:v>3년</c:v>
                </c:pt>
                <c:pt idx="25">
                  <c:v>3년</c:v>
                </c:pt>
                <c:pt idx="26">
                  <c:v>3년</c:v>
                </c:pt>
                <c:pt idx="27">
                  <c:v>3년</c:v>
                </c:pt>
                <c:pt idx="28">
                  <c:v>3년</c:v>
                </c:pt>
                <c:pt idx="29">
                  <c:v>3년</c:v>
                </c:pt>
                <c:pt idx="30">
                  <c:v>3년</c:v>
                </c:pt>
                <c:pt idx="31">
                  <c:v>3년</c:v>
                </c:pt>
                <c:pt idx="32">
                  <c:v>3년</c:v>
                </c:pt>
                <c:pt idx="33">
                  <c:v>3년</c:v>
                </c:pt>
                <c:pt idx="34">
                  <c:v>3년</c:v>
                </c:pt>
                <c:pt idx="35">
                  <c:v>3년</c:v>
                </c:pt>
                <c:pt idx="36">
                  <c:v>4년</c:v>
                </c:pt>
                <c:pt idx="37">
                  <c:v>4년</c:v>
                </c:pt>
                <c:pt idx="38">
                  <c:v>4년</c:v>
                </c:pt>
                <c:pt idx="39">
                  <c:v>4년</c:v>
                </c:pt>
                <c:pt idx="40">
                  <c:v>4년</c:v>
                </c:pt>
                <c:pt idx="41">
                  <c:v>4년</c:v>
                </c:pt>
                <c:pt idx="42">
                  <c:v>4년</c:v>
                </c:pt>
                <c:pt idx="43">
                  <c:v>4년</c:v>
                </c:pt>
                <c:pt idx="44">
                  <c:v>4년</c:v>
                </c:pt>
                <c:pt idx="45">
                  <c:v>4년</c:v>
                </c:pt>
                <c:pt idx="46">
                  <c:v>4년</c:v>
                </c:pt>
                <c:pt idx="47">
                  <c:v>4년</c:v>
                </c:pt>
                <c:pt idx="48">
                  <c:v>5년</c:v>
                </c:pt>
                <c:pt idx="49">
                  <c:v>5년</c:v>
                </c:pt>
                <c:pt idx="50">
                  <c:v>5년</c:v>
                </c:pt>
                <c:pt idx="51">
                  <c:v>5년</c:v>
                </c:pt>
                <c:pt idx="52">
                  <c:v>5년</c:v>
                </c:pt>
                <c:pt idx="53">
                  <c:v>5년</c:v>
                </c:pt>
                <c:pt idx="54">
                  <c:v>5년</c:v>
                </c:pt>
                <c:pt idx="55">
                  <c:v>5년</c:v>
                </c:pt>
                <c:pt idx="56">
                  <c:v>5년</c:v>
                </c:pt>
                <c:pt idx="57">
                  <c:v>5년</c:v>
                </c:pt>
                <c:pt idx="58">
                  <c:v>5년</c:v>
                </c:pt>
                <c:pt idx="59">
                  <c:v>5년</c:v>
                </c:pt>
                <c:pt idx="60">
                  <c:v>6년</c:v>
                </c:pt>
                <c:pt idx="61">
                  <c:v>6년</c:v>
                </c:pt>
                <c:pt idx="62">
                  <c:v>6년</c:v>
                </c:pt>
                <c:pt idx="63">
                  <c:v>6년</c:v>
                </c:pt>
                <c:pt idx="64">
                  <c:v>6년</c:v>
                </c:pt>
                <c:pt idx="65">
                  <c:v>6년</c:v>
                </c:pt>
                <c:pt idx="66">
                  <c:v>6년</c:v>
                </c:pt>
                <c:pt idx="67">
                  <c:v>6년</c:v>
                </c:pt>
                <c:pt idx="68">
                  <c:v>6년</c:v>
                </c:pt>
                <c:pt idx="69">
                  <c:v>6년</c:v>
                </c:pt>
                <c:pt idx="70">
                  <c:v>6년</c:v>
                </c:pt>
                <c:pt idx="71">
                  <c:v>6년</c:v>
                </c:pt>
                <c:pt idx="72">
                  <c:v>7년</c:v>
                </c:pt>
                <c:pt idx="73">
                  <c:v>7년</c:v>
                </c:pt>
                <c:pt idx="74">
                  <c:v>7년</c:v>
                </c:pt>
                <c:pt idx="75">
                  <c:v>7년</c:v>
                </c:pt>
                <c:pt idx="76">
                  <c:v>7년</c:v>
                </c:pt>
                <c:pt idx="77">
                  <c:v>7년</c:v>
                </c:pt>
                <c:pt idx="78">
                  <c:v>7년</c:v>
                </c:pt>
                <c:pt idx="79">
                  <c:v>7년</c:v>
                </c:pt>
                <c:pt idx="80">
                  <c:v>7년</c:v>
                </c:pt>
                <c:pt idx="81">
                  <c:v>7년</c:v>
                </c:pt>
                <c:pt idx="82">
                  <c:v>7년</c:v>
                </c:pt>
                <c:pt idx="83">
                  <c:v>7년</c:v>
                </c:pt>
                <c:pt idx="84">
                  <c:v>8년</c:v>
                </c:pt>
                <c:pt idx="85">
                  <c:v>8년</c:v>
                </c:pt>
                <c:pt idx="86">
                  <c:v>8년</c:v>
                </c:pt>
                <c:pt idx="87">
                  <c:v>8년</c:v>
                </c:pt>
                <c:pt idx="88">
                  <c:v>8년</c:v>
                </c:pt>
                <c:pt idx="89">
                  <c:v>8년</c:v>
                </c:pt>
                <c:pt idx="90">
                  <c:v>8년</c:v>
                </c:pt>
                <c:pt idx="91">
                  <c:v>8년</c:v>
                </c:pt>
                <c:pt idx="92">
                  <c:v>8년</c:v>
                </c:pt>
                <c:pt idx="93">
                  <c:v>8년</c:v>
                </c:pt>
                <c:pt idx="94">
                  <c:v>8년</c:v>
                </c:pt>
                <c:pt idx="95">
                  <c:v>8년</c:v>
                </c:pt>
                <c:pt idx="96">
                  <c:v>9년</c:v>
                </c:pt>
                <c:pt idx="97">
                  <c:v>9년</c:v>
                </c:pt>
                <c:pt idx="98">
                  <c:v>9년</c:v>
                </c:pt>
                <c:pt idx="99">
                  <c:v>9년</c:v>
                </c:pt>
                <c:pt idx="100">
                  <c:v>9년</c:v>
                </c:pt>
                <c:pt idx="101">
                  <c:v>9년</c:v>
                </c:pt>
                <c:pt idx="102">
                  <c:v>9년</c:v>
                </c:pt>
                <c:pt idx="103">
                  <c:v>9년</c:v>
                </c:pt>
                <c:pt idx="104">
                  <c:v>9년</c:v>
                </c:pt>
                <c:pt idx="105">
                  <c:v>9년</c:v>
                </c:pt>
                <c:pt idx="106">
                  <c:v>9년</c:v>
                </c:pt>
                <c:pt idx="107">
                  <c:v>9년</c:v>
                </c:pt>
                <c:pt idx="108">
                  <c:v>10년</c:v>
                </c:pt>
                <c:pt idx="109">
                  <c:v>10년</c:v>
                </c:pt>
                <c:pt idx="110">
                  <c:v>10년</c:v>
                </c:pt>
                <c:pt idx="111">
                  <c:v>10년</c:v>
                </c:pt>
                <c:pt idx="112">
                  <c:v>10년</c:v>
                </c:pt>
                <c:pt idx="113">
                  <c:v>10년</c:v>
                </c:pt>
                <c:pt idx="114">
                  <c:v>10년</c:v>
                </c:pt>
                <c:pt idx="115">
                  <c:v>10년</c:v>
                </c:pt>
                <c:pt idx="116">
                  <c:v>10년</c:v>
                </c:pt>
                <c:pt idx="117">
                  <c:v>10년</c:v>
                </c:pt>
                <c:pt idx="118">
                  <c:v>10년</c:v>
                </c:pt>
                <c:pt idx="119">
                  <c:v>10년</c:v>
                </c:pt>
                <c:pt idx="120">
                  <c:v>11년</c:v>
                </c:pt>
                <c:pt idx="121">
                  <c:v>11년</c:v>
                </c:pt>
                <c:pt idx="122">
                  <c:v>11년</c:v>
                </c:pt>
                <c:pt idx="123">
                  <c:v>11년</c:v>
                </c:pt>
                <c:pt idx="124">
                  <c:v>11년</c:v>
                </c:pt>
                <c:pt idx="125">
                  <c:v>11년</c:v>
                </c:pt>
                <c:pt idx="126">
                  <c:v>11년</c:v>
                </c:pt>
                <c:pt idx="127">
                  <c:v>11년</c:v>
                </c:pt>
                <c:pt idx="128">
                  <c:v>11년</c:v>
                </c:pt>
                <c:pt idx="129">
                  <c:v>11년</c:v>
                </c:pt>
                <c:pt idx="130">
                  <c:v>11년</c:v>
                </c:pt>
                <c:pt idx="131">
                  <c:v>11년</c:v>
                </c:pt>
                <c:pt idx="132">
                  <c:v>12년</c:v>
                </c:pt>
                <c:pt idx="133">
                  <c:v>12년</c:v>
                </c:pt>
                <c:pt idx="134">
                  <c:v>12년</c:v>
                </c:pt>
                <c:pt idx="135">
                  <c:v>12년</c:v>
                </c:pt>
                <c:pt idx="136">
                  <c:v>12년</c:v>
                </c:pt>
                <c:pt idx="137">
                  <c:v>12년</c:v>
                </c:pt>
                <c:pt idx="138">
                  <c:v>12년</c:v>
                </c:pt>
                <c:pt idx="139">
                  <c:v>12년</c:v>
                </c:pt>
                <c:pt idx="140">
                  <c:v>12년</c:v>
                </c:pt>
                <c:pt idx="141">
                  <c:v>12년</c:v>
                </c:pt>
                <c:pt idx="142">
                  <c:v>12년</c:v>
                </c:pt>
                <c:pt idx="143">
                  <c:v>12년</c:v>
                </c:pt>
                <c:pt idx="144">
                  <c:v>13년</c:v>
                </c:pt>
                <c:pt idx="145">
                  <c:v>13년</c:v>
                </c:pt>
                <c:pt idx="146">
                  <c:v>13년</c:v>
                </c:pt>
                <c:pt idx="147">
                  <c:v>13년</c:v>
                </c:pt>
                <c:pt idx="148">
                  <c:v>13년</c:v>
                </c:pt>
                <c:pt idx="149">
                  <c:v>13년</c:v>
                </c:pt>
                <c:pt idx="150">
                  <c:v>13년</c:v>
                </c:pt>
                <c:pt idx="151">
                  <c:v>13년</c:v>
                </c:pt>
                <c:pt idx="152">
                  <c:v>13년</c:v>
                </c:pt>
                <c:pt idx="153">
                  <c:v>13년</c:v>
                </c:pt>
                <c:pt idx="154">
                  <c:v>13년</c:v>
                </c:pt>
                <c:pt idx="155">
                  <c:v>13년</c:v>
                </c:pt>
                <c:pt idx="156">
                  <c:v>14년</c:v>
                </c:pt>
                <c:pt idx="157">
                  <c:v>14년</c:v>
                </c:pt>
                <c:pt idx="158">
                  <c:v>14년</c:v>
                </c:pt>
                <c:pt idx="159">
                  <c:v>14년</c:v>
                </c:pt>
                <c:pt idx="160">
                  <c:v>14년</c:v>
                </c:pt>
                <c:pt idx="161">
                  <c:v>14년</c:v>
                </c:pt>
                <c:pt idx="162">
                  <c:v>14년</c:v>
                </c:pt>
                <c:pt idx="163">
                  <c:v>14년</c:v>
                </c:pt>
                <c:pt idx="164">
                  <c:v>14년</c:v>
                </c:pt>
                <c:pt idx="165">
                  <c:v>14년</c:v>
                </c:pt>
                <c:pt idx="166">
                  <c:v>14년</c:v>
                </c:pt>
                <c:pt idx="167">
                  <c:v>14년</c:v>
                </c:pt>
                <c:pt idx="168">
                  <c:v>15년</c:v>
                </c:pt>
                <c:pt idx="169">
                  <c:v>15년</c:v>
                </c:pt>
                <c:pt idx="170">
                  <c:v>15년</c:v>
                </c:pt>
                <c:pt idx="171">
                  <c:v>15년</c:v>
                </c:pt>
                <c:pt idx="172">
                  <c:v>15년</c:v>
                </c:pt>
                <c:pt idx="173">
                  <c:v>15년</c:v>
                </c:pt>
                <c:pt idx="174">
                  <c:v>15년</c:v>
                </c:pt>
                <c:pt idx="175">
                  <c:v>15년</c:v>
                </c:pt>
                <c:pt idx="176">
                  <c:v>15년</c:v>
                </c:pt>
                <c:pt idx="177">
                  <c:v>15년</c:v>
                </c:pt>
                <c:pt idx="178">
                  <c:v>15년</c:v>
                </c:pt>
                <c:pt idx="179">
                  <c:v>15년</c:v>
                </c:pt>
                <c:pt idx="180">
                  <c:v>16년</c:v>
                </c:pt>
                <c:pt idx="181">
                  <c:v>16년</c:v>
                </c:pt>
                <c:pt idx="182">
                  <c:v>16년</c:v>
                </c:pt>
                <c:pt idx="183">
                  <c:v>16년</c:v>
                </c:pt>
                <c:pt idx="184">
                  <c:v>16년</c:v>
                </c:pt>
                <c:pt idx="185">
                  <c:v>16년</c:v>
                </c:pt>
                <c:pt idx="186">
                  <c:v>16년</c:v>
                </c:pt>
                <c:pt idx="187">
                  <c:v>16년</c:v>
                </c:pt>
                <c:pt idx="188">
                  <c:v>16년</c:v>
                </c:pt>
                <c:pt idx="189">
                  <c:v>16년</c:v>
                </c:pt>
                <c:pt idx="190">
                  <c:v>16년</c:v>
                </c:pt>
                <c:pt idx="191">
                  <c:v>16년</c:v>
                </c:pt>
                <c:pt idx="192">
                  <c:v>17년</c:v>
                </c:pt>
                <c:pt idx="193">
                  <c:v>17년</c:v>
                </c:pt>
                <c:pt idx="194">
                  <c:v>17년</c:v>
                </c:pt>
                <c:pt idx="195">
                  <c:v>17년</c:v>
                </c:pt>
                <c:pt idx="196">
                  <c:v>17년</c:v>
                </c:pt>
                <c:pt idx="197">
                  <c:v>17년</c:v>
                </c:pt>
                <c:pt idx="198">
                  <c:v>17년</c:v>
                </c:pt>
                <c:pt idx="199">
                  <c:v>17년</c:v>
                </c:pt>
                <c:pt idx="200">
                  <c:v>17년</c:v>
                </c:pt>
                <c:pt idx="201">
                  <c:v>17년</c:v>
                </c:pt>
                <c:pt idx="202">
                  <c:v>17년</c:v>
                </c:pt>
                <c:pt idx="203">
                  <c:v>17년</c:v>
                </c:pt>
                <c:pt idx="204">
                  <c:v>18년</c:v>
                </c:pt>
                <c:pt idx="205">
                  <c:v>18년</c:v>
                </c:pt>
                <c:pt idx="206">
                  <c:v>18년</c:v>
                </c:pt>
                <c:pt idx="207">
                  <c:v>18년</c:v>
                </c:pt>
                <c:pt idx="208">
                  <c:v>18년</c:v>
                </c:pt>
                <c:pt idx="209">
                  <c:v>18년</c:v>
                </c:pt>
                <c:pt idx="210">
                  <c:v>18년</c:v>
                </c:pt>
                <c:pt idx="211">
                  <c:v>18년</c:v>
                </c:pt>
                <c:pt idx="212">
                  <c:v>18년</c:v>
                </c:pt>
                <c:pt idx="213">
                  <c:v>18년</c:v>
                </c:pt>
                <c:pt idx="214">
                  <c:v>18년</c:v>
                </c:pt>
                <c:pt idx="215">
                  <c:v>18년</c:v>
                </c:pt>
                <c:pt idx="216">
                  <c:v>19년</c:v>
                </c:pt>
                <c:pt idx="217">
                  <c:v>19년</c:v>
                </c:pt>
                <c:pt idx="218">
                  <c:v>19년</c:v>
                </c:pt>
                <c:pt idx="219">
                  <c:v>19년</c:v>
                </c:pt>
                <c:pt idx="220">
                  <c:v>19년</c:v>
                </c:pt>
                <c:pt idx="221">
                  <c:v>19년</c:v>
                </c:pt>
                <c:pt idx="222">
                  <c:v>19년</c:v>
                </c:pt>
                <c:pt idx="223">
                  <c:v>19년</c:v>
                </c:pt>
                <c:pt idx="224">
                  <c:v>19년</c:v>
                </c:pt>
                <c:pt idx="225">
                  <c:v>19년</c:v>
                </c:pt>
                <c:pt idx="226">
                  <c:v>19년</c:v>
                </c:pt>
                <c:pt idx="227">
                  <c:v>19년</c:v>
                </c:pt>
                <c:pt idx="228">
                  <c:v>20년</c:v>
                </c:pt>
                <c:pt idx="229">
                  <c:v>20년</c:v>
                </c:pt>
                <c:pt idx="230">
                  <c:v>20년</c:v>
                </c:pt>
                <c:pt idx="231">
                  <c:v>20년</c:v>
                </c:pt>
                <c:pt idx="232">
                  <c:v>20년</c:v>
                </c:pt>
                <c:pt idx="233">
                  <c:v>20년</c:v>
                </c:pt>
                <c:pt idx="234">
                  <c:v>20년</c:v>
                </c:pt>
                <c:pt idx="235">
                  <c:v>20년</c:v>
                </c:pt>
                <c:pt idx="236">
                  <c:v>20년</c:v>
                </c:pt>
                <c:pt idx="237">
                  <c:v>20년</c:v>
                </c:pt>
                <c:pt idx="238">
                  <c:v>20년</c:v>
                </c:pt>
                <c:pt idx="239">
                  <c:v>20년</c:v>
                </c:pt>
              </c:strCache>
            </c:strRef>
          </c:cat>
          <c:val>
            <c:numRef>
              <c:f>Sheet1!$C$2:$C$241</c:f>
              <c:numCache>
                <c:formatCode>General</c:formatCode>
                <c:ptCount val="240"/>
                <c:pt idx="0">
                  <c:v>10.31272239244568</c:v>
                </c:pt>
                <c:pt idx="1">
                  <c:v>20.86028740247517</c:v>
                </c:pt>
                <c:pt idx="2">
                  <c:v>31.48632671222756</c:v>
                </c:pt>
                <c:pt idx="3">
                  <c:v>42.642330253662216</c:v>
                </c:pt>
                <c:pt idx="4">
                  <c:v>53.875685125567905</c:v>
                </c:pt>
                <c:pt idx="5">
                  <c:v>65.73411583963853</c:v>
                </c:pt>
                <c:pt idx="6">
                  <c:v>77.9008470920204</c:v>
                </c:pt>
                <c:pt idx="7">
                  <c:v>90.5545646559163</c:v>
                </c:pt>
                <c:pt idx="8">
                  <c:v>103.73731334714745</c:v>
                </c:pt>
                <c:pt idx="9">
                  <c:v>117.31499296124491</c:v>
                </c:pt>
                <c:pt idx="10">
                  <c:v>130.7584239773018</c:v>
                </c:pt>
                <c:pt idx="11">
                  <c:v>144.04993686276575</c:v>
                </c:pt>
                <c:pt idx="12">
                  <c:v>157.34415774444395</c:v>
                </c:pt>
                <c:pt idx="13">
                  <c:v>170.63788233747218</c:v>
                </c:pt>
                <c:pt idx="14">
                  <c:v>184.662937136886</c:v>
                </c:pt>
                <c:pt idx="15">
                  <c:v>200.71295297669124</c:v>
                </c:pt>
                <c:pt idx="16">
                  <c:v>217.17849256150032</c:v>
                </c:pt>
                <c:pt idx="17">
                  <c:v>231.20232180765737</c:v>
                </c:pt>
                <c:pt idx="18">
                  <c:v>247.04855579152027</c:v>
                </c:pt>
                <c:pt idx="19">
                  <c:v>266.06371018691215</c:v>
                </c:pt>
                <c:pt idx="20">
                  <c:v>282.51738719639314</c:v>
                </c:pt>
                <c:pt idx="21">
                  <c:v>302.482972013558</c:v>
                </c:pt>
                <c:pt idx="22">
                  <c:v>319.9471906840177</c:v>
                </c:pt>
                <c:pt idx="23">
                  <c:v>337.5703266570472</c:v>
                </c:pt>
                <c:pt idx="24">
                  <c:v>351.41253910671213</c:v>
                </c:pt>
                <c:pt idx="25">
                  <c:v>370.2522254907231</c:v>
                </c:pt>
                <c:pt idx="26">
                  <c:v>387.55896924931704</c:v>
                </c:pt>
                <c:pt idx="27">
                  <c:v>406.3961789990902</c:v>
                </c:pt>
                <c:pt idx="28">
                  <c:v>426.955861835821</c:v>
                </c:pt>
                <c:pt idx="29">
                  <c:v>444.6053685580929</c:v>
                </c:pt>
                <c:pt idx="30">
                  <c:v>462.3568468911106</c:v>
                </c:pt>
                <c:pt idx="31">
                  <c:v>493.43308433301377</c:v>
                </c:pt>
                <c:pt idx="32">
                  <c:v>513.1220939742024</c:v>
                </c:pt>
                <c:pt idx="33">
                  <c:v>533.9969887169038</c:v>
                </c:pt>
                <c:pt idx="34">
                  <c:v>561.3077427108442</c:v>
                </c:pt>
                <c:pt idx="35">
                  <c:v>579.7770464779578</c:v>
                </c:pt>
                <c:pt idx="36">
                  <c:v>606.7610654664824</c:v>
                </c:pt>
                <c:pt idx="37">
                  <c:v>625.376494752683</c:v>
                </c:pt>
                <c:pt idx="38">
                  <c:v>648.6116132429001</c:v>
                </c:pt>
                <c:pt idx="39">
                  <c:v>672.2949471045204</c:v>
                </c:pt>
                <c:pt idx="40">
                  <c:v>699.2566043662299</c:v>
                </c:pt>
                <c:pt idx="41">
                  <c:v>730.7636656021675</c:v>
                </c:pt>
                <c:pt idx="42">
                  <c:v>763.1514673445633</c:v>
                </c:pt>
                <c:pt idx="43">
                  <c:v>794.67026361512</c:v>
                </c:pt>
                <c:pt idx="44">
                  <c:v>824.2147701885224</c:v>
                </c:pt>
                <c:pt idx="45">
                  <c:v>857.87389204861</c:v>
                </c:pt>
                <c:pt idx="46">
                  <c:v>883.1495607244408</c:v>
                </c:pt>
                <c:pt idx="47">
                  <c:v>909.2413582002877</c:v>
                </c:pt>
                <c:pt idx="48">
                  <c:v>945.9882298214119</c:v>
                </c:pt>
                <c:pt idx="49">
                  <c:v>969.7383064487115</c:v>
                </c:pt>
                <c:pt idx="50">
                  <c:v>996.5879413257737</c:v>
                </c:pt>
                <c:pt idx="51">
                  <c:v>1031.3504690411696</c:v>
                </c:pt>
                <c:pt idx="52">
                  <c:v>1073.0439112110855</c:v>
                </c:pt>
                <c:pt idx="53">
                  <c:v>1101.0044193153497</c:v>
                </c:pt>
                <c:pt idx="54">
                  <c:v>1163.3528952861138</c:v>
                </c:pt>
                <c:pt idx="55">
                  <c:v>1196.6384237169461</c:v>
                </c:pt>
                <c:pt idx="56">
                  <c:v>1262.485535926714</c:v>
                </c:pt>
                <c:pt idx="57">
                  <c:v>1296.6365287932572</c:v>
                </c:pt>
                <c:pt idx="58">
                  <c:v>1344.862795331908</c:v>
                </c:pt>
                <c:pt idx="59">
                  <c:v>1382.5810203991048</c:v>
                </c:pt>
                <c:pt idx="60">
                  <c:v>1423.2028697377932</c:v>
                </c:pt>
                <c:pt idx="61">
                  <c:v>1460.3421577630147</c:v>
                </c:pt>
                <c:pt idx="62">
                  <c:v>1525.4742276930951</c:v>
                </c:pt>
                <c:pt idx="63">
                  <c:v>1574.435962349331</c:v>
                </c:pt>
                <c:pt idx="64">
                  <c:v>1633.9285731063842</c:v>
                </c:pt>
                <c:pt idx="65">
                  <c:v>1677.5696850296274</c:v>
                </c:pt>
                <c:pt idx="66">
                  <c:v>1724.8394347115382</c:v>
                </c:pt>
                <c:pt idx="67">
                  <c:v>1781.1991721326276</c:v>
                </c:pt>
                <c:pt idx="68">
                  <c:v>1830.4905533768024</c:v>
                </c:pt>
                <c:pt idx="69">
                  <c:v>1865.3869639680884</c:v>
                </c:pt>
                <c:pt idx="70">
                  <c:v>1914.4244936859443</c:v>
                </c:pt>
                <c:pt idx="71">
                  <c:v>1942.0544453568925</c:v>
                </c:pt>
                <c:pt idx="72">
                  <c:v>2021.9222075782568</c:v>
                </c:pt>
                <c:pt idx="73">
                  <c:v>2083.0960853398724</c:v>
                </c:pt>
                <c:pt idx="74">
                  <c:v>2148.539513759744</c:v>
                </c:pt>
                <c:pt idx="75">
                  <c:v>2206.4181534531413</c:v>
                </c:pt>
                <c:pt idx="76">
                  <c:v>2275.6848543838787</c:v>
                </c:pt>
                <c:pt idx="77">
                  <c:v>2364.523337603575</c:v>
                </c:pt>
                <c:pt idx="78">
                  <c:v>2441.7033929324925</c:v>
                </c:pt>
                <c:pt idx="79">
                  <c:v>2498.543663799561</c:v>
                </c:pt>
                <c:pt idx="80">
                  <c:v>2560.1290115890793</c:v>
                </c:pt>
                <c:pt idx="81">
                  <c:v>2628.5562779961824</c:v>
                </c:pt>
                <c:pt idx="82">
                  <c:v>2726.739146213192</c:v>
                </c:pt>
                <c:pt idx="83">
                  <c:v>2800.585984687415</c:v>
                </c:pt>
                <c:pt idx="84">
                  <c:v>2837.294178347258</c:v>
                </c:pt>
                <c:pt idx="85">
                  <c:v>2910.325363459314</c:v>
                </c:pt>
                <c:pt idx="86">
                  <c:v>3031.642183481026</c:v>
                </c:pt>
                <c:pt idx="87">
                  <c:v>3098.715522239071</c:v>
                </c:pt>
                <c:pt idx="88">
                  <c:v>3223.984055820225</c:v>
                </c:pt>
                <c:pt idx="89">
                  <c:v>3262.3281471945447</c:v>
                </c:pt>
                <c:pt idx="90">
                  <c:v>3379.969060905868</c:v>
                </c:pt>
                <c:pt idx="91">
                  <c:v>3520.1468985579627</c:v>
                </c:pt>
                <c:pt idx="92">
                  <c:v>3593.800747747555</c:v>
                </c:pt>
                <c:pt idx="93">
                  <c:v>3631.7395990150385</c:v>
                </c:pt>
                <c:pt idx="94">
                  <c:v>3717.5488742578514</c:v>
                </c:pt>
                <c:pt idx="95">
                  <c:v>3833.816447562964</c:v>
                </c:pt>
                <c:pt idx="96">
                  <c:v>3933.7298756044283</c:v>
                </c:pt>
                <c:pt idx="97">
                  <c:v>3987.919302297778</c:v>
                </c:pt>
                <c:pt idx="98">
                  <c:v>4088.253563131703</c:v>
                </c:pt>
                <c:pt idx="99">
                  <c:v>4196.877424899002</c:v>
                </c:pt>
                <c:pt idx="100">
                  <c:v>4318.105289337603</c:v>
                </c:pt>
                <c:pt idx="101">
                  <c:v>4473.585576371313</c:v>
                </c:pt>
                <c:pt idx="102">
                  <c:v>4623.358671295789</c:v>
                </c:pt>
                <c:pt idx="103">
                  <c:v>4802.594072685793</c:v>
                </c:pt>
                <c:pt idx="104">
                  <c:v>4881.413472126838</c:v>
                </c:pt>
                <c:pt idx="105">
                  <c:v>5060.239589557489</c:v>
                </c:pt>
                <c:pt idx="106">
                  <c:v>5201.778502162702</c:v>
                </c:pt>
                <c:pt idx="107">
                  <c:v>5236.58825246889</c:v>
                </c:pt>
                <c:pt idx="108">
                  <c:v>5422.681965435311</c:v>
                </c:pt>
                <c:pt idx="109">
                  <c:v>5551.717771464616</c:v>
                </c:pt>
                <c:pt idx="110">
                  <c:v>5702.609383726676</c:v>
                </c:pt>
                <c:pt idx="111">
                  <c:v>5843.454283359599</c:v>
                </c:pt>
                <c:pt idx="112">
                  <c:v>6012.0142195582375</c:v>
                </c:pt>
                <c:pt idx="113">
                  <c:v>6226.376550276794</c:v>
                </c:pt>
                <c:pt idx="114">
                  <c:v>6395.370026151759</c:v>
                </c:pt>
                <c:pt idx="115">
                  <c:v>6578.556636716991</c:v>
                </c:pt>
                <c:pt idx="116">
                  <c:v>6626.675394634397</c:v>
                </c:pt>
                <c:pt idx="117">
                  <c:v>6734.196615302814</c:v>
                </c:pt>
                <c:pt idx="118">
                  <c:v>6956.5139129335075</c:v>
                </c:pt>
                <c:pt idx="119">
                  <c:v>7188.847777894551</c:v>
                </c:pt>
                <c:pt idx="120">
                  <c:v>7428.060102572398</c:v>
                </c:pt>
                <c:pt idx="121">
                  <c:v>7624.816418819459</c:v>
                </c:pt>
                <c:pt idx="122">
                  <c:v>7772.683753407344</c:v>
                </c:pt>
                <c:pt idx="123">
                  <c:v>8034.4525323715325</c:v>
                </c:pt>
                <c:pt idx="124">
                  <c:v>8370.27101802768</c:v>
                </c:pt>
                <c:pt idx="125">
                  <c:v>8475.794137892532</c:v>
                </c:pt>
                <c:pt idx="126">
                  <c:v>8625.872150481004</c:v>
                </c:pt>
                <c:pt idx="127">
                  <c:v>8927.785990022825</c:v>
                </c:pt>
                <c:pt idx="128">
                  <c:v>8971.002194357578</c:v>
                </c:pt>
                <c:pt idx="129">
                  <c:v>9221.098821789465</c:v>
                </c:pt>
                <c:pt idx="130">
                  <c:v>9516.88172709665</c:v>
                </c:pt>
                <c:pt idx="131">
                  <c:v>9814.93867205666</c:v>
                </c:pt>
                <c:pt idx="132">
                  <c:v>10021.655210848241</c:v>
                </c:pt>
                <c:pt idx="133">
                  <c:v>10329.444199878551</c:v>
                </c:pt>
                <c:pt idx="134">
                  <c:v>10626.473936119148</c:v>
                </c:pt>
                <c:pt idx="135">
                  <c:v>10772.317828926889</c:v>
                </c:pt>
                <c:pt idx="136">
                  <c:v>10946.373509149757</c:v>
                </c:pt>
                <c:pt idx="137">
                  <c:v>11384.704402909083</c:v>
                </c:pt>
                <c:pt idx="138">
                  <c:v>11572.774219448998</c:v>
                </c:pt>
                <c:pt idx="139">
                  <c:v>11960.028378336672</c:v>
                </c:pt>
                <c:pt idx="140">
                  <c:v>12145.784989166808</c:v>
                </c:pt>
                <c:pt idx="141">
                  <c:v>12388.352499485803</c:v>
                </c:pt>
                <c:pt idx="142">
                  <c:v>12644.524697411422</c:v>
                </c:pt>
                <c:pt idx="143">
                  <c:v>13117.724570427416</c:v>
                </c:pt>
                <c:pt idx="144">
                  <c:v>13416.122480885742</c:v>
                </c:pt>
                <c:pt idx="145">
                  <c:v>13575.079077017701</c:v>
                </c:pt>
                <c:pt idx="146">
                  <c:v>13772.10178500478</c:v>
                </c:pt>
                <c:pt idx="147">
                  <c:v>14081.55144584912</c:v>
                </c:pt>
                <c:pt idx="148">
                  <c:v>14642.684832048395</c:v>
                </c:pt>
                <c:pt idx="149">
                  <c:v>15138.579231230313</c:v>
                </c:pt>
                <c:pt idx="150">
                  <c:v>15371.016895538456</c:v>
                </c:pt>
                <c:pt idx="151">
                  <c:v>16048.122549946302</c:v>
                </c:pt>
                <c:pt idx="152">
                  <c:v>15916.97862328161</c:v>
                </c:pt>
                <c:pt idx="153">
                  <c:v>16353.443202042794</c:v>
                </c:pt>
                <c:pt idx="154">
                  <c:v>16702.627318489747</c:v>
                </c:pt>
                <c:pt idx="155">
                  <c:v>17235.507715573687</c:v>
                </c:pt>
                <c:pt idx="156">
                  <c:v>17657.560239440943</c:v>
                </c:pt>
                <c:pt idx="157">
                  <c:v>17805.145958283272</c:v>
                </c:pt>
                <c:pt idx="158">
                  <c:v>18325.07663012942</c:v>
                </c:pt>
                <c:pt idx="159">
                  <c:v>18794.544802639753</c:v>
                </c:pt>
                <c:pt idx="160">
                  <c:v>19688.896454351656</c:v>
                </c:pt>
                <c:pt idx="161">
                  <c:v>20149.26649863103</c:v>
                </c:pt>
                <c:pt idx="162">
                  <c:v>20846.39187333819</c:v>
                </c:pt>
                <c:pt idx="163">
                  <c:v>20991.608154831698</c:v>
                </c:pt>
                <c:pt idx="164">
                  <c:v>21463.73922607183</c:v>
                </c:pt>
                <c:pt idx="165">
                  <c:v>21988.681950734128</c:v>
                </c:pt>
                <c:pt idx="166">
                  <c:v>22370.357320337673</c:v>
                </c:pt>
                <c:pt idx="167">
                  <c:v>22261.398627665574</c:v>
                </c:pt>
                <c:pt idx="168">
                  <c:v>23533.952247876787</c:v>
                </c:pt>
                <c:pt idx="169">
                  <c:v>23795.34503497528</c:v>
                </c:pt>
                <c:pt idx="170">
                  <c:v>24228.86604754924</c:v>
                </c:pt>
                <c:pt idx="171">
                  <c:v>24996.34011721301</c:v>
                </c:pt>
                <c:pt idx="172">
                  <c:v>25790.688726013464</c:v>
                </c:pt>
                <c:pt idx="173">
                  <c:v>26437.633864741223</c:v>
                </c:pt>
                <c:pt idx="174">
                  <c:v>26642.305639886017</c:v>
                </c:pt>
                <c:pt idx="175">
                  <c:v>27355.214040447485</c:v>
                </c:pt>
                <c:pt idx="176">
                  <c:v>27834.22323632617</c:v>
                </c:pt>
                <c:pt idx="177">
                  <c:v>28530.915876861418</c:v>
                </c:pt>
                <c:pt idx="178">
                  <c:v>29075.30040466441</c:v>
                </c:pt>
                <c:pt idx="179">
                  <c:v>30423.400695676464</c:v>
                </c:pt>
                <c:pt idx="180">
                  <c:v>30683.375667251086</c:v>
                </c:pt>
                <c:pt idx="181">
                  <c:v>31387.165070870044</c:v>
                </c:pt>
                <c:pt idx="182">
                  <c:v>31911.05624328702</c:v>
                </c:pt>
                <c:pt idx="183">
                  <c:v>33286.40637575428</c:v>
                </c:pt>
                <c:pt idx="184">
                  <c:v>33791.46588312552</c:v>
                </c:pt>
                <c:pt idx="185">
                  <c:v>34679.19262552302</c:v>
                </c:pt>
                <c:pt idx="186">
                  <c:v>35542.42026187526</c:v>
                </c:pt>
                <c:pt idx="187">
                  <c:v>36867.107714426864</c:v>
                </c:pt>
                <c:pt idx="188">
                  <c:v>37599.30352577078</c:v>
                </c:pt>
                <c:pt idx="189">
                  <c:v>38284.25434285536</c:v>
                </c:pt>
                <c:pt idx="190">
                  <c:v>39651.66621775063</c:v>
                </c:pt>
                <c:pt idx="191">
                  <c:v>39123.441690304135</c:v>
                </c:pt>
                <c:pt idx="192">
                  <c:v>40885.40824254676</c:v>
                </c:pt>
                <c:pt idx="193">
                  <c:v>42566.75546066183</c:v>
                </c:pt>
                <c:pt idx="194">
                  <c:v>42886.75457231667</c:v>
                </c:pt>
                <c:pt idx="195">
                  <c:v>44805.83418036821</c:v>
                </c:pt>
                <c:pt idx="196">
                  <c:v>45758.60921160488</c:v>
                </c:pt>
                <c:pt idx="197">
                  <c:v>47365.90924775511</c:v>
                </c:pt>
                <c:pt idx="198">
                  <c:v>47885.64517135674</c:v>
                </c:pt>
                <c:pt idx="199">
                  <c:v>48467.899834158445</c:v>
                </c:pt>
                <c:pt idx="200">
                  <c:v>50105.94943113483</c:v>
                </c:pt>
                <c:pt idx="201">
                  <c:v>50885.58798046472</c:v>
                </c:pt>
                <c:pt idx="202">
                  <c:v>52534.65583569185</c:v>
                </c:pt>
                <c:pt idx="203">
                  <c:v>54972.88466792723</c:v>
                </c:pt>
                <c:pt idx="204">
                  <c:v>55454.46668260272</c:v>
                </c:pt>
                <c:pt idx="205">
                  <c:v>56990.538392807866</c:v>
                </c:pt>
                <c:pt idx="206">
                  <c:v>58386.29696368973</c:v>
                </c:pt>
                <c:pt idx="207">
                  <c:v>61022.00095010085</c:v>
                </c:pt>
                <c:pt idx="208">
                  <c:v>60596.69229164975</c:v>
                </c:pt>
                <c:pt idx="209">
                  <c:v>60995.35130518317</c:v>
                </c:pt>
                <c:pt idx="210">
                  <c:v>61030.59543778956</c:v>
                </c:pt>
                <c:pt idx="211">
                  <c:v>63567.965704286835</c:v>
                </c:pt>
                <c:pt idx="212">
                  <c:v>64904.345462443045</c:v>
                </c:pt>
                <c:pt idx="213">
                  <c:v>67614.20068113899</c:v>
                </c:pt>
                <c:pt idx="214">
                  <c:v>69188.53725817657</c:v>
                </c:pt>
                <c:pt idx="215">
                  <c:v>70090.13733734444</c:v>
                </c:pt>
                <c:pt idx="216">
                  <c:v>71832.323921214</c:v>
                </c:pt>
                <c:pt idx="217">
                  <c:v>72410.99233605221</c:v>
                </c:pt>
                <c:pt idx="218">
                  <c:v>75046.30035652257</c:v>
                </c:pt>
                <c:pt idx="219">
                  <c:v>78113.97896573055</c:v>
                </c:pt>
                <c:pt idx="220">
                  <c:v>81553.3293199677</c:v>
                </c:pt>
                <c:pt idx="221">
                  <c:v>81168.13025122516</c:v>
                </c:pt>
                <c:pt idx="222">
                  <c:v>83526.95073451038</c:v>
                </c:pt>
                <c:pt idx="223">
                  <c:v>86338.78653533838</c:v>
                </c:pt>
                <c:pt idx="224">
                  <c:v>87010.32929873579</c:v>
                </c:pt>
                <c:pt idx="225">
                  <c:v>88896.68254176156</c:v>
                </c:pt>
                <c:pt idx="226">
                  <c:v>88887.51173596868</c:v>
                </c:pt>
                <c:pt idx="227">
                  <c:v>93165.34612136193</c:v>
                </c:pt>
                <c:pt idx="228">
                  <c:v>96621.96701045723</c:v>
                </c:pt>
                <c:pt idx="229">
                  <c:v>98392.8048511188</c:v>
                </c:pt>
                <c:pt idx="230">
                  <c:v>99953.73484624174</c:v>
                </c:pt>
                <c:pt idx="231">
                  <c:v>100612.8398025316</c:v>
                </c:pt>
                <c:pt idx="232">
                  <c:v>102300.52855749863</c:v>
                </c:pt>
                <c:pt idx="233">
                  <c:v>104249.13435909634</c:v>
                </c:pt>
                <c:pt idx="234">
                  <c:v>108774.7731747699</c:v>
                </c:pt>
                <c:pt idx="235">
                  <c:v>110380.89679475685</c:v>
                </c:pt>
                <c:pt idx="236">
                  <c:v>112930.58210869011</c:v>
                </c:pt>
                <c:pt idx="237">
                  <c:v>112045.55082430916</c:v>
                </c:pt>
                <c:pt idx="238">
                  <c:v>115698.91858265705</c:v>
                </c:pt>
                <c:pt idx="239">
                  <c:v>119417.1895856845</c:v>
                </c:pt>
              </c:numCache>
            </c:numRef>
          </c:val>
          <c:smooth val="0"/>
        </c:ser>
        <c:ser>
          <c:idx val="2"/>
          <c:order val="2"/>
          <c:tx>
            <c:strRef>
              <c:f>Sheet1!$D$1</c:f>
              <c:strCache>
                <c:ptCount val="1"/>
                <c:pt idx="0">
                  <c:v>하위 10%</c:v>
                </c:pt>
              </c:strCache>
            </c:strRef>
          </c:tx>
          <c:spPr>
            <a:ln w="12700">
              <a:solidFill>
                <a:srgbClr val="0B3D91"/>
              </a:solidFill>
              <a:prstDash val="dash"/>
            </a:ln>
          </c:spPr>
          <c:marker>
            <c:symbol val="none"/>
          </c:marker>
          <c:cat>
            <c:strRef>
              <c:f>Sheet1!$A$2:$A$241</c:f>
              <c:strCache>
                <c:ptCount val="240"/>
                <c:pt idx="0">
                  <c:v>1년</c:v>
                </c:pt>
                <c:pt idx="1">
                  <c:v>1년</c:v>
                </c:pt>
                <c:pt idx="2">
                  <c:v>1년</c:v>
                </c:pt>
                <c:pt idx="3">
                  <c:v>1년</c:v>
                </c:pt>
                <c:pt idx="4">
                  <c:v>1년</c:v>
                </c:pt>
                <c:pt idx="5">
                  <c:v>1년</c:v>
                </c:pt>
                <c:pt idx="6">
                  <c:v>1년</c:v>
                </c:pt>
                <c:pt idx="7">
                  <c:v>1년</c:v>
                </c:pt>
                <c:pt idx="8">
                  <c:v>1년</c:v>
                </c:pt>
                <c:pt idx="9">
                  <c:v>1년</c:v>
                </c:pt>
                <c:pt idx="10">
                  <c:v>1년</c:v>
                </c:pt>
                <c:pt idx="11">
                  <c:v>1년</c:v>
                </c:pt>
                <c:pt idx="12">
                  <c:v>2년</c:v>
                </c:pt>
                <c:pt idx="13">
                  <c:v>2년</c:v>
                </c:pt>
                <c:pt idx="14">
                  <c:v>2년</c:v>
                </c:pt>
                <c:pt idx="15">
                  <c:v>2년</c:v>
                </c:pt>
                <c:pt idx="16">
                  <c:v>2년</c:v>
                </c:pt>
                <c:pt idx="17">
                  <c:v>2년</c:v>
                </c:pt>
                <c:pt idx="18">
                  <c:v>2년</c:v>
                </c:pt>
                <c:pt idx="19">
                  <c:v>2년</c:v>
                </c:pt>
                <c:pt idx="20">
                  <c:v>2년</c:v>
                </c:pt>
                <c:pt idx="21">
                  <c:v>2년</c:v>
                </c:pt>
                <c:pt idx="22">
                  <c:v>2년</c:v>
                </c:pt>
                <c:pt idx="23">
                  <c:v>2년</c:v>
                </c:pt>
                <c:pt idx="24">
                  <c:v>3년</c:v>
                </c:pt>
                <c:pt idx="25">
                  <c:v>3년</c:v>
                </c:pt>
                <c:pt idx="26">
                  <c:v>3년</c:v>
                </c:pt>
                <c:pt idx="27">
                  <c:v>3년</c:v>
                </c:pt>
                <c:pt idx="28">
                  <c:v>3년</c:v>
                </c:pt>
                <c:pt idx="29">
                  <c:v>3년</c:v>
                </c:pt>
                <c:pt idx="30">
                  <c:v>3년</c:v>
                </c:pt>
                <c:pt idx="31">
                  <c:v>3년</c:v>
                </c:pt>
                <c:pt idx="32">
                  <c:v>3년</c:v>
                </c:pt>
                <c:pt idx="33">
                  <c:v>3년</c:v>
                </c:pt>
                <c:pt idx="34">
                  <c:v>3년</c:v>
                </c:pt>
                <c:pt idx="35">
                  <c:v>3년</c:v>
                </c:pt>
                <c:pt idx="36">
                  <c:v>4년</c:v>
                </c:pt>
                <c:pt idx="37">
                  <c:v>4년</c:v>
                </c:pt>
                <c:pt idx="38">
                  <c:v>4년</c:v>
                </c:pt>
                <c:pt idx="39">
                  <c:v>4년</c:v>
                </c:pt>
                <c:pt idx="40">
                  <c:v>4년</c:v>
                </c:pt>
                <c:pt idx="41">
                  <c:v>4년</c:v>
                </c:pt>
                <c:pt idx="42">
                  <c:v>4년</c:v>
                </c:pt>
                <c:pt idx="43">
                  <c:v>4년</c:v>
                </c:pt>
                <c:pt idx="44">
                  <c:v>4년</c:v>
                </c:pt>
                <c:pt idx="45">
                  <c:v>4년</c:v>
                </c:pt>
                <c:pt idx="46">
                  <c:v>4년</c:v>
                </c:pt>
                <c:pt idx="47">
                  <c:v>4년</c:v>
                </c:pt>
                <c:pt idx="48">
                  <c:v>5년</c:v>
                </c:pt>
                <c:pt idx="49">
                  <c:v>5년</c:v>
                </c:pt>
                <c:pt idx="50">
                  <c:v>5년</c:v>
                </c:pt>
                <c:pt idx="51">
                  <c:v>5년</c:v>
                </c:pt>
                <c:pt idx="52">
                  <c:v>5년</c:v>
                </c:pt>
                <c:pt idx="53">
                  <c:v>5년</c:v>
                </c:pt>
                <c:pt idx="54">
                  <c:v>5년</c:v>
                </c:pt>
                <c:pt idx="55">
                  <c:v>5년</c:v>
                </c:pt>
                <c:pt idx="56">
                  <c:v>5년</c:v>
                </c:pt>
                <c:pt idx="57">
                  <c:v>5년</c:v>
                </c:pt>
                <c:pt idx="58">
                  <c:v>5년</c:v>
                </c:pt>
                <c:pt idx="59">
                  <c:v>5년</c:v>
                </c:pt>
                <c:pt idx="60">
                  <c:v>6년</c:v>
                </c:pt>
                <c:pt idx="61">
                  <c:v>6년</c:v>
                </c:pt>
                <c:pt idx="62">
                  <c:v>6년</c:v>
                </c:pt>
                <c:pt idx="63">
                  <c:v>6년</c:v>
                </c:pt>
                <c:pt idx="64">
                  <c:v>6년</c:v>
                </c:pt>
                <c:pt idx="65">
                  <c:v>6년</c:v>
                </c:pt>
                <c:pt idx="66">
                  <c:v>6년</c:v>
                </c:pt>
                <c:pt idx="67">
                  <c:v>6년</c:v>
                </c:pt>
                <c:pt idx="68">
                  <c:v>6년</c:v>
                </c:pt>
                <c:pt idx="69">
                  <c:v>6년</c:v>
                </c:pt>
                <c:pt idx="70">
                  <c:v>6년</c:v>
                </c:pt>
                <c:pt idx="71">
                  <c:v>6년</c:v>
                </c:pt>
                <c:pt idx="72">
                  <c:v>7년</c:v>
                </c:pt>
                <c:pt idx="73">
                  <c:v>7년</c:v>
                </c:pt>
                <c:pt idx="74">
                  <c:v>7년</c:v>
                </c:pt>
                <c:pt idx="75">
                  <c:v>7년</c:v>
                </c:pt>
                <c:pt idx="76">
                  <c:v>7년</c:v>
                </c:pt>
                <c:pt idx="77">
                  <c:v>7년</c:v>
                </c:pt>
                <c:pt idx="78">
                  <c:v>7년</c:v>
                </c:pt>
                <c:pt idx="79">
                  <c:v>7년</c:v>
                </c:pt>
                <c:pt idx="80">
                  <c:v>7년</c:v>
                </c:pt>
                <c:pt idx="81">
                  <c:v>7년</c:v>
                </c:pt>
                <c:pt idx="82">
                  <c:v>7년</c:v>
                </c:pt>
                <c:pt idx="83">
                  <c:v>7년</c:v>
                </c:pt>
                <c:pt idx="84">
                  <c:v>8년</c:v>
                </c:pt>
                <c:pt idx="85">
                  <c:v>8년</c:v>
                </c:pt>
                <c:pt idx="86">
                  <c:v>8년</c:v>
                </c:pt>
                <c:pt idx="87">
                  <c:v>8년</c:v>
                </c:pt>
                <c:pt idx="88">
                  <c:v>8년</c:v>
                </c:pt>
                <c:pt idx="89">
                  <c:v>8년</c:v>
                </c:pt>
                <c:pt idx="90">
                  <c:v>8년</c:v>
                </c:pt>
                <c:pt idx="91">
                  <c:v>8년</c:v>
                </c:pt>
                <c:pt idx="92">
                  <c:v>8년</c:v>
                </c:pt>
                <c:pt idx="93">
                  <c:v>8년</c:v>
                </c:pt>
                <c:pt idx="94">
                  <c:v>8년</c:v>
                </c:pt>
                <c:pt idx="95">
                  <c:v>8년</c:v>
                </c:pt>
                <c:pt idx="96">
                  <c:v>9년</c:v>
                </c:pt>
                <c:pt idx="97">
                  <c:v>9년</c:v>
                </c:pt>
                <c:pt idx="98">
                  <c:v>9년</c:v>
                </c:pt>
                <c:pt idx="99">
                  <c:v>9년</c:v>
                </c:pt>
                <c:pt idx="100">
                  <c:v>9년</c:v>
                </c:pt>
                <c:pt idx="101">
                  <c:v>9년</c:v>
                </c:pt>
                <c:pt idx="102">
                  <c:v>9년</c:v>
                </c:pt>
                <c:pt idx="103">
                  <c:v>9년</c:v>
                </c:pt>
                <c:pt idx="104">
                  <c:v>9년</c:v>
                </c:pt>
                <c:pt idx="105">
                  <c:v>9년</c:v>
                </c:pt>
                <c:pt idx="106">
                  <c:v>9년</c:v>
                </c:pt>
                <c:pt idx="107">
                  <c:v>9년</c:v>
                </c:pt>
                <c:pt idx="108">
                  <c:v>10년</c:v>
                </c:pt>
                <c:pt idx="109">
                  <c:v>10년</c:v>
                </c:pt>
                <c:pt idx="110">
                  <c:v>10년</c:v>
                </c:pt>
                <c:pt idx="111">
                  <c:v>10년</c:v>
                </c:pt>
                <c:pt idx="112">
                  <c:v>10년</c:v>
                </c:pt>
                <c:pt idx="113">
                  <c:v>10년</c:v>
                </c:pt>
                <c:pt idx="114">
                  <c:v>10년</c:v>
                </c:pt>
                <c:pt idx="115">
                  <c:v>10년</c:v>
                </c:pt>
                <c:pt idx="116">
                  <c:v>10년</c:v>
                </c:pt>
                <c:pt idx="117">
                  <c:v>10년</c:v>
                </c:pt>
                <c:pt idx="118">
                  <c:v>10년</c:v>
                </c:pt>
                <c:pt idx="119">
                  <c:v>10년</c:v>
                </c:pt>
                <c:pt idx="120">
                  <c:v>11년</c:v>
                </c:pt>
                <c:pt idx="121">
                  <c:v>11년</c:v>
                </c:pt>
                <c:pt idx="122">
                  <c:v>11년</c:v>
                </c:pt>
                <c:pt idx="123">
                  <c:v>11년</c:v>
                </c:pt>
                <c:pt idx="124">
                  <c:v>11년</c:v>
                </c:pt>
                <c:pt idx="125">
                  <c:v>11년</c:v>
                </c:pt>
                <c:pt idx="126">
                  <c:v>11년</c:v>
                </c:pt>
                <c:pt idx="127">
                  <c:v>11년</c:v>
                </c:pt>
                <c:pt idx="128">
                  <c:v>11년</c:v>
                </c:pt>
                <c:pt idx="129">
                  <c:v>11년</c:v>
                </c:pt>
                <c:pt idx="130">
                  <c:v>11년</c:v>
                </c:pt>
                <c:pt idx="131">
                  <c:v>11년</c:v>
                </c:pt>
                <c:pt idx="132">
                  <c:v>12년</c:v>
                </c:pt>
                <c:pt idx="133">
                  <c:v>12년</c:v>
                </c:pt>
                <c:pt idx="134">
                  <c:v>12년</c:v>
                </c:pt>
                <c:pt idx="135">
                  <c:v>12년</c:v>
                </c:pt>
                <c:pt idx="136">
                  <c:v>12년</c:v>
                </c:pt>
                <c:pt idx="137">
                  <c:v>12년</c:v>
                </c:pt>
                <c:pt idx="138">
                  <c:v>12년</c:v>
                </c:pt>
                <c:pt idx="139">
                  <c:v>12년</c:v>
                </c:pt>
                <c:pt idx="140">
                  <c:v>12년</c:v>
                </c:pt>
                <c:pt idx="141">
                  <c:v>12년</c:v>
                </c:pt>
                <c:pt idx="142">
                  <c:v>12년</c:v>
                </c:pt>
                <c:pt idx="143">
                  <c:v>12년</c:v>
                </c:pt>
                <c:pt idx="144">
                  <c:v>13년</c:v>
                </c:pt>
                <c:pt idx="145">
                  <c:v>13년</c:v>
                </c:pt>
                <c:pt idx="146">
                  <c:v>13년</c:v>
                </c:pt>
                <c:pt idx="147">
                  <c:v>13년</c:v>
                </c:pt>
                <c:pt idx="148">
                  <c:v>13년</c:v>
                </c:pt>
                <c:pt idx="149">
                  <c:v>13년</c:v>
                </c:pt>
                <c:pt idx="150">
                  <c:v>13년</c:v>
                </c:pt>
                <c:pt idx="151">
                  <c:v>13년</c:v>
                </c:pt>
                <c:pt idx="152">
                  <c:v>13년</c:v>
                </c:pt>
                <c:pt idx="153">
                  <c:v>13년</c:v>
                </c:pt>
                <c:pt idx="154">
                  <c:v>13년</c:v>
                </c:pt>
                <c:pt idx="155">
                  <c:v>13년</c:v>
                </c:pt>
                <c:pt idx="156">
                  <c:v>14년</c:v>
                </c:pt>
                <c:pt idx="157">
                  <c:v>14년</c:v>
                </c:pt>
                <c:pt idx="158">
                  <c:v>14년</c:v>
                </c:pt>
                <c:pt idx="159">
                  <c:v>14년</c:v>
                </c:pt>
                <c:pt idx="160">
                  <c:v>14년</c:v>
                </c:pt>
                <c:pt idx="161">
                  <c:v>14년</c:v>
                </c:pt>
                <c:pt idx="162">
                  <c:v>14년</c:v>
                </c:pt>
                <c:pt idx="163">
                  <c:v>14년</c:v>
                </c:pt>
                <c:pt idx="164">
                  <c:v>14년</c:v>
                </c:pt>
                <c:pt idx="165">
                  <c:v>14년</c:v>
                </c:pt>
                <c:pt idx="166">
                  <c:v>14년</c:v>
                </c:pt>
                <c:pt idx="167">
                  <c:v>14년</c:v>
                </c:pt>
                <c:pt idx="168">
                  <c:v>15년</c:v>
                </c:pt>
                <c:pt idx="169">
                  <c:v>15년</c:v>
                </c:pt>
                <c:pt idx="170">
                  <c:v>15년</c:v>
                </c:pt>
                <c:pt idx="171">
                  <c:v>15년</c:v>
                </c:pt>
                <c:pt idx="172">
                  <c:v>15년</c:v>
                </c:pt>
                <c:pt idx="173">
                  <c:v>15년</c:v>
                </c:pt>
                <c:pt idx="174">
                  <c:v>15년</c:v>
                </c:pt>
                <c:pt idx="175">
                  <c:v>15년</c:v>
                </c:pt>
                <c:pt idx="176">
                  <c:v>15년</c:v>
                </c:pt>
                <c:pt idx="177">
                  <c:v>15년</c:v>
                </c:pt>
                <c:pt idx="178">
                  <c:v>15년</c:v>
                </c:pt>
                <c:pt idx="179">
                  <c:v>15년</c:v>
                </c:pt>
                <c:pt idx="180">
                  <c:v>16년</c:v>
                </c:pt>
                <c:pt idx="181">
                  <c:v>16년</c:v>
                </c:pt>
                <c:pt idx="182">
                  <c:v>16년</c:v>
                </c:pt>
                <c:pt idx="183">
                  <c:v>16년</c:v>
                </c:pt>
                <c:pt idx="184">
                  <c:v>16년</c:v>
                </c:pt>
                <c:pt idx="185">
                  <c:v>16년</c:v>
                </c:pt>
                <c:pt idx="186">
                  <c:v>16년</c:v>
                </c:pt>
                <c:pt idx="187">
                  <c:v>16년</c:v>
                </c:pt>
                <c:pt idx="188">
                  <c:v>16년</c:v>
                </c:pt>
                <c:pt idx="189">
                  <c:v>16년</c:v>
                </c:pt>
                <c:pt idx="190">
                  <c:v>16년</c:v>
                </c:pt>
                <c:pt idx="191">
                  <c:v>16년</c:v>
                </c:pt>
                <c:pt idx="192">
                  <c:v>17년</c:v>
                </c:pt>
                <c:pt idx="193">
                  <c:v>17년</c:v>
                </c:pt>
                <c:pt idx="194">
                  <c:v>17년</c:v>
                </c:pt>
                <c:pt idx="195">
                  <c:v>17년</c:v>
                </c:pt>
                <c:pt idx="196">
                  <c:v>17년</c:v>
                </c:pt>
                <c:pt idx="197">
                  <c:v>17년</c:v>
                </c:pt>
                <c:pt idx="198">
                  <c:v>17년</c:v>
                </c:pt>
                <c:pt idx="199">
                  <c:v>17년</c:v>
                </c:pt>
                <c:pt idx="200">
                  <c:v>17년</c:v>
                </c:pt>
                <c:pt idx="201">
                  <c:v>17년</c:v>
                </c:pt>
                <c:pt idx="202">
                  <c:v>17년</c:v>
                </c:pt>
                <c:pt idx="203">
                  <c:v>17년</c:v>
                </c:pt>
                <c:pt idx="204">
                  <c:v>18년</c:v>
                </c:pt>
                <c:pt idx="205">
                  <c:v>18년</c:v>
                </c:pt>
                <c:pt idx="206">
                  <c:v>18년</c:v>
                </c:pt>
                <c:pt idx="207">
                  <c:v>18년</c:v>
                </c:pt>
                <c:pt idx="208">
                  <c:v>18년</c:v>
                </c:pt>
                <c:pt idx="209">
                  <c:v>18년</c:v>
                </c:pt>
                <c:pt idx="210">
                  <c:v>18년</c:v>
                </c:pt>
                <c:pt idx="211">
                  <c:v>18년</c:v>
                </c:pt>
                <c:pt idx="212">
                  <c:v>18년</c:v>
                </c:pt>
                <c:pt idx="213">
                  <c:v>18년</c:v>
                </c:pt>
                <c:pt idx="214">
                  <c:v>18년</c:v>
                </c:pt>
                <c:pt idx="215">
                  <c:v>18년</c:v>
                </c:pt>
                <c:pt idx="216">
                  <c:v>19년</c:v>
                </c:pt>
                <c:pt idx="217">
                  <c:v>19년</c:v>
                </c:pt>
                <c:pt idx="218">
                  <c:v>19년</c:v>
                </c:pt>
                <c:pt idx="219">
                  <c:v>19년</c:v>
                </c:pt>
                <c:pt idx="220">
                  <c:v>19년</c:v>
                </c:pt>
                <c:pt idx="221">
                  <c:v>19년</c:v>
                </c:pt>
                <c:pt idx="222">
                  <c:v>19년</c:v>
                </c:pt>
                <c:pt idx="223">
                  <c:v>19년</c:v>
                </c:pt>
                <c:pt idx="224">
                  <c:v>19년</c:v>
                </c:pt>
                <c:pt idx="225">
                  <c:v>19년</c:v>
                </c:pt>
                <c:pt idx="226">
                  <c:v>19년</c:v>
                </c:pt>
                <c:pt idx="227">
                  <c:v>19년</c:v>
                </c:pt>
                <c:pt idx="228">
                  <c:v>20년</c:v>
                </c:pt>
                <c:pt idx="229">
                  <c:v>20년</c:v>
                </c:pt>
                <c:pt idx="230">
                  <c:v>20년</c:v>
                </c:pt>
                <c:pt idx="231">
                  <c:v>20년</c:v>
                </c:pt>
                <c:pt idx="232">
                  <c:v>20년</c:v>
                </c:pt>
                <c:pt idx="233">
                  <c:v>20년</c:v>
                </c:pt>
                <c:pt idx="234">
                  <c:v>20년</c:v>
                </c:pt>
                <c:pt idx="235">
                  <c:v>20년</c:v>
                </c:pt>
                <c:pt idx="236">
                  <c:v>20년</c:v>
                </c:pt>
                <c:pt idx="237">
                  <c:v>20년</c:v>
                </c:pt>
                <c:pt idx="238">
                  <c:v>20년</c:v>
                </c:pt>
                <c:pt idx="239">
                  <c:v>20년</c:v>
                </c:pt>
              </c:strCache>
            </c:strRef>
          </c:cat>
          <c:val>
            <c:numRef>
              <c:f>Sheet1!$D$2:$D$241</c:f>
              <c:numCache>
                <c:formatCode>General</c:formatCode>
                <c:ptCount val="240"/>
                <c:pt idx="0">
                  <c:v>8.997564914476818</c:v>
                </c:pt>
                <c:pt idx="1">
                  <c:v>18.35554915215809</c:v>
                </c:pt>
                <c:pt idx="2">
                  <c:v>27.534193748869903</c:v>
                </c:pt>
                <c:pt idx="3">
                  <c:v>36.88578656363298</c:v>
                </c:pt>
                <c:pt idx="4">
                  <c:v>46.99586918569563</c:v>
                </c:pt>
                <c:pt idx="5">
                  <c:v>56.672900417775104</c:v>
                </c:pt>
                <c:pt idx="6">
                  <c:v>65.79957797656876</c:v>
                </c:pt>
                <c:pt idx="7">
                  <c:v>76.67552319133975</c:v>
                </c:pt>
                <c:pt idx="8">
                  <c:v>85.59793427724489</c:v>
                </c:pt>
                <c:pt idx="9">
                  <c:v>96.94850771425986</c:v>
                </c:pt>
                <c:pt idx="10">
                  <c:v>106.87019844724489</c:v>
                </c:pt>
                <c:pt idx="11">
                  <c:v>115.46190061870243</c:v>
                </c:pt>
                <c:pt idx="12">
                  <c:v>123.34421580318664</c:v>
                </c:pt>
                <c:pt idx="13">
                  <c:v>133.0502660658142</c:v>
                </c:pt>
                <c:pt idx="14">
                  <c:v>146.18073901616737</c:v>
                </c:pt>
                <c:pt idx="15">
                  <c:v>156.66141440686715</c:v>
                </c:pt>
                <c:pt idx="16">
                  <c:v>167.81162519750742</c:v>
                </c:pt>
                <c:pt idx="17">
                  <c:v>178.50320150994366</c:v>
                </c:pt>
                <c:pt idx="18">
                  <c:v>189.03966333032685</c:v>
                </c:pt>
                <c:pt idx="19">
                  <c:v>200.03754342190473</c:v>
                </c:pt>
                <c:pt idx="20">
                  <c:v>210.142688757437</c:v>
                </c:pt>
                <c:pt idx="21">
                  <c:v>222.14696554155475</c:v>
                </c:pt>
                <c:pt idx="22">
                  <c:v>232.64174466324812</c:v>
                </c:pt>
                <c:pt idx="23">
                  <c:v>243.34945529017654</c:v>
                </c:pt>
                <c:pt idx="24">
                  <c:v>254.30774077850887</c:v>
                </c:pt>
                <c:pt idx="25">
                  <c:v>264.4347128568109</c:v>
                </c:pt>
                <c:pt idx="26">
                  <c:v>280.41951292203055</c:v>
                </c:pt>
                <c:pt idx="27">
                  <c:v>290.7856419990185</c:v>
                </c:pt>
                <c:pt idx="28">
                  <c:v>305.49168327088915</c:v>
                </c:pt>
                <c:pt idx="29">
                  <c:v>321.7048515001114</c:v>
                </c:pt>
                <c:pt idx="30">
                  <c:v>337.1255855717237</c:v>
                </c:pt>
                <c:pt idx="31">
                  <c:v>347.6665576597895</c:v>
                </c:pt>
                <c:pt idx="32">
                  <c:v>357.93595522822926</c:v>
                </c:pt>
                <c:pt idx="33">
                  <c:v>367.4930163048793</c:v>
                </c:pt>
                <c:pt idx="34">
                  <c:v>377.12767327916555</c:v>
                </c:pt>
                <c:pt idx="35">
                  <c:v>391.74247375639476</c:v>
                </c:pt>
                <c:pt idx="36">
                  <c:v>403.7993903255342</c:v>
                </c:pt>
                <c:pt idx="37">
                  <c:v>425.73928374008926</c:v>
                </c:pt>
                <c:pt idx="38">
                  <c:v>431.4704995935708</c:v>
                </c:pt>
                <c:pt idx="39">
                  <c:v>453.92342503507456</c:v>
                </c:pt>
                <c:pt idx="40">
                  <c:v>469.712773816457</c:v>
                </c:pt>
                <c:pt idx="41">
                  <c:v>488.0020821370434</c:v>
                </c:pt>
                <c:pt idx="42">
                  <c:v>496.6515957642886</c:v>
                </c:pt>
                <c:pt idx="43">
                  <c:v>512.9325131418556</c:v>
                </c:pt>
                <c:pt idx="44">
                  <c:v>529.8045224496408</c:v>
                </c:pt>
                <c:pt idx="45">
                  <c:v>554.9603617770663</c:v>
                </c:pt>
                <c:pt idx="46">
                  <c:v>561.6785283685283</c:v>
                </c:pt>
                <c:pt idx="47">
                  <c:v>585.7284131212638</c:v>
                </c:pt>
                <c:pt idx="48">
                  <c:v>603.8352494649607</c:v>
                </c:pt>
                <c:pt idx="49">
                  <c:v>620.8120206392541</c:v>
                </c:pt>
                <c:pt idx="50">
                  <c:v>639.2164069289006</c:v>
                </c:pt>
                <c:pt idx="51">
                  <c:v>658.6921730728532</c:v>
                </c:pt>
                <c:pt idx="52">
                  <c:v>688.4618572966028</c:v>
                </c:pt>
                <c:pt idx="53">
                  <c:v>708.461792294252</c:v>
                </c:pt>
                <c:pt idx="54">
                  <c:v>744.3598419562824</c:v>
                </c:pt>
                <c:pt idx="55">
                  <c:v>758.1075365995074</c:v>
                </c:pt>
                <c:pt idx="56">
                  <c:v>783.3695703284338</c:v>
                </c:pt>
                <c:pt idx="57">
                  <c:v>804.6252979924088</c:v>
                </c:pt>
                <c:pt idx="58">
                  <c:v>821.9334750262066</c:v>
                </c:pt>
                <c:pt idx="59">
                  <c:v>830.0238189724831</c:v>
                </c:pt>
                <c:pt idx="60">
                  <c:v>848.2483938019463</c:v>
                </c:pt>
                <c:pt idx="61">
                  <c:v>876.5928848040415</c:v>
                </c:pt>
                <c:pt idx="62">
                  <c:v>894.5769910469163</c:v>
                </c:pt>
                <c:pt idx="63">
                  <c:v>935.4465397526183</c:v>
                </c:pt>
                <c:pt idx="64">
                  <c:v>949.9479651763313</c:v>
                </c:pt>
                <c:pt idx="65">
                  <c:v>976.22330999167</c:v>
                </c:pt>
                <c:pt idx="66">
                  <c:v>1026.609173177581</c:v>
                </c:pt>
                <c:pt idx="67">
                  <c:v>1046.9883808397556</c:v>
                </c:pt>
                <c:pt idx="68">
                  <c:v>1069.9710734729183</c:v>
                </c:pt>
                <c:pt idx="69">
                  <c:v>1094.562275371518</c:v>
                </c:pt>
                <c:pt idx="70">
                  <c:v>1087.3458902571829</c:v>
                </c:pt>
                <c:pt idx="71">
                  <c:v>1133.4212610595118</c:v>
                </c:pt>
                <c:pt idx="72">
                  <c:v>1151.2511530467236</c:v>
                </c:pt>
                <c:pt idx="73">
                  <c:v>1175.0389848488226</c:v>
                </c:pt>
                <c:pt idx="74">
                  <c:v>1218.0514150066397</c:v>
                </c:pt>
                <c:pt idx="75">
                  <c:v>1256.0641975667286</c:v>
                </c:pt>
                <c:pt idx="76">
                  <c:v>1278.9214289707324</c:v>
                </c:pt>
                <c:pt idx="77">
                  <c:v>1320.3692707757739</c:v>
                </c:pt>
                <c:pt idx="78">
                  <c:v>1360.8498215813524</c:v>
                </c:pt>
                <c:pt idx="79">
                  <c:v>1405.3005367944445</c:v>
                </c:pt>
                <c:pt idx="80">
                  <c:v>1416.5289198035334</c:v>
                </c:pt>
                <c:pt idx="81">
                  <c:v>1433.8791100556673</c:v>
                </c:pt>
                <c:pt idx="82">
                  <c:v>1434.4093566779732</c:v>
                </c:pt>
                <c:pt idx="83">
                  <c:v>1490.5374185552266</c:v>
                </c:pt>
                <c:pt idx="84">
                  <c:v>1527.9010206957753</c:v>
                </c:pt>
                <c:pt idx="85">
                  <c:v>1566.7617948394266</c:v>
                </c:pt>
                <c:pt idx="86">
                  <c:v>1598.5748757836438</c:v>
                </c:pt>
                <c:pt idx="87">
                  <c:v>1616.030724533648</c:v>
                </c:pt>
                <c:pt idx="88">
                  <c:v>1722.0635669817243</c:v>
                </c:pt>
                <c:pt idx="89">
                  <c:v>1741.537963922279</c:v>
                </c:pt>
                <c:pt idx="90">
                  <c:v>1755.1429558515895</c:v>
                </c:pt>
                <c:pt idx="91">
                  <c:v>1765.3475983346286</c:v>
                </c:pt>
                <c:pt idx="92">
                  <c:v>1805.7529551428706</c:v>
                </c:pt>
                <c:pt idx="93">
                  <c:v>1846.7928132535953</c:v>
                </c:pt>
                <c:pt idx="94">
                  <c:v>1878.5676941455397</c:v>
                </c:pt>
                <c:pt idx="95">
                  <c:v>1900.8446064329694</c:v>
                </c:pt>
                <c:pt idx="96">
                  <c:v>1946.8021943878323</c:v>
                </c:pt>
                <c:pt idx="97">
                  <c:v>2036.7673535133013</c:v>
                </c:pt>
                <c:pt idx="98">
                  <c:v>2103.5540946623964</c:v>
                </c:pt>
                <c:pt idx="99">
                  <c:v>2147.3928139079626</c:v>
                </c:pt>
                <c:pt idx="100">
                  <c:v>2138.655362746438</c:v>
                </c:pt>
                <c:pt idx="101">
                  <c:v>2176.568822920277</c:v>
                </c:pt>
                <c:pt idx="102">
                  <c:v>2266.390075872965</c:v>
                </c:pt>
                <c:pt idx="103">
                  <c:v>2334.571306299844</c:v>
                </c:pt>
                <c:pt idx="104">
                  <c:v>2319.456866869857</c:v>
                </c:pt>
                <c:pt idx="105">
                  <c:v>2398.6948745797063</c:v>
                </c:pt>
                <c:pt idx="106">
                  <c:v>2386.0736176493215</c:v>
                </c:pt>
                <c:pt idx="107">
                  <c:v>2423.250343648529</c:v>
                </c:pt>
                <c:pt idx="108">
                  <c:v>2407.2059484232427</c:v>
                </c:pt>
                <c:pt idx="109">
                  <c:v>2472.9449767298706</c:v>
                </c:pt>
                <c:pt idx="110">
                  <c:v>2572.8083935548907</c:v>
                </c:pt>
                <c:pt idx="111">
                  <c:v>2688.115964717526</c:v>
                </c:pt>
                <c:pt idx="112">
                  <c:v>2663.1418888724397</c:v>
                </c:pt>
                <c:pt idx="113">
                  <c:v>2744.2950745758735</c:v>
                </c:pt>
                <c:pt idx="114">
                  <c:v>2842.736118777687</c:v>
                </c:pt>
                <c:pt idx="115">
                  <c:v>2856.9207983367924</c:v>
                </c:pt>
                <c:pt idx="116">
                  <c:v>2916.90484611013</c:v>
                </c:pt>
                <c:pt idx="117">
                  <c:v>2957.1600584027206</c:v>
                </c:pt>
                <c:pt idx="118">
                  <c:v>3005.2236995864378</c:v>
                </c:pt>
                <c:pt idx="119">
                  <c:v>3170.6253121324553</c:v>
                </c:pt>
                <c:pt idx="120">
                  <c:v>3301.745376721953</c:v>
                </c:pt>
                <c:pt idx="121">
                  <c:v>3360.6851276835287</c:v>
                </c:pt>
                <c:pt idx="122">
                  <c:v>3462.63747532719</c:v>
                </c:pt>
                <c:pt idx="123">
                  <c:v>3466.232044848305</c:v>
                </c:pt>
                <c:pt idx="124">
                  <c:v>3490.073767372223</c:v>
                </c:pt>
                <c:pt idx="125">
                  <c:v>3574.7230499292755</c:v>
                </c:pt>
                <c:pt idx="126">
                  <c:v>3724.691183440861</c:v>
                </c:pt>
                <c:pt idx="127">
                  <c:v>3711.738784327905</c:v>
                </c:pt>
                <c:pt idx="128">
                  <c:v>3783.9055193127283</c:v>
                </c:pt>
                <c:pt idx="129">
                  <c:v>3860.065603966601</c:v>
                </c:pt>
                <c:pt idx="130">
                  <c:v>4029.067264266179</c:v>
                </c:pt>
                <c:pt idx="131">
                  <c:v>4159.043062673405</c:v>
                </c:pt>
                <c:pt idx="132">
                  <c:v>4191.249575713948</c:v>
                </c:pt>
                <c:pt idx="133">
                  <c:v>4278.616814970418</c:v>
                </c:pt>
                <c:pt idx="134">
                  <c:v>4389.687420210617</c:v>
                </c:pt>
                <c:pt idx="135">
                  <c:v>4368.269023591405</c:v>
                </c:pt>
                <c:pt idx="136">
                  <c:v>4482.633162337496</c:v>
                </c:pt>
                <c:pt idx="137">
                  <c:v>4492.854043072735</c:v>
                </c:pt>
                <c:pt idx="138">
                  <c:v>4695.8239970611085</c:v>
                </c:pt>
                <c:pt idx="139">
                  <c:v>4776.337877813374</c:v>
                </c:pt>
                <c:pt idx="140">
                  <c:v>4869.0327665796485</c:v>
                </c:pt>
                <c:pt idx="141">
                  <c:v>4957.289330605855</c:v>
                </c:pt>
                <c:pt idx="142">
                  <c:v>4941.970243315794</c:v>
                </c:pt>
                <c:pt idx="143">
                  <c:v>5179.436578793387</c:v>
                </c:pt>
                <c:pt idx="144">
                  <c:v>5274.154208533097</c:v>
                </c:pt>
                <c:pt idx="145">
                  <c:v>5388.654557612142</c:v>
                </c:pt>
                <c:pt idx="146">
                  <c:v>5345.061231456386</c:v>
                </c:pt>
                <c:pt idx="147">
                  <c:v>5497.302198638976</c:v>
                </c:pt>
                <c:pt idx="148">
                  <c:v>5595.624113215985</c:v>
                </c:pt>
                <c:pt idx="149">
                  <c:v>5627.460685131368</c:v>
                </c:pt>
                <c:pt idx="150">
                  <c:v>5629.74528111454</c:v>
                </c:pt>
                <c:pt idx="151">
                  <c:v>5771.920635174838</c:v>
                </c:pt>
                <c:pt idx="152">
                  <c:v>5902.562961375485</c:v>
                </c:pt>
                <c:pt idx="153">
                  <c:v>6031.757162423417</c:v>
                </c:pt>
                <c:pt idx="154">
                  <c:v>6209.962535758124</c:v>
                </c:pt>
                <c:pt idx="155">
                  <c:v>6273.351209223398</c:v>
                </c:pt>
                <c:pt idx="156">
                  <c:v>6400.1039108006025</c:v>
                </c:pt>
                <c:pt idx="157">
                  <c:v>6526.600187018977</c:v>
                </c:pt>
                <c:pt idx="158">
                  <c:v>6708.720462032522</c:v>
                </c:pt>
                <c:pt idx="159">
                  <c:v>6759.154137354177</c:v>
                </c:pt>
                <c:pt idx="160">
                  <c:v>6914.028903291844</c:v>
                </c:pt>
                <c:pt idx="161">
                  <c:v>7254.548425462527</c:v>
                </c:pt>
                <c:pt idx="162">
                  <c:v>7396.6643885927615</c:v>
                </c:pt>
                <c:pt idx="163">
                  <c:v>7517.148611727202</c:v>
                </c:pt>
                <c:pt idx="164">
                  <c:v>7374.226886144298</c:v>
                </c:pt>
                <c:pt idx="165">
                  <c:v>7653.658331587327</c:v>
                </c:pt>
                <c:pt idx="166">
                  <c:v>8057.495450706865</c:v>
                </c:pt>
                <c:pt idx="167">
                  <c:v>7877.48828426968</c:v>
                </c:pt>
                <c:pt idx="168">
                  <c:v>8363.361004948581</c:v>
                </c:pt>
                <c:pt idx="169">
                  <c:v>8442.126304248195</c:v>
                </c:pt>
                <c:pt idx="170">
                  <c:v>8635.825515996165</c:v>
                </c:pt>
                <c:pt idx="171">
                  <c:v>8631.326887889643</c:v>
                </c:pt>
                <c:pt idx="172">
                  <c:v>8915.158752436682</c:v>
                </c:pt>
                <c:pt idx="173">
                  <c:v>8888.862549773205</c:v>
                </c:pt>
                <c:pt idx="174">
                  <c:v>8917.401243891547</c:v>
                </c:pt>
                <c:pt idx="175">
                  <c:v>9304.586604896138</c:v>
                </c:pt>
                <c:pt idx="176">
                  <c:v>9424.119781506459</c:v>
                </c:pt>
                <c:pt idx="177">
                  <c:v>9544.757787502353</c:v>
                </c:pt>
                <c:pt idx="178">
                  <c:v>9753.32071788583</c:v>
                </c:pt>
                <c:pt idx="179">
                  <c:v>9582.717707907626</c:v>
                </c:pt>
                <c:pt idx="180">
                  <c:v>10076.027838125998</c:v>
                </c:pt>
                <c:pt idx="181">
                  <c:v>10279.429297654817</c:v>
                </c:pt>
                <c:pt idx="182">
                  <c:v>10371.216395037613</c:v>
                </c:pt>
                <c:pt idx="183">
                  <c:v>10840.841381241562</c:v>
                </c:pt>
                <c:pt idx="184">
                  <c:v>11072.629350595773</c:v>
                </c:pt>
                <c:pt idx="185">
                  <c:v>11462.710097079647</c:v>
                </c:pt>
                <c:pt idx="186">
                  <c:v>11515.555870822815</c:v>
                </c:pt>
                <c:pt idx="187">
                  <c:v>11595.101215720091</c:v>
                </c:pt>
                <c:pt idx="188">
                  <c:v>11762.186142446115</c:v>
                </c:pt>
                <c:pt idx="189">
                  <c:v>12320.323464379977</c:v>
                </c:pt>
                <c:pt idx="190">
                  <c:v>12522.11962228511</c:v>
                </c:pt>
                <c:pt idx="191">
                  <c:v>12833.69908864879</c:v>
                </c:pt>
                <c:pt idx="192">
                  <c:v>13078.15873763953</c:v>
                </c:pt>
                <c:pt idx="193">
                  <c:v>13382.403889146457</c:v>
                </c:pt>
                <c:pt idx="194">
                  <c:v>13492.381575579342</c:v>
                </c:pt>
                <c:pt idx="195">
                  <c:v>14126.17483822452</c:v>
                </c:pt>
                <c:pt idx="196">
                  <c:v>14334.259357995701</c:v>
                </c:pt>
                <c:pt idx="197">
                  <c:v>14569.728110071192</c:v>
                </c:pt>
                <c:pt idx="198">
                  <c:v>14852.809922155968</c:v>
                </c:pt>
                <c:pt idx="199">
                  <c:v>14939.164057633192</c:v>
                </c:pt>
                <c:pt idx="200">
                  <c:v>15270.173630428782</c:v>
                </c:pt>
                <c:pt idx="201">
                  <c:v>15615.3047381213</c:v>
                </c:pt>
                <c:pt idx="202">
                  <c:v>16480.427960158788</c:v>
                </c:pt>
                <c:pt idx="203">
                  <c:v>16642.54654169998</c:v>
                </c:pt>
                <c:pt idx="204">
                  <c:v>16532.820378413944</c:v>
                </c:pt>
                <c:pt idx="205">
                  <c:v>17383.166161014567</c:v>
                </c:pt>
                <c:pt idx="206">
                  <c:v>17585.48907830798</c:v>
                </c:pt>
                <c:pt idx="207">
                  <c:v>17989.1554107595</c:v>
                </c:pt>
                <c:pt idx="208">
                  <c:v>17845.91169471095</c:v>
                </c:pt>
                <c:pt idx="209">
                  <c:v>18257.874599398274</c:v>
                </c:pt>
                <c:pt idx="210">
                  <c:v>18747.64261501979</c:v>
                </c:pt>
                <c:pt idx="211">
                  <c:v>18742.578046639566</c:v>
                </c:pt>
                <c:pt idx="212">
                  <c:v>20067.00122512306</c:v>
                </c:pt>
                <c:pt idx="213">
                  <c:v>20238.05810390621</c:v>
                </c:pt>
                <c:pt idx="214">
                  <c:v>20574.20744498905</c:v>
                </c:pt>
                <c:pt idx="215">
                  <c:v>20822.003990251833</c:v>
                </c:pt>
                <c:pt idx="216">
                  <c:v>21695.29979589288</c:v>
                </c:pt>
                <c:pt idx="217">
                  <c:v>21818.450065428286</c:v>
                </c:pt>
                <c:pt idx="218">
                  <c:v>22260.687207061263</c:v>
                </c:pt>
                <c:pt idx="219">
                  <c:v>22595.85618829012</c:v>
                </c:pt>
                <c:pt idx="220">
                  <c:v>23137.472791969027</c:v>
                </c:pt>
                <c:pt idx="221">
                  <c:v>23562.629042465043</c:v>
                </c:pt>
                <c:pt idx="222">
                  <c:v>24011.276748353415</c:v>
                </c:pt>
                <c:pt idx="223">
                  <c:v>23506.1229466053</c:v>
                </c:pt>
                <c:pt idx="224">
                  <c:v>24583.06463342614</c:v>
                </c:pt>
                <c:pt idx="225">
                  <c:v>25139.99994288969</c:v>
                </c:pt>
                <c:pt idx="226">
                  <c:v>25699.856356867214</c:v>
                </c:pt>
                <c:pt idx="227">
                  <c:v>26276.493957168932</c:v>
                </c:pt>
                <c:pt idx="228">
                  <c:v>26786.49289636059</c:v>
                </c:pt>
                <c:pt idx="229">
                  <c:v>27240.79856199984</c:v>
                </c:pt>
                <c:pt idx="230">
                  <c:v>28022.447743640227</c:v>
                </c:pt>
                <c:pt idx="231">
                  <c:v>27943.750631698727</c:v>
                </c:pt>
                <c:pt idx="232">
                  <c:v>28444.544674170185</c:v>
                </c:pt>
                <c:pt idx="233">
                  <c:v>29463.131142643775</c:v>
                </c:pt>
                <c:pt idx="234">
                  <c:v>29867.462227310723</c:v>
                </c:pt>
                <c:pt idx="235">
                  <c:v>30611.13584793573</c:v>
                </c:pt>
                <c:pt idx="236">
                  <c:v>31050.880492425855</c:v>
                </c:pt>
                <c:pt idx="237">
                  <c:v>31537.42228799923</c:v>
                </c:pt>
                <c:pt idx="238">
                  <c:v>32364.438841020983</c:v>
                </c:pt>
                <c:pt idx="239">
                  <c:v>33620.529240838885</c:v>
                </c:pt>
              </c:numCache>
            </c:numRef>
          </c:val>
          <c:smooth val="0"/>
        </c:ser>
        <c:ser>
          <c:idx val="3"/>
          <c:order val="3"/>
          <c:tx>
            <c:strRef>
              <c:f>Sheet1!$E$1</c:f>
              <c:strCache>
                <c:ptCount val="1"/>
                <c:pt idx="0">
                  <c:v>원금</c:v>
                </c:pt>
              </c:strCache>
            </c:strRef>
          </c:tx>
          <c:spPr>
            <a:ln w="12700">
              <a:solidFill>
                <a:srgbClr val="1A1E25"/>
              </a:solidFill>
              <a:prstDash val="sysDash"/>
            </a:ln>
          </c:spPr>
          <c:marker>
            <c:symbol val="none"/>
          </c:marker>
          <c:cat>
            <c:strRef>
              <c:f>Sheet1!$A$2:$A$241</c:f>
              <c:strCache>
                <c:ptCount val="240"/>
                <c:pt idx="0">
                  <c:v>1년</c:v>
                </c:pt>
                <c:pt idx="1">
                  <c:v>1년</c:v>
                </c:pt>
                <c:pt idx="2">
                  <c:v>1년</c:v>
                </c:pt>
                <c:pt idx="3">
                  <c:v>1년</c:v>
                </c:pt>
                <c:pt idx="4">
                  <c:v>1년</c:v>
                </c:pt>
                <c:pt idx="5">
                  <c:v>1년</c:v>
                </c:pt>
                <c:pt idx="6">
                  <c:v>1년</c:v>
                </c:pt>
                <c:pt idx="7">
                  <c:v>1년</c:v>
                </c:pt>
                <c:pt idx="8">
                  <c:v>1년</c:v>
                </c:pt>
                <c:pt idx="9">
                  <c:v>1년</c:v>
                </c:pt>
                <c:pt idx="10">
                  <c:v>1년</c:v>
                </c:pt>
                <c:pt idx="11">
                  <c:v>1년</c:v>
                </c:pt>
                <c:pt idx="12">
                  <c:v>2년</c:v>
                </c:pt>
                <c:pt idx="13">
                  <c:v>2년</c:v>
                </c:pt>
                <c:pt idx="14">
                  <c:v>2년</c:v>
                </c:pt>
                <c:pt idx="15">
                  <c:v>2년</c:v>
                </c:pt>
                <c:pt idx="16">
                  <c:v>2년</c:v>
                </c:pt>
                <c:pt idx="17">
                  <c:v>2년</c:v>
                </c:pt>
                <c:pt idx="18">
                  <c:v>2년</c:v>
                </c:pt>
                <c:pt idx="19">
                  <c:v>2년</c:v>
                </c:pt>
                <c:pt idx="20">
                  <c:v>2년</c:v>
                </c:pt>
                <c:pt idx="21">
                  <c:v>2년</c:v>
                </c:pt>
                <c:pt idx="22">
                  <c:v>2년</c:v>
                </c:pt>
                <c:pt idx="23">
                  <c:v>2년</c:v>
                </c:pt>
                <c:pt idx="24">
                  <c:v>3년</c:v>
                </c:pt>
                <c:pt idx="25">
                  <c:v>3년</c:v>
                </c:pt>
                <c:pt idx="26">
                  <c:v>3년</c:v>
                </c:pt>
                <c:pt idx="27">
                  <c:v>3년</c:v>
                </c:pt>
                <c:pt idx="28">
                  <c:v>3년</c:v>
                </c:pt>
                <c:pt idx="29">
                  <c:v>3년</c:v>
                </c:pt>
                <c:pt idx="30">
                  <c:v>3년</c:v>
                </c:pt>
                <c:pt idx="31">
                  <c:v>3년</c:v>
                </c:pt>
                <c:pt idx="32">
                  <c:v>3년</c:v>
                </c:pt>
                <c:pt idx="33">
                  <c:v>3년</c:v>
                </c:pt>
                <c:pt idx="34">
                  <c:v>3년</c:v>
                </c:pt>
                <c:pt idx="35">
                  <c:v>3년</c:v>
                </c:pt>
                <c:pt idx="36">
                  <c:v>4년</c:v>
                </c:pt>
                <c:pt idx="37">
                  <c:v>4년</c:v>
                </c:pt>
                <c:pt idx="38">
                  <c:v>4년</c:v>
                </c:pt>
                <c:pt idx="39">
                  <c:v>4년</c:v>
                </c:pt>
                <c:pt idx="40">
                  <c:v>4년</c:v>
                </c:pt>
                <c:pt idx="41">
                  <c:v>4년</c:v>
                </c:pt>
                <c:pt idx="42">
                  <c:v>4년</c:v>
                </c:pt>
                <c:pt idx="43">
                  <c:v>4년</c:v>
                </c:pt>
                <c:pt idx="44">
                  <c:v>4년</c:v>
                </c:pt>
                <c:pt idx="45">
                  <c:v>4년</c:v>
                </c:pt>
                <c:pt idx="46">
                  <c:v>4년</c:v>
                </c:pt>
                <c:pt idx="47">
                  <c:v>4년</c:v>
                </c:pt>
                <c:pt idx="48">
                  <c:v>5년</c:v>
                </c:pt>
                <c:pt idx="49">
                  <c:v>5년</c:v>
                </c:pt>
                <c:pt idx="50">
                  <c:v>5년</c:v>
                </c:pt>
                <c:pt idx="51">
                  <c:v>5년</c:v>
                </c:pt>
                <c:pt idx="52">
                  <c:v>5년</c:v>
                </c:pt>
                <c:pt idx="53">
                  <c:v>5년</c:v>
                </c:pt>
                <c:pt idx="54">
                  <c:v>5년</c:v>
                </c:pt>
                <c:pt idx="55">
                  <c:v>5년</c:v>
                </c:pt>
                <c:pt idx="56">
                  <c:v>5년</c:v>
                </c:pt>
                <c:pt idx="57">
                  <c:v>5년</c:v>
                </c:pt>
                <c:pt idx="58">
                  <c:v>5년</c:v>
                </c:pt>
                <c:pt idx="59">
                  <c:v>5년</c:v>
                </c:pt>
                <c:pt idx="60">
                  <c:v>6년</c:v>
                </c:pt>
                <c:pt idx="61">
                  <c:v>6년</c:v>
                </c:pt>
                <c:pt idx="62">
                  <c:v>6년</c:v>
                </c:pt>
                <c:pt idx="63">
                  <c:v>6년</c:v>
                </c:pt>
                <c:pt idx="64">
                  <c:v>6년</c:v>
                </c:pt>
                <c:pt idx="65">
                  <c:v>6년</c:v>
                </c:pt>
                <c:pt idx="66">
                  <c:v>6년</c:v>
                </c:pt>
                <c:pt idx="67">
                  <c:v>6년</c:v>
                </c:pt>
                <c:pt idx="68">
                  <c:v>6년</c:v>
                </c:pt>
                <c:pt idx="69">
                  <c:v>6년</c:v>
                </c:pt>
                <c:pt idx="70">
                  <c:v>6년</c:v>
                </c:pt>
                <c:pt idx="71">
                  <c:v>6년</c:v>
                </c:pt>
                <c:pt idx="72">
                  <c:v>7년</c:v>
                </c:pt>
                <c:pt idx="73">
                  <c:v>7년</c:v>
                </c:pt>
                <c:pt idx="74">
                  <c:v>7년</c:v>
                </c:pt>
                <c:pt idx="75">
                  <c:v>7년</c:v>
                </c:pt>
                <c:pt idx="76">
                  <c:v>7년</c:v>
                </c:pt>
                <c:pt idx="77">
                  <c:v>7년</c:v>
                </c:pt>
                <c:pt idx="78">
                  <c:v>7년</c:v>
                </c:pt>
                <c:pt idx="79">
                  <c:v>7년</c:v>
                </c:pt>
                <c:pt idx="80">
                  <c:v>7년</c:v>
                </c:pt>
                <c:pt idx="81">
                  <c:v>7년</c:v>
                </c:pt>
                <c:pt idx="82">
                  <c:v>7년</c:v>
                </c:pt>
                <c:pt idx="83">
                  <c:v>7년</c:v>
                </c:pt>
                <c:pt idx="84">
                  <c:v>8년</c:v>
                </c:pt>
                <c:pt idx="85">
                  <c:v>8년</c:v>
                </c:pt>
                <c:pt idx="86">
                  <c:v>8년</c:v>
                </c:pt>
                <c:pt idx="87">
                  <c:v>8년</c:v>
                </c:pt>
                <c:pt idx="88">
                  <c:v>8년</c:v>
                </c:pt>
                <c:pt idx="89">
                  <c:v>8년</c:v>
                </c:pt>
                <c:pt idx="90">
                  <c:v>8년</c:v>
                </c:pt>
                <c:pt idx="91">
                  <c:v>8년</c:v>
                </c:pt>
                <c:pt idx="92">
                  <c:v>8년</c:v>
                </c:pt>
                <c:pt idx="93">
                  <c:v>8년</c:v>
                </c:pt>
                <c:pt idx="94">
                  <c:v>8년</c:v>
                </c:pt>
                <c:pt idx="95">
                  <c:v>8년</c:v>
                </c:pt>
                <c:pt idx="96">
                  <c:v>9년</c:v>
                </c:pt>
                <c:pt idx="97">
                  <c:v>9년</c:v>
                </c:pt>
                <c:pt idx="98">
                  <c:v>9년</c:v>
                </c:pt>
                <c:pt idx="99">
                  <c:v>9년</c:v>
                </c:pt>
                <c:pt idx="100">
                  <c:v>9년</c:v>
                </c:pt>
                <c:pt idx="101">
                  <c:v>9년</c:v>
                </c:pt>
                <c:pt idx="102">
                  <c:v>9년</c:v>
                </c:pt>
                <c:pt idx="103">
                  <c:v>9년</c:v>
                </c:pt>
                <c:pt idx="104">
                  <c:v>9년</c:v>
                </c:pt>
                <c:pt idx="105">
                  <c:v>9년</c:v>
                </c:pt>
                <c:pt idx="106">
                  <c:v>9년</c:v>
                </c:pt>
                <c:pt idx="107">
                  <c:v>9년</c:v>
                </c:pt>
                <c:pt idx="108">
                  <c:v>10년</c:v>
                </c:pt>
                <c:pt idx="109">
                  <c:v>10년</c:v>
                </c:pt>
                <c:pt idx="110">
                  <c:v>10년</c:v>
                </c:pt>
                <c:pt idx="111">
                  <c:v>10년</c:v>
                </c:pt>
                <c:pt idx="112">
                  <c:v>10년</c:v>
                </c:pt>
                <c:pt idx="113">
                  <c:v>10년</c:v>
                </c:pt>
                <c:pt idx="114">
                  <c:v>10년</c:v>
                </c:pt>
                <c:pt idx="115">
                  <c:v>10년</c:v>
                </c:pt>
                <c:pt idx="116">
                  <c:v>10년</c:v>
                </c:pt>
                <c:pt idx="117">
                  <c:v>10년</c:v>
                </c:pt>
                <c:pt idx="118">
                  <c:v>10년</c:v>
                </c:pt>
                <c:pt idx="119">
                  <c:v>10년</c:v>
                </c:pt>
                <c:pt idx="120">
                  <c:v>11년</c:v>
                </c:pt>
                <c:pt idx="121">
                  <c:v>11년</c:v>
                </c:pt>
                <c:pt idx="122">
                  <c:v>11년</c:v>
                </c:pt>
                <c:pt idx="123">
                  <c:v>11년</c:v>
                </c:pt>
                <c:pt idx="124">
                  <c:v>11년</c:v>
                </c:pt>
                <c:pt idx="125">
                  <c:v>11년</c:v>
                </c:pt>
                <c:pt idx="126">
                  <c:v>11년</c:v>
                </c:pt>
                <c:pt idx="127">
                  <c:v>11년</c:v>
                </c:pt>
                <c:pt idx="128">
                  <c:v>11년</c:v>
                </c:pt>
                <c:pt idx="129">
                  <c:v>11년</c:v>
                </c:pt>
                <c:pt idx="130">
                  <c:v>11년</c:v>
                </c:pt>
                <c:pt idx="131">
                  <c:v>11년</c:v>
                </c:pt>
                <c:pt idx="132">
                  <c:v>12년</c:v>
                </c:pt>
                <c:pt idx="133">
                  <c:v>12년</c:v>
                </c:pt>
                <c:pt idx="134">
                  <c:v>12년</c:v>
                </c:pt>
                <c:pt idx="135">
                  <c:v>12년</c:v>
                </c:pt>
                <c:pt idx="136">
                  <c:v>12년</c:v>
                </c:pt>
                <c:pt idx="137">
                  <c:v>12년</c:v>
                </c:pt>
                <c:pt idx="138">
                  <c:v>12년</c:v>
                </c:pt>
                <c:pt idx="139">
                  <c:v>12년</c:v>
                </c:pt>
                <c:pt idx="140">
                  <c:v>12년</c:v>
                </c:pt>
                <c:pt idx="141">
                  <c:v>12년</c:v>
                </c:pt>
                <c:pt idx="142">
                  <c:v>12년</c:v>
                </c:pt>
                <c:pt idx="143">
                  <c:v>12년</c:v>
                </c:pt>
                <c:pt idx="144">
                  <c:v>13년</c:v>
                </c:pt>
                <c:pt idx="145">
                  <c:v>13년</c:v>
                </c:pt>
                <c:pt idx="146">
                  <c:v>13년</c:v>
                </c:pt>
                <c:pt idx="147">
                  <c:v>13년</c:v>
                </c:pt>
                <c:pt idx="148">
                  <c:v>13년</c:v>
                </c:pt>
                <c:pt idx="149">
                  <c:v>13년</c:v>
                </c:pt>
                <c:pt idx="150">
                  <c:v>13년</c:v>
                </c:pt>
                <c:pt idx="151">
                  <c:v>13년</c:v>
                </c:pt>
                <c:pt idx="152">
                  <c:v>13년</c:v>
                </c:pt>
                <c:pt idx="153">
                  <c:v>13년</c:v>
                </c:pt>
                <c:pt idx="154">
                  <c:v>13년</c:v>
                </c:pt>
                <c:pt idx="155">
                  <c:v>13년</c:v>
                </c:pt>
                <c:pt idx="156">
                  <c:v>14년</c:v>
                </c:pt>
                <c:pt idx="157">
                  <c:v>14년</c:v>
                </c:pt>
                <c:pt idx="158">
                  <c:v>14년</c:v>
                </c:pt>
                <c:pt idx="159">
                  <c:v>14년</c:v>
                </c:pt>
                <c:pt idx="160">
                  <c:v>14년</c:v>
                </c:pt>
                <c:pt idx="161">
                  <c:v>14년</c:v>
                </c:pt>
                <c:pt idx="162">
                  <c:v>14년</c:v>
                </c:pt>
                <c:pt idx="163">
                  <c:v>14년</c:v>
                </c:pt>
                <c:pt idx="164">
                  <c:v>14년</c:v>
                </c:pt>
                <c:pt idx="165">
                  <c:v>14년</c:v>
                </c:pt>
                <c:pt idx="166">
                  <c:v>14년</c:v>
                </c:pt>
                <c:pt idx="167">
                  <c:v>14년</c:v>
                </c:pt>
                <c:pt idx="168">
                  <c:v>15년</c:v>
                </c:pt>
                <c:pt idx="169">
                  <c:v>15년</c:v>
                </c:pt>
                <c:pt idx="170">
                  <c:v>15년</c:v>
                </c:pt>
                <c:pt idx="171">
                  <c:v>15년</c:v>
                </c:pt>
                <c:pt idx="172">
                  <c:v>15년</c:v>
                </c:pt>
                <c:pt idx="173">
                  <c:v>15년</c:v>
                </c:pt>
                <c:pt idx="174">
                  <c:v>15년</c:v>
                </c:pt>
                <c:pt idx="175">
                  <c:v>15년</c:v>
                </c:pt>
                <c:pt idx="176">
                  <c:v>15년</c:v>
                </c:pt>
                <c:pt idx="177">
                  <c:v>15년</c:v>
                </c:pt>
                <c:pt idx="178">
                  <c:v>15년</c:v>
                </c:pt>
                <c:pt idx="179">
                  <c:v>15년</c:v>
                </c:pt>
                <c:pt idx="180">
                  <c:v>16년</c:v>
                </c:pt>
                <c:pt idx="181">
                  <c:v>16년</c:v>
                </c:pt>
                <c:pt idx="182">
                  <c:v>16년</c:v>
                </c:pt>
                <c:pt idx="183">
                  <c:v>16년</c:v>
                </c:pt>
                <c:pt idx="184">
                  <c:v>16년</c:v>
                </c:pt>
                <c:pt idx="185">
                  <c:v>16년</c:v>
                </c:pt>
                <c:pt idx="186">
                  <c:v>16년</c:v>
                </c:pt>
                <c:pt idx="187">
                  <c:v>16년</c:v>
                </c:pt>
                <c:pt idx="188">
                  <c:v>16년</c:v>
                </c:pt>
                <c:pt idx="189">
                  <c:v>16년</c:v>
                </c:pt>
                <c:pt idx="190">
                  <c:v>16년</c:v>
                </c:pt>
                <c:pt idx="191">
                  <c:v>16년</c:v>
                </c:pt>
                <c:pt idx="192">
                  <c:v>17년</c:v>
                </c:pt>
                <c:pt idx="193">
                  <c:v>17년</c:v>
                </c:pt>
                <c:pt idx="194">
                  <c:v>17년</c:v>
                </c:pt>
                <c:pt idx="195">
                  <c:v>17년</c:v>
                </c:pt>
                <c:pt idx="196">
                  <c:v>17년</c:v>
                </c:pt>
                <c:pt idx="197">
                  <c:v>17년</c:v>
                </c:pt>
                <c:pt idx="198">
                  <c:v>17년</c:v>
                </c:pt>
                <c:pt idx="199">
                  <c:v>17년</c:v>
                </c:pt>
                <c:pt idx="200">
                  <c:v>17년</c:v>
                </c:pt>
                <c:pt idx="201">
                  <c:v>17년</c:v>
                </c:pt>
                <c:pt idx="202">
                  <c:v>17년</c:v>
                </c:pt>
                <c:pt idx="203">
                  <c:v>17년</c:v>
                </c:pt>
                <c:pt idx="204">
                  <c:v>18년</c:v>
                </c:pt>
                <c:pt idx="205">
                  <c:v>18년</c:v>
                </c:pt>
                <c:pt idx="206">
                  <c:v>18년</c:v>
                </c:pt>
                <c:pt idx="207">
                  <c:v>18년</c:v>
                </c:pt>
                <c:pt idx="208">
                  <c:v>18년</c:v>
                </c:pt>
                <c:pt idx="209">
                  <c:v>18년</c:v>
                </c:pt>
                <c:pt idx="210">
                  <c:v>18년</c:v>
                </c:pt>
                <c:pt idx="211">
                  <c:v>18년</c:v>
                </c:pt>
                <c:pt idx="212">
                  <c:v>18년</c:v>
                </c:pt>
                <c:pt idx="213">
                  <c:v>18년</c:v>
                </c:pt>
                <c:pt idx="214">
                  <c:v>18년</c:v>
                </c:pt>
                <c:pt idx="215">
                  <c:v>18년</c:v>
                </c:pt>
                <c:pt idx="216">
                  <c:v>19년</c:v>
                </c:pt>
                <c:pt idx="217">
                  <c:v>19년</c:v>
                </c:pt>
                <c:pt idx="218">
                  <c:v>19년</c:v>
                </c:pt>
                <c:pt idx="219">
                  <c:v>19년</c:v>
                </c:pt>
                <c:pt idx="220">
                  <c:v>19년</c:v>
                </c:pt>
                <c:pt idx="221">
                  <c:v>19년</c:v>
                </c:pt>
                <c:pt idx="222">
                  <c:v>19년</c:v>
                </c:pt>
                <c:pt idx="223">
                  <c:v>19년</c:v>
                </c:pt>
                <c:pt idx="224">
                  <c:v>19년</c:v>
                </c:pt>
                <c:pt idx="225">
                  <c:v>19년</c:v>
                </c:pt>
                <c:pt idx="226">
                  <c:v>19년</c:v>
                </c:pt>
                <c:pt idx="227">
                  <c:v>19년</c:v>
                </c:pt>
                <c:pt idx="228">
                  <c:v>20년</c:v>
                </c:pt>
                <c:pt idx="229">
                  <c:v>20년</c:v>
                </c:pt>
                <c:pt idx="230">
                  <c:v>20년</c:v>
                </c:pt>
                <c:pt idx="231">
                  <c:v>20년</c:v>
                </c:pt>
                <c:pt idx="232">
                  <c:v>20년</c:v>
                </c:pt>
                <c:pt idx="233">
                  <c:v>20년</c:v>
                </c:pt>
                <c:pt idx="234">
                  <c:v>20년</c:v>
                </c:pt>
                <c:pt idx="235">
                  <c:v>20년</c:v>
                </c:pt>
                <c:pt idx="236">
                  <c:v>20년</c:v>
                </c:pt>
                <c:pt idx="237">
                  <c:v>20년</c:v>
                </c:pt>
                <c:pt idx="238">
                  <c:v>20년</c:v>
                </c:pt>
                <c:pt idx="239">
                  <c:v>20년</c:v>
                </c:pt>
              </c:strCache>
            </c:strRef>
          </c:cat>
          <c:val>
            <c:numRef>
              <c:f>Sheet1!$E$2:$E$241</c:f>
              <c:numCache>
                <c:formatCode>General</c:formatCode>
                <c:ptCount val="240"/>
                <c:pt idx="0">
                  <c:v>10</c:v>
                </c:pt>
                <c:pt idx="1">
                  <c:v>20</c:v>
                </c:pt>
                <c:pt idx="2">
                  <c:v>30</c:v>
                </c:pt>
                <c:pt idx="3">
                  <c:v>40</c:v>
                </c:pt>
                <c:pt idx="4">
                  <c:v>50</c:v>
                </c:pt>
                <c:pt idx="5">
                  <c:v>60</c:v>
                </c:pt>
                <c:pt idx="6">
                  <c:v>70</c:v>
                </c:pt>
                <c:pt idx="7">
                  <c:v>80</c:v>
                </c:pt>
                <c:pt idx="8">
                  <c:v>90</c:v>
                </c:pt>
                <c:pt idx="9">
                  <c:v>100</c:v>
                </c:pt>
                <c:pt idx="10">
                  <c:v>110</c:v>
                </c:pt>
                <c:pt idx="11">
                  <c:v>120</c:v>
                </c:pt>
                <c:pt idx="12">
                  <c:v>130</c:v>
                </c:pt>
                <c:pt idx="13">
                  <c:v>140</c:v>
                </c:pt>
                <c:pt idx="14">
                  <c:v>150</c:v>
                </c:pt>
                <c:pt idx="15">
                  <c:v>160</c:v>
                </c:pt>
                <c:pt idx="16">
                  <c:v>170</c:v>
                </c:pt>
                <c:pt idx="17">
                  <c:v>180</c:v>
                </c:pt>
                <c:pt idx="18">
                  <c:v>190</c:v>
                </c:pt>
                <c:pt idx="19">
                  <c:v>200</c:v>
                </c:pt>
                <c:pt idx="20">
                  <c:v>210</c:v>
                </c:pt>
                <c:pt idx="21">
                  <c:v>220</c:v>
                </c:pt>
                <c:pt idx="22">
                  <c:v>230</c:v>
                </c:pt>
                <c:pt idx="23">
                  <c:v>240</c:v>
                </c:pt>
                <c:pt idx="24">
                  <c:v>250</c:v>
                </c:pt>
                <c:pt idx="25">
                  <c:v>260</c:v>
                </c:pt>
                <c:pt idx="26">
                  <c:v>270</c:v>
                </c:pt>
                <c:pt idx="27">
                  <c:v>280</c:v>
                </c:pt>
                <c:pt idx="28">
                  <c:v>290</c:v>
                </c:pt>
                <c:pt idx="29">
                  <c:v>300</c:v>
                </c:pt>
                <c:pt idx="30">
                  <c:v>310</c:v>
                </c:pt>
                <c:pt idx="31">
                  <c:v>320</c:v>
                </c:pt>
                <c:pt idx="32">
                  <c:v>330</c:v>
                </c:pt>
                <c:pt idx="33">
                  <c:v>340</c:v>
                </c:pt>
                <c:pt idx="34">
                  <c:v>350</c:v>
                </c:pt>
                <c:pt idx="35">
                  <c:v>360</c:v>
                </c:pt>
                <c:pt idx="36">
                  <c:v>370</c:v>
                </c:pt>
                <c:pt idx="37">
                  <c:v>380</c:v>
                </c:pt>
                <c:pt idx="38">
                  <c:v>390</c:v>
                </c:pt>
                <c:pt idx="39">
                  <c:v>400</c:v>
                </c:pt>
                <c:pt idx="40">
                  <c:v>410</c:v>
                </c:pt>
                <c:pt idx="41">
                  <c:v>420</c:v>
                </c:pt>
                <c:pt idx="42">
                  <c:v>430</c:v>
                </c:pt>
                <c:pt idx="43">
                  <c:v>440</c:v>
                </c:pt>
                <c:pt idx="44">
                  <c:v>450</c:v>
                </c:pt>
                <c:pt idx="45">
                  <c:v>460</c:v>
                </c:pt>
                <c:pt idx="46">
                  <c:v>470</c:v>
                </c:pt>
                <c:pt idx="47">
                  <c:v>480</c:v>
                </c:pt>
                <c:pt idx="48">
                  <c:v>490</c:v>
                </c:pt>
                <c:pt idx="49">
                  <c:v>500</c:v>
                </c:pt>
                <c:pt idx="50">
                  <c:v>510</c:v>
                </c:pt>
                <c:pt idx="51">
                  <c:v>520</c:v>
                </c:pt>
                <c:pt idx="52">
                  <c:v>530</c:v>
                </c:pt>
                <c:pt idx="53">
                  <c:v>540</c:v>
                </c:pt>
                <c:pt idx="54">
                  <c:v>550</c:v>
                </c:pt>
                <c:pt idx="55">
                  <c:v>560</c:v>
                </c:pt>
                <c:pt idx="56">
                  <c:v>570</c:v>
                </c:pt>
                <c:pt idx="57">
                  <c:v>580</c:v>
                </c:pt>
                <c:pt idx="58">
                  <c:v>590</c:v>
                </c:pt>
                <c:pt idx="59">
                  <c:v>600</c:v>
                </c:pt>
                <c:pt idx="60">
                  <c:v>610</c:v>
                </c:pt>
                <c:pt idx="61">
                  <c:v>620</c:v>
                </c:pt>
                <c:pt idx="62">
                  <c:v>630</c:v>
                </c:pt>
                <c:pt idx="63">
                  <c:v>640</c:v>
                </c:pt>
                <c:pt idx="64">
                  <c:v>650</c:v>
                </c:pt>
                <c:pt idx="65">
                  <c:v>660</c:v>
                </c:pt>
                <c:pt idx="66">
                  <c:v>670</c:v>
                </c:pt>
                <c:pt idx="67">
                  <c:v>680</c:v>
                </c:pt>
                <c:pt idx="68">
                  <c:v>690</c:v>
                </c:pt>
                <c:pt idx="69">
                  <c:v>700</c:v>
                </c:pt>
                <c:pt idx="70">
                  <c:v>710</c:v>
                </c:pt>
                <c:pt idx="71">
                  <c:v>720</c:v>
                </c:pt>
                <c:pt idx="72">
                  <c:v>730</c:v>
                </c:pt>
                <c:pt idx="73">
                  <c:v>740</c:v>
                </c:pt>
                <c:pt idx="74">
                  <c:v>750</c:v>
                </c:pt>
                <c:pt idx="75">
                  <c:v>760</c:v>
                </c:pt>
                <c:pt idx="76">
                  <c:v>770</c:v>
                </c:pt>
                <c:pt idx="77">
                  <c:v>780</c:v>
                </c:pt>
                <c:pt idx="78">
                  <c:v>790</c:v>
                </c:pt>
                <c:pt idx="79">
                  <c:v>800</c:v>
                </c:pt>
                <c:pt idx="80">
                  <c:v>810</c:v>
                </c:pt>
                <c:pt idx="81">
                  <c:v>820</c:v>
                </c:pt>
                <c:pt idx="82">
                  <c:v>830</c:v>
                </c:pt>
                <c:pt idx="83">
                  <c:v>840</c:v>
                </c:pt>
                <c:pt idx="84">
                  <c:v>850</c:v>
                </c:pt>
                <c:pt idx="85">
                  <c:v>860</c:v>
                </c:pt>
                <c:pt idx="86">
                  <c:v>870</c:v>
                </c:pt>
                <c:pt idx="87">
                  <c:v>880</c:v>
                </c:pt>
                <c:pt idx="88">
                  <c:v>890</c:v>
                </c:pt>
                <c:pt idx="89">
                  <c:v>900</c:v>
                </c:pt>
                <c:pt idx="90">
                  <c:v>910</c:v>
                </c:pt>
                <c:pt idx="91">
                  <c:v>920</c:v>
                </c:pt>
                <c:pt idx="92">
                  <c:v>930</c:v>
                </c:pt>
                <c:pt idx="93">
                  <c:v>940</c:v>
                </c:pt>
                <c:pt idx="94">
                  <c:v>950</c:v>
                </c:pt>
                <c:pt idx="95">
                  <c:v>960</c:v>
                </c:pt>
                <c:pt idx="96">
                  <c:v>970</c:v>
                </c:pt>
                <c:pt idx="97">
                  <c:v>980</c:v>
                </c:pt>
                <c:pt idx="98">
                  <c:v>990</c:v>
                </c:pt>
                <c:pt idx="99">
                  <c:v>1000</c:v>
                </c:pt>
                <c:pt idx="100">
                  <c:v>1010</c:v>
                </c:pt>
                <c:pt idx="101">
                  <c:v>1020</c:v>
                </c:pt>
                <c:pt idx="102">
                  <c:v>1030</c:v>
                </c:pt>
                <c:pt idx="103">
                  <c:v>1040</c:v>
                </c:pt>
                <c:pt idx="104">
                  <c:v>1050</c:v>
                </c:pt>
                <c:pt idx="105">
                  <c:v>1060</c:v>
                </c:pt>
                <c:pt idx="106">
                  <c:v>1070</c:v>
                </c:pt>
                <c:pt idx="107">
                  <c:v>1080</c:v>
                </c:pt>
                <c:pt idx="108">
                  <c:v>1090</c:v>
                </c:pt>
                <c:pt idx="109">
                  <c:v>1100</c:v>
                </c:pt>
                <c:pt idx="110">
                  <c:v>1110</c:v>
                </c:pt>
                <c:pt idx="111">
                  <c:v>1120</c:v>
                </c:pt>
                <c:pt idx="112">
                  <c:v>1130</c:v>
                </c:pt>
                <c:pt idx="113">
                  <c:v>1140</c:v>
                </c:pt>
                <c:pt idx="114">
                  <c:v>1150</c:v>
                </c:pt>
                <c:pt idx="115">
                  <c:v>1160</c:v>
                </c:pt>
                <c:pt idx="116">
                  <c:v>1170</c:v>
                </c:pt>
                <c:pt idx="117">
                  <c:v>1180</c:v>
                </c:pt>
                <c:pt idx="118">
                  <c:v>1190</c:v>
                </c:pt>
                <c:pt idx="119">
                  <c:v>1200</c:v>
                </c:pt>
                <c:pt idx="120">
                  <c:v>1210</c:v>
                </c:pt>
                <c:pt idx="121">
                  <c:v>1220</c:v>
                </c:pt>
                <c:pt idx="122">
                  <c:v>1230</c:v>
                </c:pt>
                <c:pt idx="123">
                  <c:v>1240</c:v>
                </c:pt>
                <c:pt idx="124">
                  <c:v>1250</c:v>
                </c:pt>
                <c:pt idx="125">
                  <c:v>1260</c:v>
                </c:pt>
                <c:pt idx="126">
                  <c:v>1270</c:v>
                </c:pt>
                <c:pt idx="127">
                  <c:v>1280</c:v>
                </c:pt>
                <c:pt idx="128">
                  <c:v>1290</c:v>
                </c:pt>
                <c:pt idx="129">
                  <c:v>1300</c:v>
                </c:pt>
                <c:pt idx="130">
                  <c:v>1310</c:v>
                </c:pt>
                <c:pt idx="131">
                  <c:v>1320</c:v>
                </c:pt>
                <c:pt idx="132">
                  <c:v>1330</c:v>
                </c:pt>
                <c:pt idx="133">
                  <c:v>1340</c:v>
                </c:pt>
                <c:pt idx="134">
                  <c:v>1350</c:v>
                </c:pt>
                <c:pt idx="135">
                  <c:v>1360</c:v>
                </c:pt>
                <c:pt idx="136">
                  <c:v>1370</c:v>
                </c:pt>
                <c:pt idx="137">
                  <c:v>1380</c:v>
                </c:pt>
                <c:pt idx="138">
                  <c:v>1390</c:v>
                </c:pt>
                <c:pt idx="139">
                  <c:v>1400</c:v>
                </c:pt>
                <c:pt idx="140">
                  <c:v>1410</c:v>
                </c:pt>
                <c:pt idx="141">
                  <c:v>1420</c:v>
                </c:pt>
                <c:pt idx="142">
                  <c:v>1430</c:v>
                </c:pt>
                <c:pt idx="143">
                  <c:v>1440</c:v>
                </c:pt>
                <c:pt idx="144">
                  <c:v>1450</c:v>
                </c:pt>
                <c:pt idx="145">
                  <c:v>1460</c:v>
                </c:pt>
                <c:pt idx="146">
                  <c:v>1470</c:v>
                </c:pt>
                <c:pt idx="147">
                  <c:v>1480</c:v>
                </c:pt>
                <c:pt idx="148">
                  <c:v>1490</c:v>
                </c:pt>
                <c:pt idx="149">
                  <c:v>1500</c:v>
                </c:pt>
                <c:pt idx="150">
                  <c:v>1510</c:v>
                </c:pt>
                <c:pt idx="151">
                  <c:v>1520</c:v>
                </c:pt>
                <c:pt idx="152">
                  <c:v>1530</c:v>
                </c:pt>
                <c:pt idx="153">
                  <c:v>1540</c:v>
                </c:pt>
                <c:pt idx="154">
                  <c:v>1550</c:v>
                </c:pt>
                <c:pt idx="155">
                  <c:v>1560</c:v>
                </c:pt>
                <c:pt idx="156">
                  <c:v>1570</c:v>
                </c:pt>
                <c:pt idx="157">
                  <c:v>1580</c:v>
                </c:pt>
                <c:pt idx="158">
                  <c:v>1590</c:v>
                </c:pt>
                <c:pt idx="159">
                  <c:v>1600</c:v>
                </c:pt>
                <c:pt idx="160">
                  <c:v>1610</c:v>
                </c:pt>
                <c:pt idx="161">
                  <c:v>1620</c:v>
                </c:pt>
                <c:pt idx="162">
                  <c:v>1630</c:v>
                </c:pt>
                <c:pt idx="163">
                  <c:v>1640</c:v>
                </c:pt>
                <c:pt idx="164">
                  <c:v>1650</c:v>
                </c:pt>
                <c:pt idx="165">
                  <c:v>1660</c:v>
                </c:pt>
                <c:pt idx="166">
                  <c:v>1670</c:v>
                </c:pt>
                <c:pt idx="167">
                  <c:v>1680</c:v>
                </c:pt>
                <c:pt idx="168">
                  <c:v>1690</c:v>
                </c:pt>
                <c:pt idx="169">
                  <c:v>1700</c:v>
                </c:pt>
                <c:pt idx="170">
                  <c:v>1710</c:v>
                </c:pt>
                <c:pt idx="171">
                  <c:v>1720</c:v>
                </c:pt>
                <c:pt idx="172">
                  <c:v>1730</c:v>
                </c:pt>
                <c:pt idx="173">
                  <c:v>1740</c:v>
                </c:pt>
                <c:pt idx="174">
                  <c:v>1750</c:v>
                </c:pt>
                <c:pt idx="175">
                  <c:v>1760</c:v>
                </c:pt>
                <c:pt idx="176">
                  <c:v>1770</c:v>
                </c:pt>
                <c:pt idx="177">
                  <c:v>1780</c:v>
                </c:pt>
                <c:pt idx="178">
                  <c:v>1790</c:v>
                </c:pt>
                <c:pt idx="179">
                  <c:v>1800</c:v>
                </c:pt>
                <c:pt idx="180">
                  <c:v>1810</c:v>
                </c:pt>
                <c:pt idx="181">
                  <c:v>1820</c:v>
                </c:pt>
                <c:pt idx="182">
                  <c:v>1830</c:v>
                </c:pt>
                <c:pt idx="183">
                  <c:v>1840</c:v>
                </c:pt>
                <c:pt idx="184">
                  <c:v>1850</c:v>
                </c:pt>
                <c:pt idx="185">
                  <c:v>1860</c:v>
                </c:pt>
                <c:pt idx="186">
                  <c:v>1870</c:v>
                </c:pt>
                <c:pt idx="187">
                  <c:v>1880</c:v>
                </c:pt>
                <c:pt idx="188">
                  <c:v>1890</c:v>
                </c:pt>
                <c:pt idx="189">
                  <c:v>1900</c:v>
                </c:pt>
                <c:pt idx="190">
                  <c:v>1910</c:v>
                </c:pt>
                <c:pt idx="191">
                  <c:v>1920</c:v>
                </c:pt>
                <c:pt idx="192">
                  <c:v>1930</c:v>
                </c:pt>
                <c:pt idx="193">
                  <c:v>1940</c:v>
                </c:pt>
                <c:pt idx="194">
                  <c:v>1950</c:v>
                </c:pt>
                <c:pt idx="195">
                  <c:v>1960</c:v>
                </c:pt>
                <c:pt idx="196">
                  <c:v>1970</c:v>
                </c:pt>
                <c:pt idx="197">
                  <c:v>1980</c:v>
                </c:pt>
                <c:pt idx="198">
                  <c:v>1990</c:v>
                </c:pt>
                <c:pt idx="199">
                  <c:v>2000</c:v>
                </c:pt>
                <c:pt idx="200">
                  <c:v>2010</c:v>
                </c:pt>
                <c:pt idx="201">
                  <c:v>2020</c:v>
                </c:pt>
                <c:pt idx="202">
                  <c:v>2030</c:v>
                </c:pt>
                <c:pt idx="203">
                  <c:v>2040</c:v>
                </c:pt>
                <c:pt idx="204">
                  <c:v>2050</c:v>
                </c:pt>
                <c:pt idx="205">
                  <c:v>2060</c:v>
                </c:pt>
                <c:pt idx="206">
                  <c:v>2070</c:v>
                </c:pt>
                <c:pt idx="207">
                  <c:v>2080</c:v>
                </c:pt>
                <c:pt idx="208">
                  <c:v>2090</c:v>
                </c:pt>
                <c:pt idx="209">
                  <c:v>2100</c:v>
                </c:pt>
                <c:pt idx="210">
                  <c:v>2110</c:v>
                </c:pt>
                <c:pt idx="211">
                  <c:v>2120</c:v>
                </c:pt>
                <c:pt idx="212">
                  <c:v>2130</c:v>
                </c:pt>
                <c:pt idx="213">
                  <c:v>2140</c:v>
                </c:pt>
                <c:pt idx="214">
                  <c:v>2150</c:v>
                </c:pt>
                <c:pt idx="215">
                  <c:v>2160</c:v>
                </c:pt>
                <c:pt idx="216">
                  <c:v>2170</c:v>
                </c:pt>
                <c:pt idx="217">
                  <c:v>2180</c:v>
                </c:pt>
                <c:pt idx="218">
                  <c:v>2190</c:v>
                </c:pt>
                <c:pt idx="219">
                  <c:v>2200</c:v>
                </c:pt>
                <c:pt idx="220">
                  <c:v>2210</c:v>
                </c:pt>
                <c:pt idx="221">
                  <c:v>2220</c:v>
                </c:pt>
                <c:pt idx="222">
                  <c:v>2230</c:v>
                </c:pt>
                <c:pt idx="223">
                  <c:v>2240</c:v>
                </c:pt>
                <c:pt idx="224">
                  <c:v>2250</c:v>
                </c:pt>
                <c:pt idx="225">
                  <c:v>2260</c:v>
                </c:pt>
                <c:pt idx="226">
                  <c:v>2270</c:v>
                </c:pt>
                <c:pt idx="227">
                  <c:v>2280</c:v>
                </c:pt>
                <c:pt idx="228">
                  <c:v>2290</c:v>
                </c:pt>
                <c:pt idx="229">
                  <c:v>2300</c:v>
                </c:pt>
                <c:pt idx="230">
                  <c:v>2310</c:v>
                </c:pt>
                <c:pt idx="231">
                  <c:v>2320</c:v>
                </c:pt>
                <c:pt idx="232">
                  <c:v>2330</c:v>
                </c:pt>
                <c:pt idx="233">
                  <c:v>2340</c:v>
                </c:pt>
                <c:pt idx="234">
                  <c:v>2350</c:v>
                </c:pt>
                <c:pt idx="235">
                  <c:v>2360</c:v>
                </c:pt>
                <c:pt idx="236">
                  <c:v>2370</c:v>
                </c:pt>
                <c:pt idx="237">
                  <c:v>2380</c:v>
                </c:pt>
                <c:pt idx="238">
                  <c:v>2390</c:v>
                </c:pt>
                <c:pt idx="239">
                  <c:v>2400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40495176"/>
        <c:crosses val="autoZero"/>
        <c:auto val="1"/>
        <c:lblAlgn val="ctr"/>
        <c:lblOffset val="100"/>
        <c:noMultiLvlLbl val="0"/>
        <c:tickLblSkip val="24"/>
        <c:tickMarkSkip val="24"/>
      </c:catAx>
      <c:valAx>
        <c:axId val="2140495176"/>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118791784"/>
        <c:crosses val="autoZero"/>
      </c:valAx>
    </c:plotArea>
    <c:plotVisOnly val="1"/>
    <c:dispBlanksAs val="gap"/>
    <c:showDLblsOverMax val="0"/>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상위 10%</c:v>
                </c:pt>
              </c:strCache>
            </c:strRef>
          </c:tx>
          <c:spPr>
            <a:ln w="12700">
              <a:solidFill>
                <a:srgbClr val="E07A1F"/>
              </a:solidFill>
              <a:prstDash val="dash"/>
            </a:ln>
          </c:spPr>
          <c:marker>
            <c:symbol val="none"/>
          </c:marker>
          <c:cat>
            <c:strRef>
              <c:f>Sheet1!$A$2:$A$241</c:f>
              <c:strCache>
                <c:ptCount val="240"/>
                <c:pt idx="0">
                  <c:v>1년</c:v>
                </c:pt>
                <c:pt idx="1">
                  <c:v>1년</c:v>
                </c:pt>
                <c:pt idx="2">
                  <c:v>1년</c:v>
                </c:pt>
                <c:pt idx="3">
                  <c:v>1년</c:v>
                </c:pt>
                <c:pt idx="4">
                  <c:v>1년</c:v>
                </c:pt>
                <c:pt idx="5">
                  <c:v>1년</c:v>
                </c:pt>
                <c:pt idx="6">
                  <c:v>1년</c:v>
                </c:pt>
                <c:pt idx="7">
                  <c:v>1년</c:v>
                </c:pt>
                <c:pt idx="8">
                  <c:v>1년</c:v>
                </c:pt>
                <c:pt idx="9">
                  <c:v>1년</c:v>
                </c:pt>
                <c:pt idx="10">
                  <c:v>1년</c:v>
                </c:pt>
                <c:pt idx="11">
                  <c:v>1년</c:v>
                </c:pt>
                <c:pt idx="12">
                  <c:v>2년</c:v>
                </c:pt>
                <c:pt idx="13">
                  <c:v>2년</c:v>
                </c:pt>
                <c:pt idx="14">
                  <c:v>2년</c:v>
                </c:pt>
                <c:pt idx="15">
                  <c:v>2년</c:v>
                </c:pt>
                <c:pt idx="16">
                  <c:v>2년</c:v>
                </c:pt>
                <c:pt idx="17">
                  <c:v>2년</c:v>
                </c:pt>
                <c:pt idx="18">
                  <c:v>2년</c:v>
                </c:pt>
                <c:pt idx="19">
                  <c:v>2년</c:v>
                </c:pt>
                <c:pt idx="20">
                  <c:v>2년</c:v>
                </c:pt>
                <c:pt idx="21">
                  <c:v>2년</c:v>
                </c:pt>
                <c:pt idx="22">
                  <c:v>2년</c:v>
                </c:pt>
                <c:pt idx="23">
                  <c:v>2년</c:v>
                </c:pt>
                <c:pt idx="24">
                  <c:v>3년</c:v>
                </c:pt>
                <c:pt idx="25">
                  <c:v>3년</c:v>
                </c:pt>
                <c:pt idx="26">
                  <c:v>3년</c:v>
                </c:pt>
                <c:pt idx="27">
                  <c:v>3년</c:v>
                </c:pt>
                <c:pt idx="28">
                  <c:v>3년</c:v>
                </c:pt>
                <c:pt idx="29">
                  <c:v>3년</c:v>
                </c:pt>
                <c:pt idx="30">
                  <c:v>3년</c:v>
                </c:pt>
                <c:pt idx="31">
                  <c:v>3년</c:v>
                </c:pt>
                <c:pt idx="32">
                  <c:v>3년</c:v>
                </c:pt>
                <c:pt idx="33">
                  <c:v>3년</c:v>
                </c:pt>
                <c:pt idx="34">
                  <c:v>3년</c:v>
                </c:pt>
                <c:pt idx="35">
                  <c:v>3년</c:v>
                </c:pt>
                <c:pt idx="36">
                  <c:v>4년</c:v>
                </c:pt>
                <c:pt idx="37">
                  <c:v>4년</c:v>
                </c:pt>
                <c:pt idx="38">
                  <c:v>4년</c:v>
                </c:pt>
                <c:pt idx="39">
                  <c:v>4년</c:v>
                </c:pt>
                <c:pt idx="40">
                  <c:v>4년</c:v>
                </c:pt>
                <c:pt idx="41">
                  <c:v>4년</c:v>
                </c:pt>
                <c:pt idx="42">
                  <c:v>4년</c:v>
                </c:pt>
                <c:pt idx="43">
                  <c:v>4년</c:v>
                </c:pt>
                <c:pt idx="44">
                  <c:v>4년</c:v>
                </c:pt>
                <c:pt idx="45">
                  <c:v>4년</c:v>
                </c:pt>
                <c:pt idx="46">
                  <c:v>4년</c:v>
                </c:pt>
                <c:pt idx="47">
                  <c:v>4년</c:v>
                </c:pt>
                <c:pt idx="48">
                  <c:v>5년</c:v>
                </c:pt>
                <c:pt idx="49">
                  <c:v>5년</c:v>
                </c:pt>
                <c:pt idx="50">
                  <c:v>5년</c:v>
                </c:pt>
                <c:pt idx="51">
                  <c:v>5년</c:v>
                </c:pt>
                <c:pt idx="52">
                  <c:v>5년</c:v>
                </c:pt>
                <c:pt idx="53">
                  <c:v>5년</c:v>
                </c:pt>
                <c:pt idx="54">
                  <c:v>5년</c:v>
                </c:pt>
                <c:pt idx="55">
                  <c:v>5년</c:v>
                </c:pt>
                <c:pt idx="56">
                  <c:v>5년</c:v>
                </c:pt>
                <c:pt idx="57">
                  <c:v>5년</c:v>
                </c:pt>
                <c:pt idx="58">
                  <c:v>5년</c:v>
                </c:pt>
                <c:pt idx="59">
                  <c:v>5년</c:v>
                </c:pt>
                <c:pt idx="60">
                  <c:v>6년</c:v>
                </c:pt>
                <c:pt idx="61">
                  <c:v>6년</c:v>
                </c:pt>
                <c:pt idx="62">
                  <c:v>6년</c:v>
                </c:pt>
                <c:pt idx="63">
                  <c:v>6년</c:v>
                </c:pt>
                <c:pt idx="64">
                  <c:v>6년</c:v>
                </c:pt>
                <c:pt idx="65">
                  <c:v>6년</c:v>
                </c:pt>
                <c:pt idx="66">
                  <c:v>6년</c:v>
                </c:pt>
                <c:pt idx="67">
                  <c:v>6년</c:v>
                </c:pt>
                <c:pt idx="68">
                  <c:v>6년</c:v>
                </c:pt>
                <c:pt idx="69">
                  <c:v>6년</c:v>
                </c:pt>
                <c:pt idx="70">
                  <c:v>6년</c:v>
                </c:pt>
                <c:pt idx="71">
                  <c:v>6년</c:v>
                </c:pt>
                <c:pt idx="72">
                  <c:v>7년</c:v>
                </c:pt>
                <c:pt idx="73">
                  <c:v>7년</c:v>
                </c:pt>
                <c:pt idx="74">
                  <c:v>7년</c:v>
                </c:pt>
                <c:pt idx="75">
                  <c:v>7년</c:v>
                </c:pt>
                <c:pt idx="76">
                  <c:v>7년</c:v>
                </c:pt>
                <c:pt idx="77">
                  <c:v>7년</c:v>
                </c:pt>
                <c:pt idx="78">
                  <c:v>7년</c:v>
                </c:pt>
                <c:pt idx="79">
                  <c:v>7년</c:v>
                </c:pt>
                <c:pt idx="80">
                  <c:v>7년</c:v>
                </c:pt>
                <c:pt idx="81">
                  <c:v>7년</c:v>
                </c:pt>
                <c:pt idx="82">
                  <c:v>7년</c:v>
                </c:pt>
                <c:pt idx="83">
                  <c:v>7년</c:v>
                </c:pt>
                <c:pt idx="84">
                  <c:v>8년</c:v>
                </c:pt>
                <c:pt idx="85">
                  <c:v>8년</c:v>
                </c:pt>
                <c:pt idx="86">
                  <c:v>8년</c:v>
                </c:pt>
                <c:pt idx="87">
                  <c:v>8년</c:v>
                </c:pt>
                <c:pt idx="88">
                  <c:v>8년</c:v>
                </c:pt>
                <c:pt idx="89">
                  <c:v>8년</c:v>
                </c:pt>
                <c:pt idx="90">
                  <c:v>8년</c:v>
                </c:pt>
                <c:pt idx="91">
                  <c:v>8년</c:v>
                </c:pt>
                <c:pt idx="92">
                  <c:v>8년</c:v>
                </c:pt>
                <c:pt idx="93">
                  <c:v>8년</c:v>
                </c:pt>
                <c:pt idx="94">
                  <c:v>8년</c:v>
                </c:pt>
                <c:pt idx="95">
                  <c:v>8년</c:v>
                </c:pt>
                <c:pt idx="96">
                  <c:v>9년</c:v>
                </c:pt>
                <c:pt idx="97">
                  <c:v>9년</c:v>
                </c:pt>
                <c:pt idx="98">
                  <c:v>9년</c:v>
                </c:pt>
                <c:pt idx="99">
                  <c:v>9년</c:v>
                </c:pt>
                <c:pt idx="100">
                  <c:v>9년</c:v>
                </c:pt>
                <c:pt idx="101">
                  <c:v>9년</c:v>
                </c:pt>
                <c:pt idx="102">
                  <c:v>9년</c:v>
                </c:pt>
                <c:pt idx="103">
                  <c:v>9년</c:v>
                </c:pt>
                <c:pt idx="104">
                  <c:v>9년</c:v>
                </c:pt>
                <c:pt idx="105">
                  <c:v>9년</c:v>
                </c:pt>
                <c:pt idx="106">
                  <c:v>9년</c:v>
                </c:pt>
                <c:pt idx="107">
                  <c:v>9년</c:v>
                </c:pt>
                <c:pt idx="108">
                  <c:v>10년</c:v>
                </c:pt>
                <c:pt idx="109">
                  <c:v>10년</c:v>
                </c:pt>
                <c:pt idx="110">
                  <c:v>10년</c:v>
                </c:pt>
                <c:pt idx="111">
                  <c:v>10년</c:v>
                </c:pt>
                <c:pt idx="112">
                  <c:v>10년</c:v>
                </c:pt>
                <c:pt idx="113">
                  <c:v>10년</c:v>
                </c:pt>
                <c:pt idx="114">
                  <c:v>10년</c:v>
                </c:pt>
                <c:pt idx="115">
                  <c:v>10년</c:v>
                </c:pt>
                <c:pt idx="116">
                  <c:v>10년</c:v>
                </c:pt>
                <c:pt idx="117">
                  <c:v>10년</c:v>
                </c:pt>
                <c:pt idx="118">
                  <c:v>10년</c:v>
                </c:pt>
                <c:pt idx="119">
                  <c:v>10년</c:v>
                </c:pt>
                <c:pt idx="120">
                  <c:v>11년</c:v>
                </c:pt>
                <c:pt idx="121">
                  <c:v>11년</c:v>
                </c:pt>
                <c:pt idx="122">
                  <c:v>11년</c:v>
                </c:pt>
                <c:pt idx="123">
                  <c:v>11년</c:v>
                </c:pt>
                <c:pt idx="124">
                  <c:v>11년</c:v>
                </c:pt>
                <c:pt idx="125">
                  <c:v>11년</c:v>
                </c:pt>
                <c:pt idx="126">
                  <c:v>11년</c:v>
                </c:pt>
                <c:pt idx="127">
                  <c:v>11년</c:v>
                </c:pt>
                <c:pt idx="128">
                  <c:v>11년</c:v>
                </c:pt>
                <c:pt idx="129">
                  <c:v>11년</c:v>
                </c:pt>
                <c:pt idx="130">
                  <c:v>11년</c:v>
                </c:pt>
                <c:pt idx="131">
                  <c:v>11년</c:v>
                </c:pt>
                <c:pt idx="132">
                  <c:v>12년</c:v>
                </c:pt>
                <c:pt idx="133">
                  <c:v>12년</c:v>
                </c:pt>
                <c:pt idx="134">
                  <c:v>12년</c:v>
                </c:pt>
                <c:pt idx="135">
                  <c:v>12년</c:v>
                </c:pt>
                <c:pt idx="136">
                  <c:v>12년</c:v>
                </c:pt>
                <c:pt idx="137">
                  <c:v>12년</c:v>
                </c:pt>
                <c:pt idx="138">
                  <c:v>12년</c:v>
                </c:pt>
                <c:pt idx="139">
                  <c:v>12년</c:v>
                </c:pt>
                <c:pt idx="140">
                  <c:v>12년</c:v>
                </c:pt>
                <c:pt idx="141">
                  <c:v>12년</c:v>
                </c:pt>
                <c:pt idx="142">
                  <c:v>12년</c:v>
                </c:pt>
                <c:pt idx="143">
                  <c:v>12년</c:v>
                </c:pt>
                <c:pt idx="144">
                  <c:v>13년</c:v>
                </c:pt>
                <c:pt idx="145">
                  <c:v>13년</c:v>
                </c:pt>
                <c:pt idx="146">
                  <c:v>13년</c:v>
                </c:pt>
                <c:pt idx="147">
                  <c:v>13년</c:v>
                </c:pt>
                <c:pt idx="148">
                  <c:v>13년</c:v>
                </c:pt>
                <c:pt idx="149">
                  <c:v>13년</c:v>
                </c:pt>
                <c:pt idx="150">
                  <c:v>13년</c:v>
                </c:pt>
                <c:pt idx="151">
                  <c:v>13년</c:v>
                </c:pt>
                <c:pt idx="152">
                  <c:v>13년</c:v>
                </c:pt>
                <c:pt idx="153">
                  <c:v>13년</c:v>
                </c:pt>
                <c:pt idx="154">
                  <c:v>13년</c:v>
                </c:pt>
                <c:pt idx="155">
                  <c:v>13년</c:v>
                </c:pt>
                <c:pt idx="156">
                  <c:v>14년</c:v>
                </c:pt>
                <c:pt idx="157">
                  <c:v>14년</c:v>
                </c:pt>
                <c:pt idx="158">
                  <c:v>14년</c:v>
                </c:pt>
                <c:pt idx="159">
                  <c:v>14년</c:v>
                </c:pt>
                <c:pt idx="160">
                  <c:v>14년</c:v>
                </c:pt>
                <c:pt idx="161">
                  <c:v>14년</c:v>
                </c:pt>
                <c:pt idx="162">
                  <c:v>14년</c:v>
                </c:pt>
                <c:pt idx="163">
                  <c:v>14년</c:v>
                </c:pt>
                <c:pt idx="164">
                  <c:v>14년</c:v>
                </c:pt>
                <c:pt idx="165">
                  <c:v>14년</c:v>
                </c:pt>
                <c:pt idx="166">
                  <c:v>14년</c:v>
                </c:pt>
                <c:pt idx="167">
                  <c:v>14년</c:v>
                </c:pt>
                <c:pt idx="168">
                  <c:v>15년</c:v>
                </c:pt>
                <c:pt idx="169">
                  <c:v>15년</c:v>
                </c:pt>
                <c:pt idx="170">
                  <c:v>15년</c:v>
                </c:pt>
                <c:pt idx="171">
                  <c:v>15년</c:v>
                </c:pt>
                <c:pt idx="172">
                  <c:v>15년</c:v>
                </c:pt>
                <c:pt idx="173">
                  <c:v>15년</c:v>
                </c:pt>
                <c:pt idx="174">
                  <c:v>15년</c:v>
                </c:pt>
                <c:pt idx="175">
                  <c:v>15년</c:v>
                </c:pt>
                <c:pt idx="176">
                  <c:v>15년</c:v>
                </c:pt>
                <c:pt idx="177">
                  <c:v>15년</c:v>
                </c:pt>
                <c:pt idx="178">
                  <c:v>15년</c:v>
                </c:pt>
                <c:pt idx="179">
                  <c:v>15년</c:v>
                </c:pt>
                <c:pt idx="180">
                  <c:v>16년</c:v>
                </c:pt>
                <c:pt idx="181">
                  <c:v>16년</c:v>
                </c:pt>
                <c:pt idx="182">
                  <c:v>16년</c:v>
                </c:pt>
                <c:pt idx="183">
                  <c:v>16년</c:v>
                </c:pt>
                <c:pt idx="184">
                  <c:v>16년</c:v>
                </c:pt>
                <c:pt idx="185">
                  <c:v>16년</c:v>
                </c:pt>
                <c:pt idx="186">
                  <c:v>16년</c:v>
                </c:pt>
                <c:pt idx="187">
                  <c:v>16년</c:v>
                </c:pt>
                <c:pt idx="188">
                  <c:v>16년</c:v>
                </c:pt>
                <c:pt idx="189">
                  <c:v>16년</c:v>
                </c:pt>
                <c:pt idx="190">
                  <c:v>16년</c:v>
                </c:pt>
                <c:pt idx="191">
                  <c:v>16년</c:v>
                </c:pt>
                <c:pt idx="192">
                  <c:v>17년</c:v>
                </c:pt>
                <c:pt idx="193">
                  <c:v>17년</c:v>
                </c:pt>
                <c:pt idx="194">
                  <c:v>17년</c:v>
                </c:pt>
                <c:pt idx="195">
                  <c:v>17년</c:v>
                </c:pt>
                <c:pt idx="196">
                  <c:v>17년</c:v>
                </c:pt>
                <c:pt idx="197">
                  <c:v>17년</c:v>
                </c:pt>
                <c:pt idx="198">
                  <c:v>17년</c:v>
                </c:pt>
                <c:pt idx="199">
                  <c:v>17년</c:v>
                </c:pt>
                <c:pt idx="200">
                  <c:v>17년</c:v>
                </c:pt>
                <c:pt idx="201">
                  <c:v>17년</c:v>
                </c:pt>
                <c:pt idx="202">
                  <c:v>17년</c:v>
                </c:pt>
                <c:pt idx="203">
                  <c:v>17년</c:v>
                </c:pt>
                <c:pt idx="204">
                  <c:v>18년</c:v>
                </c:pt>
                <c:pt idx="205">
                  <c:v>18년</c:v>
                </c:pt>
                <c:pt idx="206">
                  <c:v>18년</c:v>
                </c:pt>
                <c:pt idx="207">
                  <c:v>18년</c:v>
                </c:pt>
                <c:pt idx="208">
                  <c:v>18년</c:v>
                </c:pt>
                <c:pt idx="209">
                  <c:v>18년</c:v>
                </c:pt>
                <c:pt idx="210">
                  <c:v>18년</c:v>
                </c:pt>
                <c:pt idx="211">
                  <c:v>18년</c:v>
                </c:pt>
                <c:pt idx="212">
                  <c:v>18년</c:v>
                </c:pt>
                <c:pt idx="213">
                  <c:v>18년</c:v>
                </c:pt>
                <c:pt idx="214">
                  <c:v>18년</c:v>
                </c:pt>
                <c:pt idx="215">
                  <c:v>18년</c:v>
                </c:pt>
                <c:pt idx="216">
                  <c:v>19년</c:v>
                </c:pt>
                <c:pt idx="217">
                  <c:v>19년</c:v>
                </c:pt>
                <c:pt idx="218">
                  <c:v>19년</c:v>
                </c:pt>
                <c:pt idx="219">
                  <c:v>19년</c:v>
                </c:pt>
                <c:pt idx="220">
                  <c:v>19년</c:v>
                </c:pt>
                <c:pt idx="221">
                  <c:v>19년</c:v>
                </c:pt>
                <c:pt idx="222">
                  <c:v>19년</c:v>
                </c:pt>
                <c:pt idx="223">
                  <c:v>19년</c:v>
                </c:pt>
                <c:pt idx="224">
                  <c:v>19년</c:v>
                </c:pt>
                <c:pt idx="225">
                  <c:v>19년</c:v>
                </c:pt>
                <c:pt idx="226">
                  <c:v>19년</c:v>
                </c:pt>
                <c:pt idx="227">
                  <c:v>19년</c:v>
                </c:pt>
                <c:pt idx="228">
                  <c:v>20년</c:v>
                </c:pt>
                <c:pt idx="229">
                  <c:v>20년</c:v>
                </c:pt>
                <c:pt idx="230">
                  <c:v>20년</c:v>
                </c:pt>
                <c:pt idx="231">
                  <c:v>20년</c:v>
                </c:pt>
                <c:pt idx="232">
                  <c:v>20년</c:v>
                </c:pt>
                <c:pt idx="233">
                  <c:v>20년</c:v>
                </c:pt>
                <c:pt idx="234">
                  <c:v>20년</c:v>
                </c:pt>
                <c:pt idx="235">
                  <c:v>20년</c:v>
                </c:pt>
                <c:pt idx="236">
                  <c:v>20년</c:v>
                </c:pt>
                <c:pt idx="237">
                  <c:v>20년</c:v>
                </c:pt>
                <c:pt idx="238">
                  <c:v>20년</c:v>
                </c:pt>
                <c:pt idx="239">
                  <c:v>20년</c:v>
                </c:pt>
              </c:strCache>
            </c:strRef>
          </c:cat>
          <c:val>
            <c:numRef>
              <c:f>Sheet1!$B$2:$B$241</c:f>
              <c:numCache>
                <c:formatCode>General</c:formatCode>
                <c:ptCount val="240"/>
                <c:pt idx="0">
                  <c:v>10.648648455709052</c:v>
                </c:pt>
                <c:pt idx="1">
                  <c:v>21.541858902657225</c:v>
                </c:pt>
                <c:pt idx="2">
                  <c:v>32.713696477332576</c:v>
                </c:pt>
                <c:pt idx="3">
                  <c:v>44.36608901846591</c:v>
                </c:pt>
                <c:pt idx="4">
                  <c:v>56.0724018181396</c:v>
                </c:pt>
                <c:pt idx="5">
                  <c:v>67.99359679624908</c:v>
                </c:pt>
                <c:pt idx="6">
                  <c:v>80.21945014170004</c:v>
                </c:pt>
                <c:pt idx="7">
                  <c:v>93.25841817334863</c:v>
                </c:pt>
                <c:pt idx="8">
                  <c:v>106.05936449535407</c:v>
                </c:pt>
                <c:pt idx="9">
                  <c:v>119.53040609421922</c:v>
                </c:pt>
                <c:pt idx="10">
                  <c:v>133.44980035007026</c:v>
                </c:pt>
                <c:pt idx="11">
                  <c:v>149.20976500502877</c:v>
                </c:pt>
                <c:pt idx="12">
                  <c:v>163.66467394915733</c:v>
                </c:pt>
                <c:pt idx="13">
                  <c:v>178.302999439198</c:v>
                </c:pt>
                <c:pt idx="14">
                  <c:v>193.3710149825566</c:v>
                </c:pt>
                <c:pt idx="15">
                  <c:v>206.99883895528578</c:v>
                </c:pt>
                <c:pt idx="16">
                  <c:v>222.88667468490786</c:v>
                </c:pt>
                <c:pt idx="17">
                  <c:v>237.9452540104595</c:v>
                </c:pt>
                <c:pt idx="18">
                  <c:v>254.88727200475387</c:v>
                </c:pt>
                <c:pt idx="19">
                  <c:v>272.12672196264833</c:v>
                </c:pt>
                <c:pt idx="20">
                  <c:v>288.29674489176267</c:v>
                </c:pt>
                <c:pt idx="21">
                  <c:v>305.4709333910258</c:v>
                </c:pt>
                <c:pt idx="22">
                  <c:v>326.0523281318836</c:v>
                </c:pt>
                <c:pt idx="23">
                  <c:v>346.52674741670893</c:v>
                </c:pt>
                <c:pt idx="24">
                  <c:v>363.3353631437991</c:v>
                </c:pt>
                <c:pt idx="25">
                  <c:v>379.60586421332147</c:v>
                </c:pt>
                <c:pt idx="26">
                  <c:v>399.23536745744184</c:v>
                </c:pt>
                <c:pt idx="27">
                  <c:v>418.4481844974713</c:v>
                </c:pt>
                <c:pt idx="28">
                  <c:v>437.3125841116568</c:v>
                </c:pt>
                <c:pt idx="29">
                  <c:v>455.24978036558076</c:v>
                </c:pt>
                <c:pt idx="30">
                  <c:v>474.7825110259818</c:v>
                </c:pt>
                <c:pt idx="31">
                  <c:v>500.8041577056122</c:v>
                </c:pt>
                <c:pt idx="32">
                  <c:v>523.4996151523692</c:v>
                </c:pt>
                <c:pt idx="33">
                  <c:v>545.0774593497991</c:v>
                </c:pt>
                <c:pt idx="34">
                  <c:v>572.4440119238477</c:v>
                </c:pt>
                <c:pt idx="35">
                  <c:v>597.8604098064493</c:v>
                </c:pt>
                <c:pt idx="36">
                  <c:v>618.5645419746537</c:v>
                </c:pt>
                <c:pt idx="37">
                  <c:v>644.7702789792324</c:v>
                </c:pt>
                <c:pt idx="38">
                  <c:v>665.7775761033745</c:v>
                </c:pt>
                <c:pt idx="39">
                  <c:v>690.2346795697841</c:v>
                </c:pt>
                <c:pt idx="40">
                  <c:v>713.0114132513576</c:v>
                </c:pt>
                <c:pt idx="41">
                  <c:v>740.8251088319448</c:v>
                </c:pt>
                <c:pt idx="42">
                  <c:v>764.6926271119113</c:v>
                </c:pt>
                <c:pt idx="43">
                  <c:v>800.2622900163228</c:v>
                </c:pt>
                <c:pt idx="44">
                  <c:v>827.2114010443067</c:v>
                </c:pt>
                <c:pt idx="45">
                  <c:v>849.6210497055188</c:v>
                </c:pt>
                <c:pt idx="46">
                  <c:v>888.8789794511961</c:v>
                </c:pt>
                <c:pt idx="47">
                  <c:v>920.0525693669501</c:v>
                </c:pt>
                <c:pt idx="48">
                  <c:v>954.157816360423</c:v>
                </c:pt>
                <c:pt idx="49">
                  <c:v>973.8930776140112</c:v>
                </c:pt>
                <c:pt idx="50">
                  <c:v>1007.252214968239</c:v>
                </c:pt>
                <c:pt idx="51">
                  <c:v>1032.932676926681</c:v>
                </c:pt>
                <c:pt idx="52">
                  <c:v>1063.085167117825</c:v>
                </c:pt>
                <c:pt idx="53">
                  <c:v>1108.0865176876334</c:v>
                </c:pt>
                <c:pt idx="54">
                  <c:v>1137.9401072208514</c:v>
                </c:pt>
                <c:pt idx="55">
                  <c:v>1172.7471124494946</c:v>
                </c:pt>
                <c:pt idx="56">
                  <c:v>1206.76773891103</c:v>
                </c:pt>
                <c:pt idx="57">
                  <c:v>1257.3234448117257</c:v>
                </c:pt>
                <c:pt idx="58">
                  <c:v>1302.6717683624074</c:v>
                </c:pt>
                <c:pt idx="59">
                  <c:v>1335.3062345603466</c:v>
                </c:pt>
                <c:pt idx="60">
                  <c:v>1379.0996911255966</c:v>
                </c:pt>
                <c:pt idx="61">
                  <c:v>1409.9493625671712</c:v>
                </c:pt>
                <c:pt idx="62">
                  <c:v>1443.571363629678</c:v>
                </c:pt>
                <c:pt idx="63">
                  <c:v>1478.645020913581</c:v>
                </c:pt>
                <c:pt idx="64">
                  <c:v>1527.4278646946614</c:v>
                </c:pt>
                <c:pt idx="65">
                  <c:v>1574.7886411481957</c:v>
                </c:pt>
                <c:pt idx="66">
                  <c:v>1601.4888620442698</c:v>
                </c:pt>
                <c:pt idx="67">
                  <c:v>1636.2333761682733</c:v>
                </c:pt>
                <c:pt idx="68">
                  <c:v>1692.9556121969022</c:v>
                </c:pt>
                <c:pt idx="69">
                  <c:v>1740.050133198852</c:v>
                </c:pt>
                <c:pt idx="70">
                  <c:v>1794.4360808756337</c:v>
                </c:pt>
                <c:pt idx="71">
                  <c:v>1853.903820548888</c:v>
                </c:pt>
                <c:pt idx="72">
                  <c:v>1884.3514508343183</c:v>
                </c:pt>
                <c:pt idx="73">
                  <c:v>1922.718476862163</c:v>
                </c:pt>
                <c:pt idx="74">
                  <c:v>1967.5348966236677</c:v>
                </c:pt>
                <c:pt idx="75">
                  <c:v>2022.4007756269436</c:v>
                </c:pt>
                <c:pt idx="76">
                  <c:v>2070.688110113091</c:v>
                </c:pt>
                <c:pt idx="77">
                  <c:v>2123.4132070429387</c:v>
                </c:pt>
                <c:pt idx="78">
                  <c:v>2176.372441619732</c:v>
                </c:pt>
                <c:pt idx="79">
                  <c:v>2235.2180842877133</c:v>
                </c:pt>
                <c:pt idx="80">
                  <c:v>2284.7352548889794</c:v>
                </c:pt>
                <c:pt idx="81">
                  <c:v>2381.7445685988837</c:v>
                </c:pt>
                <c:pt idx="82">
                  <c:v>2429.7969020746236</c:v>
                </c:pt>
                <c:pt idx="83">
                  <c:v>2468.8377875895535</c:v>
                </c:pt>
                <c:pt idx="84">
                  <c:v>2532.5163243221054</c:v>
                </c:pt>
                <c:pt idx="85">
                  <c:v>2603.2364766421397</c:v>
                </c:pt>
                <c:pt idx="86">
                  <c:v>2669.6593106792266</c:v>
                </c:pt>
                <c:pt idx="87">
                  <c:v>2731.7584920508602</c:v>
                </c:pt>
                <c:pt idx="88">
                  <c:v>2804.576125232295</c:v>
                </c:pt>
                <c:pt idx="89">
                  <c:v>2877.672691364337</c:v>
                </c:pt>
                <c:pt idx="90">
                  <c:v>2932.986931941508</c:v>
                </c:pt>
                <c:pt idx="91">
                  <c:v>2990.2515660752097</c:v>
                </c:pt>
                <c:pt idx="92">
                  <c:v>3052.4180248155253</c:v>
                </c:pt>
                <c:pt idx="93">
                  <c:v>3141.5367879469436</c:v>
                </c:pt>
                <c:pt idx="94">
                  <c:v>3215.3380149623804</c:v>
                </c:pt>
                <c:pt idx="95">
                  <c:v>3302.747633916834</c:v>
                </c:pt>
                <c:pt idx="96">
                  <c:v>3332.2127184718406</c:v>
                </c:pt>
                <c:pt idx="97">
                  <c:v>3395.877973642236</c:v>
                </c:pt>
                <c:pt idx="98">
                  <c:v>3499.021936517506</c:v>
                </c:pt>
                <c:pt idx="99">
                  <c:v>3579.2211988989534</c:v>
                </c:pt>
                <c:pt idx="100">
                  <c:v>3636.0722941441245</c:v>
                </c:pt>
                <c:pt idx="101">
                  <c:v>3707.0670146469006</c:v>
                </c:pt>
                <c:pt idx="102">
                  <c:v>3811.141846987539</c:v>
                </c:pt>
                <c:pt idx="103">
                  <c:v>3877.5671432977647</c:v>
                </c:pt>
                <c:pt idx="104">
                  <c:v>4003.649132212771</c:v>
                </c:pt>
                <c:pt idx="105">
                  <c:v>4061.822903014102</c:v>
                </c:pt>
                <c:pt idx="106">
                  <c:v>4202.192184186684</c:v>
                </c:pt>
                <c:pt idx="107">
                  <c:v>4279.155250789812</c:v>
                </c:pt>
                <c:pt idx="108">
                  <c:v>4378.737614642428</c:v>
                </c:pt>
                <c:pt idx="109">
                  <c:v>4491.126277971666</c:v>
                </c:pt>
                <c:pt idx="110">
                  <c:v>4561.8070124615515</c:v>
                </c:pt>
                <c:pt idx="111">
                  <c:v>4654.224267710255</c:v>
                </c:pt>
                <c:pt idx="112">
                  <c:v>4762.1658190555445</c:v>
                </c:pt>
                <c:pt idx="113">
                  <c:v>4810.338265333879</c:v>
                </c:pt>
                <c:pt idx="114">
                  <c:v>4916.417790302284</c:v>
                </c:pt>
                <c:pt idx="115">
                  <c:v>5031.768816212602</c:v>
                </c:pt>
                <c:pt idx="116">
                  <c:v>5176.207982678362</c:v>
                </c:pt>
                <c:pt idx="117">
                  <c:v>5248.221296385816</c:v>
                </c:pt>
                <c:pt idx="118">
                  <c:v>5352.420531297394</c:v>
                </c:pt>
                <c:pt idx="119">
                  <c:v>5501.373613062264</c:v>
                </c:pt>
                <c:pt idx="120">
                  <c:v>5533.147763961249</c:v>
                </c:pt>
                <c:pt idx="121">
                  <c:v>5670.8689347236395</c:v>
                </c:pt>
                <c:pt idx="122">
                  <c:v>5797.69100173237</c:v>
                </c:pt>
                <c:pt idx="123">
                  <c:v>5918.483907821791</c:v>
                </c:pt>
                <c:pt idx="124">
                  <c:v>6049.580168822767</c:v>
                </c:pt>
                <c:pt idx="125">
                  <c:v>6222.024323198477</c:v>
                </c:pt>
                <c:pt idx="126">
                  <c:v>6321.47596120228</c:v>
                </c:pt>
                <c:pt idx="127">
                  <c:v>6432.785654861531</c:v>
                </c:pt>
                <c:pt idx="128">
                  <c:v>6622.46788419813</c:v>
                </c:pt>
                <c:pt idx="129">
                  <c:v>6674.467754439998</c:v>
                </c:pt>
                <c:pt idx="130">
                  <c:v>6763.804224796708</c:v>
                </c:pt>
                <c:pt idx="131">
                  <c:v>6981.137416023392</c:v>
                </c:pt>
                <c:pt idx="132">
                  <c:v>7086.134716592774</c:v>
                </c:pt>
                <c:pt idx="133">
                  <c:v>7253.798943004125</c:v>
                </c:pt>
                <c:pt idx="134">
                  <c:v>7429.798256975262</c:v>
                </c:pt>
                <c:pt idx="135">
                  <c:v>7496.109572063279</c:v>
                </c:pt>
                <c:pt idx="136">
                  <c:v>7700.6363746304605</c:v>
                </c:pt>
                <c:pt idx="137">
                  <c:v>7798.872006614615</c:v>
                </c:pt>
                <c:pt idx="138">
                  <c:v>8161.884921999201</c:v>
                </c:pt>
                <c:pt idx="139">
                  <c:v>8345.743619906005</c:v>
                </c:pt>
                <c:pt idx="140">
                  <c:v>8393.923417327318</c:v>
                </c:pt>
                <c:pt idx="141">
                  <c:v>8603.541426388107</c:v>
                </c:pt>
                <c:pt idx="142">
                  <c:v>8838.89843121436</c:v>
                </c:pt>
                <c:pt idx="143">
                  <c:v>9042.27174253574</c:v>
                </c:pt>
                <c:pt idx="144">
                  <c:v>9083.393208994168</c:v>
                </c:pt>
                <c:pt idx="145">
                  <c:v>9304.13053320576</c:v>
                </c:pt>
                <c:pt idx="146">
                  <c:v>9584.055421305522</c:v>
                </c:pt>
                <c:pt idx="147">
                  <c:v>9693.123442785338</c:v>
                </c:pt>
                <c:pt idx="148">
                  <c:v>9820.604766754006</c:v>
                </c:pt>
                <c:pt idx="149">
                  <c:v>9919.673849795925</c:v>
                </c:pt>
                <c:pt idx="150">
                  <c:v>10079.38440968001</c:v>
                </c:pt>
                <c:pt idx="151">
                  <c:v>10406.946053119209</c:v>
                </c:pt>
                <c:pt idx="152">
                  <c:v>10576.972569575524</c:v>
                </c:pt>
                <c:pt idx="153">
                  <c:v>10738.047389405765</c:v>
                </c:pt>
                <c:pt idx="154">
                  <c:v>11000.228272675124</c:v>
                </c:pt>
                <c:pt idx="155">
                  <c:v>11167.372361606192</c:v>
                </c:pt>
                <c:pt idx="156">
                  <c:v>11451.578075093114</c:v>
                </c:pt>
                <c:pt idx="157">
                  <c:v>11620.520659374053</c:v>
                </c:pt>
                <c:pt idx="158">
                  <c:v>11890.271119996227</c:v>
                </c:pt>
                <c:pt idx="159">
                  <c:v>12168.743402283108</c:v>
                </c:pt>
                <c:pt idx="160">
                  <c:v>12505.191424075067</c:v>
                </c:pt>
                <c:pt idx="161">
                  <c:v>12723.157182655379</c:v>
                </c:pt>
                <c:pt idx="162">
                  <c:v>12996.603837187533</c:v>
                </c:pt>
                <c:pt idx="163">
                  <c:v>13230.920455796959</c:v>
                </c:pt>
                <c:pt idx="164">
                  <c:v>13444.013991464122</c:v>
                </c:pt>
                <c:pt idx="165">
                  <c:v>13783.993827411765</c:v>
                </c:pt>
                <c:pt idx="166">
                  <c:v>13908.428846541885</c:v>
                </c:pt>
                <c:pt idx="167">
                  <c:v>14358.404714866578</c:v>
                </c:pt>
                <c:pt idx="168">
                  <c:v>14676.801078333185</c:v>
                </c:pt>
                <c:pt idx="169">
                  <c:v>14827.208170477832</c:v>
                </c:pt>
                <c:pt idx="170">
                  <c:v>15333.608033628949</c:v>
                </c:pt>
                <c:pt idx="171">
                  <c:v>15430.817590863844</c:v>
                </c:pt>
                <c:pt idx="172">
                  <c:v>15876.975389076131</c:v>
                </c:pt>
                <c:pt idx="173">
                  <c:v>16230.168031624886</c:v>
                </c:pt>
                <c:pt idx="174">
                  <c:v>16508.780277796148</c:v>
                </c:pt>
                <c:pt idx="175">
                  <c:v>16884.366955570596</c:v>
                </c:pt>
                <c:pt idx="176">
                  <c:v>17330.33321885591</c:v>
                </c:pt>
                <c:pt idx="177">
                  <c:v>17380.739088877515</c:v>
                </c:pt>
                <c:pt idx="178">
                  <c:v>17737.122965082464</c:v>
                </c:pt>
                <c:pt idx="179">
                  <c:v>18035.630117447887</c:v>
                </c:pt>
                <c:pt idx="180">
                  <c:v>18413.28597455146</c:v>
                </c:pt>
                <c:pt idx="181">
                  <c:v>18798.293163482325</c:v>
                </c:pt>
                <c:pt idx="182">
                  <c:v>18783.31072423135</c:v>
                </c:pt>
                <c:pt idx="183">
                  <c:v>19297.066867563746</c:v>
                </c:pt>
                <c:pt idx="184">
                  <c:v>19852.103748909652</c:v>
                </c:pt>
                <c:pt idx="185">
                  <c:v>20138.324073148666</c:v>
                </c:pt>
                <c:pt idx="186">
                  <c:v>20748.02874285689</c:v>
                </c:pt>
                <c:pt idx="187">
                  <c:v>21006.76913568268</c:v>
                </c:pt>
                <c:pt idx="188">
                  <c:v>21334.633358088526</c:v>
                </c:pt>
                <c:pt idx="189">
                  <c:v>21733.747358062075</c:v>
                </c:pt>
                <c:pt idx="190">
                  <c:v>22244.685559904192</c:v>
                </c:pt>
                <c:pt idx="191">
                  <c:v>22615.003569766344</c:v>
                </c:pt>
                <c:pt idx="192">
                  <c:v>22895.25429446906</c:v>
                </c:pt>
                <c:pt idx="193">
                  <c:v>23412.029940246513</c:v>
                </c:pt>
                <c:pt idx="194">
                  <c:v>23862.195265117825</c:v>
                </c:pt>
                <c:pt idx="195">
                  <c:v>24732.297787203395</c:v>
                </c:pt>
                <c:pt idx="196">
                  <c:v>24989.349364454632</c:v>
                </c:pt>
                <c:pt idx="197">
                  <c:v>25486.558137642238</c:v>
                </c:pt>
                <c:pt idx="198">
                  <c:v>25924.4496032427</c:v>
                </c:pt>
                <c:pt idx="199">
                  <c:v>26560.877586520623</c:v>
                </c:pt>
                <c:pt idx="200">
                  <c:v>26914.544026971078</c:v>
                </c:pt>
                <c:pt idx="201">
                  <c:v>27769.605050240385</c:v>
                </c:pt>
                <c:pt idx="202">
                  <c:v>28197.871500204463</c:v>
                </c:pt>
                <c:pt idx="203">
                  <c:v>28356.620755500888</c:v>
                </c:pt>
                <c:pt idx="204">
                  <c:v>29442.89356589982</c:v>
                </c:pt>
                <c:pt idx="205">
                  <c:v>30145.169797518618</c:v>
                </c:pt>
                <c:pt idx="206">
                  <c:v>31036.867893470037</c:v>
                </c:pt>
                <c:pt idx="207">
                  <c:v>31480.38303114869</c:v>
                </c:pt>
                <c:pt idx="208">
                  <c:v>32077.909720159365</c:v>
                </c:pt>
                <c:pt idx="209">
                  <c:v>32195.659294724763</c:v>
                </c:pt>
                <c:pt idx="210">
                  <c:v>32623.78444468693</c:v>
                </c:pt>
                <c:pt idx="211">
                  <c:v>33110.637660980734</c:v>
                </c:pt>
                <c:pt idx="212">
                  <c:v>33852.18990285955</c:v>
                </c:pt>
                <c:pt idx="213">
                  <c:v>34312.2955637184</c:v>
                </c:pt>
                <c:pt idx="214">
                  <c:v>35252.08148701403</c:v>
                </c:pt>
                <c:pt idx="215">
                  <c:v>35801.40716857177</c:v>
                </c:pt>
                <c:pt idx="216">
                  <c:v>36358.0233714371</c:v>
                </c:pt>
                <c:pt idx="217">
                  <c:v>37376.05741304591</c:v>
                </c:pt>
                <c:pt idx="218">
                  <c:v>37811.06670542933</c:v>
                </c:pt>
                <c:pt idx="219">
                  <c:v>38338.36194370688</c:v>
                </c:pt>
                <c:pt idx="220">
                  <c:v>38668.98188592663</c:v>
                </c:pt>
                <c:pt idx="221">
                  <c:v>39166.8379194016</c:v>
                </c:pt>
                <c:pt idx="222">
                  <c:v>40066.986484445384</c:v>
                </c:pt>
                <c:pt idx="223">
                  <c:v>40965.386322856</c:v>
                </c:pt>
                <c:pt idx="224">
                  <c:v>41761.44141276531</c:v>
                </c:pt>
                <c:pt idx="225">
                  <c:v>42429.08936903657</c:v>
                </c:pt>
                <c:pt idx="226">
                  <c:v>43001.486940435294</c:v>
                </c:pt>
                <c:pt idx="227">
                  <c:v>44133.74091909605</c:v>
                </c:pt>
                <c:pt idx="228">
                  <c:v>44646.90208391854</c:v>
                </c:pt>
                <c:pt idx="229">
                  <c:v>45523.490492315264</c:v>
                </c:pt>
                <c:pt idx="230">
                  <c:v>46337.41422958476</c:v>
                </c:pt>
                <c:pt idx="231">
                  <c:v>46729.32856950278</c:v>
                </c:pt>
                <c:pt idx="232">
                  <c:v>47028.64215976464</c:v>
                </c:pt>
                <c:pt idx="233">
                  <c:v>48808.08614220264</c:v>
                </c:pt>
                <c:pt idx="234">
                  <c:v>49645.320457708105</c:v>
                </c:pt>
                <c:pt idx="235">
                  <c:v>49706.18884781951</c:v>
                </c:pt>
                <c:pt idx="236">
                  <c:v>51935.08691605399</c:v>
                </c:pt>
                <c:pt idx="237">
                  <c:v>52312.50083666721</c:v>
                </c:pt>
                <c:pt idx="238">
                  <c:v>52983.38654596416</c:v>
                </c:pt>
                <c:pt idx="239">
                  <c:v>53865.70146903775</c:v>
                </c:pt>
              </c:numCache>
            </c:numRef>
          </c:val>
          <c:smooth val="0"/>
        </c:ser>
        <c:ser>
          <c:idx val="1"/>
          <c:order val="1"/>
          <c:tx>
            <c:strRef>
              <c:f>Sheet1!$C$1</c:f>
              <c:strCache>
                <c:ptCount val="1"/>
                <c:pt idx="0">
                  <c:v>중간</c:v>
                </c:pt>
              </c:strCache>
            </c:strRef>
          </c:tx>
          <c:spPr>
            <a:ln w="28575">
              <a:solidFill>
                <a:srgbClr val="E07A1F"/>
              </a:solidFill>
            </a:ln>
          </c:spPr>
          <c:marker>
            <c:symbol val="none"/>
          </c:marker>
          <c:cat>
            <c:strRef>
              <c:f>Sheet1!$A$2:$A$241</c:f>
              <c:strCache>
                <c:ptCount val="240"/>
                <c:pt idx="0">
                  <c:v>1년</c:v>
                </c:pt>
                <c:pt idx="1">
                  <c:v>1년</c:v>
                </c:pt>
                <c:pt idx="2">
                  <c:v>1년</c:v>
                </c:pt>
                <c:pt idx="3">
                  <c:v>1년</c:v>
                </c:pt>
                <c:pt idx="4">
                  <c:v>1년</c:v>
                </c:pt>
                <c:pt idx="5">
                  <c:v>1년</c:v>
                </c:pt>
                <c:pt idx="6">
                  <c:v>1년</c:v>
                </c:pt>
                <c:pt idx="7">
                  <c:v>1년</c:v>
                </c:pt>
                <c:pt idx="8">
                  <c:v>1년</c:v>
                </c:pt>
                <c:pt idx="9">
                  <c:v>1년</c:v>
                </c:pt>
                <c:pt idx="10">
                  <c:v>1년</c:v>
                </c:pt>
                <c:pt idx="11">
                  <c:v>1년</c:v>
                </c:pt>
                <c:pt idx="12">
                  <c:v>2년</c:v>
                </c:pt>
                <c:pt idx="13">
                  <c:v>2년</c:v>
                </c:pt>
                <c:pt idx="14">
                  <c:v>2년</c:v>
                </c:pt>
                <c:pt idx="15">
                  <c:v>2년</c:v>
                </c:pt>
                <c:pt idx="16">
                  <c:v>2년</c:v>
                </c:pt>
                <c:pt idx="17">
                  <c:v>2년</c:v>
                </c:pt>
                <c:pt idx="18">
                  <c:v>2년</c:v>
                </c:pt>
                <c:pt idx="19">
                  <c:v>2년</c:v>
                </c:pt>
                <c:pt idx="20">
                  <c:v>2년</c:v>
                </c:pt>
                <c:pt idx="21">
                  <c:v>2년</c:v>
                </c:pt>
                <c:pt idx="22">
                  <c:v>2년</c:v>
                </c:pt>
                <c:pt idx="23">
                  <c:v>2년</c:v>
                </c:pt>
                <c:pt idx="24">
                  <c:v>3년</c:v>
                </c:pt>
                <c:pt idx="25">
                  <c:v>3년</c:v>
                </c:pt>
                <c:pt idx="26">
                  <c:v>3년</c:v>
                </c:pt>
                <c:pt idx="27">
                  <c:v>3년</c:v>
                </c:pt>
                <c:pt idx="28">
                  <c:v>3년</c:v>
                </c:pt>
                <c:pt idx="29">
                  <c:v>3년</c:v>
                </c:pt>
                <c:pt idx="30">
                  <c:v>3년</c:v>
                </c:pt>
                <c:pt idx="31">
                  <c:v>3년</c:v>
                </c:pt>
                <c:pt idx="32">
                  <c:v>3년</c:v>
                </c:pt>
                <c:pt idx="33">
                  <c:v>3년</c:v>
                </c:pt>
                <c:pt idx="34">
                  <c:v>3년</c:v>
                </c:pt>
                <c:pt idx="35">
                  <c:v>3년</c:v>
                </c:pt>
                <c:pt idx="36">
                  <c:v>4년</c:v>
                </c:pt>
                <c:pt idx="37">
                  <c:v>4년</c:v>
                </c:pt>
                <c:pt idx="38">
                  <c:v>4년</c:v>
                </c:pt>
                <c:pt idx="39">
                  <c:v>4년</c:v>
                </c:pt>
                <c:pt idx="40">
                  <c:v>4년</c:v>
                </c:pt>
                <c:pt idx="41">
                  <c:v>4년</c:v>
                </c:pt>
                <c:pt idx="42">
                  <c:v>4년</c:v>
                </c:pt>
                <c:pt idx="43">
                  <c:v>4년</c:v>
                </c:pt>
                <c:pt idx="44">
                  <c:v>4년</c:v>
                </c:pt>
                <c:pt idx="45">
                  <c:v>4년</c:v>
                </c:pt>
                <c:pt idx="46">
                  <c:v>4년</c:v>
                </c:pt>
                <c:pt idx="47">
                  <c:v>4년</c:v>
                </c:pt>
                <c:pt idx="48">
                  <c:v>5년</c:v>
                </c:pt>
                <c:pt idx="49">
                  <c:v>5년</c:v>
                </c:pt>
                <c:pt idx="50">
                  <c:v>5년</c:v>
                </c:pt>
                <c:pt idx="51">
                  <c:v>5년</c:v>
                </c:pt>
                <c:pt idx="52">
                  <c:v>5년</c:v>
                </c:pt>
                <c:pt idx="53">
                  <c:v>5년</c:v>
                </c:pt>
                <c:pt idx="54">
                  <c:v>5년</c:v>
                </c:pt>
                <c:pt idx="55">
                  <c:v>5년</c:v>
                </c:pt>
                <c:pt idx="56">
                  <c:v>5년</c:v>
                </c:pt>
                <c:pt idx="57">
                  <c:v>5년</c:v>
                </c:pt>
                <c:pt idx="58">
                  <c:v>5년</c:v>
                </c:pt>
                <c:pt idx="59">
                  <c:v>5년</c:v>
                </c:pt>
                <c:pt idx="60">
                  <c:v>6년</c:v>
                </c:pt>
                <c:pt idx="61">
                  <c:v>6년</c:v>
                </c:pt>
                <c:pt idx="62">
                  <c:v>6년</c:v>
                </c:pt>
                <c:pt idx="63">
                  <c:v>6년</c:v>
                </c:pt>
                <c:pt idx="64">
                  <c:v>6년</c:v>
                </c:pt>
                <c:pt idx="65">
                  <c:v>6년</c:v>
                </c:pt>
                <c:pt idx="66">
                  <c:v>6년</c:v>
                </c:pt>
                <c:pt idx="67">
                  <c:v>6년</c:v>
                </c:pt>
                <c:pt idx="68">
                  <c:v>6년</c:v>
                </c:pt>
                <c:pt idx="69">
                  <c:v>6년</c:v>
                </c:pt>
                <c:pt idx="70">
                  <c:v>6년</c:v>
                </c:pt>
                <c:pt idx="71">
                  <c:v>6년</c:v>
                </c:pt>
                <c:pt idx="72">
                  <c:v>7년</c:v>
                </c:pt>
                <c:pt idx="73">
                  <c:v>7년</c:v>
                </c:pt>
                <c:pt idx="74">
                  <c:v>7년</c:v>
                </c:pt>
                <c:pt idx="75">
                  <c:v>7년</c:v>
                </c:pt>
                <c:pt idx="76">
                  <c:v>7년</c:v>
                </c:pt>
                <c:pt idx="77">
                  <c:v>7년</c:v>
                </c:pt>
                <c:pt idx="78">
                  <c:v>7년</c:v>
                </c:pt>
                <c:pt idx="79">
                  <c:v>7년</c:v>
                </c:pt>
                <c:pt idx="80">
                  <c:v>7년</c:v>
                </c:pt>
                <c:pt idx="81">
                  <c:v>7년</c:v>
                </c:pt>
                <c:pt idx="82">
                  <c:v>7년</c:v>
                </c:pt>
                <c:pt idx="83">
                  <c:v>7년</c:v>
                </c:pt>
                <c:pt idx="84">
                  <c:v>8년</c:v>
                </c:pt>
                <c:pt idx="85">
                  <c:v>8년</c:v>
                </c:pt>
                <c:pt idx="86">
                  <c:v>8년</c:v>
                </c:pt>
                <c:pt idx="87">
                  <c:v>8년</c:v>
                </c:pt>
                <c:pt idx="88">
                  <c:v>8년</c:v>
                </c:pt>
                <c:pt idx="89">
                  <c:v>8년</c:v>
                </c:pt>
                <c:pt idx="90">
                  <c:v>8년</c:v>
                </c:pt>
                <c:pt idx="91">
                  <c:v>8년</c:v>
                </c:pt>
                <c:pt idx="92">
                  <c:v>8년</c:v>
                </c:pt>
                <c:pt idx="93">
                  <c:v>8년</c:v>
                </c:pt>
                <c:pt idx="94">
                  <c:v>8년</c:v>
                </c:pt>
                <c:pt idx="95">
                  <c:v>8년</c:v>
                </c:pt>
                <c:pt idx="96">
                  <c:v>9년</c:v>
                </c:pt>
                <c:pt idx="97">
                  <c:v>9년</c:v>
                </c:pt>
                <c:pt idx="98">
                  <c:v>9년</c:v>
                </c:pt>
                <c:pt idx="99">
                  <c:v>9년</c:v>
                </c:pt>
                <c:pt idx="100">
                  <c:v>9년</c:v>
                </c:pt>
                <c:pt idx="101">
                  <c:v>9년</c:v>
                </c:pt>
                <c:pt idx="102">
                  <c:v>9년</c:v>
                </c:pt>
                <c:pt idx="103">
                  <c:v>9년</c:v>
                </c:pt>
                <c:pt idx="104">
                  <c:v>9년</c:v>
                </c:pt>
                <c:pt idx="105">
                  <c:v>9년</c:v>
                </c:pt>
                <c:pt idx="106">
                  <c:v>9년</c:v>
                </c:pt>
                <c:pt idx="107">
                  <c:v>9년</c:v>
                </c:pt>
                <c:pt idx="108">
                  <c:v>10년</c:v>
                </c:pt>
                <c:pt idx="109">
                  <c:v>10년</c:v>
                </c:pt>
                <c:pt idx="110">
                  <c:v>10년</c:v>
                </c:pt>
                <c:pt idx="111">
                  <c:v>10년</c:v>
                </c:pt>
                <c:pt idx="112">
                  <c:v>10년</c:v>
                </c:pt>
                <c:pt idx="113">
                  <c:v>10년</c:v>
                </c:pt>
                <c:pt idx="114">
                  <c:v>10년</c:v>
                </c:pt>
                <c:pt idx="115">
                  <c:v>10년</c:v>
                </c:pt>
                <c:pt idx="116">
                  <c:v>10년</c:v>
                </c:pt>
                <c:pt idx="117">
                  <c:v>10년</c:v>
                </c:pt>
                <c:pt idx="118">
                  <c:v>10년</c:v>
                </c:pt>
                <c:pt idx="119">
                  <c:v>10년</c:v>
                </c:pt>
                <c:pt idx="120">
                  <c:v>11년</c:v>
                </c:pt>
                <c:pt idx="121">
                  <c:v>11년</c:v>
                </c:pt>
                <c:pt idx="122">
                  <c:v>11년</c:v>
                </c:pt>
                <c:pt idx="123">
                  <c:v>11년</c:v>
                </c:pt>
                <c:pt idx="124">
                  <c:v>11년</c:v>
                </c:pt>
                <c:pt idx="125">
                  <c:v>11년</c:v>
                </c:pt>
                <c:pt idx="126">
                  <c:v>11년</c:v>
                </c:pt>
                <c:pt idx="127">
                  <c:v>11년</c:v>
                </c:pt>
                <c:pt idx="128">
                  <c:v>11년</c:v>
                </c:pt>
                <c:pt idx="129">
                  <c:v>11년</c:v>
                </c:pt>
                <c:pt idx="130">
                  <c:v>11년</c:v>
                </c:pt>
                <c:pt idx="131">
                  <c:v>11년</c:v>
                </c:pt>
                <c:pt idx="132">
                  <c:v>12년</c:v>
                </c:pt>
                <c:pt idx="133">
                  <c:v>12년</c:v>
                </c:pt>
                <c:pt idx="134">
                  <c:v>12년</c:v>
                </c:pt>
                <c:pt idx="135">
                  <c:v>12년</c:v>
                </c:pt>
                <c:pt idx="136">
                  <c:v>12년</c:v>
                </c:pt>
                <c:pt idx="137">
                  <c:v>12년</c:v>
                </c:pt>
                <c:pt idx="138">
                  <c:v>12년</c:v>
                </c:pt>
                <c:pt idx="139">
                  <c:v>12년</c:v>
                </c:pt>
                <c:pt idx="140">
                  <c:v>12년</c:v>
                </c:pt>
                <c:pt idx="141">
                  <c:v>12년</c:v>
                </c:pt>
                <c:pt idx="142">
                  <c:v>12년</c:v>
                </c:pt>
                <c:pt idx="143">
                  <c:v>12년</c:v>
                </c:pt>
                <c:pt idx="144">
                  <c:v>13년</c:v>
                </c:pt>
                <c:pt idx="145">
                  <c:v>13년</c:v>
                </c:pt>
                <c:pt idx="146">
                  <c:v>13년</c:v>
                </c:pt>
                <c:pt idx="147">
                  <c:v>13년</c:v>
                </c:pt>
                <c:pt idx="148">
                  <c:v>13년</c:v>
                </c:pt>
                <c:pt idx="149">
                  <c:v>13년</c:v>
                </c:pt>
                <c:pt idx="150">
                  <c:v>13년</c:v>
                </c:pt>
                <c:pt idx="151">
                  <c:v>13년</c:v>
                </c:pt>
                <c:pt idx="152">
                  <c:v>13년</c:v>
                </c:pt>
                <c:pt idx="153">
                  <c:v>13년</c:v>
                </c:pt>
                <c:pt idx="154">
                  <c:v>13년</c:v>
                </c:pt>
                <c:pt idx="155">
                  <c:v>13년</c:v>
                </c:pt>
                <c:pt idx="156">
                  <c:v>14년</c:v>
                </c:pt>
                <c:pt idx="157">
                  <c:v>14년</c:v>
                </c:pt>
                <c:pt idx="158">
                  <c:v>14년</c:v>
                </c:pt>
                <c:pt idx="159">
                  <c:v>14년</c:v>
                </c:pt>
                <c:pt idx="160">
                  <c:v>14년</c:v>
                </c:pt>
                <c:pt idx="161">
                  <c:v>14년</c:v>
                </c:pt>
                <c:pt idx="162">
                  <c:v>14년</c:v>
                </c:pt>
                <c:pt idx="163">
                  <c:v>14년</c:v>
                </c:pt>
                <c:pt idx="164">
                  <c:v>14년</c:v>
                </c:pt>
                <c:pt idx="165">
                  <c:v>14년</c:v>
                </c:pt>
                <c:pt idx="166">
                  <c:v>14년</c:v>
                </c:pt>
                <c:pt idx="167">
                  <c:v>14년</c:v>
                </c:pt>
                <c:pt idx="168">
                  <c:v>15년</c:v>
                </c:pt>
                <c:pt idx="169">
                  <c:v>15년</c:v>
                </c:pt>
                <c:pt idx="170">
                  <c:v>15년</c:v>
                </c:pt>
                <c:pt idx="171">
                  <c:v>15년</c:v>
                </c:pt>
                <c:pt idx="172">
                  <c:v>15년</c:v>
                </c:pt>
                <c:pt idx="173">
                  <c:v>15년</c:v>
                </c:pt>
                <c:pt idx="174">
                  <c:v>15년</c:v>
                </c:pt>
                <c:pt idx="175">
                  <c:v>15년</c:v>
                </c:pt>
                <c:pt idx="176">
                  <c:v>15년</c:v>
                </c:pt>
                <c:pt idx="177">
                  <c:v>15년</c:v>
                </c:pt>
                <c:pt idx="178">
                  <c:v>15년</c:v>
                </c:pt>
                <c:pt idx="179">
                  <c:v>15년</c:v>
                </c:pt>
                <c:pt idx="180">
                  <c:v>16년</c:v>
                </c:pt>
                <c:pt idx="181">
                  <c:v>16년</c:v>
                </c:pt>
                <c:pt idx="182">
                  <c:v>16년</c:v>
                </c:pt>
                <c:pt idx="183">
                  <c:v>16년</c:v>
                </c:pt>
                <c:pt idx="184">
                  <c:v>16년</c:v>
                </c:pt>
                <c:pt idx="185">
                  <c:v>16년</c:v>
                </c:pt>
                <c:pt idx="186">
                  <c:v>16년</c:v>
                </c:pt>
                <c:pt idx="187">
                  <c:v>16년</c:v>
                </c:pt>
                <c:pt idx="188">
                  <c:v>16년</c:v>
                </c:pt>
                <c:pt idx="189">
                  <c:v>16년</c:v>
                </c:pt>
                <c:pt idx="190">
                  <c:v>16년</c:v>
                </c:pt>
                <c:pt idx="191">
                  <c:v>16년</c:v>
                </c:pt>
                <c:pt idx="192">
                  <c:v>17년</c:v>
                </c:pt>
                <c:pt idx="193">
                  <c:v>17년</c:v>
                </c:pt>
                <c:pt idx="194">
                  <c:v>17년</c:v>
                </c:pt>
                <c:pt idx="195">
                  <c:v>17년</c:v>
                </c:pt>
                <c:pt idx="196">
                  <c:v>17년</c:v>
                </c:pt>
                <c:pt idx="197">
                  <c:v>17년</c:v>
                </c:pt>
                <c:pt idx="198">
                  <c:v>17년</c:v>
                </c:pt>
                <c:pt idx="199">
                  <c:v>17년</c:v>
                </c:pt>
                <c:pt idx="200">
                  <c:v>17년</c:v>
                </c:pt>
                <c:pt idx="201">
                  <c:v>17년</c:v>
                </c:pt>
                <c:pt idx="202">
                  <c:v>17년</c:v>
                </c:pt>
                <c:pt idx="203">
                  <c:v>17년</c:v>
                </c:pt>
                <c:pt idx="204">
                  <c:v>18년</c:v>
                </c:pt>
                <c:pt idx="205">
                  <c:v>18년</c:v>
                </c:pt>
                <c:pt idx="206">
                  <c:v>18년</c:v>
                </c:pt>
                <c:pt idx="207">
                  <c:v>18년</c:v>
                </c:pt>
                <c:pt idx="208">
                  <c:v>18년</c:v>
                </c:pt>
                <c:pt idx="209">
                  <c:v>18년</c:v>
                </c:pt>
                <c:pt idx="210">
                  <c:v>18년</c:v>
                </c:pt>
                <c:pt idx="211">
                  <c:v>18년</c:v>
                </c:pt>
                <c:pt idx="212">
                  <c:v>18년</c:v>
                </c:pt>
                <c:pt idx="213">
                  <c:v>18년</c:v>
                </c:pt>
                <c:pt idx="214">
                  <c:v>18년</c:v>
                </c:pt>
                <c:pt idx="215">
                  <c:v>18년</c:v>
                </c:pt>
                <c:pt idx="216">
                  <c:v>19년</c:v>
                </c:pt>
                <c:pt idx="217">
                  <c:v>19년</c:v>
                </c:pt>
                <c:pt idx="218">
                  <c:v>19년</c:v>
                </c:pt>
                <c:pt idx="219">
                  <c:v>19년</c:v>
                </c:pt>
                <c:pt idx="220">
                  <c:v>19년</c:v>
                </c:pt>
                <c:pt idx="221">
                  <c:v>19년</c:v>
                </c:pt>
                <c:pt idx="222">
                  <c:v>19년</c:v>
                </c:pt>
                <c:pt idx="223">
                  <c:v>19년</c:v>
                </c:pt>
                <c:pt idx="224">
                  <c:v>19년</c:v>
                </c:pt>
                <c:pt idx="225">
                  <c:v>19년</c:v>
                </c:pt>
                <c:pt idx="226">
                  <c:v>19년</c:v>
                </c:pt>
                <c:pt idx="227">
                  <c:v>19년</c:v>
                </c:pt>
                <c:pt idx="228">
                  <c:v>20년</c:v>
                </c:pt>
                <c:pt idx="229">
                  <c:v>20년</c:v>
                </c:pt>
                <c:pt idx="230">
                  <c:v>20년</c:v>
                </c:pt>
                <c:pt idx="231">
                  <c:v>20년</c:v>
                </c:pt>
                <c:pt idx="232">
                  <c:v>20년</c:v>
                </c:pt>
                <c:pt idx="233">
                  <c:v>20년</c:v>
                </c:pt>
                <c:pt idx="234">
                  <c:v>20년</c:v>
                </c:pt>
                <c:pt idx="235">
                  <c:v>20년</c:v>
                </c:pt>
                <c:pt idx="236">
                  <c:v>20년</c:v>
                </c:pt>
                <c:pt idx="237">
                  <c:v>20년</c:v>
                </c:pt>
                <c:pt idx="238">
                  <c:v>20년</c:v>
                </c:pt>
                <c:pt idx="239">
                  <c:v>20년</c:v>
                </c:pt>
              </c:strCache>
            </c:strRef>
          </c:cat>
          <c:val>
            <c:numRef>
              <c:f>Sheet1!$C$2:$C$241</c:f>
              <c:numCache>
                <c:formatCode>General</c:formatCode>
                <c:ptCount val="240"/>
                <c:pt idx="0">
                  <c:v>10.194134331196071</c:v>
                </c:pt>
                <c:pt idx="1">
                  <c:v>20.58972312021391</c:v>
                </c:pt>
                <c:pt idx="2">
                  <c:v>31.18205303561117</c:v>
                </c:pt>
                <c:pt idx="3">
                  <c:v>41.98901128459231</c:v>
                </c:pt>
                <c:pt idx="4">
                  <c:v>52.87042830125841</c:v>
                </c:pt>
                <c:pt idx="5">
                  <c:v>63.87327332910474</c:v>
                </c:pt>
                <c:pt idx="6">
                  <c:v>75.37935946129151</c:v>
                </c:pt>
                <c:pt idx="7">
                  <c:v>87.07161124240324</c:v>
                </c:pt>
                <c:pt idx="8">
                  <c:v>98.90499098342643</c:v>
                </c:pt>
                <c:pt idx="9">
                  <c:v>111.2010523640669</c:v>
                </c:pt>
                <c:pt idx="10">
                  <c:v>123.27339516624217</c:v>
                </c:pt>
                <c:pt idx="11">
                  <c:v>135.8474480316494</c:v>
                </c:pt>
                <c:pt idx="12">
                  <c:v>148.07249818488742</c:v>
                </c:pt>
                <c:pt idx="13">
                  <c:v>160.65675657222593</c:v>
                </c:pt>
                <c:pt idx="14">
                  <c:v>173.22560481786667</c:v>
                </c:pt>
                <c:pt idx="15">
                  <c:v>186.83649886575822</c:v>
                </c:pt>
                <c:pt idx="16">
                  <c:v>200.7061754066833</c:v>
                </c:pt>
                <c:pt idx="17">
                  <c:v>213.61904156666407</c:v>
                </c:pt>
                <c:pt idx="18">
                  <c:v>226.9034849853061</c:v>
                </c:pt>
                <c:pt idx="19">
                  <c:v>242.23288570383167</c:v>
                </c:pt>
                <c:pt idx="20">
                  <c:v>257.56546057481677</c:v>
                </c:pt>
                <c:pt idx="21">
                  <c:v>272.01595148232684</c:v>
                </c:pt>
                <c:pt idx="22">
                  <c:v>286.54372983646556</c:v>
                </c:pt>
                <c:pt idx="23">
                  <c:v>301.26354213013883</c:v>
                </c:pt>
                <c:pt idx="24">
                  <c:v>315.21516230697904</c:v>
                </c:pt>
                <c:pt idx="25">
                  <c:v>329.0859188842522</c:v>
                </c:pt>
                <c:pt idx="26">
                  <c:v>345.4211334036067</c:v>
                </c:pt>
                <c:pt idx="27">
                  <c:v>360.32167228263563</c:v>
                </c:pt>
                <c:pt idx="28">
                  <c:v>375.6037007808399</c:v>
                </c:pt>
                <c:pt idx="29">
                  <c:v>389.81313126788314</c:v>
                </c:pt>
                <c:pt idx="30">
                  <c:v>407.6429792279675</c:v>
                </c:pt>
                <c:pt idx="31">
                  <c:v>426.5692131732559</c:v>
                </c:pt>
                <c:pt idx="32">
                  <c:v>444.0596986646903</c:v>
                </c:pt>
                <c:pt idx="33">
                  <c:v>459.78645168822754</c:v>
                </c:pt>
                <c:pt idx="34">
                  <c:v>476.39238352641945</c:v>
                </c:pt>
                <c:pt idx="35">
                  <c:v>493.85673141387014</c:v>
                </c:pt>
                <c:pt idx="36">
                  <c:v>512.0184004218517</c:v>
                </c:pt>
                <c:pt idx="37">
                  <c:v>529.9324708998863</c:v>
                </c:pt>
                <c:pt idx="38">
                  <c:v>549.9306010038562</c:v>
                </c:pt>
                <c:pt idx="39">
                  <c:v>571.5820336726828</c:v>
                </c:pt>
                <c:pt idx="40">
                  <c:v>587.7600348492406</c:v>
                </c:pt>
                <c:pt idx="41">
                  <c:v>610.1672030718122</c:v>
                </c:pt>
                <c:pt idx="42">
                  <c:v>627.7107443193911</c:v>
                </c:pt>
                <c:pt idx="43">
                  <c:v>648.9557755861638</c:v>
                </c:pt>
                <c:pt idx="44">
                  <c:v>672.7114058088912</c:v>
                </c:pt>
                <c:pt idx="45">
                  <c:v>694.4061333662169</c:v>
                </c:pt>
                <c:pt idx="46">
                  <c:v>708.7807538235427</c:v>
                </c:pt>
                <c:pt idx="47">
                  <c:v>734.254722987603</c:v>
                </c:pt>
                <c:pt idx="48">
                  <c:v>754.9121160934377</c:v>
                </c:pt>
                <c:pt idx="49">
                  <c:v>777.9149987558069</c:v>
                </c:pt>
                <c:pt idx="50">
                  <c:v>797.3029838129886</c:v>
                </c:pt>
                <c:pt idx="51">
                  <c:v>824.2960183121936</c:v>
                </c:pt>
                <c:pt idx="52">
                  <c:v>844.542051912094</c:v>
                </c:pt>
                <c:pt idx="53">
                  <c:v>872.345752145865</c:v>
                </c:pt>
                <c:pt idx="54">
                  <c:v>894.9980528182592</c:v>
                </c:pt>
                <c:pt idx="55">
                  <c:v>924.7567870000589</c:v>
                </c:pt>
                <c:pt idx="56">
                  <c:v>952.5288792700953</c:v>
                </c:pt>
                <c:pt idx="57">
                  <c:v>978.2572962598324</c:v>
                </c:pt>
                <c:pt idx="58">
                  <c:v>1010.8961672027622</c:v>
                </c:pt>
                <c:pt idx="59">
                  <c:v>1033.3636826990933</c:v>
                </c:pt>
                <c:pt idx="60">
                  <c:v>1055.162123183539</c:v>
                </c:pt>
                <c:pt idx="61">
                  <c:v>1074.8091408666821</c:v>
                </c:pt>
                <c:pt idx="62">
                  <c:v>1107.6802936709248</c:v>
                </c:pt>
                <c:pt idx="63">
                  <c:v>1141.2377858257692</c:v>
                </c:pt>
                <c:pt idx="64">
                  <c:v>1174.954642807557</c:v>
                </c:pt>
                <c:pt idx="65">
                  <c:v>1199.6404807550027</c:v>
                </c:pt>
                <c:pt idx="66">
                  <c:v>1225.404501297012</c:v>
                </c:pt>
                <c:pt idx="67">
                  <c:v>1258.1383845354267</c:v>
                </c:pt>
                <c:pt idx="68">
                  <c:v>1288.465366233412</c:v>
                </c:pt>
                <c:pt idx="69">
                  <c:v>1313.0118042345923</c:v>
                </c:pt>
                <c:pt idx="70">
                  <c:v>1345.0193128831133</c:v>
                </c:pt>
                <c:pt idx="71">
                  <c:v>1362.2897047189479</c:v>
                </c:pt>
                <c:pt idx="72">
                  <c:v>1405.3136200161498</c:v>
                </c:pt>
                <c:pt idx="73">
                  <c:v>1438.5874700873464</c:v>
                </c:pt>
                <c:pt idx="74">
                  <c:v>1475.2388807247992</c:v>
                </c:pt>
                <c:pt idx="75">
                  <c:v>1504.7306334987109</c:v>
                </c:pt>
                <c:pt idx="76">
                  <c:v>1533.2261332211372</c:v>
                </c:pt>
                <c:pt idx="77">
                  <c:v>1577.5759125533152</c:v>
                </c:pt>
                <c:pt idx="78">
                  <c:v>1614.3651786078535</c:v>
                </c:pt>
                <c:pt idx="79">
                  <c:v>1650.4621387230848</c:v>
                </c:pt>
                <c:pt idx="80">
                  <c:v>1693.884079554301</c:v>
                </c:pt>
                <c:pt idx="81">
                  <c:v>1737.0462596644782</c:v>
                </c:pt>
                <c:pt idx="82">
                  <c:v>1755.9326746329882</c:v>
                </c:pt>
                <c:pt idx="83">
                  <c:v>1792.4880423477457</c:v>
                </c:pt>
                <c:pt idx="84">
                  <c:v>1847.7784700707666</c:v>
                </c:pt>
                <c:pt idx="85">
                  <c:v>1872.8191794553738</c:v>
                </c:pt>
                <c:pt idx="86">
                  <c:v>1919.5756403606042</c:v>
                </c:pt>
                <c:pt idx="87">
                  <c:v>1958.698521717415</c:v>
                </c:pt>
                <c:pt idx="88">
                  <c:v>2001.4692587551613</c:v>
                </c:pt>
                <c:pt idx="89">
                  <c:v>2052.420187242425</c:v>
                </c:pt>
                <c:pt idx="90">
                  <c:v>2102.6764920008395</c:v>
                </c:pt>
                <c:pt idx="91">
                  <c:v>2135.604432395239</c:v>
                </c:pt>
                <c:pt idx="92">
                  <c:v>2187.3215397174185</c:v>
                </c:pt>
                <c:pt idx="93">
                  <c:v>2235.1332512178483</c:v>
                </c:pt>
                <c:pt idx="94">
                  <c:v>2257.4618255189803</c:v>
                </c:pt>
                <c:pt idx="95">
                  <c:v>2311.986300684808</c:v>
                </c:pt>
                <c:pt idx="96">
                  <c:v>2357.8913489203364</c:v>
                </c:pt>
                <c:pt idx="97">
                  <c:v>2391.6639742117063</c:v>
                </c:pt>
                <c:pt idx="98">
                  <c:v>2426.2328611243356</c:v>
                </c:pt>
                <c:pt idx="99">
                  <c:v>2478.2559784756213</c:v>
                </c:pt>
                <c:pt idx="100">
                  <c:v>2540.4534200509197</c:v>
                </c:pt>
                <c:pt idx="101">
                  <c:v>2575.478250164028</c:v>
                </c:pt>
                <c:pt idx="102">
                  <c:v>2644.539595089262</c:v>
                </c:pt>
                <c:pt idx="103">
                  <c:v>2692.5506912641877</c:v>
                </c:pt>
                <c:pt idx="104">
                  <c:v>2751.4394065647966</c:v>
                </c:pt>
                <c:pt idx="105">
                  <c:v>2826.4266743400617</c:v>
                </c:pt>
                <c:pt idx="106">
                  <c:v>2871.194037744106</c:v>
                </c:pt>
                <c:pt idx="107">
                  <c:v>2944.1812079632214</c:v>
                </c:pt>
                <c:pt idx="108">
                  <c:v>2991.033929365258</c:v>
                </c:pt>
                <c:pt idx="109">
                  <c:v>3031.553335507159</c:v>
                </c:pt>
                <c:pt idx="110">
                  <c:v>3088.3343209675363</c:v>
                </c:pt>
                <c:pt idx="111">
                  <c:v>3139.174160255126</c:v>
                </c:pt>
                <c:pt idx="112">
                  <c:v>3196.9278171916258</c:v>
                </c:pt>
                <c:pt idx="113">
                  <c:v>3274.569571711737</c:v>
                </c:pt>
                <c:pt idx="114">
                  <c:v>3354.6105264795056</c:v>
                </c:pt>
                <c:pt idx="115">
                  <c:v>3399.782030356373</c:v>
                </c:pt>
                <c:pt idx="116">
                  <c:v>3471.6998969032115</c:v>
                </c:pt>
                <c:pt idx="117">
                  <c:v>3529.2674267462826</c:v>
                </c:pt>
                <c:pt idx="118">
                  <c:v>3589.6074651400095</c:v>
                </c:pt>
                <c:pt idx="119">
                  <c:v>3657.5577951061605</c:v>
                </c:pt>
                <c:pt idx="120">
                  <c:v>3763.372209358275</c:v>
                </c:pt>
                <c:pt idx="121">
                  <c:v>3795.0629204290135</c:v>
                </c:pt>
                <c:pt idx="122">
                  <c:v>3838.542371378343</c:v>
                </c:pt>
                <c:pt idx="123">
                  <c:v>3972.4177557246953</c:v>
                </c:pt>
                <c:pt idx="124">
                  <c:v>4023.032065046072</c:v>
                </c:pt>
                <c:pt idx="125">
                  <c:v>4112.743689267037</c:v>
                </c:pt>
                <c:pt idx="126">
                  <c:v>4167.015296992466</c:v>
                </c:pt>
                <c:pt idx="127">
                  <c:v>4236.54633699131</c:v>
                </c:pt>
                <c:pt idx="128">
                  <c:v>4334.421020852799</c:v>
                </c:pt>
                <c:pt idx="129">
                  <c:v>4393.025587207334</c:v>
                </c:pt>
                <c:pt idx="130">
                  <c:v>4476.521571716798</c:v>
                </c:pt>
                <c:pt idx="131">
                  <c:v>4549.840865474246</c:v>
                </c:pt>
                <c:pt idx="132">
                  <c:v>4652.789593651874</c:v>
                </c:pt>
                <c:pt idx="133">
                  <c:v>4743.074382195786</c:v>
                </c:pt>
                <c:pt idx="134">
                  <c:v>4805.4402321498565</c:v>
                </c:pt>
                <c:pt idx="135">
                  <c:v>4925.039228490295</c:v>
                </c:pt>
                <c:pt idx="136">
                  <c:v>4992.098539676312</c:v>
                </c:pt>
                <c:pt idx="137">
                  <c:v>5085.293017426591</c:v>
                </c:pt>
                <c:pt idx="138">
                  <c:v>5181.755611955963</c:v>
                </c:pt>
                <c:pt idx="139">
                  <c:v>5227.761625598693</c:v>
                </c:pt>
                <c:pt idx="140">
                  <c:v>5304.967041752049</c:v>
                </c:pt>
                <c:pt idx="141">
                  <c:v>5382.115728553742</c:v>
                </c:pt>
                <c:pt idx="142">
                  <c:v>5498.288547820337</c:v>
                </c:pt>
                <c:pt idx="143">
                  <c:v>5625.621645304629</c:v>
                </c:pt>
                <c:pt idx="144">
                  <c:v>5720.512115906136</c:v>
                </c:pt>
                <c:pt idx="145">
                  <c:v>5791.967350784071</c:v>
                </c:pt>
                <c:pt idx="146">
                  <c:v>5881.337760136911</c:v>
                </c:pt>
                <c:pt idx="147">
                  <c:v>5984.5743820397975</c:v>
                </c:pt>
                <c:pt idx="148">
                  <c:v>6092.765071477701</c:v>
                </c:pt>
                <c:pt idx="149">
                  <c:v>6198.066704462059</c:v>
                </c:pt>
                <c:pt idx="150">
                  <c:v>6322.587320201081</c:v>
                </c:pt>
                <c:pt idx="151">
                  <c:v>6437.532472059703</c:v>
                </c:pt>
                <c:pt idx="152">
                  <c:v>6511.369582937148</c:v>
                </c:pt>
                <c:pt idx="153">
                  <c:v>6672.695597525001</c:v>
                </c:pt>
                <c:pt idx="154">
                  <c:v>6716.12216309241</c:v>
                </c:pt>
                <c:pt idx="155">
                  <c:v>6839.883911796654</c:v>
                </c:pt>
                <c:pt idx="156">
                  <c:v>6942.091663037515</c:v>
                </c:pt>
                <c:pt idx="157">
                  <c:v>6948.272571613923</c:v>
                </c:pt>
                <c:pt idx="158">
                  <c:v>7130.140354462585</c:v>
                </c:pt>
                <c:pt idx="159">
                  <c:v>7222.807858650974</c:v>
                </c:pt>
                <c:pt idx="160">
                  <c:v>7391.346038862039</c:v>
                </c:pt>
                <c:pt idx="161">
                  <c:v>7509.490294571432</c:v>
                </c:pt>
                <c:pt idx="162">
                  <c:v>7639.391827042194</c:v>
                </c:pt>
                <c:pt idx="163">
                  <c:v>7805.596329481679</c:v>
                </c:pt>
                <c:pt idx="164">
                  <c:v>7874.461712244874</c:v>
                </c:pt>
                <c:pt idx="165">
                  <c:v>8013.460330607206</c:v>
                </c:pt>
                <c:pt idx="166">
                  <c:v>8125.539253687766</c:v>
                </c:pt>
                <c:pt idx="167">
                  <c:v>8285.39587859836</c:v>
                </c:pt>
                <c:pt idx="168">
                  <c:v>8404.22006057546</c:v>
                </c:pt>
                <c:pt idx="169">
                  <c:v>8525.844858827626</c:v>
                </c:pt>
                <c:pt idx="170">
                  <c:v>8649.465425783214</c:v>
                </c:pt>
                <c:pt idx="171">
                  <c:v>8836.771409531644</c:v>
                </c:pt>
                <c:pt idx="172">
                  <c:v>8942.219592602682</c:v>
                </c:pt>
                <c:pt idx="173">
                  <c:v>9070.830346271148</c:v>
                </c:pt>
                <c:pt idx="174">
                  <c:v>9294.461738916552</c:v>
                </c:pt>
                <c:pt idx="175">
                  <c:v>9454.7161185002</c:v>
                </c:pt>
                <c:pt idx="176">
                  <c:v>9568.562893591243</c:v>
                </c:pt>
                <c:pt idx="177">
                  <c:v>9717.16607245076</c:v>
                </c:pt>
                <c:pt idx="178">
                  <c:v>9866.88866425034</c:v>
                </c:pt>
                <c:pt idx="179">
                  <c:v>10152.58051518952</c:v>
                </c:pt>
                <c:pt idx="180">
                  <c:v>10383.088326424762</c:v>
                </c:pt>
                <c:pt idx="181">
                  <c:v>10609.030013472695</c:v>
                </c:pt>
                <c:pt idx="182">
                  <c:v>10658.529529984577</c:v>
                </c:pt>
                <c:pt idx="183">
                  <c:v>10863.672573674648</c:v>
                </c:pt>
                <c:pt idx="184">
                  <c:v>11055.139743924541</c:v>
                </c:pt>
                <c:pt idx="185">
                  <c:v>11187.251353761063</c:v>
                </c:pt>
                <c:pt idx="186">
                  <c:v>11530.931979120396</c:v>
                </c:pt>
                <c:pt idx="187">
                  <c:v>11581.916307160101</c:v>
                </c:pt>
                <c:pt idx="188">
                  <c:v>11773.810940226751</c:v>
                </c:pt>
                <c:pt idx="189">
                  <c:v>12050.545219583913</c:v>
                </c:pt>
                <c:pt idx="190">
                  <c:v>12235.726238680778</c:v>
                </c:pt>
                <c:pt idx="191">
                  <c:v>12378.42313622933</c:v>
                </c:pt>
                <c:pt idx="192">
                  <c:v>12556.545077231473</c:v>
                </c:pt>
                <c:pt idx="193">
                  <c:v>12631.00319947928</c:v>
                </c:pt>
                <c:pt idx="194">
                  <c:v>12881.706457764218</c:v>
                </c:pt>
                <c:pt idx="195">
                  <c:v>13063.190492108683</c:v>
                </c:pt>
                <c:pt idx="196">
                  <c:v>13330.490912602378</c:v>
                </c:pt>
                <c:pt idx="197">
                  <c:v>13627.134570230553</c:v>
                </c:pt>
                <c:pt idx="198">
                  <c:v>13834.242915806826</c:v>
                </c:pt>
                <c:pt idx="199">
                  <c:v>13932.648806150382</c:v>
                </c:pt>
                <c:pt idx="200">
                  <c:v>14142.843750962506</c:v>
                </c:pt>
                <c:pt idx="201">
                  <c:v>14500.180068642563</c:v>
                </c:pt>
                <c:pt idx="202">
                  <c:v>14488.557902552682</c:v>
                </c:pt>
                <c:pt idx="203">
                  <c:v>14840.881084259949</c:v>
                </c:pt>
                <c:pt idx="204">
                  <c:v>15135.688196618918</c:v>
                </c:pt>
                <c:pt idx="205">
                  <c:v>15334.997382279504</c:v>
                </c:pt>
                <c:pt idx="206">
                  <c:v>15637.817287465274</c:v>
                </c:pt>
                <c:pt idx="207">
                  <c:v>15689.842637634189</c:v>
                </c:pt>
                <c:pt idx="208">
                  <c:v>15954.327300946487</c:v>
                </c:pt>
                <c:pt idx="209">
                  <c:v>15985.384187974567</c:v>
                </c:pt>
                <c:pt idx="210">
                  <c:v>16180.863732654381</c:v>
                </c:pt>
                <c:pt idx="211">
                  <c:v>16528.463567834347</c:v>
                </c:pt>
                <c:pt idx="212">
                  <c:v>16897.36100306744</c:v>
                </c:pt>
                <c:pt idx="213">
                  <c:v>17161.61030793136</c:v>
                </c:pt>
                <c:pt idx="214">
                  <c:v>17510.640331764804</c:v>
                </c:pt>
                <c:pt idx="215">
                  <c:v>17740.739554664226</c:v>
                </c:pt>
                <c:pt idx="216">
                  <c:v>18146.330677380913</c:v>
                </c:pt>
                <c:pt idx="217">
                  <c:v>18411.766380287445</c:v>
                </c:pt>
                <c:pt idx="218">
                  <c:v>18744.065104932786</c:v>
                </c:pt>
                <c:pt idx="219">
                  <c:v>18988.96476882604</c:v>
                </c:pt>
                <c:pt idx="220">
                  <c:v>19070.94114430709</c:v>
                </c:pt>
                <c:pt idx="221">
                  <c:v>19715.93283725274</c:v>
                </c:pt>
                <c:pt idx="222">
                  <c:v>19765.844307998246</c:v>
                </c:pt>
                <c:pt idx="223">
                  <c:v>20138.823092056464</c:v>
                </c:pt>
                <c:pt idx="224">
                  <c:v>20489.61326766336</c:v>
                </c:pt>
                <c:pt idx="225">
                  <c:v>20638.50244367481</c:v>
                </c:pt>
                <c:pt idx="226">
                  <c:v>21173.906788925557</c:v>
                </c:pt>
                <c:pt idx="227">
                  <c:v>21530.614987746805</c:v>
                </c:pt>
                <c:pt idx="228">
                  <c:v>21815.875634998374</c:v>
                </c:pt>
                <c:pt idx="229">
                  <c:v>22383.027358116196</c:v>
                </c:pt>
                <c:pt idx="230">
                  <c:v>22590.70655815786</c:v>
                </c:pt>
                <c:pt idx="231">
                  <c:v>22936.588965886</c:v>
                </c:pt>
                <c:pt idx="232">
                  <c:v>23292.480349078458</c:v>
                </c:pt>
                <c:pt idx="233">
                  <c:v>23936.89189226954</c:v>
                </c:pt>
                <c:pt idx="234">
                  <c:v>24231.64959348929</c:v>
                </c:pt>
                <c:pt idx="235">
                  <c:v>24617.484144495495</c:v>
                </c:pt>
                <c:pt idx="236">
                  <c:v>25000.7133478985</c:v>
                </c:pt>
                <c:pt idx="237">
                  <c:v>25198.21027147321</c:v>
                </c:pt>
                <c:pt idx="238">
                  <c:v>25488.872728966646</c:v>
                </c:pt>
                <c:pt idx="239">
                  <c:v>25809.97035220741</c:v>
                </c:pt>
              </c:numCache>
            </c:numRef>
          </c:val>
          <c:smooth val="0"/>
        </c:ser>
        <c:ser>
          <c:idx val="2"/>
          <c:order val="2"/>
          <c:tx>
            <c:strRef>
              <c:f>Sheet1!$D$1</c:f>
              <c:strCache>
                <c:ptCount val="1"/>
                <c:pt idx="0">
                  <c:v>하위 10%</c:v>
                </c:pt>
              </c:strCache>
            </c:strRef>
          </c:tx>
          <c:spPr>
            <a:ln w="12700">
              <a:solidFill>
                <a:srgbClr val="E07A1F"/>
              </a:solidFill>
              <a:prstDash val="dash"/>
            </a:ln>
          </c:spPr>
          <c:marker>
            <c:symbol val="none"/>
          </c:marker>
          <c:cat>
            <c:strRef>
              <c:f>Sheet1!$A$2:$A$241</c:f>
              <c:strCache>
                <c:ptCount val="240"/>
                <c:pt idx="0">
                  <c:v>1년</c:v>
                </c:pt>
                <c:pt idx="1">
                  <c:v>1년</c:v>
                </c:pt>
                <c:pt idx="2">
                  <c:v>1년</c:v>
                </c:pt>
                <c:pt idx="3">
                  <c:v>1년</c:v>
                </c:pt>
                <c:pt idx="4">
                  <c:v>1년</c:v>
                </c:pt>
                <c:pt idx="5">
                  <c:v>1년</c:v>
                </c:pt>
                <c:pt idx="6">
                  <c:v>1년</c:v>
                </c:pt>
                <c:pt idx="7">
                  <c:v>1년</c:v>
                </c:pt>
                <c:pt idx="8">
                  <c:v>1년</c:v>
                </c:pt>
                <c:pt idx="9">
                  <c:v>1년</c:v>
                </c:pt>
                <c:pt idx="10">
                  <c:v>1년</c:v>
                </c:pt>
                <c:pt idx="11">
                  <c:v>1년</c:v>
                </c:pt>
                <c:pt idx="12">
                  <c:v>2년</c:v>
                </c:pt>
                <c:pt idx="13">
                  <c:v>2년</c:v>
                </c:pt>
                <c:pt idx="14">
                  <c:v>2년</c:v>
                </c:pt>
                <c:pt idx="15">
                  <c:v>2년</c:v>
                </c:pt>
                <c:pt idx="16">
                  <c:v>2년</c:v>
                </c:pt>
                <c:pt idx="17">
                  <c:v>2년</c:v>
                </c:pt>
                <c:pt idx="18">
                  <c:v>2년</c:v>
                </c:pt>
                <c:pt idx="19">
                  <c:v>2년</c:v>
                </c:pt>
                <c:pt idx="20">
                  <c:v>2년</c:v>
                </c:pt>
                <c:pt idx="21">
                  <c:v>2년</c:v>
                </c:pt>
                <c:pt idx="22">
                  <c:v>2년</c:v>
                </c:pt>
                <c:pt idx="23">
                  <c:v>2년</c:v>
                </c:pt>
                <c:pt idx="24">
                  <c:v>3년</c:v>
                </c:pt>
                <c:pt idx="25">
                  <c:v>3년</c:v>
                </c:pt>
                <c:pt idx="26">
                  <c:v>3년</c:v>
                </c:pt>
                <c:pt idx="27">
                  <c:v>3년</c:v>
                </c:pt>
                <c:pt idx="28">
                  <c:v>3년</c:v>
                </c:pt>
                <c:pt idx="29">
                  <c:v>3년</c:v>
                </c:pt>
                <c:pt idx="30">
                  <c:v>3년</c:v>
                </c:pt>
                <c:pt idx="31">
                  <c:v>3년</c:v>
                </c:pt>
                <c:pt idx="32">
                  <c:v>3년</c:v>
                </c:pt>
                <c:pt idx="33">
                  <c:v>3년</c:v>
                </c:pt>
                <c:pt idx="34">
                  <c:v>3년</c:v>
                </c:pt>
                <c:pt idx="35">
                  <c:v>3년</c:v>
                </c:pt>
                <c:pt idx="36">
                  <c:v>4년</c:v>
                </c:pt>
                <c:pt idx="37">
                  <c:v>4년</c:v>
                </c:pt>
                <c:pt idx="38">
                  <c:v>4년</c:v>
                </c:pt>
                <c:pt idx="39">
                  <c:v>4년</c:v>
                </c:pt>
                <c:pt idx="40">
                  <c:v>4년</c:v>
                </c:pt>
                <c:pt idx="41">
                  <c:v>4년</c:v>
                </c:pt>
                <c:pt idx="42">
                  <c:v>4년</c:v>
                </c:pt>
                <c:pt idx="43">
                  <c:v>4년</c:v>
                </c:pt>
                <c:pt idx="44">
                  <c:v>4년</c:v>
                </c:pt>
                <c:pt idx="45">
                  <c:v>4년</c:v>
                </c:pt>
                <c:pt idx="46">
                  <c:v>4년</c:v>
                </c:pt>
                <c:pt idx="47">
                  <c:v>4년</c:v>
                </c:pt>
                <c:pt idx="48">
                  <c:v>5년</c:v>
                </c:pt>
                <c:pt idx="49">
                  <c:v>5년</c:v>
                </c:pt>
                <c:pt idx="50">
                  <c:v>5년</c:v>
                </c:pt>
                <c:pt idx="51">
                  <c:v>5년</c:v>
                </c:pt>
                <c:pt idx="52">
                  <c:v>5년</c:v>
                </c:pt>
                <c:pt idx="53">
                  <c:v>5년</c:v>
                </c:pt>
                <c:pt idx="54">
                  <c:v>5년</c:v>
                </c:pt>
                <c:pt idx="55">
                  <c:v>5년</c:v>
                </c:pt>
                <c:pt idx="56">
                  <c:v>5년</c:v>
                </c:pt>
                <c:pt idx="57">
                  <c:v>5년</c:v>
                </c:pt>
                <c:pt idx="58">
                  <c:v>5년</c:v>
                </c:pt>
                <c:pt idx="59">
                  <c:v>5년</c:v>
                </c:pt>
                <c:pt idx="60">
                  <c:v>6년</c:v>
                </c:pt>
                <c:pt idx="61">
                  <c:v>6년</c:v>
                </c:pt>
                <c:pt idx="62">
                  <c:v>6년</c:v>
                </c:pt>
                <c:pt idx="63">
                  <c:v>6년</c:v>
                </c:pt>
                <c:pt idx="64">
                  <c:v>6년</c:v>
                </c:pt>
                <c:pt idx="65">
                  <c:v>6년</c:v>
                </c:pt>
                <c:pt idx="66">
                  <c:v>6년</c:v>
                </c:pt>
                <c:pt idx="67">
                  <c:v>6년</c:v>
                </c:pt>
                <c:pt idx="68">
                  <c:v>6년</c:v>
                </c:pt>
                <c:pt idx="69">
                  <c:v>6년</c:v>
                </c:pt>
                <c:pt idx="70">
                  <c:v>6년</c:v>
                </c:pt>
                <c:pt idx="71">
                  <c:v>6년</c:v>
                </c:pt>
                <c:pt idx="72">
                  <c:v>7년</c:v>
                </c:pt>
                <c:pt idx="73">
                  <c:v>7년</c:v>
                </c:pt>
                <c:pt idx="74">
                  <c:v>7년</c:v>
                </c:pt>
                <c:pt idx="75">
                  <c:v>7년</c:v>
                </c:pt>
                <c:pt idx="76">
                  <c:v>7년</c:v>
                </c:pt>
                <c:pt idx="77">
                  <c:v>7년</c:v>
                </c:pt>
                <c:pt idx="78">
                  <c:v>7년</c:v>
                </c:pt>
                <c:pt idx="79">
                  <c:v>7년</c:v>
                </c:pt>
                <c:pt idx="80">
                  <c:v>7년</c:v>
                </c:pt>
                <c:pt idx="81">
                  <c:v>7년</c:v>
                </c:pt>
                <c:pt idx="82">
                  <c:v>7년</c:v>
                </c:pt>
                <c:pt idx="83">
                  <c:v>7년</c:v>
                </c:pt>
                <c:pt idx="84">
                  <c:v>8년</c:v>
                </c:pt>
                <c:pt idx="85">
                  <c:v>8년</c:v>
                </c:pt>
                <c:pt idx="86">
                  <c:v>8년</c:v>
                </c:pt>
                <c:pt idx="87">
                  <c:v>8년</c:v>
                </c:pt>
                <c:pt idx="88">
                  <c:v>8년</c:v>
                </c:pt>
                <c:pt idx="89">
                  <c:v>8년</c:v>
                </c:pt>
                <c:pt idx="90">
                  <c:v>8년</c:v>
                </c:pt>
                <c:pt idx="91">
                  <c:v>8년</c:v>
                </c:pt>
                <c:pt idx="92">
                  <c:v>8년</c:v>
                </c:pt>
                <c:pt idx="93">
                  <c:v>8년</c:v>
                </c:pt>
                <c:pt idx="94">
                  <c:v>8년</c:v>
                </c:pt>
                <c:pt idx="95">
                  <c:v>8년</c:v>
                </c:pt>
                <c:pt idx="96">
                  <c:v>9년</c:v>
                </c:pt>
                <c:pt idx="97">
                  <c:v>9년</c:v>
                </c:pt>
                <c:pt idx="98">
                  <c:v>9년</c:v>
                </c:pt>
                <c:pt idx="99">
                  <c:v>9년</c:v>
                </c:pt>
                <c:pt idx="100">
                  <c:v>9년</c:v>
                </c:pt>
                <c:pt idx="101">
                  <c:v>9년</c:v>
                </c:pt>
                <c:pt idx="102">
                  <c:v>9년</c:v>
                </c:pt>
                <c:pt idx="103">
                  <c:v>9년</c:v>
                </c:pt>
                <c:pt idx="104">
                  <c:v>9년</c:v>
                </c:pt>
                <c:pt idx="105">
                  <c:v>9년</c:v>
                </c:pt>
                <c:pt idx="106">
                  <c:v>9년</c:v>
                </c:pt>
                <c:pt idx="107">
                  <c:v>9년</c:v>
                </c:pt>
                <c:pt idx="108">
                  <c:v>10년</c:v>
                </c:pt>
                <c:pt idx="109">
                  <c:v>10년</c:v>
                </c:pt>
                <c:pt idx="110">
                  <c:v>10년</c:v>
                </c:pt>
                <c:pt idx="111">
                  <c:v>10년</c:v>
                </c:pt>
                <c:pt idx="112">
                  <c:v>10년</c:v>
                </c:pt>
                <c:pt idx="113">
                  <c:v>10년</c:v>
                </c:pt>
                <c:pt idx="114">
                  <c:v>10년</c:v>
                </c:pt>
                <c:pt idx="115">
                  <c:v>10년</c:v>
                </c:pt>
                <c:pt idx="116">
                  <c:v>10년</c:v>
                </c:pt>
                <c:pt idx="117">
                  <c:v>10년</c:v>
                </c:pt>
                <c:pt idx="118">
                  <c:v>10년</c:v>
                </c:pt>
                <c:pt idx="119">
                  <c:v>10년</c:v>
                </c:pt>
                <c:pt idx="120">
                  <c:v>11년</c:v>
                </c:pt>
                <c:pt idx="121">
                  <c:v>11년</c:v>
                </c:pt>
                <c:pt idx="122">
                  <c:v>11년</c:v>
                </c:pt>
                <c:pt idx="123">
                  <c:v>11년</c:v>
                </c:pt>
                <c:pt idx="124">
                  <c:v>11년</c:v>
                </c:pt>
                <c:pt idx="125">
                  <c:v>11년</c:v>
                </c:pt>
                <c:pt idx="126">
                  <c:v>11년</c:v>
                </c:pt>
                <c:pt idx="127">
                  <c:v>11년</c:v>
                </c:pt>
                <c:pt idx="128">
                  <c:v>11년</c:v>
                </c:pt>
                <c:pt idx="129">
                  <c:v>11년</c:v>
                </c:pt>
                <c:pt idx="130">
                  <c:v>11년</c:v>
                </c:pt>
                <c:pt idx="131">
                  <c:v>11년</c:v>
                </c:pt>
                <c:pt idx="132">
                  <c:v>12년</c:v>
                </c:pt>
                <c:pt idx="133">
                  <c:v>12년</c:v>
                </c:pt>
                <c:pt idx="134">
                  <c:v>12년</c:v>
                </c:pt>
                <c:pt idx="135">
                  <c:v>12년</c:v>
                </c:pt>
                <c:pt idx="136">
                  <c:v>12년</c:v>
                </c:pt>
                <c:pt idx="137">
                  <c:v>12년</c:v>
                </c:pt>
                <c:pt idx="138">
                  <c:v>12년</c:v>
                </c:pt>
                <c:pt idx="139">
                  <c:v>12년</c:v>
                </c:pt>
                <c:pt idx="140">
                  <c:v>12년</c:v>
                </c:pt>
                <c:pt idx="141">
                  <c:v>12년</c:v>
                </c:pt>
                <c:pt idx="142">
                  <c:v>12년</c:v>
                </c:pt>
                <c:pt idx="143">
                  <c:v>12년</c:v>
                </c:pt>
                <c:pt idx="144">
                  <c:v>13년</c:v>
                </c:pt>
                <c:pt idx="145">
                  <c:v>13년</c:v>
                </c:pt>
                <c:pt idx="146">
                  <c:v>13년</c:v>
                </c:pt>
                <c:pt idx="147">
                  <c:v>13년</c:v>
                </c:pt>
                <c:pt idx="148">
                  <c:v>13년</c:v>
                </c:pt>
                <c:pt idx="149">
                  <c:v>13년</c:v>
                </c:pt>
                <c:pt idx="150">
                  <c:v>13년</c:v>
                </c:pt>
                <c:pt idx="151">
                  <c:v>13년</c:v>
                </c:pt>
                <c:pt idx="152">
                  <c:v>13년</c:v>
                </c:pt>
                <c:pt idx="153">
                  <c:v>13년</c:v>
                </c:pt>
                <c:pt idx="154">
                  <c:v>13년</c:v>
                </c:pt>
                <c:pt idx="155">
                  <c:v>13년</c:v>
                </c:pt>
                <c:pt idx="156">
                  <c:v>14년</c:v>
                </c:pt>
                <c:pt idx="157">
                  <c:v>14년</c:v>
                </c:pt>
                <c:pt idx="158">
                  <c:v>14년</c:v>
                </c:pt>
                <c:pt idx="159">
                  <c:v>14년</c:v>
                </c:pt>
                <c:pt idx="160">
                  <c:v>14년</c:v>
                </c:pt>
                <c:pt idx="161">
                  <c:v>14년</c:v>
                </c:pt>
                <c:pt idx="162">
                  <c:v>14년</c:v>
                </c:pt>
                <c:pt idx="163">
                  <c:v>14년</c:v>
                </c:pt>
                <c:pt idx="164">
                  <c:v>14년</c:v>
                </c:pt>
                <c:pt idx="165">
                  <c:v>14년</c:v>
                </c:pt>
                <c:pt idx="166">
                  <c:v>14년</c:v>
                </c:pt>
                <c:pt idx="167">
                  <c:v>14년</c:v>
                </c:pt>
                <c:pt idx="168">
                  <c:v>15년</c:v>
                </c:pt>
                <c:pt idx="169">
                  <c:v>15년</c:v>
                </c:pt>
                <c:pt idx="170">
                  <c:v>15년</c:v>
                </c:pt>
                <c:pt idx="171">
                  <c:v>15년</c:v>
                </c:pt>
                <c:pt idx="172">
                  <c:v>15년</c:v>
                </c:pt>
                <c:pt idx="173">
                  <c:v>15년</c:v>
                </c:pt>
                <c:pt idx="174">
                  <c:v>15년</c:v>
                </c:pt>
                <c:pt idx="175">
                  <c:v>15년</c:v>
                </c:pt>
                <c:pt idx="176">
                  <c:v>15년</c:v>
                </c:pt>
                <c:pt idx="177">
                  <c:v>15년</c:v>
                </c:pt>
                <c:pt idx="178">
                  <c:v>15년</c:v>
                </c:pt>
                <c:pt idx="179">
                  <c:v>15년</c:v>
                </c:pt>
                <c:pt idx="180">
                  <c:v>16년</c:v>
                </c:pt>
                <c:pt idx="181">
                  <c:v>16년</c:v>
                </c:pt>
                <c:pt idx="182">
                  <c:v>16년</c:v>
                </c:pt>
                <c:pt idx="183">
                  <c:v>16년</c:v>
                </c:pt>
                <c:pt idx="184">
                  <c:v>16년</c:v>
                </c:pt>
                <c:pt idx="185">
                  <c:v>16년</c:v>
                </c:pt>
                <c:pt idx="186">
                  <c:v>16년</c:v>
                </c:pt>
                <c:pt idx="187">
                  <c:v>16년</c:v>
                </c:pt>
                <c:pt idx="188">
                  <c:v>16년</c:v>
                </c:pt>
                <c:pt idx="189">
                  <c:v>16년</c:v>
                </c:pt>
                <c:pt idx="190">
                  <c:v>16년</c:v>
                </c:pt>
                <c:pt idx="191">
                  <c:v>16년</c:v>
                </c:pt>
                <c:pt idx="192">
                  <c:v>17년</c:v>
                </c:pt>
                <c:pt idx="193">
                  <c:v>17년</c:v>
                </c:pt>
                <c:pt idx="194">
                  <c:v>17년</c:v>
                </c:pt>
                <c:pt idx="195">
                  <c:v>17년</c:v>
                </c:pt>
                <c:pt idx="196">
                  <c:v>17년</c:v>
                </c:pt>
                <c:pt idx="197">
                  <c:v>17년</c:v>
                </c:pt>
                <c:pt idx="198">
                  <c:v>17년</c:v>
                </c:pt>
                <c:pt idx="199">
                  <c:v>17년</c:v>
                </c:pt>
                <c:pt idx="200">
                  <c:v>17년</c:v>
                </c:pt>
                <c:pt idx="201">
                  <c:v>17년</c:v>
                </c:pt>
                <c:pt idx="202">
                  <c:v>17년</c:v>
                </c:pt>
                <c:pt idx="203">
                  <c:v>17년</c:v>
                </c:pt>
                <c:pt idx="204">
                  <c:v>18년</c:v>
                </c:pt>
                <c:pt idx="205">
                  <c:v>18년</c:v>
                </c:pt>
                <c:pt idx="206">
                  <c:v>18년</c:v>
                </c:pt>
                <c:pt idx="207">
                  <c:v>18년</c:v>
                </c:pt>
                <c:pt idx="208">
                  <c:v>18년</c:v>
                </c:pt>
                <c:pt idx="209">
                  <c:v>18년</c:v>
                </c:pt>
                <c:pt idx="210">
                  <c:v>18년</c:v>
                </c:pt>
                <c:pt idx="211">
                  <c:v>18년</c:v>
                </c:pt>
                <c:pt idx="212">
                  <c:v>18년</c:v>
                </c:pt>
                <c:pt idx="213">
                  <c:v>18년</c:v>
                </c:pt>
                <c:pt idx="214">
                  <c:v>18년</c:v>
                </c:pt>
                <c:pt idx="215">
                  <c:v>18년</c:v>
                </c:pt>
                <c:pt idx="216">
                  <c:v>19년</c:v>
                </c:pt>
                <c:pt idx="217">
                  <c:v>19년</c:v>
                </c:pt>
                <c:pt idx="218">
                  <c:v>19년</c:v>
                </c:pt>
                <c:pt idx="219">
                  <c:v>19년</c:v>
                </c:pt>
                <c:pt idx="220">
                  <c:v>19년</c:v>
                </c:pt>
                <c:pt idx="221">
                  <c:v>19년</c:v>
                </c:pt>
                <c:pt idx="222">
                  <c:v>19년</c:v>
                </c:pt>
                <c:pt idx="223">
                  <c:v>19년</c:v>
                </c:pt>
                <c:pt idx="224">
                  <c:v>19년</c:v>
                </c:pt>
                <c:pt idx="225">
                  <c:v>19년</c:v>
                </c:pt>
                <c:pt idx="226">
                  <c:v>19년</c:v>
                </c:pt>
                <c:pt idx="227">
                  <c:v>19년</c:v>
                </c:pt>
                <c:pt idx="228">
                  <c:v>20년</c:v>
                </c:pt>
                <c:pt idx="229">
                  <c:v>20년</c:v>
                </c:pt>
                <c:pt idx="230">
                  <c:v>20년</c:v>
                </c:pt>
                <c:pt idx="231">
                  <c:v>20년</c:v>
                </c:pt>
                <c:pt idx="232">
                  <c:v>20년</c:v>
                </c:pt>
                <c:pt idx="233">
                  <c:v>20년</c:v>
                </c:pt>
                <c:pt idx="234">
                  <c:v>20년</c:v>
                </c:pt>
                <c:pt idx="235">
                  <c:v>20년</c:v>
                </c:pt>
                <c:pt idx="236">
                  <c:v>20년</c:v>
                </c:pt>
                <c:pt idx="237">
                  <c:v>20년</c:v>
                </c:pt>
                <c:pt idx="238">
                  <c:v>20년</c:v>
                </c:pt>
                <c:pt idx="239">
                  <c:v>20년</c:v>
                </c:pt>
              </c:strCache>
            </c:strRef>
          </c:cat>
          <c:val>
            <c:numRef>
              <c:f>Sheet1!$D$2:$D$241</c:f>
              <c:numCache>
                <c:formatCode>General</c:formatCode>
                <c:ptCount val="240"/>
                <c:pt idx="0">
                  <c:v>9.482846264979042</c:v>
                </c:pt>
                <c:pt idx="1">
                  <c:v>18.974032404257454</c:v>
                </c:pt>
                <c:pt idx="2">
                  <c:v>28.280216018228575</c:v>
                </c:pt>
                <c:pt idx="3">
                  <c:v>38.50651384872378</c:v>
                </c:pt>
                <c:pt idx="4">
                  <c:v>48.1829677373307</c:v>
                </c:pt>
                <c:pt idx="5">
                  <c:v>57.94904705181</c:v>
                </c:pt>
                <c:pt idx="6">
                  <c:v>67.44736140025256</c:v>
                </c:pt>
                <c:pt idx="7">
                  <c:v>77.56904422389175</c:v>
                </c:pt>
                <c:pt idx="8">
                  <c:v>87.74547536350153</c:v>
                </c:pt>
                <c:pt idx="9">
                  <c:v>98.82001201308803</c:v>
                </c:pt>
                <c:pt idx="10">
                  <c:v>108.53123841651815</c:v>
                </c:pt>
                <c:pt idx="11">
                  <c:v>117.482475366273</c:v>
                </c:pt>
                <c:pt idx="12">
                  <c:v>125.92736808197196</c:v>
                </c:pt>
                <c:pt idx="13">
                  <c:v>136.1712900359751</c:v>
                </c:pt>
                <c:pt idx="14">
                  <c:v>148.31424747047052</c:v>
                </c:pt>
                <c:pt idx="15">
                  <c:v>158.86253918435048</c:v>
                </c:pt>
                <c:pt idx="16">
                  <c:v>170.13800370290767</c:v>
                </c:pt>
                <c:pt idx="17">
                  <c:v>180.08470221080057</c:v>
                </c:pt>
                <c:pt idx="18">
                  <c:v>189.99976806827166</c:v>
                </c:pt>
                <c:pt idx="19">
                  <c:v>201.6797211014235</c:v>
                </c:pt>
                <c:pt idx="20">
                  <c:v>212.75039796772217</c:v>
                </c:pt>
                <c:pt idx="21">
                  <c:v>222.79358404308945</c:v>
                </c:pt>
                <c:pt idx="22">
                  <c:v>234.16834021602924</c:v>
                </c:pt>
                <c:pt idx="23">
                  <c:v>245.11046633512805</c:v>
                </c:pt>
                <c:pt idx="24">
                  <c:v>253.1730340611587</c:v>
                </c:pt>
                <c:pt idx="25">
                  <c:v>267.35850271063566</c:v>
                </c:pt>
                <c:pt idx="26">
                  <c:v>281.5958552260297</c:v>
                </c:pt>
                <c:pt idx="27">
                  <c:v>289.45055782509377</c:v>
                </c:pt>
                <c:pt idx="28">
                  <c:v>306.43020380611125</c:v>
                </c:pt>
                <c:pt idx="29">
                  <c:v>317.6017039958531</c:v>
                </c:pt>
                <c:pt idx="30">
                  <c:v>325.46806136835846</c:v>
                </c:pt>
                <c:pt idx="31">
                  <c:v>336.8047779791539</c:v>
                </c:pt>
                <c:pt idx="32">
                  <c:v>349.7843847633999</c:v>
                </c:pt>
                <c:pt idx="33">
                  <c:v>361.00531777052146</c:v>
                </c:pt>
                <c:pt idx="34">
                  <c:v>374.6765690530321</c:v>
                </c:pt>
                <c:pt idx="35">
                  <c:v>384.90993937063945</c:v>
                </c:pt>
                <c:pt idx="36">
                  <c:v>398.5778807769276</c:v>
                </c:pt>
                <c:pt idx="37">
                  <c:v>413.9564394823563</c:v>
                </c:pt>
                <c:pt idx="38">
                  <c:v>429.94067877623553</c:v>
                </c:pt>
                <c:pt idx="39">
                  <c:v>443.44315699278013</c:v>
                </c:pt>
                <c:pt idx="40">
                  <c:v>453.6950375344709</c:v>
                </c:pt>
                <c:pt idx="41">
                  <c:v>472.88246844578686</c:v>
                </c:pt>
                <c:pt idx="42">
                  <c:v>483.63031875217297</c:v>
                </c:pt>
                <c:pt idx="43">
                  <c:v>491.8861867528679</c:v>
                </c:pt>
                <c:pt idx="44">
                  <c:v>504.6106329613398</c:v>
                </c:pt>
                <c:pt idx="45">
                  <c:v>517.6647900129572</c:v>
                </c:pt>
                <c:pt idx="46">
                  <c:v>530.6901322325749</c:v>
                </c:pt>
                <c:pt idx="47">
                  <c:v>551.2003650487442</c:v>
                </c:pt>
                <c:pt idx="48">
                  <c:v>570.2424897164175</c:v>
                </c:pt>
                <c:pt idx="49">
                  <c:v>584.4214747923602</c:v>
                </c:pt>
                <c:pt idx="50">
                  <c:v>601.0869441722112</c:v>
                </c:pt>
                <c:pt idx="51">
                  <c:v>614.8435631972833</c:v>
                </c:pt>
                <c:pt idx="52">
                  <c:v>626.8154991179947</c:v>
                </c:pt>
                <c:pt idx="53">
                  <c:v>656.1774481945129</c:v>
                </c:pt>
                <c:pt idx="54">
                  <c:v>671.4038023266467</c:v>
                </c:pt>
                <c:pt idx="55">
                  <c:v>690.0370869375638</c:v>
                </c:pt>
                <c:pt idx="56">
                  <c:v>707.7413757675406</c:v>
                </c:pt>
                <c:pt idx="57">
                  <c:v>726.1653101310903</c:v>
                </c:pt>
                <c:pt idx="58">
                  <c:v>748.3039859768622</c:v>
                </c:pt>
                <c:pt idx="59">
                  <c:v>757.7688134569637</c:v>
                </c:pt>
                <c:pt idx="60">
                  <c:v>780.0977771768466</c:v>
                </c:pt>
                <c:pt idx="61">
                  <c:v>799.2833994810047</c:v>
                </c:pt>
                <c:pt idx="62">
                  <c:v>820.2308925890986</c:v>
                </c:pt>
                <c:pt idx="63">
                  <c:v>835.2040443217768</c:v>
                </c:pt>
                <c:pt idx="64">
                  <c:v>844.6786947379034</c:v>
                </c:pt>
                <c:pt idx="65">
                  <c:v>860.23408378729</c:v>
                </c:pt>
                <c:pt idx="66">
                  <c:v>881.1608092679539</c:v>
                </c:pt>
                <c:pt idx="67">
                  <c:v>897.3175476400588</c:v>
                </c:pt>
                <c:pt idx="68">
                  <c:v>916.9080138656417</c:v>
                </c:pt>
                <c:pt idx="69">
                  <c:v>935.5167409613385</c:v>
                </c:pt>
                <c:pt idx="70">
                  <c:v>957.0345003895784</c:v>
                </c:pt>
                <c:pt idx="71">
                  <c:v>975.6761912266869</c:v>
                </c:pt>
                <c:pt idx="72">
                  <c:v>1004.5747332329515</c:v>
                </c:pt>
                <c:pt idx="73">
                  <c:v>994.1661448104936</c:v>
                </c:pt>
                <c:pt idx="74">
                  <c:v>1025.7440141197771</c:v>
                </c:pt>
                <c:pt idx="75">
                  <c:v>1042.4954577080778</c:v>
                </c:pt>
                <c:pt idx="76">
                  <c:v>1050.9464906989851</c:v>
                </c:pt>
                <c:pt idx="77">
                  <c:v>1084.6310090500876</c:v>
                </c:pt>
                <c:pt idx="78">
                  <c:v>1111.6556138696396</c:v>
                </c:pt>
                <c:pt idx="79">
                  <c:v>1144.911699520017</c:v>
                </c:pt>
                <c:pt idx="80">
                  <c:v>1163.4773511946962</c:v>
                </c:pt>
                <c:pt idx="81">
                  <c:v>1182.504690671488</c:v>
                </c:pt>
                <c:pt idx="82">
                  <c:v>1204.3876405728522</c:v>
                </c:pt>
                <c:pt idx="83">
                  <c:v>1229.9090734424485</c:v>
                </c:pt>
                <c:pt idx="84">
                  <c:v>1267.3488426762717</c:v>
                </c:pt>
                <c:pt idx="85">
                  <c:v>1304.2276186916072</c:v>
                </c:pt>
                <c:pt idx="86">
                  <c:v>1301.6301588464116</c:v>
                </c:pt>
                <c:pt idx="87">
                  <c:v>1321.9509795990766</c:v>
                </c:pt>
                <c:pt idx="88">
                  <c:v>1376.882307943559</c:v>
                </c:pt>
                <c:pt idx="89">
                  <c:v>1381.4865091162462</c:v>
                </c:pt>
                <c:pt idx="90">
                  <c:v>1392.7138581848467</c:v>
                </c:pt>
                <c:pt idx="91">
                  <c:v>1401.387421576702</c:v>
                </c:pt>
                <c:pt idx="92">
                  <c:v>1434.6984598971185</c:v>
                </c:pt>
                <c:pt idx="93">
                  <c:v>1453.9043385228565</c:v>
                </c:pt>
                <c:pt idx="94">
                  <c:v>1485.1980066514875</c:v>
                </c:pt>
                <c:pt idx="95">
                  <c:v>1512.0306393091862</c:v>
                </c:pt>
                <c:pt idx="96">
                  <c:v>1536.483926184364</c:v>
                </c:pt>
                <c:pt idx="97">
                  <c:v>1560.3520434543082</c:v>
                </c:pt>
                <c:pt idx="98">
                  <c:v>1599.0253138058008</c:v>
                </c:pt>
                <c:pt idx="99">
                  <c:v>1625.5045059104139</c:v>
                </c:pt>
                <c:pt idx="100">
                  <c:v>1636.5598383957265</c:v>
                </c:pt>
                <c:pt idx="101">
                  <c:v>1678.100054336571</c:v>
                </c:pt>
                <c:pt idx="102">
                  <c:v>1707.5890384008158</c:v>
                </c:pt>
                <c:pt idx="103">
                  <c:v>1729.378055263879</c:v>
                </c:pt>
                <c:pt idx="104">
                  <c:v>1748.6051140509717</c:v>
                </c:pt>
                <c:pt idx="105">
                  <c:v>1781.2549460321843</c:v>
                </c:pt>
                <c:pt idx="106">
                  <c:v>1804.9502222981337</c:v>
                </c:pt>
                <c:pt idx="107">
                  <c:v>1826.8684421375945</c:v>
                </c:pt>
                <c:pt idx="108">
                  <c:v>1882.5988577804253</c:v>
                </c:pt>
                <c:pt idx="109">
                  <c:v>1869.9403478667457</c:v>
                </c:pt>
                <c:pt idx="110">
                  <c:v>1904.0167724721678</c:v>
                </c:pt>
                <c:pt idx="111">
                  <c:v>1958.3066616282088</c:v>
                </c:pt>
                <c:pt idx="112">
                  <c:v>2005.5994266951989</c:v>
                </c:pt>
                <c:pt idx="113">
                  <c:v>2022.2493684365634</c:v>
                </c:pt>
                <c:pt idx="114">
                  <c:v>2060.0856408894665</c:v>
                </c:pt>
                <c:pt idx="115">
                  <c:v>2083.5258806300753</c:v>
                </c:pt>
                <c:pt idx="116">
                  <c:v>2141.052052000273</c:v>
                </c:pt>
                <c:pt idx="117">
                  <c:v>2196.854225994721</c:v>
                </c:pt>
                <c:pt idx="118">
                  <c:v>2198.758112832709</c:v>
                </c:pt>
                <c:pt idx="119">
                  <c:v>2262.674781376896</c:v>
                </c:pt>
                <c:pt idx="120">
                  <c:v>2295.697950998539</c:v>
                </c:pt>
                <c:pt idx="121">
                  <c:v>2328.2493606713247</c:v>
                </c:pt>
                <c:pt idx="122">
                  <c:v>2342.9065053754202</c:v>
                </c:pt>
                <c:pt idx="123">
                  <c:v>2348.5759246289135</c:v>
                </c:pt>
                <c:pt idx="124">
                  <c:v>2385.109095049095</c:v>
                </c:pt>
                <c:pt idx="125">
                  <c:v>2432.766482547245</c:v>
                </c:pt>
                <c:pt idx="126">
                  <c:v>2469.088637474842</c:v>
                </c:pt>
                <c:pt idx="127">
                  <c:v>2524.547884706153</c:v>
                </c:pt>
                <c:pt idx="128">
                  <c:v>2603.684995395656</c:v>
                </c:pt>
                <c:pt idx="129">
                  <c:v>2621.6769267097166</c:v>
                </c:pt>
                <c:pt idx="130">
                  <c:v>2667.1960195252977</c:v>
                </c:pt>
                <c:pt idx="131">
                  <c:v>2775.3898330162283</c:v>
                </c:pt>
                <c:pt idx="132">
                  <c:v>2815.1397304013535</c:v>
                </c:pt>
                <c:pt idx="133">
                  <c:v>2843.4236880915714</c:v>
                </c:pt>
                <c:pt idx="134">
                  <c:v>2885.2332218259367</c:v>
                </c:pt>
                <c:pt idx="135">
                  <c:v>2916.3692449192827</c:v>
                </c:pt>
                <c:pt idx="136">
                  <c:v>2960.5380787354</c:v>
                </c:pt>
                <c:pt idx="137">
                  <c:v>3009.817353338608</c:v>
                </c:pt>
                <c:pt idx="138">
                  <c:v>3033.042739685273</c:v>
                </c:pt>
                <c:pt idx="139">
                  <c:v>3085.936232135906</c:v>
                </c:pt>
                <c:pt idx="140">
                  <c:v>3154.63072989666</c:v>
                </c:pt>
                <c:pt idx="141">
                  <c:v>3171.7680465269277</c:v>
                </c:pt>
                <c:pt idx="142">
                  <c:v>3223.8466531562926</c:v>
                </c:pt>
                <c:pt idx="143">
                  <c:v>3250.1039166820788</c:v>
                </c:pt>
                <c:pt idx="144">
                  <c:v>3297.0814904474605</c:v>
                </c:pt>
                <c:pt idx="145">
                  <c:v>3371.1944616139726</c:v>
                </c:pt>
                <c:pt idx="146">
                  <c:v>3400.5144424271984</c:v>
                </c:pt>
                <c:pt idx="147">
                  <c:v>3409.9747997763484</c:v>
                </c:pt>
                <c:pt idx="148">
                  <c:v>3469.9378379185737</c:v>
                </c:pt>
                <c:pt idx="149">
                  <c:v>3473.0015638573304</c:v>
                </c:pt>
                <c:pt idx="150">
                  <c:v>3636.3150104476185</c:v>
                </c:pt>
                <c:pt idx="151">
                  <c:v>3644.78652367326</c:v>
                </c:pt>
                <c:pt idx="152">
                  <c:v>3741.3224069608577</c:v>
                </c:pt>
                <c:pt idx="153">
                  <c:v>3774.9466386543663</c:v>
                </c:pt>
                <c:pt idx="154">
                  <c:v>3851.7467412574774</c:v>
                </c:pt>
                <c:pt idx="155">
                  <c:v>3878.7735958868066</c:v>
                </c:pt>
                <c:pt idx="156">
                  <c:v>3959.770989915588</c:v>
                </c:pt>
                <c:pt idx="157">
                  <c:v>3964.774221291432</c:v>
                </c:pt>
                <c:pt idx="158">
                  <c:v>4028.06588010223</c:v>
                </c:pt>
                <c:pt idx="159">
                  <c:v>4083.5761810313898</c:v>
                </c:pt>
                <c:pt idx="160">
                  <c:v>4138.163616120073</c:v>
                </c:pt>
                <c:pt idx="161">
                  <c:v>4221.871369145571</c:v>
                </c:pt>
                <c:pt idx="162">
                  <c:v>4319.844606927347</c:v>
                </c:pt>
                <c:pt idx="163">
                  <c:v>4294.75512757637</c:v>
                </c:pt>
                <c:pt idx="164">
                  <c:v>4451.934479725924</c:v>
                </c:pt>
                <c:pt idx="165">
                  <c:v>4427.7041249283175</c:v>
                </c:pt>
                <c:pt idx="166">
                  <c:v>4462.57588919179</c:v>
                </c:pt>
                <c:pt idx="167">
                  <c:v>4555.815667525129</c:v>
                </c:pt>
                <c:pt idx="168">
                  <c:v>4718.682422474544</c:v>
                </c:pt>
                <c:pt idx="169">
                  <c:v>4735.353636361012</c:v>
                </c:pt>
                <c:pt idx="170">
                  <c:v>4847.730364198645</c:v>
                </c:pt>
                <c:pt idx="171">
                  <c:v>4899.119324344823</c:v>
                </c:pt>
                <c:pt idx="172">
                  <c:v>4997.805628764251</c:v>
                </c:pt>
                <c:pt idx="173">
                  <c:v>5093.872856896484</c:v>
                </c:pt>
                <c:pt idx="174">
                  <c:v>5123.862007535894</c:v>
                </c:pt>
                <c:pt idx="175">
                  <c:v>5089.736950641814</c:v>
                </c:pt>
                <c:pt idx="176">
                  <c:v>5229.08325459065</c:v>
                </c:pt>
                <c:pt idx="177">
                  <c:v>5387.613952376915</c:v>
                </c:pt>
                <c:pt idx="178">
                  <c:v>5431.853196190693</c:v>
                </c:pt>
                <c:pt idx="179">
                  <c:v>5517.828436653405</c:v>
                </c:pt>
                <c:pt idx="180">
                  <c:v>5579.537059789668</c:v>
                </c:pt>
                <c:pt idx="181">
                  <c:v>5675.895086240314</c:v>
                </c:pt>
                <c:pt idx="182">
                  <c:v>5808.4956013825495</c:v>
                </c:pt>
                <c:pt idx="183">
                  <c:v>5757.62791218063</c:v>
                </c:pt>
                <c:pt idx="184">
                  <c:v>5932.744366377286</c:v>
                </c:pt>
                <c:pt idx="185">
                  <c:v>5976.284740306631</c:v>
                </c:pt>
                <c:pt idx="186">
                  <c:v>6079.159404335164</c:v>
                </c:pt>
                <c:pt idx="187">
                  <c:v>6168.285684181939</c:v>
                </c:pt>
                <c:pt idx="188">
                  <c:v>6213.668250023082</c:v>
                </c:pt>
                <c:pt idx="189">
                  <c:v>6536.35610448085</c:v>
                </c:pt>
                <c:pt idx="190">
                  <c:v>6525.8144024047515</c:v>
                </c:pt>
                <c:pt idx="191">
                  <c:v>6751.422542966354</c:v>
                </c:pt>
                <c:pt idx="192">
                  <c:v>6650.011894349986</c:v>
                </c:pt>
                <c:pt idx="193">
                  <c:v>6873.334285310941</c:v>
                </c:pt>
                <c:pt idx="194">
                  <c:v>6859.594219968997</c:v>
                </c:pt>
                <c:pt idx="195">
                  <c:v>7133.068703451992</c:v>
                </c:pt>
                <c:pt idx="196">
                  <c:v>7243.013981821643</c:v>
                </c:pt>
                <c:pt idx="197">
                  <c:v>7316.467913333684</c:v>
                </c:pt>
                <c:pt idx="198">
                  <c:v>7303.865648511706</c:v>
                </c:pt>
                <c:pt idx="199">
                  <c:v>7395.385485036439</c:v>
                </c:pt>
                <c:pt idx="200">
                  <c:v>7586.143930624699</c:v>
                </c:pt>
                <c:pt idx="201">
                  <c:v>7614.033346100619</c:v>
                </c:pt>
                <c:pt idx="202">
                  <c:v>7684.470108373567</c:v>
                </c:pt>
                <c:pt idx="203">
                  <c:v>7737.040280587971</c:v>
                </c:pt>
                <c:pt idx="204">
                  <c:v>7893.420895029193</c:v>
                </c:pt>
                <c:pt idx="205">
                  <c:v>8005.984088985807</c:v>
                </c:pt>
                <c:pt idx="206">
                  <c:v>7924.560298940699</c:v>
                </c:pt>
                <c:pt idx="207">
                  <c:v>8154.990760253614</c:v>
                </c:pt>
                <c:pt idx="208">
                  <c:v>8201.820784426482</c:v>
                </c:pt>
                <c:pt idx="209">
                  <c:v>8325.625653040464</c:v>
                </c:pt>
                <c:pt idx="210">
                  <c:v>8353.517059159709</c:v>
                </c:pt>
                <c:pt idx="211">
                  <c:v>8518.21332311131</c:v>
                </c:pt>
                <c:pt idx="212">
                  <c:v>8698.355182774456</c:v>
                </c:pt>
                <c:pt idx="213">
                  <c:v>8769.531719393803</c:v>
                </c:pt>
                <c:pt idx="214">
                  <c:v>8804.590053551028</c:v>
                </c:pt>
                <c:pt idx="215">
                  <c:v>9006.08592342599</c:v>
                </c:pt>
                <c:pt idx="216">
                  <c:v>9045.359151745879</c:v>
                </c:pt>
                <c:pt idx="217">
                  <c:v>9328.365100680358</c:v>
                </c:pt>
                <c:pt idx="218">
                  <c:v>9273.10321861687</c:v>
                </c:pt>
                <c:pt idx="219">
                  <c:v>9371.85376792432</c:v>
                </c:pt>
                <c:pt idx="220">
                  <c:v>9514.18747711753</c:v>
                </c:pt>
                <c:pt idx="221">
                  <c:v>9781.547909751323</c:v>
                </c:pt>
                <c:pt idx="222">
                  <c:v>9862.427896768586</c:v>
                </c:pt>
                <c:pt idx="223">
                  <c:v>9833.982648390842</c:v>
                </c:pt>
                <c:pt idx="224">
                  <c:v>10052.336801666064</c:v>
                </c:pt>
                <c:pt idx="225">
                  <c:v>10097.83463439954</c:v>
                </c:pt>
                <c:pt idx="226">
                  <c:v>10526.114797047303</c:v>
                </c:pt>
                <c:pt idx="227">
                  <c:v>10645.92790682543</c:v>
                </c:pt>
                <c:pt idx="228">
                  <c:v>10739.37710515364</c:v>
                </c:pt>
                <c:pt idx="229">
                  <c:v>10764.161205737622</c:v>
                </c:pt>
                <c:pt idx="230">
                  <c:v>10814.945303356822</c:v>
                </c:pt>
                <c:pt idx="231">
                  <c:v>11195.152466669362</c:v>
                </c:pt>
                <c:pt idx="232">
                  <c:v>11408.610684895928</c:v>
                </c:pt>
                <c:pt idx="233">
                  <c:v>11747.652914806586</c:v>
                </c:pt>
                <c:pt idx="234">
                  <c:v>11557.524239764147</c:v>
                </c:pt>
                <c:pt idx="235">
                  <c:v>11548.8495478799</c:v>
                </c:pt>
                <c:pt idx="236">
                  <c:v>11931.261455754251</c:v>
                </c:pt>
                <c:pt idx="237">
                  <c:v>12184.825316086775</c:v>
                </c:pt>
                <c:pt idx="238">
                  <c:v>12401.16589189614</c:v>
                </c:pt>
                <c:pt idx="239">
                  <c:v>12582.178354796357</c:v>
                </c:pt>
              </c:numCache>
            </c:numRef>
          </c:val>
          <c:smooth val="0"/>
        </c:ser>
        <c:ser>
          <c:idx val="3"/>
          <c:order val="3"/>
          <c:tx>
            <c:strRef>
              <c:f>Sheet1!$E$1</c:f>
              <c:strCache>
                <c:ptCount val="1"/>
                <c:pt idx="0">
                  <c:v>원금</c:v>
                </c:pt>
              </c:strCache>
            </c:strRef>
          </c:tx>
          <c:spPr>
            <a:ln w="12700">
              <a:solidFill>
                <a:srgbClr val="1A1E25"/>
              </a:solidFill>
              <a:prstDash val="sysDash"/>
            </a:ln>
          </c:spPr>
          <c:marker>
            <c:symbol val="none"/>
          </c:marker>
          <c:cat>
            <c:strRef>
              <c:f>Sheet1!$A$2:$A$241</c:f>
              <c:strCache>
                <c:ptCount val="240"/>
                <c:pt idx="0">
                  <c:v>1년</c:v>
                </c:pt>
                <c:pt idx="1">
                  <c:v>1년</c:v>
                </c:pt>
                <c:pt idx="2">
                  <c:v>1년</c:v>
                </c:pt>
                <c:pt idx="3">
                  <c:v>1년</c:v>
                </c:pt>
                <c:pt idx="4">
                  <c:v>1년</c:v>
                </c:pt>
                <c:pt idx="5">
                  <c:v>1년</c:v>
                </c:pt>
                <c:pt idx="6">
                  <c:v>1년</c:v>
                </c:pt>
                <c:pt idx="7">
                  <c:v>1년</c:v>
                </c:pt>
                <c:pt idx="8">
                  <c:v>1년</c:v>
                </c:pt>
                <c:pt idx="9">
                  <c:v>1년</c:v>
                </c:pt>
                <c:pt idx="10">
                  <c:v>1년</c:v>
                </c:pt>
                <c:pt idx="11">
                  <c:v>1년</c:v>
                </c:pt>
                <c:pt idx="12">
                  <c:v>2년</c:v>
                </c:pt>
                <c:pt idx="13">
                  <c:v>2년</c:v>
                </c:pt>
                <c:pt idx="14">
                  <c:v>2년</c:v>
                </c:pt>
                <c:pt idx="15">
                  <c:v>2년</c:v>
                </c:pt>
                <c:pt idx="16">
                  <c:v>2년</c:v>
                </c:pt>
                <c:pt idx="17">
                  <c:v>2년</c:v>
                </c:pt>
                <c:pt idx="18">
                  <c:v>2년</c:v>
                </c:pt>
                <c:pt idx="19">
                  <c:v>2년</c:v>
                </c:pt>
                <c:pt idx="20">
                  <c:v>2년</c:v>
                </c:pt>
                <c:pt idx="21">
                  <c:v>2년</c:v>
                </c:pt>
                <c:pt idx="22">
                  <c:v>2년</c:v>
                </c:pt>
                <c:pt idx="23">
                  <c:v>2년</c:v>
                </c:pt>
                <c:pt idx="24">
                  <c:v>3년</c:v>
                </c:pt>
                <c:pt idx="25">
                  <c:v>3년</c:v>
                </c:pt>
                <c:pt idx="26">
                  <c:v>3년</c:v>
                </c:pt>
                <c:pt idx="27">
                  <c:v>3년</c:v>
                </c:pt>
                <c:pt idx="28">
                  <c:v>3년</c:v>
                </c:pt>
                <c:pt idx="29">
                  <c:v>3년</c:v>
                </c:pt>
                <c:pt idx="30">
                  <c:v>3년</c:v>
                </c:pt>
                <c:pt idx="31">
                  <c:v>3년</c:v>
                </c:pt>
                <c:pt idx="32">
                  <c:v>3년</c:v>
                </c:pt>
                <c:pt idx="33">
                  <c:v>3년</c:v>
                </c:pt>
                <c:pt idx="34">
                  <c:v>3년</c:v>
                </c:pt>
                <c:pt idx="35">
                  <c:v>3년</c:v>
                </c:pt>
                <c:pt idx="36">
                  <c:v>4년</c:v>
                </c:pt>
                <c:pt idx="37">
                  <c:v>4년</c:v>
                </c:pt>
                <c:pt idx="38">
                  <c:v>4년</c:v>
                </c:pt>
                <c:pt idx="39">
                  <c:v>4년</c:v>
                </c:pt>
                <c:pt idx="40">
                  <c:v>4년</c:v>
                </c:pt>
                <c:pt idx="41">
                  <c:v>4년</c:v>
                </c:pt>
                <c:pt idx="42">
                  <c:v>4년</c:v>
                </c:pt>
                <c:pt idx="43">
                  <c:v>4년</c:v>
                </c:pt>
                <c:pt idx="44">
                  <c:v>4년</c:v>
                </c:pt>
                <c:pt idx="45">
                  <c:v>4년</c:v>
                </c:pt>
                <c:pt idx="46">
                  <c:v>4년</c:v>
                </c:pt>
                <c:pt idx="47">
                  <c:v>4년</c:v>
                </c:pt>
                <c:pt idx="48">
                  <c:v>5년</c:v>
                </c:pt>
                <c:pt idx="49">
                  <c:v>5년</c:v>
                </c:pt>
                <c:pt idx="50">
                  <c:v>5년</c:v>
                </c:pt>
                <c:pt idx="51">
                  <c:v>5년</c:v>
                </c:pt>
                <c:pt idx="52">
                  <c:v>5년</c:v>
                </c:pt>
                <c:pt idx="53">
                  <c:v>5년</c:v>
                </c:pt>
                <c:pt idx="54">
                  <c:v>5년</c:v>
                </c:pt>
                <c:pt idx="55">
                  <c:v>5년</c:v>
                </c:pt>
                <c:pt idx="56">
                  <c:v>5년</c:v>
                </c:pt>
                <c:pt idx="57">
                  <c:v>5년</c:v>
                </c:pt>
                <c:pt idx="58">
                  <c:v>5년</c:v>
                </c:pt>
                <c:pt idx="59">
                  <c:v>5년</c:v>
                </c:pt>
                <c:pt idx="60">
                  <c:v>6년</c:v>
                </c:pt>
                <c:pt idx="61">
                  <c:v>6년</c:v>
                </c:pt>
                <c:pt idx="62">
                  <c:v>6년</c:v>
                </c:pt>
                <c:pt idx="63">
                  <c:v>6년</c:v>
                </c:pt>
                <c:pt idx="64">
                  <c:v>6년</c:v>
                </c:pt>
                <c:pt idx="65">
                  <c:v>6년</c:v>
                </c:pt>
                <c:pt idx="66">
                  <c:v>6년</c:v>
                </c:pt>
                <c:pt idx="67">
                  <c:v>6년</c:v>
                </c:pt>
                <c:pt idx="68">
                  <c:v>6년</c:v>
                </c:pt>
                <c:pt idx="69">
                  <c:v>6년</c:v>
                </c:pt>
                <c:pt idx="70">
                  <c:v>6년</c:v>
                </c:pt>
                <c:pt idx="71">
                  <c:v>6년</c:v>
                </c:pt>
                <c:pt idx="72">
                  <c:v>7년</c:v>
                </c:pt>
                <c:pt idx="73">
                  <c:v>7년</c:v>
                </c:pt>
                <c:pt idx="74">
                  <c:v>7년</c:v>
                </c:pt>
                <c:pt idx="75">
                  <c:v>7년</c:v>
                </c:pt>
                <c:pt idx="76">
                  <c:v>7년</c:v>
                </c:pt>
                <c:pt idx="77">
                  <c:v>7년</c:v>
                </c:pt>
                <c:pt idx="78">
                  <c:v>7년</c:v>
                </c:pt>
                <c:pt idx="79">
                  <c:v>7년</c:v>
                </c:pt>
                <c:pt idx="80">
                  <c:v>7년</c:v>
                </c:pt>
                <c:pt idx="81">
                  <c:v>7년</c:v>
                </c:pt>
                <c:pt idx="82">
                  <c:v>7년</c:v>
                </c:pt>
                <c:pt idx="83">
                  <c:v>7년</c:v>
                </c:pt>
                <c:pt idx="84">
                  <c:v>8년</c:v>
                </c:pt>
                <c:pt idx="85">
                  <c:v>8년</c:v>
                </c:pt>
                <c:pt idx="86">
                  <c:v>8년</c:v>
                </c:pt>
                <c:pt idx="87">
                  <c:v>8년</c:v>
                </c:pt>
                <c:pt idx="88">
                  <c:v>8년</c:v>
                </c:pt>
                <c:pt idx="89">
                  <c:v>8년</c:v>
                </c:pt>
                <c:pt idx="90">
                  <c:v>8년</c:v>
                </c:pt>
                <c:pt idx="91">
                  <c:v>8년</c:v>
                </c:pt>
                <c:pt idx="92">
                  <c:v>8년</c:v>
                </c:pt>
                <c:pt idx="93">
                  <c:v>8년</c:v>
                </c:pt>
                <c:pt idx="94">
                  <c:v>8년</c:v>
                </c:pt>
                <c:pt idx="95">
                  <c:v>8년</c:v>
                </c:pt>
                <c:pt idx="96">
                  <c:v>9년</c:v>
                </c:pt>
                <c:pt idx="97">
                  <c:v>9년</c:v>
                </c:pt>
                <c:pt idx="98">
                  <c:v>9년</c:v>
                </c:pt>
                <c:pt idx="99">
                  <c:v>9년</c:v>
                </c:pt>
                <c:pt idx="100">
                  <c:v>9년</c:v>
                </c:pt>
                <c:pt idx="101">
                  <c:v>9년</c:v>
                </c:pt>
                <c:pt idx="102">
                  <c:v>9년</c:v>
                </c:pt>
                <c:pt idx="103">
                  <c:v>9년</c:v>
                </c:pt>
                <c:pt idx="104">
                  <c:v>9년</c:v>
                </c:pt>
                <c:pt idx="105">
                  <c:v>9년</c:v>
                </c:pt>
                <c:pt idx="106">
                  <c:v>9년</c:v>
                </c:pt>
                <c:pt idx="107">
                  <c:v>9년</c:v>
                </c:pt>
                <c:pt idx="108">
                  <c:v>10년</c:v>
                </c:pt>
                <c:pt idx="109">
                  <c:v>10년</c:v>
                </c:pt>
                <c:pt idx="110">
                  <c:v>10년</c:v>
                </c:pt>
                <c:pt idx="111">
                  <c:v>10년</c:v>
                </c:pt>
                <c:pt idx="112">
                  <c:v>10년</c:v>
                </c:pt>
                <c:pt idx="113">
                  <c:v>10년</c:v>
                </c:pt>
                <c:pt idx="114">
                  <c:v>10년</c:v>
                </c:pt>
                <c:pt idx="115">
                  <c:v>10년</c:v>
                </c:pt>
                <c:pt idx="116">
                  <c:v>10년</c:v>
                </c:pt>
                <c:pt idx="117">
                  <c:v>10년</c:v>
                </c:pt>
                <c:pt idx="118">
                  <c:v>10년</c:v>
                </c:pt>
                <c:pt idx="119">
                  <c:v>10년</c:v>
                </c:pt>
                <c:pt idx="120">
                  <c:v>11년</c:v>
                </c:pt>
                <c:pt idx="121">
                  <c:v>11년</c:v>
                </c:pt>
                <c:pt idx="122">
                  <c:v>11년</c:v>
                </c:pt>
                <c:pt idx="123">
                  <c:v>11년</c:v>
                </c:pt>
                <c:pt idx="124">
                  <c:v>11년</c:v>
                </c:pt>
                <c:pt idx="125">
                  <c:v>11년</c:v>
                </c:pt>
                <c:pt idx="126">
                  <c:v>11년</c:v>
                </c:pt>
                <c:pt idx="127">
                  <c:v>11년</c:v>
                </c:pt>
                <c:pt idx="128">
                  <c:v>11년</c:v>
                </c:pt>
                <c:pt idx="129">
                  <c:v>11년</c:v>
                </c:pt>
                <c:pt idx="130">
                  <c:v>11년</c:v>
                </c:pt>
                <c:pt idx="131">
                  <c:v>11년</c:v>
                </c:pt>
                <c:pt idx="132">
                  <c:v>12년</c:v>
                </c:pt>
                <c:pt idx="133">
                  <c:v>12년</c:v>
                </c:pt>
                <c:pt idx="134">
                  <c:v>12년</c:v>
                </c:pt>
                <c:pt idx="135">
                  <c:v>12년</c:v>
                </c:pt>
                <c:pt idx="136">
                  <c:v>12년</c:v>
                </c:pt>
                <c:pt idx="137">
                  <c:v>12년</c:v>
                </c:pt>
                <c:pt idx="138">
                  <c:v>12년</c:v>
                </c:pt>
                <c:pt idx="139">
                  <c:v>12년</c:v>
                </c:pt>
                <c:pt idx="140">
                  <c:v>12년</c:v>
                </c:pt>
                <c:pt idx="141">
                  <c:v>12년</c:v>
                </c:pt>
                <c:pt idx="142">
                  <c:v>12년</c:v>
                </c:pt>
                <c:pt idx="143">
                  <c:v>12년</c:v>
                </c:pt>
                <c:pt idx="144">
                  <c:v>13년</c:v>
                </c:pt>
                <c:pt idx="145">
                  <c:v>13년</c:v>
                </c:pt>
                <c:pt idx="146">
                  <c:v>13년</c:v>
                </c:pt>
                <c:pt idx="147">
                  <c:v>13년</c:v>
                </c:pt>
                <c:pt idx="148">
                  <c:v>13년</c:v>
                </c:pt>
                <c:pt idx="149">
                  <c:v>13년</c:v>
                </c:pt>
                <c:pt idx="150">
                  <c:v>13년</c:v>
                </c:pt>
                <c:pt idx="151">
                  <c:v>13년</c:v>
                </c:pt>
                <c:pt idx="152">
                  <c:v>13년</c:v>
                </c:pt>
                <c:pt idx="153">
                  <c:v>13년</c:v>
                </c:pt>
                <c:pt idx="154">
                  <c:v>13년</c:v>
                </c:pt>
                <c:pt idx="155">
                  <c:v>13년</c:v>
                </c:pt>
                <c:pt idx="156">
                  <c:v>14년</c:v>
                </c:pt>
                <c:pt idx="157">
                  <c:v>14년</c:v>
                </c:pt>
                <c:pt idx="158">
                  <c:v>14년</c:v>
                </c:pt>
                <c:pt idx="159">
                  <c:v>14년</c:v>
                </c:pt>
                <c:pt idx="160">
                  <c:v>14년</c:v>
                </c:pt>
                <c:pt idx="161">
                  <c:v>14년</c:v>
                </c:pt>
                <c:pt idx="162">
                  <c:v>14년</c:v>
                </c:pt>
                <c:pt idx="163">
                  <c:v>14년</c:v>
                </c:pt>
                <c:pt idx="164">
                  <c:v>14년</c:v>
                </c:pt>
                <c:pt idx="165">
                  <c:v>14년</c:v>
                </c:pt>
                <c:pt idx="166">
                  <c:v>14년</c:v>
                </c:pt>
                <c:pt idx="167">
                  <c:v>14년</c:v>
                </c:pt>
                <c:pt idx="168">
                  <c:v>15년</c:v>
                </c:pt>
                <c:pt idx="169">
                  <c:v>15년</c:v>
                </c:pt>
                <c:pt idx="170">
                  <c:v>15년</c:v>
                </c:pt>
                <c:pt idx="171">
                  <c:v>15년</c:v>
                </c:pt>
                <c:pt idx="172">
                  <c:v>15년</c:v>
                </c:pt>
                <c:pt idx="173">
                  <c:v>15년</c:v>
                </c:pt>
                <c:pt idx="174">
                  <c:v>15년</c:v>
                </c:pt>
                <c:pt idx="175">
                  <c:v>15년</c:v>
                </c:pt>
                <c:pt idx="176">
                  <c:v>15년</c:v>
                </c:pt>
                <c:pt idx="177">
                  <c:v>15년</c:v>
                </c:pt>
                <c:pt idx="178">
                  <c:v>15년</c:v>
                </c:pt>
                <c:pt idx="179">
                  <c:v>15년</c:v>
                </c:pt>
                <c:pt idx="180">
                  <c:v>16년</c:v>
                </c:pt>
                <c:pt idx="181">
                  <c:v>16년</c:v>
                </c:pt>
                <c:pt idx="182">
                  <c:v>16년</c:v>
                </c:pt>
                <c:pt idx="183">
                  <c:v>16년</c:v>
                </c:pt>
                <c:pt idx="184">
                  <c:v>16년</c:v>
                </c:pt>
                <c:pt idx="185">
                  <c:v>16년</c:v>
                </c:pt>
                <c:pt idx="186">
                  <c:v>16년</c:v>
                </c:pt>
                <c:pt idx="187">
                  <c:v>16년</c:v>
                </c:pt>
                <c:pt idx="188">
                  <c:v>16년</c:v>
                </c:pt>
                <c:pt idx="189">
                  <c:v>16년</c:v>
                </c:pt>
                <c:pt idx="190">
                  <c:v>16년</c:v>
                </c:pt>
                <c:pt idx="191">
                  <c:v>16년</c:v>
                </c:pt>
                <c:pt idx="192">
                  <c:v>17년</c:v>
                </c:pt>
                <c:pt idx="193">
                  <c:v>17년</c:v>
                </c:pt>
                <c:pt idx="194">
                  <c:v>17년</c:v>
                </c:pt>
                <c:pt idx="195">
                  <c:v>17년</c:v>
                </c:pt>
                <c:pt idx="196">
                  <c:v>17년</c:v>
                </c:pt>
                <c:pt idx="197">
                  <c:v>17년</c:v>
                </c:pt>
                <c:pt idx="198">
                  <c:v>17년</c:v>
                </c:pt>
                <c:pt idx="199">
                  <c:v>17년</c:v>
                </c:pt>
                <c:pt idx="200">
                  <c:v>17년</c:v>
                </c:pt>
                <c:pt idx="201">
                  <c:v>17년</c:v>
                </c:pt>
                <c:pt idx="202">
                  <c:v>17년</c:v>
                </c:pt>
                <c:pt idx="203">
                  <c:v>17년</c:v>
                </c:pt>
                <c:pt idx="204">
                  <c:v>18년</c:v>
                </c:pt>
                <c:pt idx="205">
                  <c:v>18년</c:v>
                </c:pt>
                <c:pt idx="206">
                  <c:v>18년</c:v>
                </c:pt>
                <c:pt idx="207">
                  <c:v>18년</c:v>
                </c:pt>
                <c:pt idx="208">
                  <c:v>18년</c:v>
                </c:pt>
                <c:pt idx="209">
                  <c:v>18년</c:v>
                </c:pt>
                <c:pt idx="210">
                  <c:v>18년</c:v>
                </c:pt>
                <c:pt idx="211">
                  <c:v>18년</c:v>
                </c:pt>
                <c:pt idx="212">
                  <c:v>18년</c:v>
                </c:pt>
                <c:pt idx="213">
                  <c:v>18년</c:v>
                </c:pt>
                <c:pt idx="214">
                  <c:v>18년</c:v>
                </c:pt>
                <c:pt idx="215">
                  <c:v>18년</c:v>
                </c:pt>
                <c:pt idx="216">
                  <c:v>19년</c:v>
                </c:pt>
                <c:pt idx="217">
                  <c:v>19년</c:v>
                </c:pt>
                <c:pt idx="218">
                  <c:v>19년</c:v>
                </c:pt>
                <c:pt idx="219">
                  <c:v>19년</c:v>
                </c:pt>
                <c:pt idx="220">
                  <c:v>19년</c:v>
                </c:pt>
                <c:pt idx="221">
                  <c:v>19년</c:v>
                </c:pt>
                <c:pt idx="222">
                  <c:v>19년</c:v>
                </c:pt>
                <c:pt idx="223">
                  <c:v>19년</c:v>
                </c:pt>
                <c:pt idx="224">
                  <c:v>19년</c:v>
                </c:pt>
                <c:pt idx="225">
                  <c:v>19년</c:v>
                </c:pt>
                <c:pt idx="226">
                  <c:v>19년</c:v>
                </c:pt>
                <c:pt idx="227">
                  <c:v>19년</c:v>
                </c:pt>
                <c:pt idx="228">
                  <c:v>20년</c:v>
                </c:pt>
                <c:pt idx="229">
                  <c:v>20년</c:v>
                </c:pt>
                <c:pt idx="230">
                  <c:v>20년</c:v>
                </c:pt>
                <c:pt idx="231">
                  <c:v>20년</c:v>
                </c:pt>
                <c:pt idx="232">
                  <c:v>20년</c:v>
                </c:pt>
                <c:pt idx="233">
                  <c:v>20년</c:v>
                </c:pt>
                <c:pt idx="234">
                  <c:v>20년</c:v>
                </c:pt>
                <c:pt idx="235">
                  <c:v>20년</c:v>
                </c:pt>
                <c:pt idx="236">
                  <c:v>20년</c:v>
                </c:pt>
                <c:pt idx="237">
                  <c:v>20년</c:v>
                </c:pt>
                <c:pt idx="238">
                  <c:v>20년</c:v>
                </c:pt>
                <c:pt idx="239">
                  <c:v>20년</c:v>
                </c:pt>
              </c:strCache>
            </c:strRef>
          </c:cat>
          <c:val>
            <c:numRef>
              <c:f>Sheet1!$E$2:$E$241</c:f>
              <c:numCache>
                <c:formatCode>General</c:formatCode>
                <c:ptCount val="240"/>
                <c:pt idx="0">
                  <c:v>10</c:v>
                </c:pt>
                <c:pt idx="1">
                  <c:v>20</c:v>
                </c:pt>
                <c:pt idx="2">
                  <c:v>30</c:v>
                </c:pt>
                <c:pt idx="3">
                  <c:v>40</c:v>
                </c:pt>
                <c:pt idx="4">
                  <c:v>50</c:v>
                </c:pt>
                <c:pt idx="5">
                  <c:v>60</c:v>
                </c:pt>
                <c:pt idx="6">
                  <c:v>70</c:v>
                </c:pt>
                <c:pt idx="7">
                  <c:v>80</c:v>
                </c:pt>
                <c:pt idx="8">
                  <c:v>90</c:v>
                </c:pt>
                <c:pt idx="9">
                  <c:v>100</c:v>
                </c:pt>
                <c:pt idx="10">
                  <c:v>110</c:v>
                </c:pt>
                <c:pt idx="11">
                  <c:v>120</c:v>
                </c:pt>
                <c:pt idx="12">
                  <c:v>130</c:v>
                </c:pt>
                <c:pt idx="13">
                  <c:v>140</c:v>
                </c:pt>
                <c:pt idx="14">
                  <c:v>150</c:v>
                </c:pt>
                <c:pt idx="15">
                  <c:v>160</c:v>
                </c:pt>
                <c:pt idx="16">
                  <c:v>170</c:v>
                </c:pt>
                <c:pt idx="17">
                  <c:v>180</c:v>
                </c:pt>
                <c:pt idx="18">
                  <c:v>190</c:v>
                </c:pt>
                <c:pt idx="19">
                  <c:v>200</c:v>
                </c:pt>
                <c:pt idx="20">
                  <c:v>210</c:v>
                </c:pt>
                <c:pt idx="21">
                  <c:v>220</c:v>
                </c:pt>
                <c:pt idx="22">
                  <c:v>230</c:v>
                </c:pt>
                <c:pt idx="23">
                  <c:v>240</c:v>
                </c:pt>
                <c:pt idx="24">
                  <c:v>250</c:v>
                </c:pt>
                <c:pt idx="25">
                  <c:v>260</c:v>
                </c:pt>
                <c:pt idx="26">
                  <c:v>270</c:v>
                </c:pt>
                <c:pt idx="27">
                  <c:v>280</c:v>
                </c:pt>
                <c:pt idx="28">
                  <c:v>290</c:v>
                </c:pt>
                <c:pt idx="29">
                  <c:v>300</c:v>
                </c:pt>
                <c:pt idx="30">
                  <c:v>310</c:v>
                </c:pt>
                <c:pt idx="31">
                  <c:v>320</c:v>
                </c:pt>
                <c:pt idx="32">
                  <c:v>330</c:v>
                </c:pt>
                <c:pt idx="33">
                  <c:v>340</c:v>
                </c:pt>
                <c:pt idx="34">
                  <c:v>350</c:v>
                </c:pt>
                <c:pt idx="35">
                  <c:v>360</c:v>
                </c:pt>
                <c:pt idx="36">
                  <c:v>370</c:v>
                </c:pt>
                <c:pt idx="37">
                  <c:v>380</c:v>
                </c:pt>
                <c:pt idx="38">
                  <c:v>390</c:v>
                </c:pt>
                <c:pt idx="39">
                  <c:v>400</c:v>
                </c:pt>
                <c:pt idx="40">
                  <c:v>410</c:v>
                </c:pt>
                <c:pt idx="41">
                  <c:v>420</c:v>
                </c:pt>
                <c:pt idx="42">
                  <c:v>430</c:v>
                </c:pt>
                <c:pt idx="43">
                  <c:v>440</c:v>
                </c:pt>
                <c:pt idx="44">
                  <c:v>450</c:v>
                </c:pt>
                <c:pt idx="45">
                  <c:v>460</c:v>
                </c:pt>
                <c:pt idx="46">
                  <c:v>470</c:v>
                </c:pt>
                <c:pt idx="47">
                  <c:v>480</c:v>
                </c:pt>
                <c:pt idx="48">
                  <c:v>490</c:v>
                </c:pt>
                <c:pt idx="49">
                  <c:v>500</c:v>
                </c:pt>
                <c:pt idx="50">
                  <c:v>510</c:v>
                </c:pt>
                <c:pt idx="51">
                  <c:v>520</c:v>
                </c:pt>
                <c:pt idx="52">
                  <c:v>530</c:v>
                </c:pt>
                <c:pt idx="53">
                  <c:v>540</c:v>
                </c:pt>
                <c:pt idx="54">
                  <c:v>550</c:v>
                </c:pt>
                <c:pt idx="55">
                  <c:v>560</c:v>
                </c:pt>
                <c:pt idx="56">
                  <c:v>570</c:v>
                </c:pt>
                <c:pt idx="57">
                  <c:v>580</c:v>
                </c:pt>
                <c:pt idx="58">
                  <c:v>590</c:v>
                </c:pt>
                <c:pt idx="59">
                  <c:v>600</c:v>
                </c:pt>
                <c:pt idx="60">
                  <c:v>610</c:v>
                </c:pt>
                <c:pt idx="61">
                  <c:v>620</c:v>
                </c:pt>
                <c:pt idx="62">
                  <c:v>630</c:v>
                </c:pt>
                <c:pt idx="63">
                  <c:v>640</c:v>
                </c:pt>
                <c:pt idx="64">
                  <c:v>650</c:v>
                </c:pt>
                <c:pt idx="65">
                  <c:v>660</c:v>
                </c:pt>
                <c:pt idx="66">
                  <c:v>670</c:v>
                </c:pt>
                <c:pt idx="67">
                  <c:v>680</c:v>
                </c:pt>
                <c:pt idx="68">
                  <c:v>690</c:v>
                </c:pt>
                <c:pt idx="69">
                  <c:v>700</c:v>
                </c:pt>
                <c:pt idx="70">
                  <c:v>710</c:v>
                </c:pt>
                <c:pt idx="71">
                  <c:v>720</c:v>
                </c:pt>
                <c:pt idx="72">
                  <c:v>730</c:v>
                </c:pt>
                <c:pt idx="73">
                  <c:v>740</c:v>
                </c:pt>
                <c:pt idx="74">
                  <c:v>750</c:v>
                </c:pt>
                <c:pt idx="75">
                  <c:v>760</c:v>
                </c:pt>
                <c:pt idx="76">
                  <c:v>770</c:v>
                </c:pt>
                <c:pt idx="77">
                  <c:v>780</c:v>
                </c:pt>
                <c:pt idx="78">
                  <c:v>790</c:v>
                </c:pt>
                <c:pt idx="79">
                  <c:v>800</c:v>
                </c:pt>
                <c:pt idx="80">
                  <c:v>810</c:v>
                </c:pt>
                <c:pt idx="81">
                  <c:v>820</c:v>
                </c:pt>
                <c:pt idx="82">
                  <c:v>830</c:v>
                </c:pt>
                <c:pt idx="83">
                  <c:v>840</c:v>
                </c:pt>
                <c:pt idx="84">
                  <c:v>850</c:v>
                </c:pt>
                <c:pt idx="85">
                  <c:v>860</c:v>
                </c:pt>
                <c:pt idx="86">
                  <c:v>870</c:v>
                </c:pt>
                <c:pt idx="87">
                  <c:v>880</c:v>
                </c:pt>
                <c:pt idx="88">
                  <c:v>890</c:v>
                </c:pt>
                <c:pt idx="89">
                  <c:v>900</c:v>
                </c:pt>
                <c:pt idx="90">
                  <c:v>910</c:v>
                </c:pt>
                <c:pt idx="91">
                  <c:v>920</c:v>
                </c:pt>
                <c:pt idx="92">
                  <c:v>930</c:v>
                </c:pt>
                <c:pt idx="93">
                  <c:v>940</c:v>
                </c:pt>
                <c:pt idx="94">
                  <c:v>950</c:v>
                </c:pt>
                <c:pt idx="95">
                  <c:v>960</c:v>
                </c:pt>
                <c:pt idx="96">
                  <c:v>970</c:v>
                </c:pt>
                <c:pt idx="97">
                  <c:v>980</c:v>
                </c:pt>
                <c:pt idx="98">
                  <c:v>990</c:v>
                </c:pt>
                <c:pt idx="99">
                  <c:v>1000</c:v>
                </c:pt>
                <c:pt idx="100">
                  <c:v>1010</c:v>
                </c:pt>
                <c:pt idx="101">
                  <c:v>1020</c:v>
                </c:pt>
                <c:pt idx="102">
                  <c:v>1030</c:v>
                </c:pt>
                <c:pt idx="103">
                  <c:v>1040</c:v>
                </c:pt>
                <c:pt idx="104">
                  <c:v>1050</c:v>
                </c:pt>
                <c:pt idx="105">
                  <c:v>1060</c:v>
                </c:pt>
                <c:pt idx="106">
                  <c:v>1070</c:v>
                </c:pt>
                <c:pt idx="107">
                  <c:v>1080</c:v>
                </c:pt>
                <c:pt idx="108">
                  <c:v>1090</c:v>
                </c:pt>
                <c:pt idx="109">
                  <c:v>1100</c:v>
                </c:pt>
                <c:pt idx="110">
                  <c:v>1110</c:v>
                </c:pt>
                <c:pt idx="111">
                  <c:v>1120</c:v>
                </c:pt>
                <c:pt idx="112">
                  <c:v>1130</c:v>
                </c:pt>
                <c:pt idx="113">
                  <c:v>1140</c:v>
                </c:pt>
                <c:pt idx="114">
                  <c:v>1150</c:v>
                </c:pt>
                <c:pt idx="115">
                  <c:v>1160</c:v>
                </c:pt>
                <c:pt idx="116">
                  <c:v>1170</c:v>
                </c:pt>
                <c:pt idx="117">
                  <c:v>1180</c:v>
                </c:pt>
                <c:pt idx="118">
                  <c:v>1190</c:v>
                </c:pt>
                <c:pt idx="119">
                  <c:v>1200</c:v>
                </c:pt>
                <c:pt idx="120">
                  <c:v>1210</c:v>
                </c:pt>
                <c:pt idx="121">
                  <c:v>1220</c:v>
                </c:pt>
                <c:pt idx="122">
                  <c:v>1230</c:v>
                </c:pt>
                <c:pt idx="123">
                  <c:v>1240</c:v>
                </c:pt>
                <c:pt idx="124">
                  <c:v>1250</c:v>
                </c:pt>
                <c:pt idx="125">
                  <c:v>1260</c:v>
                </c:pt>
                <c:pt idx="126">
                  <c:v>1270</c:v>
                </c:pt>
                <c:pt idx="127">
                  <c:v>1280</c:v>
                </c:pt>
                <c:pt idx="128">
                  <c:v>1290</c:v>
                </c:pt>
                <c:pt idx="129">
                  <c:v>1300</c:v>
                </c:pt>
                <c:pt idx="130">
                  <c:v>1310</c:v>
                </c:pt>
                <c:pt idx="131">
                  <c:v>1320</c:v>
                </c:pt>
                <c:pt idx="132">
                  <c:v>1330</c:v>
                </c:pt>
                <c:pt idx="133">
                  <c:v>1340</c:v>
                </c:pt>
                <c:pt idx="134">
                  <c:v>1350</c:v>
                </c:pt>
                <c:pt idx="135">
                  <c:v>1360</c:v>
                </c:pt>
                <c:pt idx="136">
                  <c:v>1370</c:v>
                </c:pt>
                <c:pt idx="137">
                  <c:v>1380</c:v>
                </c:pt>
                <c:pt idx="138">
                  <c:v>1390</c:v>
                </c:pt>
                <c:pt idx="139">
                  <c:v>1400</c:v>
                </c:pt>
                <c:pt idx="140">
                  <c:v>1410</c:v>
                </c:pt>
                <c:pt idx="141">
                  <c:v>1420</c:v>
                </c:pt>
                <c:pt idx="142">
                  <c:v>1430</c:v>
                </c:pt>
                <c:pt idx="143">
                  <c:v>1440</c:v>
                </c:pt>
                <c:pt idx="144">
                  <c:v>1450</c:v>
                </c:pt>
                <c:pt idx="145">
                  <c:v>1460</c:v>
                </c:pt>
                <c:pt idx="146">
                  <c:v>1470</c:v>
                </c:pt>
                <c:pt idx="147">
                  <c:v>1480</c:v>
                </c:pt>
                <c:pt idx="148">
                  <c:v>1490</c:v>
                </c:pt>
                <c:pt idx="149">
                  <c:v>1500</c:v>
                </c:pt>
                <c:pt idx="150">
                  <c:v>1510</c:v>
                </c:pt>
                <c:pt idx="151">
                  <c:v>1520</c:v>
                </c:pt>
                <c:pt idx="152">
                  <c:v>1530</c:v>
                </c:pt>
                <c:pt idx="153">
                  <c:v>1540</c:v>
                </c:pt>
                <c:pt idx="154">
                  <c:v>1550</c:v>
                </c:pt>
                <c:pt idx="155">
                  <c:v>1560</c:v>
                </c:pt>
                <c:pt idx="156">
                  <c:v>1570</c:v>
                </c:pt>
                <c:pt idx="157">
                  <c:v>1580</c:v>
                </c:pt>
                <c:pt idx="158">
                  <c:v>1590</c:v>
                </c:pt>
                <c:pt idx="159">
                  <c:v>1600</c:v>
                </c:pt>
                <c:pt idx="160">
                  <c:v>1610</c:v>
                </c:pt>
                <c:pt idx="161">
                  <c:v>1620</c:v>
                </c:pt>
                <c:pt idx="162">
                  <c:v>1630</c:v>
                </c:pt>
                <c:pt idx="163">
                  <c:v>1640</c:v>
                </c:pt>
                <c:pt idx="164">
                  <c:v>1650</c:v>
                </c:pt>
                <c:pt idx="165">
                  <c:v>1660</c:v>
                </c:pt>
                <c:pt idx="166">
                  <c:v>1670</c:v>
                </c:pt>
                <c:pt idx="167">
                  <c:v>1680</c:v>
                </c:pt>
                <c:pt idx="168">
                  <c:v>1690</c:v>
                </c:pt>
                <c:pt idx="169">
                  <c:v>1700</c:v>
                </c:pt>
                <c:pt idx="170">
                  <c:v>1710</c:v>
                </c:pt>
                <c:pt idx="171">
                  <c:v>1720</c:v>
                </c:pt>
                <c:pt idx="172">
                  <c:v>1730</c:v>
                </c:pt>
                <c:pt idx="173">
                  <c:v>1740</c:v>
                </c:pt>
                <c:pt idx="174">
                  <c:v>1750</c:v>
                </c:pt>
                <c:pt idx="175">
                  <c:v>1760</c:v>
                </c:pt>
                <c:pt idx="176">
                  <c:v>1770</c:v>
                </c:pt>
                <c:pt idx="177">
                  <c:v>1780</c:v>
                </c:pt>
                <c:pt idx="178">
                  <c:v>1790</c:v>
                </c:pt>
                <c:pt idx="179">
                  <c:v>1800</c:v>
                </c:pt>
                <c:pt idx="180">
                  <c:v>1810</c:v>
                </c:pt>
                <c:pt idx="181">
                  <c:v>1820</c:v>
                </c:pt>
                <c:pt idx="182">
                  <c:v>1830</c:v>
                </c:pt>
                <c:pt idx="183">
                  <c:v>1840</c:v>
                </c:pt>
                <c:pt idx="184">
                  <c:v>1850</c:v>
                </c:pt>
                <c:pt idx="185">
                  <c:v>1860</c:v>
                </c:pt>
                <c:pt idx="186">
                  <c:v>1870</c:v>
                </c:pt>
                <c:pt idx="187">
                  <c:v>1880</c:v>
                </c:pt>
                <c:pt idx="188">
                  <c:v>1890</c:v>
                </c:pt>
                <c:pt idx="189">
                  <c:v>1900</c:v>
                </c:pt>
                <c:pt idx="190">
                  <c:v>1910</c:v>
                </c:pt>
                <c:pt idx="191">
                  <c:v>1920</c:v>
                </c:pt>
                <c:pt idx="192">
                  <c:v>1930</c:v>
                </c:pt>
                <c:pt idx="193">
                  <c:v>1940</c:v>
                </c:pt>
                <c:pt idx="194">
                  <c:v>1950</c:v>
                </c:pt>
                <c:pt idx="195">
                  <c:v>1960</c:v>
                </c:pt>
                <c:pt idx="196">
                  <c:v>1970</c:v>
                </c:pt>
                <c:pt idx="197">
                  <c:v>1980</c:v>
                </c:pt>
                <c:pt idx="198">
                  <c:v>1990</c:v>
                </c:pt>
                <c:pt idx="199">
                  <c:v>2000</c:v>
                </c:pt>
                <c:pt idx="200">
                  <c:v>2010</c:v>
                </c:pt>
                <c:pt idx="201">
                  <c:v>2020</c:v>
                </c:pt>
                <c:pt idx="202">
                  <c:v>2030</c:v>
                </c:pt>
                <c:pt idx="203">
                  <c:v>2040</c:v>
                </c:pt>
                <c:pt idx="204">
                  <c:v>2050</c:v>
                </c:pt>
                <c:pt idx="205">
                  <c:v>2060</c:v>
                </c:pt>
                <c:pt idx="206">
                  <c:v>2070</c:v>
                </c:pt>
                <c:pt idx="207">
                  <c:v>2080</c:v>
                </c:pt>
                <c:pt idx="208">
                  <c:v>2090</c:v>
                </c:pt>
                <c:pt idx="209">
                  <c:v>2100</c:v>
                </c:pt>
                <c:pt idx="210">
                  <c:v>2110</c:v>
                </c:pt>
                <c:pt idx="211">
                  <c:v>2120</c:v>
                </c:pt>
                <c:pt idx="212">
                  <c:v>2130</c:v>
                </c:pt>
                <c:pt idx="213">
                  <c:v>2140</c:v>
                </c:pt>
                <c:pt idx="214">
                  <c:v>2150</c:v>
                </c:pt>
                <c:pt idx="215">
                  <c:v>2160</c:v>
                </c:pt>
                <c:pt idx="216">
                  <c:v>2170</c:v>
                </c:pt>
                <c:pt idx="217">
                  <c:v>2180</c:v>
                </c:pt>
                <c:pt idx="218">
                  <c:v>2190</c:v>
                </c:pt>
                <c:pt idx="219">
                  <c:v>2200</c:v>
                </c:pt>
                <c:pt idx="220">
                  <c:v>2210</c:v>
                </c:pt>
                <c:pt idx="221">
                  <c:v>2220</c:v>
                </c:pt>
                <c:pt idx="222">
                  <c:v>2230</c:v>
                </c:pt>
                <c:pt idx="223">
                  <c:v>2240</c:v>
                </c:pt>
                <c:pt idx="224">
                  <c:v>2250</c:v>
                </c:pt>
                <c:pt idx="225">
                  <c:v>2260</c:v>
                </c:pt>
                <c:pt idx="226">
                  <c:v>2270</c:v>
                </c:pt>
                <c:pt idx="227">
                  <c:v>2280</c:v>
                </c:pt>
                <c:pt idx="228">
                  <c:v>2290</c:v>
                </c:pt>
                <c:pt idx="229">
                  <c:v>2300</c:v>
                </c:pt>
                <c:pt idx="230">
                  <c:v>2310</c:v>
                </c:pt>
                <c:pt idx="231">
                  <c:v>2320</c:v>
                </c:pt>
                <c:pt idx="232">
                  <c:v>2330</c:v>
                </c:pt>
                <c:pt idx="233">
                  <c:v>2340</c:v>
                </c:pt>
                <c:pt idx="234">
                  <c:v>2350</c:v>
                </c:pt>
                <c:pt idx="235">
                  <c:v>2360</c:v>
                </c:pt>
                <c:pt idx="236">
                  <c:v>2370</c:v>
                </c:pt>
                <c:pt idx="237">
                  <c:v>2380</c:v>
                </c:pt>
                <c:pt idx="238">
                  <c:v>2390</c:v>
                </c:pt>
                <c:pt idx="239">
                  <c:v>2400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40495176"/>
        <c:crosses val="autoZero"/>
        <c:auto val="1"/>
        <c:lblAlgn val="ctr"/>
        <c:lblOffset val="100"/>
        <c:noMultiLvlLbl val="0"/>
        <c:tickLblSkip val="24"/>
        <c:tickMarkSkip val="24"/>
      </c:catAx>
      <c:valAx>
        <c:axId val="2140495176"/>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118791784"/>
        <c:crosses val="autoZero"/>
      </c:valAx>
    </c:plotArea>
    <c:plotVisOnly val="1"/>
    <c:dispBlanksAs val="gap"/>
    <c:showDLblsOverMax val="0"/>
  </c:chart>
  <c:txPr>
    <a:bodyPr/>
    <a:lstStyle/>
    <a:p>
      <a:pPr>
        <a:defRPr sz="800">
          <a:solidFill>
            <a:srgbClr val="5C6573"/>
          </a:solidFill>
          <a:latin typeface="Noto Sans KR"/>
          <a:ea typeface="Noto Sans KR"/>
        </a:defRPr>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상위 10%</c:v>
                </c:pt>
              </c:strCache>
            </c:strRef>
          </c:tx>
          <c:spPr>
            <a:ln w="12700">
              <a:solidFill>
                <a:srgbClr val="1E9A84"/>
              </a:solidFill>
              <a:prstDash val="dash"/>
            </a:ln>
          </c:spPr>
          <c:marker>
            <c:symbol val="none"/>
          </c:marker>
          <c:cat>
            <c:strRef>
              <c:f>Sheet1!$A$2:$A$241</c:f>
              <c:strCache>
                <c:ptCount val="240"/>
                <c:pt idx="0">
                  <c:v>1년</c:v>
                </c:pt>
                <c:pt idx="1">
                  <c:v>1년</c:v>
                </c:pt>
                <c:pt idx="2">
                  <c:v>1년</c:v>
                </c:pt>
                <c:pt idx="3">
                  <c:v>1년</c:v>
                </c:pt>
                <c:pt idx="4">
                  <c:v>1년</c:v>
                </c:pt>
                <c:pt idx="5">
                  <c:v>1년</c:v>
                </c:pt>
                <c:pt idx="6">
                  <c:v>1년</c:v>
                </c:pt>
                <c:pt idx="7">
                  <c:v>1년</c:v>
                </c:pt>
                <c:pt idx="8">
                  <c:v>1년</c:v>
                </c:pt>
                <c:pt idx="9">
                  <c:v>1년</c:v>
                </c:pt>
                <c:pt idx="10">
                  <c:v>1년</c:v>
                </c:pt>
                <c:pt idx="11">
                  <c:v>1년</c:v>
                </c:pt>
                <c:pt idx="12">
                  <c:v>2년</c:v>
                </c:pt>
                <c:pt idx="13">
                  <c:v>2년</c:v>
                </c:pt>
                <c:pt idx="14">
                  <c:v>2년</c:v>
                </c:pt>
                <c:pt idx="15">
                  <c:v>2년</c:v>
                </c:pt>
                <c:pt idx="16">
                  <c:v>2년</c:v>
                </c:pt>
                <c:pt idx="17">
                  <c:v>2년</c:v>
                </c:pt>
                <c:pt idx="18">
                  <c:v>2년</c:v>
                </c:pt>
                <c:pt idx="19">
                  <c:v>2년</c:v>
                </c:pt>
                <c:pt idx="20">
                  <c:v>2년</c:v>
                </c:pt>
                <c:pt idx="21">
                  <c:v>2년</c:v>
                </c:pt>
                <c:pt idx="22">
                  <c:v>2년</c:v>
                </c:pt>
                <c:pt idx="23">
                  <c:v>2년</c:v>
                </c:pt>
                <c:pt idx="24">
                  <c:v>3년</c:v>
                </c:pt>
                <c:pt idx="25">
                  <c:v>3년</c:v>
                </c:pt>
                <c:pt idx="26">
                  <c:v>3년</c:v>
                </c:pt>
                <c:pt idx="27">
                  <c:v>3년</c:v>
                </c:pt>
                <c:pt idx="28">
                  <c:v>3년</c:v>
                </c:pt>
                <c:pt idx="29">
                  <c:v>3년</c:v>
                </c:pt>
                <c:pt idx="30">
                  <c:v>3년</c:v>
                </c:pt>
                <c:pt idx="31">
                  <c:v>3년</c:v>
                </c:pt>
                <c:pt idx="32">
                  <c:v>3년</c:v>
                </c:pt>
                <c:pt idx="33">
                  <c:v>3년</c:v>
                </c:pt>
                <c:pt idx="34">
                  <c:v>3년</c:v>
                </c:pt>
                <c:pt idx="35">
                  <c:v>3년</c:v>
                </c:pt>
                <c:pt idx="36">
                  <c:v>4년</c:v>
                </c:pt>
                <c:pt idx="37">
                  <c:v>4년</c:v>
                </c:pt>
                <c:pt idx="38">
                  <c:v>4년</c:v>
                </c:pt>
                <c:pt idx="39">
                  <c:v>4년</c:v>
                </c:pt>
                <c:pt idx="40">
                  <c:v>4년</c:v>
                </c:pt>
                <c:pt idx="41">
                  <c:v>4년</c:v>
                </c:pt>
                <c:pt idx="42">
                  <c:v>4년</c:v>
                </c:pt>
                <c:pt idx="43">
                  <c:v>4년</c:v>
                </c:pt>
                <c:pt idx="44">
                  <c:v>4년</c:v>
                </c:pt>
                <c:pt idx="45">
                  <c:v>4년</c:v>
                </c:pt>
                <c:pt idx="46">
                  <c:v>4년</c:v>
                </c:pt>
                <c:pt idx="47">
                  <c:v>4년</c:v>
                </c:pt>
                <c:pt idx="48">
                  <c:v>5년</c:v>
                </c:pt>
                <c:pt idx="49">
                  <c:v>5년</c:v>
                </c:pt>
                <c:pt idx="50">
                  <c:v>5년</c:v>
                </c:pt>
                <c:pt idx="51">
                  <c:v>5년</c:v>
                </c:pt>
                <c:pt idx="52">
                  <c:v>5년</c:v>
                </c:pt>
                <c:pt idx="53">
                  <c:v>5년</c:v>
                </c:pt>
                <c:pt idx="54">
                  <c:v>5년</c:v>
                </c:pt>
                <c:pt idx="55">
                  <c:v>5년</c:v>
                </c:pt>
                <c:pt idx="56">
                  <c:v>5년</c:v>
                </c:pt>
                <c:pt idx="57">
                  <c:v>5년</c:v>
                </c:pt>
                <c:pt idx="58">
                  <c:v>5년</c:v>
                </c:pt>
                <c:pt idx="59">
                  <c:v>5년</c:v>
                </c:pt>
                <c:pt idx="60">
                  <c:v>6년</c:v>
                </c:pt>
                <c:pt idx="61">
                  <c:v>6년</c:v>
                </c:pt>
                <c:pt idx="62">
                  <c:v>6년</c:v>
                </c:pt>
                <c:pt idx="63">
                  <c:v>6년</c:v>
                </c:pt>
                <c:pt idx="64">
                  <c:v>6년</c:v>
                </c:pt>
                <c:pt idx="65">
                  <c:v>6년</c:v>
                </c:pt>
                <c:pt idx="66">
                  <c:v>6년</c:v>
                </c:pt>
                <c:pt idx="67">
                  <c:v>6년</c:v>
                </c:pt>
                <c:pt idx="68">
                  <c:v>6년</c:v>
                </c:pt>
                <c:pt idx="69">
                  <c:v>6년</c:v>
                </c:pt>
                <c:pt idx="70">
                  <c:v>6년</c:v>
                </c:pt>
                <c:pt idx="71">
                  <c:v>6년</c:v>
                </c:pt>
                <c:pt idx="72">
                  <c:v>7년</c:v>
                </c:pt>
                <c:pt idx="73">
                  <c:v>7년</c:v>
                </c:pt>
                <c:pt idx="74">
                  <c:v>7년</c:v>
                </c:pt>
                <c:pt idx="75">
                  <c:v>7년</c:v>
                </c:pt>
                <c:pt idx="76">
                  <c:v>7년</c:v>
                </c:pt>
                <c:pt idx="77">
                  <c:v>7년</c:v>
                </c:pt>
                <c:pt idx="78">
                  <c:v>7년</c:v>
                </c:pt>
                <c:pt idx="79">
                  <c:v>7년</c:v>
                </c:pt>
                <c:pt idx="80">
                  <c:v>7년</c:v>
                </c:pt>
                <c:pt idx="81">
                  <c:v>7년</c:v>
                </c:pt>
                <c:pt idx="82">
                  <c:v>7년</c:v>
                </c:pt>
                <c:pt idx="83">
                  <c:v>7년</c:v>
                </c:pt>
                <c:pt idx="84">
                  <c:v>8년</c:v>
                </c:pt>
                <c:pt idx="85">
                  <c:v>8년</c:v>
                </c:pt>
                <c:pt idx="86">
                  <c:v>8년</c:v>
                </c:pt>
                <c:pt idx="87">
                  <c:v>8년</c:v>
                </c:pt>
                <c:pt idx="88">
                  <c:v>8년</c:v>
                </c:pt>
                <c:pt idx="89">
                  <c:v>8년</c:v>
                </c:pt>
                <c:pt idx="90">
                  <c:v>8년</c:v>
                </c:pt>
                <c:pt idx="91">
                  <c:v>8년</c:v>
                </c:pt>
                <c:pt idx="92">
                  <c:v>8년</c:v>
                </c:pt>
                <c:pt idx="93">
                  <c:v>8년</c:v>
                </c:pt>
                <c:pt idx="94">
                  <c:v>8년</c:v>
                </c:pt>
                <c:pt idx="95">
                  <c:v>8년</c:v>
                </c:pt>
                <c:pt idx="96">
                  <c:v>9년</c:v>
                </c:pt>
                <c:pt idx="97">
                  <c:v>9년</c:v>
                </c:pt>
                <c:pt idx="98">
                  <c:v>9년</c:v>
                </c:pt>
                <c:pt idx="99">
                  <c:v>9년</c:v>
                </c:pt>
                <c:pt idx="100">
                  <c:v>9년</c:v>
                </c:pt>
                <c:pt idx="101">
                  <c:v>9년</c:v>
                </c:pt>
                <c:pt idx="102">
                  <c:v>9년</c:v>
                </c:pt>
                <c:pt idx="103">
                  <c:v>9년</c:v>
                </c:pt>
                <c:pt idx="104">
                  <c:v>9년</c:v>
                </c:pt>
                <c:pt idx="105">
                  <c:v>9년</c:v>
                </c:pt>
                <c:pt idx="106">
                  <c:v>9년</c:v>
                </c:pt>
                <c:pt idx="107">
                  <c:v>9년</c:v>
                </c:pt>
                <c:pt idx="108">
                  <c:v>10년</c:v>
                </c:pt>
                <c:pt idx="109">
                  <c:v>10년</c:v>
                </c:pt>
                <c:pt idx="110">
                  <c:v>10년</c:v>
                </c:pt>
                <c:pt idx="111">
                  <c:v>10년</c:v>
                </c:pt>
                <c:pt idx="112">
                  <c:v>10년</c:v>
                </c:pt>
                <c:pt idx="113">
                  <c:v>10년</c:v>
                </c:pt>
                <c:pt idx="114">
                  <c:v>10년</c:v>
                </c:pt>
                <c:pt idx="115">
                  <c:v>10년</c:v>
                </c:pt>
                <c:pt idx="116">
                  <c:v>10년</c:v>
                </c:pt>
                <c:pt idx="117">
                  <c:v>10년</c:v>
                </c:pt>
                <c:pt idx="118">
                  <c:v>10년</c:v>
                </c:pt>
                <c:pt idx="119">
                  <c:v>10년</c:v>
                </c:pt>
                <c:pt idx="120">
                  <c:v>11년</c:v>
                </c:pt>
                <c:pt idx="121">
                  <c:v>11년</c:v>
                </c:pt>
                <c:pt idx="122">
                  <c:v>11년</c:v>
                </c:pt>
                <c:pt idx="123">
                  <c:v>11년</c:v>
                </c:pt>
                <c:pt idx="124">
                  <c:v>11년</c:v>
                </c:pt>
                <c:pt idx="125">
                  <c:v>11년</c:v>
                </c:pt>
                <c:pt idx="126">
                  <c:v>11년</c:v>
                </c:pt>
                <c:pt idx="127">
                  <c:v>11년</c:v>
                </c:pt>
                <c:pt idx="128">
                  <c:v>11년</c:v>
                </c:pt>
                <c:pt idx="129">
                  <c:v>11년</c:v>
                </c:pt>
                <c:pt idx="130">
                  <c:v>11년</c:v>
                </c:pt>
                <c:pt idx="131">
                  <c:v>11년</c:v>
                </c:pt>
                <c:pt idx="132">
                  <c:v>12년</c:v>
                </c:pt>
                <c:pt idx="133">
                  <c:v>12년</c:v>
                </c:pt>
                <c:pt idx="134">
                  <c:v>12년</c:v>
                </c:pt>
                <c:pt idx="135">
                  <c:v>12년</c:v>
                </c:pt>
                <c:pt idx="136">
                  <c:v>12년</c:v>
                </c:pt>
                <c:pt idx="137">
                  <c:v>12년</c:v>
                </c:pt>
                <c:pt idx="138">
                  <c:v>12년</c:v>
                </c:pt>
                <c:pt idx="139">
                  <c:v>12년</c:v>
                </c:pt>
                <c:pt idx="140">
                  <c:v>12년</c:v>
                </c:pt>
                <c:pt idx="141">
                  <c:v>12년</c:v>
                </c:pt>
                <c:pt idx="142">
                  <c:v>12년</c:v>
                </c:pt>
                <c:pt idx="143">
                  <c:v>12년</c:v>
                </c:pt>
                <c:pt idx="144">
                  <c:v>13년</c:v>
                </c:pt>
                <c:pt idx="145">
                  <c:v>13년</c:v>
                </c:pt>
                <c:pt idx="146">
                  <c:v>13년</c:v>
                </c:pt>
                <c:pt idx="147">
                  <c:v>13년</c:v>
                </c:pt>
                <c:pt idx="148">
                  <c:v>13년</c:v>
                </c:pt>
                <c:pt idx="149">
                  <c:v>13년</c:v>
                </c:pt>
                <c:pt idx="150">
                  <c:v>13년</c:v>
                </c:pt>
                <c:pt idx="151">
                  <c:v>13년</c:v>
                </c:pt>
                <c:pt idx="152">
                  <c:v>13년</c:v>
                </c:pt>
                <c:pt idx="153">
                  <c:v>13년</c:v>
                </c:pt>
                <c:pt idx="154">
                  <c:v>13년</c:v>
                </c:pt>
                <c:pt idx="155">
                  <c:v>13년</c:v>
                </c:pt>
                <c:pt idx="156">
                  <c:v>14년</c:v>
                </c:pt>
                <c:pt idx="157">
                  <c:v>14년</c:v>
                </c:pt>
                <c:pt idx="158">
                  <c:v>14년</c:v>
                </c:pt>
                <c:pt idx="159">
                  <c:v>14년</c:v>
                </c:pt>
                <c:pt idx="160">
                  <c:v>14년</c:v>
                </c:pt>
                <c:pt idx="161">
                  <c:v>14년</c:v>
                </c:pt>
                <c:pt idx="162">
                  <c:v>14년</c:v>
                </c:pt>
                <c:pt idx="163">
                  <c:v>14년</c:v>
                </c:pt>
                <c:pt idx="164">
                  <c:v>14년</c:v>
                </c:pt>
                <c:pt idx="165">
                  <c:v>14년</c:v>
                </c:pt>
                <c:pt idx="166">
                  <c:v>14년</c:v>
                </c:pt>
                <c:pt idx="167">
                  <c:v>14년</c:v>
                </c:pt>
                <c:pt idx="168">
                  <c:v>15년</c:v>
                </c:pt>
                <c:pt idx="169">
                  <c:v>15년</c:v>
                </c:pt>
                <c:pt idx="170">
                  <c:v>15년</c:v>
                </c:pt>
                <c:pt idx="171">
                  <c:v>15년</c:v>
                </c:pt>
                <c:pt idx="172">
                  <c:v>15년</c:v>
                </c:pt>
                <c:pt idx="173">
                  <c:v>15년</c:v>
                </c:pt>
                <c:pt idx="174">
                  <c:v>15년</c:v>
                </c:pt>
                <c:pt idx="175">
                  <c:v>15년</c:v>
                </c:pt>
                <c:pt idx="176">
                  <c:v>15년</c:v>
                </c:pt>
                <c:pt idx="177">
                  <c:v>15년</c:v>
                </c:pt>
                <c:pt idx="178">
                  <c:v>15년</c:v>
                </c:pt>
                <c:pt idx="179">
                  <c:v>15년</c:v>
                </c:pt>
                <c:pt idx="180">
                  <c:v>16년</c:v>
                </c:pt>
                <c:pt idx="181">
                  <c:v>16년</c:v>
                </c:pt>
                <c:pt idx="182">
                  <c:v>16년</c:v>
                </c:pt>
                <c:pt idx="183">
                  <c:v>16년</c:v>
                </c:pt>
                <c:pt idx="184">
                  <c:v>16년</c:v>
                </c:pt>
                <c:pt idx="185">
                  <c:v>16년</c:v>
                </c:pt>
                <c:pt idx="186">
                  <c:v>16년</c:v>
                </c:pt>
                <c:pt idx="187">
                  <c:v>16년</c:v>
                </c:pt>
                <c:pt idx="188">
                  <c:v>16년</c:v>
                </c:pt>
                <c:pt idx="189">
                  <c:v>16년</c:v>
                </c:pt>
                <c:pt idx="190">
                  <c:v>16년</c:v>
                </c:pt>
                <c:pt idx="191">
                  <c:v>16년</c:v>
                </c:pt>
                <c:pt idx="192">
                  <c:v>17년</c:v>
                </c:pt>
                <c:pt idx="193">
                  <c:v>17년</c:v>
                </c:pt>
                <c:pt idx="194">
                  <c:v>17년</c:v>
                </c:pt>
                <c:pt idx="195">
                  <c:v>17년</c:v>
                </c:pt>
                <c:pt idx="196">
                  <c:v>17년</c:v>
                </c:pt>
                <c:pt idx="197">
                  <c:v>17년</c:v>
                </c:pt>
                <c:pt idx="198">
                  <c:v>17년</c:v>
                </c:pt>
                <c:pt idx="199">
                  <c:v>17년</c:v>
                </c:pt>
                <c:pt idx="200">
                  <c:v>17년</c:v>
                </c:pt>
                <c:pt idx="201">
                  <c:v>17년</c:v>
                </c:pt>
                <c:pt idx="202">
                  <c:v>17년</c:v>
                </c:pt>
                <c:pt idx="203">
                  <c:v>17년</c:v>
                </c:pt>
                <c:pt idx="204">
                  <c:v>18년</c:v>
                </c:pt>
                <c:pt idx="205">
                  <c:v>18년</c:v>
                </c:pt>
                <c:pt idx="206">
                  <c:v>18년</c:v>
                </c:pt>
                <c:pt idx="207">
                  <c:v>18년</c:v>
                </c:pt>
                <c:pt idx="208">
                  <c:v>18년</c:v>
                </c:pt>
                <c:pt idx="209">
                  <c:v>18년</c:v>
                </c:pt>
                <c:pt idx="210">
                  <c:v>18년</c:v>
                </c:pt>
                <c:pt idx="211">
                  <c:v>18년</c:v>
                </c:pt>
                <c:pt idx="212">
                  <c:v>18년</c:v>
                </c:pt>
                <c:pt idx="213">
                  <c:v>18년</c:v>
                </c:pt>
                <c:pt idx="214">
                  <c:v>18년</c:v>
                </c:pt>
                <c:pt idx="215">
                  <c:v>18년</c:v>
                </c:pt>
                <c:pt idx="216">
                  <c:v>19년</c:v>
                </c:pt>
                <c:pt idx="217">
                  <c:v>19년</c:v>
                </c:pt>
                <c:pt idx="218">
                  <c:v>19년</c:v>
                </c:pt>
                <c:pt idx="219">
                  <c:v>19년</c:v>
                </c:pt>
                <c:pt idx="220">
                  <c:v>19년</c:v>
                </c:pt>
                <c:pt idx="221">
                  <c:v>19년</c:v>
                </c:pt>
                <c:pt idx="222">
                  <c:v>19년</c:v>
                </c:pt>
                <c:pt idx="223">
                  <c:v>19년</c:v>
                </c:pt>
                <c:pt idx="224">
                  <c:v>19년</c:v>
                </c:pt>
                <c:pt idx="225">
                  <c:v>19년</c:v>
                </c:pt>
                <c:pt idx="226">
                  <c:v>19년</c:v>
                </c:pt>
                <c:pt idx="227">
                  <c:v>19년</c:v>
                </c:pt>
                <c:pt idx="228">
                  <c:v>20년</c:v>
                </c:pt>
                <c:pt idx="229">
                  <c:v>20년</c:v>
                </c:pt>
                <c:pt idx="230">
                  <c:v>20년</c:v>
                </c:pt>
                <c:pt idx="231">
                  <c:v>20년</c:v>
                </c:pt>
                <c:pt idx="232">
                  <c:v>20년</c:v>
                </c:pt>
                <c:pt idx="233">
                  <c:v>20년</c:v>
                </c:pt>
                <c:pt idx="234">
                  <c:v>20년</c:v>
                </c:pt>
                <c:pt idx="235">
                  <c:v>20년</c:v>
                </c:pt>
                <c:pt idx="236">
                  <c:v>20년</c:v>
                </c:pt>
                <c:pt idx="237">
                  <c:v>20년</c:v>
                </c:pt>
                <c:pt idx="238">
                  <c:v>20년</c:v>
                </c:pt>
                <c:pt idx="239">
                  <c:v>20년</c:v>
                </c:pt>
              </c:strCache>
            </c:strRef>
          </c:cat>
          <c:val>
            <c:numRef>
              <c:f>Sheet1!$B$2:$B$241</c:f>
              <c:numCache>
                <c:formatCode>General</c:formatCode>
                <c:ptCount val="240"/>
                <c:pt idx="0">
                  <c:v>10.369514749997283</c:v>
                </c:pt>
                <c:pt idx="1">
                  <c:v>20.908513788184187</c:v>
                </c:pt>
                <c:pt idx="2">
                  <c:v>31.664661173742736</c:v>
                </c:pt>
                <c:pt idx="3">
                  <c:v>42.665015667457695</c:v>
                </c:pt>
                <c:pt idx="4">
                  <c:v>53.68581835606175</c:v>
                </c:pt>
                <c:pt idx="5">
                  <c:v>64.9806848015709</c:v>
                </c:pt>
                <c:pt idx="6">
                  <c:v>76.62309331298195</c:v>
                </c:pt>
                <c:pt idx="7">
                  <c:v>88.65282674264483</c:v>
                </c:pt>
                <c:pt idx="8">
                  <c:v>100.62487189197134</c:v>
                </c:pt>
                <c:pt idx="9">
                  <c:v>112.90162432398861</c:v>
                </c:pt>
                <c:pt idx="10">
                  <c:v>125.10271239230407</c:v>
                </c:pt>
                <c:pt idx="11">
                  <c:v>137.3741639863784</c:v>
                </c:pt>
                <c:pt idx="12">
                  <c:v>149.74848592891286</c:v>
                </c:pt>
                <c:pt idx="13">
                  <c:v>162.75012686528825</c:v>
                </c:pt>
                <c:pt idx="14">
                  <c:v>176.40512924548068</c:v>
                </c:pt>
                <c:pt idx="15">
                  <c:v>188.68387416956938</c:v>
                </c:pt>
                <c:pt idx="16">
                  <c:v>202.2704436888214</c:v>
                </c:pt>
                <c:pt idx="17">
                  <c:v>215.5974609112157</c:v>
                </c:pt>
                <c:pt idx="18">
                  <c:v>230.30563888610132</c:v>
                </c:pt>
                <c:pt idx="19">
                  <c:v>243.85905597986445</c:v>
                </c:pt>
                <c:pt idx="20">
                  <c:v>257.8735288678415</c:v>
                </c:pt>
                <c:pt idx="21">
                  <c:v>271.9361354899504</c:v>
                </c:pt>
                <c:pt idx="22">
                  <c:v>288.83560400030626</c:v>
                </c:pt>
                <c:pt idx="23">
                  <c:v>304.46542604092986</c:v>
                </c:pt>
                <c:pt idx="24">
                  <c:v>317.2775017738426</c:v>
                </c:pt>
                <c:pt idx="25">
                  <c:v>332.042863179002</c:v>
                </c:pt>
                <c:pt idx="26">
                  <c:v>345.7120879888624</c:v>
                </c:pt>
                <c:pt idx="27">
                  <c:v>361.4721290471831</c:v>
                </c:pt>
                <c:pt idx="28">
                  <c:v>377.85910485503564</c:v>
                </c:pt>
                <c:pt idx="29">
                  <c:v>394.0093840034308</c:v>
                </c:pt>
                <c:pt idx="30">
                  <c:v>409.0787583294298</c:v>
                </c:pt>
                <c:pt idx="31">
                  <c:v>425.47328203404294</c:v>
                </c:pt>
                <c:pt idx="32">
                  <c:v>443.05694149995304</c:v>
                </c:pt>
                <c:pt idx="33">
                  <c:v>460.19356014338837</c:v>
                </c:pt>
                <c:pt idx="34">
                  <c:v>480.3847918455716</c:v>
                </c:pt>
                <c:pt idx="35">
                  <c:v>494.5280837655795</c:v>
                </c:pt>
                <c:pt idx="36">
                  <c:v>511.870786827014</c:v>
                </c:pt>
                <c:pt idx="37">
                  <c:v>526.6749194833275</c:v>
                </c:pt>
                <c:pt idx="38">
                  <c:v>542.3693638083186</c:v>
                </c:pt>
                <c:pt idx="39">
                  <c:v>558.38834235512</c:v>
                </c:pt>
                <c:pt idx="40">
                  <c:v>580.0230353540616</c:v>
                </c:pt>
                <c:pt idx="41">
                  <c:v>597.7746379590965</c:v>
                </c:pt>
                <c:pt idx="42">
                  <c:v>616.3249882105328</c:v>
                </c:pt>
                <c:pt idx="43">
                  <c:v>635.8179865730017</c:v>
                </c:pt>
                <c:pt idx="44">
                  <c:v>655.7048946536672</c:v>
                </c:pt>
                <c:pt idx="45">
                  <c:v>675.402208576059</c:v>
                </c:pt>
                <c:pt idx="46">
                  <c:v>695.9019883865734</c:v>
                </c:pt>
                <c:pt idx="47">
                  <c:v>718.0504700536276</c:v>
                </c:pt>
                <c:pt idx="48">
                  <c:v>735.6456936962207</c:v>
                </c:pt>
                <c:pt idx="49">
                  <c:v>756.6279496541356</c:v>
                </c:pt>
                <c:pt idx="50">
                  <c:v>777.7670561131931</c:v>
                </c:pt>
                <c:pt idx="51">
                  <c:v>797.1033649711671</c:v>
                </c:pt>
                <c:pt idx="52">
                  <c:v>816.9726151470661</c:v>
                </c:pt>
                <c:pt idx="53">
                  <c:v>838.7391357428196</c:v>
                </c:pt>
                <c:pt idx="54">
                  <c:v>870.6892629832769</c:v>
                </c:pt>
                <c:pt idx="55">
                  <c:v>889.9387687049046</c:v>
                </c:pt>
                <c:pt idx="56">
                  <c:v>912.5529319425851</c:v>
                </c:pt>
                <c:pt idx="57">
                  <c:v>938.6447921601452</c:v>
                </c:pt>
                <c:pt idx="58">
                  <c:v>965.5093875439342</c:v>
                </c:pt>
                <c:pt idx="59">
                  <c:v>981.9569672695769</c:v>
                </c:pt>
                <c:pt idx="60">
                  <c:v>1001.0650232618276</c:v>
                </c:pt>
                <c:pt idx="61">
                  <c:v>1017.0019028961884</c:v>
                </c:pt>
                <c:pt idx="62">
                  <c:v>1048.0842790314396</c:v>
                </c:pt>
                <c:pt idx="63">
                  <c:v>1070.4917936302647</c:v>
                </c:pt>
                <c:pt idx="64">
                  <c:v>1100.34892729519</c:v>
                </c:pt>
                <c:pt idx="65">
                  <c:v>1125.4122043841007</c:v>
                </c:pt>
                <c:pt idx="66">
                  <c:v>1149.2084051284407</c:v>
                </c:pt>
                <c:pt idx="67">
                  <c:v>1175.6010693787416</c:v>
                </c:pt>
                <c:pt idx="68">
                  <c:v>1209.8903042256602</c:v>
                </c:pt>
                <c:pt idx="69">
                  <c:v>1237.6487796952017</c:v>
                </c:pt>
                <c:pt idx="70">
                  <c:v>1263.5093454333248</c:v>
                </c:pt>
                <c:pt idx="71">
                  <c:v>1288.475211728343</c:v>
                </c:pt>
                <c:pt idx="72">
                  <c:v>1313.8518118830048</c:v>
                </c:pt>
                <c:pt idx="73">
                  <c:v>1338.469004250963</c:v>
                </c:pt>
                <c:pt idx="74">
                  <c:v>1371.8732194724353</c:v>
                </c:pt>
                <c:pt idx="75">
                  <c:v>1397.3309296096363</c:v>
                </c:pt>
                <c:pt idx="76">
                  <c:v>1424.0539448579689</c:v>
                </c:pt>
                <c:pt idx="77">
                  <c:v>1444.7544147864667</c:v>
                </c:pt>
                <c:pt idx="78">
                  <c:v>1474.6597523527355</c:v>
                </c:pt>
                <c:pt idx="79">
                  <c:v>1513.6806900107995</c:v>
                </c:pt>
                <c:pt idx="80">
                  <c:v>1534.9466095917057</c:v>
                </c:pt>
                <c:pt idx="81">
                  <c:v>1571.6226823355237</c:v>
                </c:pt>
                <c:pt idx="82">
                  <c:v>1604.839576995704</c:v>
                </c:pt>
                <c:pt idx="83">
                  <c:v>1632.6186425161911</c:v>
                </c:pt>
                <c:pt idx="84">
                  <c:v>1666.8305106973205</c:v>
                </c:pt>
                <c:pt idx="85">
                  <c:v>1687.9418698304746</c:v>
                </c:pt>
                <c:pt idx="86">
                  <c:v>1726.8574346191983</c:v>
                </c:pt>
                <c:pt idx="87">
                  <c:v>1754.345927376825</c:v>
                </c:pt>
                <c:pt idx="88">
                  <c:v>1790.7531819801527</c:v>
                </c:pt>
                <c:pt idx="89">
                  <c:v>1833.9962020774149</c:v>
                </c:pt>
                <c:pt idx="90">
                  <c:v>1863.1084500058867</c:v>
                </c:pt>
                <c:pt idx="91">
                  <c:v>1893.3163893093572</c:v>
                </c:pt>
                <c:pt idx="92">
                  <c:v>1918.1307885176182</c:v>
                </c:pt>
                <c:pt idx="93">
                  <c:v>1961.427693470417</c:v>
                </c:pt>
                <c:pt idx="94">
                  <c:v>1997.3048426262128</c:v>
                </c:pt>
                <c:pt idx="95">
                  <c:v>2038.896804863053</c:v>
                </c:pt>
                <c:pt idx="96">
                  <c:v>2079.756135730387</c:v>
                </c:pt>
                <c:pt idx="97">
                  <c:v>2110.7729146176803</c:v>
                </c:pt>
                <c:pt idx="98">
                  <c:v>2146.5219676526654</c:v>
                </c:pt>
                <c:pt idx="99">
                  <c:v>2187.215983800929</c:v>
                </c:pt>
                <c:pt idx="100">
                  <c:v>2227.292223849193</c:v>
                </c:pt>
                <c:pt idx="101">
                  <c:v>2260.007182128934</c:v>
                </c:pt>
                <c:pt idx="102">
                  <c:v>2299.396870639921</c:v>
                </c:pt>
                <c:pt idx="103">
                  <c:v>2331.725592668787</c:v>
                </c:pt>
                <c:pt idx="104">
                  <c:v>2387.706969487572</c:v>
                </c:pt>
                <c:pt idx="105">
                  <c:v>2420.019989205487</c:v>
                </c:pt>
                <c:pt idx="106">
                  <c:v>2475.5668390053397</c:v>
                </c:pt>
                <c:pt idx="107">
                  <c:v>2504.0695695442164</c:v>
                </c:pt>
                <c:pt idx="108">
                  <c:v>2548.078408232929</c:v>
                </c:pt>
                <c:pt idx="109">
                  <c:v>2588.91410071047</c:v>
                </c:pt>
                <c:pt idx="110">
                  <c:v>2629.900430131742</c:v>
                </c:pt>
                <c:pt idx="111">
                  <c:v>2656.372830606053</c:v>
                </c:pt>
                <c:pt idx="112">
                  <c:v>2697.7780698584033</c:v>
                </c:pt>
                <c:pt idx="113">
                  <c:v>2743.7089000797278</c:v>
                </c:pt>
                <c:pt idx="114">
                  <c:v>2791.8776722957145</c:v>
                </c:pt>
                <c:pt idx="115">
                  <c:v>2835.1380920517627</c:v>
                </c:pt>
                <c:pt idx="116">
                  <c:v>2867.233498373187</c:v>
                </c:pt>
                <c:pt idx="117">
                  <c:v>2917.0710872277286</c:v>
                </c:pt>
                <c:pt idx="118">
                  <c:v>2963.07269806334</c:v>
                </c:pt>
                <c:pt idx="119">
                  <c:v>3015.7660239935117</c:v>
                </c:pt>
                <c:pt idx="120">
                  <c:v>3062.955995473375</c:v>
                </c:pt>
                <c:pt idx="121">
                  <c:v>3105.5188121603155</c:v>
                </c:pt>
                <c:pt idx="122">
                  <c:v>3155.4437419646156</c:v>
                </c:pt>
                <c:pt idx="123">
                  <c:v>3210.5209660384103</c:v>
                </c:pt>
                <c:pt idx="124">
                  <c:v>3255.8842878387363</c:v>
                </c:pt>
                <c:pt idx="125">
                  <c:v>3311.5920582682234</c:v>
                </c:pt>
                <c:pt idx="126">
                  <c:v>3371.0267611790186</c:v>
                </c:pt>
                <c:pt idx="127">
                  <c:v>3428.500973589766</c:v>
                </c:pt>
                <c:pt idx="128">
                  <c:v>3460.3552755774954</c:v>
                </c:pt>
                <c:pt idx="129">
                  <c:v>3505.7409677479586</c:v>
                </c:pt>
                <c:pt idx="130">
                  <c:v>3584.668558088738</c:v>
                </c:pt>
                <c:pt idx="131">
                  <c:v>3674.964160538435</c:v>
                </c:pt>
                <c:pt idx="132">
                  <c:v>3681.9993844603123</c:v>
                </c:pt>
                <c:pt idx="133">
                  <c:v>3760.2395479480006</c:v>
                </c:pt>
                <c:pt idx="134">
                  <c:v>3784.5204497758778</c:v>
                </c:pt>
                <c:pt idx="135">
                  <c:v>3878.373878535658</c:v>
                </c:pt>
                <c:pt idx="136">
                  <c:v>3930.0429804403225</c:v>
                </c:pt>
                <c:pt idx="137">
                  <c:v>3990.0730066958276</c:v>
                </c:pt>
                <c:pt idx="138">
                  <c:v>4062.025870995269</c:v>
                </c:pt>
                <c:pt idx="139">
                  <c:v>4134.467814971648</c:v>
                </c:pt>
                <c:pt idx="140">
                  <c:v>4190.182414696992</c:v>
                </c:pt>
                <c:pt idx="141">
                  <c:v>4234.188248498134</c:v>
                </c:pt>
                <c:pt idx="142">
                  <c:v>4288.205208738753</c:v>
                </c:pt>
                <c:pt idx="143">
                  <c:v>4349.829099817921</c:v>
                </c:pt>
                <c:pt idx="144">
                  <c:v>4433.30614250611</c:v>
                </c:pt>
                <c:pt idx="145">
                  <c:v>4467.239234168525</c:v>
                </c:pt>
                <c:pt idx="146">
                  <c:v>4551.278747669853</c:v>
                </c:pt>
                <c:pt idx="147">
                  <c:v>4596.675895446232</c:v>
                </c:pt>
                <c:pt idx="148">
                  <c:v>4677.660602801017</c:v>
                </c:pt>
                <c:pt idx="149">
                  <c:v>4714.243956956114</c:v>
                </c:pt>
                <c:pt idx="150">
                  <c:v>4773.917468361715</c:v>
                </c:pt>
                <c:pt idx="151">
                  <c:v>4844.212248172382</c:v>
                </c:pt>
                <c:pt idx="152">
                  <c:v>4950.651763597172</c:v>
                </c:pt>
                <c:pt idx="153">
                  <c:v>4966.256234304373</c:v>
                </c:pt>
                <c:pt idx="154">
                  <c:v>5058.7250563272155</c:v>
                </c:pt>
                <c:pt idx="155">
                  <c:v>5160.491291782739</c:v>
                </c:pt>
                <c:pt idx="156">
                  <c:v>5226.818273674527</c:v>
                </c:pt>
                <c:pt idx="157">
                  <c:v>5281.40957332683</c:v>
                </c:pt>
                <c:pt idx="158">
                  <c:v>5346.0536346958</c:v>
                </c:pt>
                <c:pt idx="159">
                  <c:v>5441.419683560162</c:v>
                </c:pt>
                <c:pt idx="160">
                  <c:v>5483.806798512681</c:v>
                </c:pt>
                <c:pt idx="161">
                  <c:v>5555.810848147181</c:v>
                </c:pt>
                <c:pt idx="162">
                  <c:v>5638.424815387165</c:v>
                </c:pt>
                <c:pt idx="163">
                  <c:v>5707.716004658015</c:v>
                </c:pt>
                <c:pt idx="164">
                  <c:v>5767.206629716202</c:v>
                </c:pt>
                <c:pt idx="165">
                  <c:v>5863.551438845259</c:v>
                </c:pt>
                <c:pt idx="166">
                  <c:v>5930.0645728327</c:v>
                </c:pt>
                <c:pt idx="167">
                  <c:v>6027.766294466263</c:v>
                </c:pt>
                <c:pt idx="168">
                  <c:v>6125.608538049544</c:v>
                </c:pt>
                <c:pt idx="169">
                  <c:v>6195.777569294789</c:v>
                </c:pt>
                <c:pt idx="170">
                  <c:v>6332.376225619076</c:v>
                </c:pt>
                <c:pt idx="171">
                  <c:v>6440.039471630602</c:v>
                </c:pt>
                <c:pt idx="172">
                  <c:v>6490.407732473229</c:v>
                </c:pt>
                <c:pt idx="173">
                  <c:v>6598.523995946079</c:v>
                </c:pt>
                <c:pt idx="174">
                  <c:v>6718.510135897375</c:v>
                </c:pt>
                <c:pt idx="175">
                  <c:v>6820.281000967021</c:v>
                </c:pt>
                <c:pt idx="176">
                  <c:v>6904.54849501657</c:v>
                </c:pt>
                <c:pt idx="177">
                  <c:v>6999.767696512525</c:v>
                </c:pt>
                <c:pt idx="178">
                  <c:v>7091.2919169510515</c:v>
                </c:pt>
                <c:pt idx="179">
                  <c:v>7191.1305982390995</c:v>
                </c:pt>
                <c:pt idx="180">
                  <c:v>7317.231790315537</c:v>
                </c:pt>
                <c:pt idx="181">
                  <c:v>7414.061060792027</c:v>
                </c:pt>
                <c:pt idx="182">
                  <c:v>7516.524774656872</c:v>
                </c:pt>
                <c:pt idx="183">
                  <c:v>7629.9690828148705</c:v>
                </c:pt>
                <c:pt idx="184">
                  <c:v>7737.138805758779</c:v>
                </c:pt>
                <c:pt idx="185">
                  <c:v>7810.630396196106</c:v>
                </c:pt>
                <c:pt idx="186">
                  <c:v>7972.9013634711055</c:v>
                </c:pt>
                <c:pt idx="187">
                  <c:v>7953.7288228606</c:v>
                </c:pt>
                <c:pt idx="188">
                  <c:v>8137.0841101228725</c:v>
                </c:pt>
                <c:pt idx="189">
                  <c:v>8194.768111241052</c:v>
                </c:pt>
                <c:pt idx="190">
                  <c:v>8307.90189873765</c:v>
                </c:pt>
                <c:pt idx="191">
                  <c:v>8363.622890558163</c:v>
                </c:pt>
                <c:pt idx="192">
                  <c:v>8484.997145934009</c:v>
                </c:pt>
                <c:pt idx="193">
                  <c:v>8611.109931993362</c:v>
                </c:pt>
                <c:pt idx="194">
                  <c:v>8720.574199308481</c:v>
                </c:pt>
                <c:pt idx="195">
                  <c:v>8877.280448434527</c:v>
                </c:pt>
                <c:pt idx="196">
                  <c:v>9037.296059695682</c:v>
                </c:pt>
                <c:pt idx="197">
                  <c:v>9134.273388094762</c:v>
                </c:pt>
                <c:pt idx="198">
                  <c:v>9203.691724480903</c:v>
                </c:pt>
                <c:pt idx="199">
                  <c:v>9321.6932939719</c:v>
                </c:pt>
                <c:pt idx="200">
                  <c:v>9438.490669943892</c:v>
                </c:pt>
                <c:pt idx="201">
                  <c:v>9589.603803214723</c:v>
                </c:pt>
                <c:pt idx="202">
                  <c:v>9755.19084999724</c:v>
                </c:pt>
                <c:pt idx="203">
                  <c:v>9800.961759957632</c:v>
                </c:pt>
                <c:pt idx="204">
                  <c:v>9994.452151490525</c:v>
                </c:pt>
                <c:pt idx="205">
                  <c:v>10159.155575304132</c:v>
                </c:pt>
                <c:pt idx="206">
                  <c:v>10229.628811686625</c:v>
                </c:pt>
                <c:pt idx="207">
                  <c:v>10362.102798213164</c:v>
                </c:pt>
                <c:pt idx="208">
                  <c:v>10538.957041821159</c:v>
                </c:pt>
                <c:pt idx="209">
                  <c:v>10655.397964597663</c:v>
                </c:pt>
                <c:pt idx="210">
                  <c:v>10744.120612167146</c:v>
                </c:pt>
                <c:pt idx="211">
                  <c:v>10831.820300355557</c:v>
                </c:pt>
                <c:pt idx="212">
                  <c:v>11085.730477816742</c:v>
                </c:pt>
                <c:pt idx="213">
                  <c:v>11288.564544132292</c:v>
                </c:pt>
                <c:pt idx="214">
                  <c:v>11530.347773255806</c:v>
                </c:pt>
                <c:pt idx="215">
                  <c:v>11611.761925279989</c:v>
                </c:pt>
                <c:pt idx="216">
                  <c:v>11751.340443469811</c:v>
                </c:pt>
                <c:pt idx="217">
                  <c:v>11965.83388257474</c:v>
                </c:pt>
                <c:pt idx="218">
                  <c:v>12092.78514165907</c:v>
                </c:pt>
                <c:pt idx="219">
                  <c:v>12220.193211108073</c:v>
                </c:pt>
                <c:pt idx="220">
                  <c:v>12330.826073668262</c:v>
                </c:pt>
                <c:pt idx="221">
                  <c:v>12281.611283237879</c:v>
                </c:pt>
                <c:pt idx="222">
                  <c:v>12451.38187970368</c:v>
                </c:pt>
                <c:pt idx="223">
                  <c:v>12528.405146356698</c:v>
                </c:pt>
                <c:pt idx="224">
                  <c:v>12668.738783632933</c:v>
                </c:pt>
                <c:pt idx="225">
                  <c:v>12849.79897593165</c:v>
                </c:pt>
                <c:pt idx="226">
                  <c:v>13157.197431855147</c:v>
                </c:pt>
                <c:pt idx="227">
                  <c:v>13201.138896193715</c:v>
                </c:pt>
                <c:pt idx="228">
                  <c:v>13406.14816164148</c:v>
                </c:pt>
                <c:pt idx="229">
                  <c:v>13569.124257121286</c:v>
                </c:pt>
                <c:pt idx="230">
                  <c:v>13716.189620251462</c:v>
                </c:pt>
                <c:pt idx="231">
                  <c:v>13967.916904190648</c:v>
                </c:pt>
                <c:pt idx="232">
                  <c:v>14195.208465200993</c:v>
                </c:pt>
                <c:pt idx="233">
                  <c:v>14315.757508450344</c:v>
                </c:pt>
                <c:pt idx="234">
                  <c:v>14379.175991620648</c:v>
                </c:pt>
                <c:pt idx="235">
                  <c:v>14646.931554360026</c:v>
                </c:pt>
                <c:pt idx="236">
                  <c:v>14831.337408945403</c:v>
                </c:pt>
                <c:pt idx="237">
                  <c:v>15038.211933940298</c:v>
                </c:pt>
                <c:pt idx="238">
                  <c:v>15088.70563326174</c:v>
                </c:pt>
                <c:pt idx="239">
                  <c:v>15486.205944730707</c:v>
                </c:pt>
              </c:numCache>
            </c:numRef>
          </c:val>
          <c:smooth val="0"/>
        </c:ser>
        <c:ser>
          <c:idx val="1"/>
          <c:order val="1"/>
          <c:tx>
            <c:strRef>
              <c:f>Sheet1!$C$1</c:f>
              <c:strCache>
                <c:ptCount val="1"/>
                <c:pt idx="0">
                  <c:v>중간</c:v>
                </c:pt>
              </c:strCache>
            </c:strRef>
          </c:tx>
          <c:spPr>
            <a:ln w="28575">
              <a:solidFill>
                <a:srgbClr val="1E9A84"/>
              </a:solidFill>
            </a:ln>
          </c:spPr>
          <c:marker>
            <c:symbol val="none"/>
          </c:marker>
          <c:cat>
            <c:strRef>
              <c:f>Sheet1!$A$2:$A$241</c:f>
              <c:strCache>
                <c:ptCount val="240"/>
                <c:pt idx="0">
                  <c:v>1년</c:v>
                </c:pt>
                <c:pt idx="1">
                  <c:v>1년</c:v>
                </c:pt>
                <c:pt idx="2">
                  <c:v>1년</c:v>
                </c:pt>
                <c:pt idx="3">
                  <c:v>1년</c:v>
                </c:pt>
                <c:pt idx="4">
                  <c:v>1년</c:v>
                </c:pt>
                <c:pt idx="5">
                  <c:v>1년</c:v>
                </c:pt>
                <c:pt idx="6">
                  <c:v>1년</c:v>
                </c:pt>
                <c:pt idx="7">
                  <c:v>1년</c:v>
                </c:pt>
                <c:pt idx="8">
                  <c:v>1년</c:v>
                </c:pt>
                <c:pt idx="9">
                  <c:v>1년</c:v>
                </c:pt>
                <c:pt idx="10">
                  <c:v>1년</c:v>
                </c:pt>
                <c:pt idx="11">
                  <c:v>1년</c:v>
                </c:pt>
                <c:pt idx="12">
                  <c:v>2년</c:v>
                </c:pt>
                <c:pt idx="13">
                  <c:v>2년</c:v>
                </c:pt>
                <c:pt idx="14">
                  <c:v>2년</c:v>
                </c:pt>
                <c:pt idx="15">
                  <c:v>2년</c:v>
                </c:pt>
                <c:pt idx="16">
                  <c:v>2년</c:v>
                </c:pt>
                <c:pt idx="17">
                  <c:v>2년</c:v>
                </c:pt>
                <c:pt idx="18">
                  <c:v>2년</c:v>
                </c:pt>
                <c:pt idx="19">
                  <c:v>2년</c:v>
                </c:pt>
                <c:pt idx="20">
                  <c:v>2년</c:v>
                </c:pt>
                <c:pt idx="21">
                  <c:v>2년</c:v>
                </c:pt>
                <c:pt idx="22">
                  <c:v>2년</c:v>
                </c:pt>
                <c:pt idx="23">
                  <c:v>2년</c:v>
                </c:pt>
                <c:pt idx="24">
                  <c:v>3년</c:v>
                </c:pt>
                <c:pt idx="25">
                  <c:v>3년</c:v>
                </c:pt>
                <c:pt idx="26">
                  <c:v>3년</c:v>
                </c:pt>
                <c:pt idx="27">
                  <c:v>3년</c:v>
                </c:pt>
                <c:pt idx="28">
                  <c:v>3년</c:v>
                </c:pt>
                <c:pt idx="29">
                  <c:v>3년</c:v>
                </c:pt>
                <c:pt idx="30">
                  <c:v>3년</c:v>
                </c:pt>
                <c:pt idx="31">
                  <c:v>3년</c:v>
                </c:pt>
                <c:pt idx="32">
                  <c:v>3년</c:v>
                </c:pt>
                <c:pt idx="33">
                  <c:v>3년</c:v>
                </c:pt>
                <c:pt idx="34">
                  <c:v>3년</c:v>
                </c:pt>
                <c:pt idx="35">
                  <c:v>3년</c:v>
                </c:pt>
                <c:pt idx="36">
                  <c:v>4년</c:v>
                </c:pt>
                <c:pt idx="37">
                  <c:v>4년</c:v>
                </c:pt>
                <c:pt idx="38">
                  <c:v>4년</c:v>
                </c:pt>
                <c:pt idx="39">
                  <c:v>4년</c:v>
                </c:pt>
                <c:pt idx="40">
                  <c:v>4년</c:v>
                </c:pt>
                <c:pt idx="41">
                  <c:v>4년</c:v>
                </c:pt>
                <c:pt idx="42">
                  <c:v>4년</c:v>
                </c:pt>
                <c:pt idx="43">
                  <c:v>4년</c:v>
                </c:pt>
                <c:pt idx="44">
                  <c:v>4년</c:v>
                </c:pt>
                <c:pt idx="45">
                  <c:v>4년</c:v>
                </c:pt>
                <c:pt idx="46">
                  <c:v>4년</c:v>
                </c:pt>
                <c:pt idx="47">
                  <c:v>4년</c:v>
                </c:pt>
                <c:pt idx="48">
                  <c:v>5년</c:v>
                </c:pt>
                <c:pt idx="49">
                  <c:v>5년</c:v>
                </c:pt>
                <c:pt idx="50">
                  <c:v>5년</c:v>
                </c:pt>
                <c:pt idx="51">
                  <c:v>5년</c:v>
                </c:pt>
                <c:pt idx="52">
                  <c:v>5년</c:v>
                </c:pt>
                <c:pt idx="53">
                  <c:v>5년</c:v>
                </c:pt>
                <c:pt idx="54">
                  <c:v>5년</c:v>
                </c:pt>
                <c:pt idx="55">
                  <c:v>5년</c:v>
                </c:pt>
                <c:pt idx="56">
                  <c:v>5년</c:v>
                </c:pt>
                <c:pt idx="57">
                  <c:v>5년</c:v>
                </c:pt>
                <c:pt idx="58">
                  <c:v>5년</c:v>
                </c:pt>
                <c:pt idx="59">
                  <c:v>5년</c:v>
                </c:pt>
                <c:pt idx="60">
                  <c:v>6년</c:v>
                </c:pt>
                <c:pt idx="61">
                  <c:v>6년</c:v>
                </c:pt>
                <c:pt idx="62">
                  <c:v>6년</c:v>
                </c:pt>
                <c:pt idx="63">
                  <c:v>6년</c:v>
                </c:pt>
                <c:pt idx="64">
                  <c:v>6년</c:v>
                </c:pt>
                <c:pt idx="65">
                  <c:v>6년</c:v>
                </c:pt>
                <c:pt idx="66">
                  <c:v>6년</c:v>
                </c:pt>
                <c:pt idx="67">
                  <c:v>6년</c:v>
                </c:pt>
                <c:pt idx="68">
                  <c:v>6년</c:v>
                </c:pt>
                <c:pt idx="69">
                  <c:v>6년</c:v>
                </c:pt>
                <c:pt idx="70">
                  <c:v>6년</c:v>
                </c:pt>
                <c:pt idx="71">
                  <c:v>6년</c:v>
                </c:pt>
                <c:pt idx="72">
                  <c:v>7년</c:v>
                </c:pt>
                <c:pt idx="73">
                  <c:v>7년</c:v>
                </c:pt>
                <c:pt idx="74">
                  <c:v>7년</c:v>
                </c:pt>
                <c:pt idx="75">
                  <c:v>7년</c:v>
                </c:pt>
                <c:pt idx="76">
                  <c:v>7년</c:v>
                </c:pt>
                <c:pt idx="77">
                  <c:v>7년</c:v>
                </c:pt>
                <c:pt idx="78">
                  <c:v>7년</c:v>
                </c:pt>
                <c:pt idx="79">
                  <c:v>7년</c:v>
                </c:pt>
                <c:pt idx="80">
                  <c:v>7년</c:v>
                </c:pt>
                <c:pt idx="81">
                  <c:v>7년</c:v>
                </c:pt>
                <c:pt idx="82">
                  <c:v>7년</c:v>
                </c:pt>
                <c:pt idx="83">
                  <c:v>7년</c:v>
                </c:pt>
                <c:pt idx="84">
                  <c:v>8년</c:v>
                </c:pt>
                <c:pt idx="85">
                  <c:v>8년</c:v>
                </c:pt>
                <c:pt idx="86">
                  <c:v>8년</c:v>
                </c:pt>
                <c:pt idx="87">
                  <c:v>8년</c:v>
                </c:pt>
                <c:pt idx="88">
                  <c:v>8년</c:v>
                </c:pt>
                <c:pt idx="89">
                  <c:v>8년</c:v>
                </c:pt>
                <c:pt idx="90">
                  <c:v>8년</c:v>
                </c:pt>
                <c:pt idx="91">
                  <c:v>8년</c:v>
                </c:pt>
                <c:pt idx="92">
                  <c:v>8년</c:v>
                </c:pt>
                <c:pt idx="93">
                  <c:v>8년</c:v>
                </c:pt>
                <c:pt idx="94">
                  <c:v>8년</c:v>
                </c:pt>
                <c:pt idx="95">
                  <c:v>8년</c:v>
                </c:pt>
                <c:pt idx="96">
                  <c:v>9년</c:v>
                </c:pt>
                <c:pt idx="97">
                  <c:v>9년</c:v>
                </c:pt>
                <c:pt idx="98">
                  <c:v>9년</c:v>
                </c:pt>
                <c:pt idx="99">
                  <c:v>9년</c:v>
                </c:pt>
                <c:pt idx="100">
                  <c:v>9년</c:v>
                </c:pt>
                <c:pt idx="101">
                  <c:v>9년</c:v>
                </c:pt>
                <c:pt idx="102">
                  <c:v>9년</c:v>
                </c:pt>
                <c:pt idx="103">
                  <c:v>9년</c:v>
                </c:pt>
                <c:pt idx="104">
                  <c:v>9년</c:v>
                </c:pt>
                <c:pt idx="105">
                  <c:v>9년</c:v>
                </c:pt>
                <c:pt idx="106">
                  <c:v>9년</c:v>
                </c:pt>
                <c:pt idx="107">
                  <c:v>9년</c:v>
                </c:pt>
                <c:pt idx="108">
                  <c:v>10년</c:v>
                </c:pt>
                <c:pt idx="109">
                  <c:v>10년</c:v>
                </c:pt>
                <c:pt idx="110">
                  <c:v>10년</c:v>
                </c:pt>
                <c:pt idx="111">
                  <c:v>10년</c:v>
                </c:pt>
                <c:pt idx="112">
                  <c:v>10년</c:v>
                </c:pt>
                <c:pt idx="113">
                  <c:v>10년</c:v>
                </c:pt>
                <c:pt idx="114">
                  <c:v>10년</c:v>
                </c:pt>
                <c:pt idx="115">
                  <c:v>10년</c:v>
                </c:pt>
                <c:pt idx="116">
                  <c:v>10년</c:v>
                </c:pt>
                <c:pt idx="117">
                  <c:v>10년</c:v>
                </c:pt>
                <c:pt idx="118">
                  <c:v>10년</c:v>
                </c:pt>
                <c:pt idx="119">
                  <c:v>10년</c:v>
                </c:pt>
                <c:pt idx="120">
                  <c:v>11년</c:v>
                </c:pt>
                <c:pt idx="121">
                  <c:v>11년</c:v>
                </c:pt>
                <c:pt idx="122">
                  <c:v>11년</c:v>
                </c:pt>
                <c:pt idx="123">
                  <c:v>11년</c:v>
                </c:pt>
                <c:pt idx="124">
                  <c:v>11년</c:v>
                </c:pt>
                <c:pt idx="125">
                  <c:v>11년</c:v>
                </c:pt>
                <c:pt idx="126">
                  <c:v>11년</c:v>
                </c:pt>
                <c:pt idx="127">
                  <c:v>11년</c:v>
                </c:pt>
                <c:pt idx="128">
                  <c:v>11년</c:v>
                </c:pt>
                <c:pt idx="129">
                  <c:v>11년</c:v>
                </c:pt>
                <c:pt idx="130">
                  <c:v>11년</c:v>
                </c:pt>
                <c:pt idx="131">
                  <c:v>11년</c:v>
                </c:pt>
                <c:pt idx="132">
                  <c:v>12년</c:v>
                </c:pt>
                <c:pt idx="133">
                  <c:v>12년</c:v>
                </c:pt>
                <c:pt idx="134">
                  <c:v>12년</c:v>
                </c:pt>
                <c:pt idx="135">
                  <c:v>12년</c:v>
                </c:pt>
                <c:pt idx="136">
                  <c:v>12년</c:v>
                </c:pt>
                <c:pt idx="137">
                  <c:v>12년</c:v>
                </c:pt>
                <c:pt idx="138">
                  <c:v>12년</c:v>
                </c:pt>
                <c:pt idx="139">
                  <c:v>12년</c:v>
                </c:pt>
                <c:pt idx="140">
                  <c:v>12년</c:v>
                </c:pt>
                <c:pt idx="141">
                  <c:v>12년</c:v>
                </c:pt>
                <c:pt idx="142">
                  <c:v>12년</c:v>
                </c:pt>
                <c:pt idx="143">
                  <c:v>12년</c:v>
                </c:pt>
                <c:pt idx="144">
                  <c:v>13년</c:v>
                </c:pt>
                <c:pt idx="145">
                  <c:v>13년</c:v>
                </c:pt>
                <c:pt idx="146">
                  <c:v>13년</c:v>
                </c:pt>
                <c:pt idx="147">
                  <c:v>13년</c:v>
                </c:pt>
                <c:pt idx="148">
                  <c:v>13년</c:v>
                </c:pt>
                <c:pt idx="149">
                  <c:v>13년</c:v>
                </c:pt>
                <c:pt idx="150">
                  <c:v>13년</c:v>
                </c:pt>
                <c:pt idx="151">
                  <c:v>13년</c:v>
                </c:pt>
                <c:pt idx="152">
                  <c:v>13년</c:v>
                </c:pt>
                <c:pt idx="153">
                  <c:v>13년</c:v>
                </c:pt>
                <c:pt idx="154">
                  <c:v>13년</c:v>
                </c:pt>
                <c:pt idx="155">
                  <c:v>13년</c:v>
                </c:pt>
                <c:pt idx="156">
                  <c:v>14년</c:v>
                </c:pt>
                <c:pt idx="157">
                  <c:v>14년</c:v>
                </c:pt>
                <c:pt idx="158">
                  <c:v>14년</c:v>
                </c:pt>
                <c:pt idx="159">
                  <c:v>14년</c:v>
                </c:pt>
                <c:pt idx="160">
                  <c:v>14년</c:v>
                </c:pt>
                <c:pt idx="161">
                  <c:v>14년</c:v>
                </c:pt>
                <c:pt idx="162">
                  <c:v>14년</c:v>
                </c:pt>
                <c:pt idx="163">
                  <c:v>14년</c:v>
                </c:pt>
                <c:pt idx="164">
                  <c:v>14년</c:v>
                </c:pt>
                <c:pt idx="165">
                  <c:v>14년</c:v>
                </c:pt>
                <c:pt idx="166">
                  <c:v>14년</c:v>
                </c:pt>
                <c:pt idx="167">
                  <c:v>14년</c:v>
                </c:pt>
                <c:pt idx="168">
                  <c:v>15년</c:v>
                </c:pt>
                <c:pt idx="169">
                  <c:v>15년</c:v>
                </c:pt>
                <c:pt idx="170">
                  <c:v>15년</c:v>
                </c:pt>
                <c:pt idx="171">
                  <c:v>15년</c:v>
                </c:pt>
                <c:pt idx="172">
                  <c:v>15년</c:v>
                </c:pt>
                <c:pt idx="173">
                  <c:v>15년</c:v>
                </c:pt>
                <c:pt idx="174">
                  <c:v>15년</c:v>
                </c:pt>
                <c:pt idx="175">
                  <c:v>15년</c:v>
                </c:pt>
                <c:pt idx="176">
                  <c:v>15년</c:v>
                </c:pt>
                <c:pt idx="177">
                  <c:v>15년</c:v>
                </c:pt>
                <c:pt idx="178">
                  <c:v>15년</c:v>
                </c:pt>
                <c:pt idx="179">
                  <c:v>15년</c:v>
                </c:pt>
                <c:pt idx="180">
                  <c:v>16년</c:v>
                </c:pt>
                <c:pt idx="181">
                  <c:v>16년</c:v>
                </c:pt>
                <c:pt idx="182">
                  <c:v>16년</c:v>
                </c:pt>
                <c:pt idx="183">
                  <c:v>16년</c:v>
                </c:pt>
                <c:pt idx="184">
                  <c:v>16년</c:v>
                </c:pt>
                <c:pt idx="185">
                  <c:v>16년</c:v>
                </c:pt>
                <c:pt idx="186">
                  <c:v>16년</c:v>
                </c:pt>
                <c:pt idx="187">
                  <c:v>16년</c:v>
                </c:pt>
                <c:pt idx="188">
                  <c:v>16년</c:v>
                </c:pt>
                <c:pt idx="189">
                  <c:v>16년</c:v>
                </c:pt>
                <c:pt idx="190">
                  <c:v>16년</c:v>
                </c:pt>
                <c:pt idx="191">
                  <c:v>16년</c:v>
                </c:pt>
                <c:pt idx="192">
                  <c:v>17년</c:v>
                </c:pt>
                <c:pt idx="193">
                  <c:v>17년</c:v>
                </c:pt>
                <c:pt idx="194">
                  <c:v>17년</c:v>
                </c:pt>
                <c:pt idx="195">
                  <c:v>17년</c:v>
                </c:pt>
                <c:pt idx="196">
                  <c:v>17년</c:v>
                </c:pt>
                <c:pt idx="197">
                  <c:v>17년</c:v>
                </c:pt>
                <c:pt idx="198">
                  <c:v>17년</c:v>
                </c:pt>
                <c:pt idx="199">
                  <c:v>17년</c:v>
                </c:pt>
                <c:pt idx="200">
                  <c:v>17년</c:v>
                </c:pt>
                <c:pt idx="201">
                  <c:v>17년</c:v>
                </c:pt>
                <c:pt idx="202">
                  <c:v>17년</c:v>
                </c:pt>
                <c:pt idx="203">
                  <c:v>17년</c:v>
                </c:pt>
                <c:pt idx="204">
                  <c:v>18년</c:v>
                </c:pt>
                <c:pt idx="205">
                  <c:v>18년</c:v>
                </c:pt>
                <c:pt idx="206">
                  <c:v>18년</c:v>
                </c:pt>
                <c:pt idx="207">
                  <c:v>18년</c:v>
                </c:pt>
                <c:pt idx="208">
                  <c:v>18년</c:v>
                </c:pt>
                <c:pt idx="209">
                  <c:v>18년</c:v>
                </c:pt>
                <c:pt idx="210">
                  <c:v>18년</c:v>
                </c:pt>
                <c:pt idx="211">
                  <c:v>18년</c:v>
                </c:pt>
                <c:pt idx="212">
                  <c:v>18년</c:v>
                </c:pt>
                <c:pt idx="213">
                  <c:v>18년</c:v>
                </c:pt>
                <c:pt idx="214">
                  <c:v>18년</c:v>
                </c:pt>
                <c:pt idx="215">
                  <c:v>18년</c:v>
                </c:pt>
                <c:pt idx="216">
                  <c:v>19년</c:v>
                </c:pt>
                <c:pt idx="217">
                  <c:v>19년</c:v>
                </c:pt>
                <c:pt idx="218">
                  <c:v>19년</c:v>
                </c:pt>
                <c:pt idx="219">
                  <c:v>19년</c:v>
                </c:pt>
                <c:pt idx="220">
                  <c:v>19년</c:v>
                </c:pt>
                <c:pt idx="221">
                  <c:v>19년</c:v>
                </c:pt>
                <c:pt idx="222">
                  <c:v>19년</c:v>
                </c:pt>
                <c:pt idx="223">
                  <c:v>19년</c:v>
                </c:pt>
                <c:pt idx="224">
                  <c:v>19년</c:v>
                </c:pt>
                <c:pt idx="225">
                  <c:v>19년</c:v>
                </c:pt>
                <c:pt idx="226">
                  <c:v>19년</c:v>
                </c:pt>
                <c:pt idx="227">
                  <c:v>19년</c:v>
                </c:pt>
                <c:pt idx="228">
                  <c:v>20년</c:v>
                </c:pt>
                <c:pt idx="229">
                  <c:v>20년</c:v>
                </c:pt>
                <c:pt idx="230">
                  <c:v>20년</c:v>
                </c:pt>
                <c:pt idx="231">
                  <c:v>20년</c:v>
                </c:pt>
                <c:pt idx="232">
                  <c:v>20년</c:v>
                </c:pt>
                <c:pt idx="233">
                  <c:v>20년</c:v>
                </c:pt>
                <c:pt idx="234">
                  <c:v>20년</c:v>
                </c:pt>
                <c:pt idx="235">
                  <c:v>20년</c:v>
                </c:pt>
                <c:pt idx="236">
                  <c:v>20년</c:v>
                </c:pt>
                <c:pt idx="237">
                  <c:v>20년</c:v>
                </c:pt>
                <c:pt idx="238">
                  <c:v>20년</c:v>
                </c:pt>
                <c:pt idx="239">
                  <c:v>20년</c:v>
                </c:pt>
              </c:strCache>
            </c:strRef>
          </c:cat>
          <c:val>
            <c:numRef>
              <c:f>Sheet1!$C$2:$C$241</c:f>
              <c:numCache>
                <c:formatCode>General</c:formatCode>
                <c:ptCount val="240"/>
                <c:pt idx="0">
                  <c:v>10.105517863191256</c:v>
                </c:pt>
                <c:pt idx="1">
                  <c:v>20.33506376927208</c:v>
                </c:pt>
                <c:pt idx="2">
                  <c:v>30.644883989574627</c:v>
                </c:pt>
                <c:pt idx="3">
                  <c:v>41.14652196855756</c:v>
                </c:pt>
                <c:pt idx="4">
                  <c:v>51.67523839794816</c:v>
                </c:pt>
                <c:pt idx="5">
                  <c:v>62.29691614754584</c:v>
                </c:pt>
                <c:pt idx="6">
                  <c:v>73.05740051659329</c:v>
                </c:pt>
                <c:pt idx="7">
                  <c:v>84.11219211544073</c:v>
                </c:pt>
                <c:pt idx="8">
                  <c:v>95.20481918799638</c:v>
                </c:pt>
                <c:pt idx="9">
                  <c:v>106.30144252932934</c:v>
                </c:pt>
                <c:pt idx="10">
                  <c:v>117.48845587102007</c:v>
                </c:pt>
                <c:pt idx="11">
                  <c:v>128.9687369440356</c:v>
                </c:pt>
                <c:pt idx="12">
                  <c:v>140.64601014793297</c:v>
                </c:pt>
                <c:pt idx="13">
                  <c:v>152.04414467825953</c:v>
                </c:pt>
                <c:pt idx="14">
                  <c:v>163.73165827871813</c:v>
                </c:pt>
                <c:pt idx="15">
                  <c:v>175.445329591265</c:v>
                </c:pt>
                <c:pt idx="16">
                  <c:v>188.0052244268031</c:v>
                </c:pt>
                <c:pt idx="17">
                  <c:v>200.09512797104202</c:v>
                </c:pt>
                <c:pt idx="18">
                  <c:v>211.9969255430631</c:v>
                </c:pt>
                <c:pt idx="19">
                  <c:v>224.61985100926128</c:v>
                </c:pt>
                <c:pt idx="20">
                  <c:v>236.90813463818887</c:v>
                </c:pt>
                <c:pt idx="21">
                  <c:v>250.16315406407116</c:v>
                </c:pt>
                <c:pt idx="22">
                  <c:v>262.2988702246797</c:v>
                </c:pt>
                <c:pt idx="23">
                  <c:v>275.55414703344235</c:v>
                </c:pt>
                <c:pt idx="24">
                  <c:v>287.99437197884004</c:v>
                </c:pt>
                <c:pt idx="25">
                  <c:v>301.39342842402567</c:v>
                </c:pt>
                <c:pt idx="26">
                  <c:v>314.23125392565</c:v>
                </c:pt>
                <c:pt idx="27">
                  <c:v>327.62929656523147</c:v>
                </c:pt>
                <c:pt idx="28">
                  <c:v>340.799178100602</c:v>
                </c:pt>
                <c:pt idx="29">
                  <c:v>354.44181685111255</c:v>
                </c:pt>
                <c:pt idx="30">
                  <c:v>368.7172020017878</c:v>
                </c:pt>
                <c:pt idx="31">
                  <c:v>381.30312105292575</c:v>
                </c:pt>
                <c:pt idx="32">
                  <c:v>396.95577932763024</c:v>
                </c:pt>
                <c:pt idx="33">
                  <c:v>409.67637344437605</c:v>
                </c:pt>
                <c:pt idx="34">
                  <c:v>426.65506720724886</c:v>
                </c:pt>
                <c:pt idx="35">
                  <c:v>440.6603409673576</c:v>
                </c:pt>
                <c:pt idx="36">
                  <c:v>454.560948618781</c:v>
                </c:pt>
                <c:pt idx="37">
                  <c:v>468.0040907496201</c:v>
                </c:pt>
                <c:pt idx="38">
                  <c:v>482.90680898073174</c:v>
                </c:pt>
                <c:pt idx="39">
                  <c:v>498.3960258423047</c:v>
                </c:pt>
                <c:pt idx="40">
                  <c:v>514.3424204032667</c:v>
                </c:pt>
                <c:pt idx="41">
                  <c:v>531.1101348485025</c:v>
                </c:pt>
                <c:pt idx="42">
                  <c:v>546.5084614857581</c:v>
                </c:pt>
                <c:pt idx="43">
                  <c:v>562.4628898106631</c:v>
                </c:pt>
                <c:pt idx="44">
                  <c:v>577.3238105566306</c:v>
                </c:pt>
                <c:pt idx="45">
                  <c:v>593.8025455893176</c:v>
                </c:pt>
                <c:pt idx="46">
                  <c:v>608.5596453489002</c:v>
                </c:pt>
                <c:pt idx="47">
                  <c:v>625.7430964842614</c:v>
                </c:pt>
                <c:pt idx="48">
                  <c:v>643.6667659283798</c:v>
                </c:pt>
                <c:pt idx="49">
                  <c:v>660.600806397205</c:v>
                </c:pt>
                <c:pt idx="50">
                  <c:v>675.6576099852756</c:v>
                </c:pt>
                <c:pt idx="51">
                  <c:v>694.6255081431449</c:v>
                </c:pt>
                <c:pt idx="52">
                  <c:v>714.8145598753812</c:v>
                </c:pt>
                <c:pt idx="53">
                  <c:v>733.8435362266015</c:v>
                </c:pt>
                <c:pt idx="54">
                  <c:v>747.6734987759608</c:v>
                </c:pt>
                <c:pt idx="55">
                  <c:v>767.3503996419406</c:v>
                </c:pt>
                <c:pt idx="56">
                  <c:v>784.8246145745273</c:v>
                </c:pt>
                <c:pt idx="57">
                  <c:v>803.841223236745</c:v>
                </c:pt>
                <c:pt idx="58">
                  <c:v>820.6561507475532</c:v>
                </c:pt>
                <c:pt idx="59">
                  <c:v>841.7790191535855</c:v>
                </c:pt>
                <c:pt idx="60">
                  <c:v>858.7346271550388</c:v>
                </c:pt>
                <c:pt idx="61">
                  <c:v>872.8742394076139</c:v>
                </c:pt>
                <c:pt idx="62">
                  <c:v>893.0740648617685</c:v>
                </c:pt>
                <c:pt idx="63">
                  <c:v>913.4776408152845</c:v>
                </c:pt>
                <c:pt idx="64">
                  <c:v>934.064293697007</c:v>
                </c:pt>
                <c:pt idx="65">
                  <c:v>956.1465566385739</c:v>
                </c:pt>
                <c:pt idx="66">
                  <c:v>973.7602192375708</c:v>
                </c:pt>
                <c:pt idx="67">
                  <c:v>993.7340191735059</c:v>
                </c:pt>
                <c:pt idx="68">
                  <c:v>1013.4642156646324</c:v>
                </c:pt>
                <c:pt idx="69">
                  <c:v>1030.6707296874824</c:v>
                </c:pt>
                <c:pt idx="70">
                  <c:v>1050.835446584826</c:v>
                </c:pt>
                <c:pt idx="71">
                  <c:v>1066.9695640974246</c:v>
                </c:pt>
                <c:pt idx="72">
                  <c:v>1093.3929319774832</c:v>
                </c:pt>
                <c:pt idx="73">
                  <c:v>1117.8004725283074</c:v>
                </c:pt>
                <c:pt idx="74">
                  <c:v>1135.1292036024868</c:v>
                </c:pt>
                <c:pt idx="75">
                  <c:v>1157.8866104301426</c:v>
                </c:pt>
                <c:pt idx="76">
                  <c:v>1178.9685758598775</c:v>
                </c:pt>
                <c:pt idx="77">
                  <c:v>1202.6250321321745</c:v>
                </c:pt>
                <c:pt idx="78">
                  <c:v>1222.2897379515457</c:v>
                </c:pt>
                <c:pt idx="79">
                  <c:v>1247.5018098342248</c:v>
                </c:pt>
                <c:pt idx="80">
                  <c:v>1271.704933860017</c:v>
                </c:pt>
                <c:pt idx="81">
                  <c:v>1292.3522447046428</c:v>
                </c:pt>
                <c:pt idx="82">
                  <c:v>1314.055094203471</c:v>
                </c:pt>
                <c:pt idx="83">
                  <c:v>1341.982097575537</c:v>
                </c:pt>
                <c:pt idx="84">
                  <c:v>1365.3157183438543</c:v>
                </c:pt>
                <c:pt idx="85">
                  <c:v>1387.5270344599608</c:v>
                </c:pt>
                <c:pt idx="86">
                  <c:v>1418.4568803647933</c:v>
                </c:pt>
                <c:pt idx="87">
                  <c:v>1440.0686041627675</c:v>
                </c:pt>
                <c:pt idx="88">
                  <c:v>1464.1423427142781</c:v>
                </c:pt>
                <c:pt idx="89">
                  <c:v>1495.5305986706255</c:v>
                </c:pt>
                <c:pt idx="90">
                  <c:v>1523.1653360422447</c:v>
                </c:pt>
                <c:pt idx="91">
                  <c:v>1549.8400020047036</c:v>
                </c:pt>
                <c:pt idx="92">
                  <c:v>1564.0740916726513</c:v>
                </c:pt>
                <c:pt idx="93">
                  <c:v>1589.004252919102</c:v>
                </c:pt>
                <c:pt idx="94">
                  <c:v>1617.540578849719</c:v>
                </c:pt>
                <c:pt idx="95">
                  <c:v>1643.6392852896429</c:v>
                </c:pt>
                <c:pt idx="96">
                  <c:v>1662.5786853306242</c:v>
                </c:pt>
                <c:pt idx="97">
                  <c:v>1688.9976037127265</c:v>
                </c:pt>
                <c:pt idx="98">
                  <c:v>1713.9222022813562</c:v>
                </c:pt>
                <c:pt idx="99">
                  <c:v>1745.2591919400156</c:v>
                </c:pt>
                <c:pt idx="100">
                  <c:v>1783.822244162344</c:v>
                </c:pt>
                <c:pt idx="101">
                  <c:v>1799.518111156601</c:v>
                </c:pt>
                <c:pt idx="102">
                  <c:v>1835.0774804284447</c:v>
                </c:pt>
                <c:pt idx="103">
                  <c:v>1860.3367319729232</c:v>
                </c:pt>
                <c:pt idx="104">
                  <c:v>1895.1895094427175</c:v>
                </c:pt>
                <c:pt idx="105">
                  <c:v>1921.6726505747124</c:v>
                </c:pt>
                <c:pt idx="106">
                  <c:v>1956.1318444894775</c:v>
                </c:pt>
                <c:pt idx="107">
                  <c:v>1986.848636111097</c:v>
                </c:pt>
                <c:pt idx="108">
                  <c:v>2008.296895643227</c:v>
                </c:pt>
                <c:pt idx="109">
                  <c:v>2043.8476864983</c:v>
                </c:pt>
                <c:pt idx="110">
                  <c:v>2080.7619475299457</c:v>
                </c:pt>
                <c:pt idx="111">
                  <c:v>2106.945936083751</c:v>
                </c:pt>
                <c:pt idx="112">
                  <c:v>2135.4390794982737</c:v>
                </c:pt>
                <c:pt idx="113">
                  <c:v>2160.516116360698</c:v>
                </c:pt>
                <c:pt idx="114">
                  <c:v>2212.3594107934773</c:v>
                </c:pt>
                <c:pt idx="115">
                  <c:v>2235.4576461095107</c:v>
                </c:pt>
                <c:pt idx="116">
                  <c:v>2271.9620391354138</c:v>
                </c:pt>
                <c:pt idx="117">
                  <c:v>2321.634735690023</c:v>
                </c:pt>
                <c:pt idx="118">
                  <c:v>2352.793850530387</c:v>
                </c:pt>
                <c:pt idx="119">
                  <c:v>2379.018543326545</c:v>
                </c:pt>
                <c:pt idx="120">
                  <c:v>2410.552008254783</c:v>
                </c:pt>
                <c:pt idx="121">
                  <c:v>2444.7128341904995</c:v>
                </c:pt>
                <c:pt idx="122">
                  <c:v>2481.017818374921</c:v>
                </c:pt>
                <c:pt idx="123">
                  <c:v>2529.21005719186</c:v>
                </c:pt>
                <c:pt idx="124">
                  <c:v>2561.714451619985</c:v>
                </c:pt>
                <c:pt idx="125">
                  <c:v>2598.060540057075</c:v>
                </c:pt>
                <c:pt idx="126">
                  <c:v>2633.2387172673684</c:v>
                </c:pt>
                <c:pt idx="127">
                  <c:v>2664.2095576987663</c:v>
                </c:pt>
                <c:pt idx="128">
                  <c:v>2697.8374447653973</c:v>
                </c:pt>
                <c:pt idx="129">
                  <c:v>2722.785892213403</c:v>
                </c:pt>
                <c:pt idx="130">
                  <c:v>2769.6189392094916</c:v>
                </c:pt>
                <c:pt idx="131">
                  <c:v>2812.361064370589</c:v>
                </c:pt>
                <c:pt idx="132">
                  <c:v>2852.896478795267</c:v>
                </c:pt>
                <c:pt idx="133">
                  <c:v>2879.9193687605434</c:v>
                </c:pt>
                <c:pt idx="134">
                  <c:v>2933.8859746384396</c:v>
                </c:pt>
                <c:pt idx="135">
                  <c:v>2954.272057134142</c:v>
                </c:pt>
                <c:pt idx="136">
                  <c:v>3009.5016711062735</c:v>
                </c:pt>
                <c:pt idx="137">
                  <c:v>3046.7045863207823</c:v>
                </c:pt>
                <c:pt idx="138">
                  <c:v>3079.8667060605803</c:v>
                </c:pt>
                <c:pt idx="139">
                  <c:v>3126.1868685261497</c:v>
                </c:pt>
                <c:pt idx="140">
                  <c:v>3142.249191786382</c:v>
                </c:pt>
                <c:pt idx="141">
                  <c:v>3185.517468396999</c:v>
                </c:pt>
                <c:pt idx="142">
                  <c:v>3235.5905599281054</c:v>
                </c:pt>
                <c:pt idx="143">
                  <c:v>3284.875430483296</c:v>
                </c:pt>
                <c:pt idx="144">
                  <c:v>3320.3573198389254</c:v>
                </c:pt>
                <c:pt idx="145">
                  <c:v>3351.28821032212</c:v>
                </c:pt>
                <c:pt idx="146">
                  <c:v>3403.074098538387</c:v>
                </c:pt>
                <c:pt idx="147">
                  <c:v>3439.109473623766</c:v>
                </c:pt>
                <c:pt idx="148">
                  <c:v>3489.212926775657</c:v>
                </c:pt>
                <c:pt idx="149">
                  <c:v>3513.9597237442495</c:v>
                </c:pt>
                <c:pt idx="150">
                  <c:v>3569.6252547382715</c:v>
                </c:pt>
                <c:pt idx="151">
                  <c:v>3611.2304370143406</c:v>
                </c:pt>
                <c:pt idx="152">
                  <c:v>3671.223776923217</c:v>
                </c:pt>
                <c:pt idx="153">
                  <c:v>3712.2264665488638</c:v>
                </c:pt>
                <c:pt idx="154">
                  <c:v>3732.6153937182353</c:v>
                </c:pt>
                <c:pt idx="155">
                  <c:v>3797.056194134222</c:v>
                </c:pt>
                <c:pt idx="156">
                  <c:v>3837.3750101260907</c:v>
                </c:pt>
                <c:pt idx="157">
                  <c:v>3890.583445129408</c:v>
                </c:pt>
                <c:pt idx="158">
                  <c:v>3948.16758835378</c:v>
                </c:pt>
                <c:pt idx="159">
                  <c:v>3970.995210871678</c:v>
                </c:pt>
                <c:pt idx="160">
                  <c:v>4035.6035435956687</c:v>
                </c:pt>
                <c:pt idx="161">
                  <c:v>4095.758608867341</c:v>
                </c:pt>
                <c:pt idx="162">
                  <c:v>4154.604812557725</c:v>
                </c:pt>
                <c:pt idx="163">
                  <c:v>4226.258667561232</c:v>
                </c:pt>
                <c:pt idx="164">
                  <c:v>4265.729086248239</c:v>
                </c:pt>
                <c:pt idx="165">
                  <c:v>4339.922559511161</c:v>
                </c:pt>
                <c:pt idx="166">
                  <c:v>4420.237675778778</c:v>
                </c:pt>
                <c:pt idx="167">
                  <c:v>4467.067950023656</c:v>
                </c:pt>
                <c:pt idx="168">
                  <c:v>4518.774717748205</c:v>
                </c:pt>
                <c:pt idx="169">
                  <c:v>4576.204696108823</c:v>
                </c:pt>
                <c:pt idx="170">
                  <c:v>4583.5335279503315</c:v>
                </c:pt>
                <c:pt idx="171">
                  <c:v>4616.066130844396</c:v>
                </c:pt>
                <c:pt idx="172">
                  <c:v>4681.637106955094</c:v>
                </c:pt>
                <c:pt idx="173">
                  <c:v>4736.223634961519</c:v>
                </c:pt>
                <c:pt idx="174">
                  <c:v>4824.623996922879</c:v>
                </c:pt>
                <c:pt idx="175">
                  <c:v>4897.933500431888</c:v>
                </c:pt>
                <c:pt idx="176">
                  <c:v>4950.185190572381</c:v>
                </c:pt>
                <c:pt idx="177">
                  <c:v>5012.155394465179</c:v>
                </c:pt>
                <c:pt idx="178">
                  <c:v>5075.082976500275</c:v>
                </c:pt>
                <c:pt idx="179">
                  <c:v>5151.858716130471</c:v>
                </c:pt>
                <c:pt idx="180">
                  <c:v>5175.738401717521</c:v>
                </c:pt>
                <c:pt idx="181">
                  <c:v>5237.073496323551</c:v>
                </c:pt>
                <c:pt idx="182">
                  <c:v>5303.179554782246</c:v>
                </c:pt>
                <c:pt idx="183">
                  <c:v>5370.24669365536</c:v>
                </c:pt>
                <c:pt idx="184">
                  <c:v>5440.732748213331</c:v>
                </c:pt>
                <c:pt idx="185">
                  <c:v>5510.345628537121</c:v>
                </c:pt>
                <c:pt idx="186">
                  <c:v>5587.857756336148</c:v>
                </c:pt>
                <c:pt idx="187">
                  <c:v>5647.011350364327</c:v>
                </c:pt>
                <c:pt idx="188">
                  <c:v>5695.814038765641</c:v>
                </c:pt>
                <c:pt idx="189">
                  <c:v>5776.201212811254</c:v>
                </c:pt>
                <c:pt idx="190">
                  <c:v>5851.064197213233</c:v>
                </c:pt>
                <c:pt idx="191">
                  <c:v>5905.323985809974</c:v>
                </c:pt>
                <c:pt idx="192">
                  <c:v>5976.997271134624</c:v>
                </c:pt>
                <c:pt idx="193">
                  <c:v>6049.455648446174</c:v>
                </c:pt>
                <c:pt idx="194">
                  <c:v>6127.922203341483</c:v>
                </c:pt>
                <c:pt idx="195">
                  <c:v>6206.6529126516925</c:v>
                </c:pt>
                <c:pt idx="196">
                  <c:v>6326.064315291949</c:v>
                </c:pt>
                <c:pt idx="197">
                  <c:v>6345.402498846295</c:v>
                </c:pt>
                <c:pt idx="198">
                  <c:v>6426.417573415761</c:v>
                </c:pt>
                <c:pt idx="199">
                  <c:v>6520.457438952222</c:v>
                </c:pt>
                <c:pt idx="200">
                  <c:v>6610.066738523097</c:v>
                </c:pt>
                <c:pt idx="201">
                  <c:v>6673.689776473705</c:v>
                </c:pt>
                <c:pt idx="202">
                  <c:v>6740.338063853329</c:v>
                </c:pt>
                <c:pt idx="203">
                  <c:v>6865.587893845656</c:v>
                </c:pt>
                <c:pt idx="204">
                  <c:v>6889.809048123318</c:v>
                </c:pt>
                <c:pt idx="205">
                  <c:v>6969.868608300465</c:v>
                </c:pt>
                <c:pt idx="206">
                  <c:v>7047.663961792666</c:v>
                </c:pt>
                <c:pt idx="207">
                  <c:v>7115.75721409545</c:v>
                </c:pt>
                <c:pt idx="208">
                  <c:v>7153.118002182634</c:v>
                </c:pt>
                <c:pt idx="209">
                  <c:v>7224.150294793935</c:v>
                </c:pt>
                <c:pt idx="210">
                  <c:v>7299.874144155255</c:v>
                </c:pt>
                <c:pt idx="211">
                  <c:v>7370.24055370635</c:v>
                </c:pt>
                <c:pt idx="212">
                  <c:v>7459.919326418124</c:v>
                </c:pt>
                <c:pt idx="213">
                  <c:v>7569.862002503654</c:v>
                </c:pt>
                <c:pt idx="214">
                  <c:v>7700.300388835525</c:v>
                </c:pt>
                <c:pt idx="215">
                  <c:v>7733.387300261635</c:v>
                </c:pt>
                <c:pt idx="216">
                  <c:v>7822.3361374423475</c:v>
                </c:pt>
                <c:pt idx="217">
                  <c:v>7853.053358322754</c:v>
                </c:pt>
                <c:pt idx="218">
                  <c:v>8018.228325003144</c:v>
                </c:pt>
                <c:pt idx="219">
                  <c:v>8107.630667689735</c:v>
                </c:pt>
                <c:pt idx="220">
                  <c:v>8187.335812266085</c:v>
                </c:pt>
                <c:pt idx="221">
                  <c:v>8324.061756706305</c:v>
                </c:pt>
                <c:pt idx="222">
                  <c:v>8352.322677970596</c:v>
                </c:pt>
                <c:pt idx="223">
                  <c:v>8503.334129365376</c:v>
                </c:pt>
                <c:pt idx="224">
                  <c:v>8596.331294356514</c:v>
                </c:pt>
                <c:pt idx="225">
                  <c:v>8639.731976497951</c:v>
                </c:pt>
                <c:pt idx="226">
                  <c:v>8729.75102631005</c:v>
                </c:pt>
                <c:pt idx="227">
                  <c:v>8792.360481680387</c:v>
                </c:pt>
                <c:pt idx="228">
                  <c:v>8910.278665676382</c:v>
                </c:pt>
                <c:pt idx="229">
                  <c:v>8991.77411444802</c:v>
                </c:pt>
                <c:pt idx="230">
                  <c:v>9146.858955511228</c:v>
                </c:pt>
                <c:pt idx="231">
                  <c:v>9198.946434369353</c:v>
                </c:pt>
                <c:pt idx="232">
                  <c:v>9265.291339639778</c:v>
                </c:pt>
                <c:pt idx="233">
                  <c:v>9372.442942609981</c:v>
                </c:pt>
                <c:pt idx="234">
                  <c:v>9495.06151626768</c:v>
                </c:pt>
                <c:pt idx="235">
                  <c:v>9650.312683614771</c:v>
                </c:pt>
                <c:pt idx="236">
                  <c:v>9754.137776428053</c:v>
                </c:pt>
                <c:pt idx="237">
                  <c:v>9858.50276617161</c:v>
                </c:pt>
                <c:pt idx="238">
                  <c:v>9955.951635814723</c:v>
                </c:pt>
                <c:pt idx="239">
                  <c:v>10060.775823472895</c:v>
                </c:pt>
              </c:numCache>
            </c:numRef>
          </c:val>
          <c:smooth val="0"/>
        </c:ser>
        <c:ser>
          <c:idx val="2"/>
          <c:order val="2"/>
          <c:tx>
            <c:strRef>
              <c:f>Sheet1!$D$1</c:f>
              <c:strCache>
                <c:ptCount val="1"/>
                <c:pt idx="0">
                  <c:v>하위 10%</c:v>
                </c:pt>
              </c:strCache>
            </c:strRef>
          </c:tx>
          <c:spPr>
            <a:ln w="12700">
              <a:solidFill>
                <a:srgbClr val="1E9A84"/>
              </a:solidFill>
              <a:prstDash val="dash"/>
            </a:ln>
          </c:spPr>
          <c:marker>
            <c:symbol val="none"/>
          </c:marker>
          <c:cat>
            <c:strRef>
              <c:f>Sheet1!$A$2:$A$241</c:f>
              <c:strCache>
                <c:ptCount val="240"/>
                <c:pt idx="0">
                  <c:v>1년</c:v>
                </c:pt>
                <c:pt idx="1">
                  <c:v>1년</c:v>
                </c:pt>
                <c:pt idx="2">
                  <c:v>1년</c:v>
                </c:pt>
                <c:pt idx="3">
                  <c:v>1년</c:v>
                </c:pt>
                <c:pt idx="4">
                  <c:v>1년</c:v>
                </c:pt>
                <c:pt idx="5">
                  <c:v>1년</c:v>
                </c:pt>
                <c:pt idx="6">
                  <c:v>1년</c:v>
                </c:pt>
                <c:pt idx="7">
                  <c:v>1년</c:v>
                </c:pt>
                <c:pt idx="8">
                  <c:v>1년</c:v>
                </c:pt>
                <c:pt idx="9">
                  <c:v>1년</c:v>
                </c:pt>
                <c:pt idx="10">
                  <c:v>1년</c:v>
                </c:pt>
                <c:pt idx="11">
                  <c:v>1년</c:v>
                </c:pt>
                <c:pt idx="12">
                  <c:v>2년</c:v>
                </c:pt>
                <c:pt idx="13">
                  <c:v>2년</c:v>
                </c:pt>
                <c:pt idx="14">
                  <c:v>2년</c:v>
                </c:pt>
                <c:pt idx="15">
                  <c:v>2년</c:v>
                </c:pt>
                <c:pt idx="16">
                  <c:v>2년</c:v>
                </c:pt>
                <c:pt idx="17">
                  <c:v>2년</c:v>
                </c:pt>
                <c:pt idx="18">
                  <c:v>2년</c:v>
                </c:pt>
                <c:pt idx="19">
                  <c:v>2년</c:v>
                </c:pt>
                <c:pt idx="20">
                  <c:v>2년</c:v>
                </c:pt>
                <c:pt idx="21">
                  <c:v>2년</c:v>
                </c:pt>
                <c:pt idx="22">
                  <c:v>2년</c:v>
                </c:pt>
                <c:pt idx="23">
                  <c:v>2년</c:v>
                </c:pt>
                <c:pt idx="24">
                  <c:v>3년</c:v>
                </c:pt>
                <c:pt idx="25">
                  <c:v>3년</c:v>
                </c:pt>
                <c:pt idx="26">
                  <c:v>3년</c:v>
                </c:pt>
                <c:pt idx="27">
                  <c:v>3년</c:v>
                </c:pt>
                <c:pt idx="28">
                  <c:v>3년</c:v>
                </c:pt>
                <c:pt idx="29">
                  <c:v>3년</c:v>
                </c:pt>
                <c:pt idx="30">
                  <c:v>3년</c:v>
                </c:pt>
                <c:pt idx="31">
                  <c:v>3년</c:v>
                </c:pt>
                <c:pt idx="32">
                  <c:v>3년</c:v>
                </c:pt>
                <c:pt idx="33">
                  <c:v>3년</c:v>
                </c:pt>
                <c:pt idx="34">
                  <c:v>3년</c:v>
                </c:pt>
                <c:pt idx="35">
                  <c:v>3년</c:v>
                </c:pt>
                <c:pt idx="36">
                  <c:v>4년</c:v>
                </c:pt>
                <c:pt idx="37">
                  <c:v>4년</c:v>
                </c:pt>
                <c:pt idx="38">
                  <c:v>4년</c:v>
                </c:pt>
                <c:pt idx="39">
                  <c:v>4년</c:v>
                </c:pt>
                <c:pt idx="40">
                  <c:v>4년</c:v>
                </c:pt>
                <c:pt idx="41">
                  <c:v>4년</c:v>
                </c:pt>
                <c:pt idx="42">
                  <c:v>4년</c:v>
                </c:pt>
                <c:pt idx="43">
                  <c:v>4년</c:v>
                </c:pt>
                <c:pt idx="44">
                  <c:v>4년</c:v>
                </c:pt>
                <c:pt idx="45">
                  <c:v>4년</c:v>
                </c:pt>
                <c:pt idx="46">
                  <c:v>4년</c:v>
                </c:pt>
                <c:pt idx="47">
                  <c:v>4년</c:v>
                </c:pt>
                <c:pt idx="48">
                  <c:v>5년</c:v>
                </c:pt>
                <c:pt idx="49">
                  <c:v>5년</c:v>
                </c:pt>
                <c:pt idx="50">
                  <c:v>5년</c:v>
                </c:pt>
                <c:pt idx="51">
                  <c:v>5년</c:v>
                </c:pt>
                <c:pt idx="52">
                  <c:v>5년</c:v>
                </c:pt>
                <c:pt idx="53">
                  <c:v>5년</c:v>
                </c:pt>
                <c:pt idx="54">
                  <c:v>5년</c:v>
                </c:pt>
                <c:pt idx="55">
                  <c:v>5년</c:v>
                </c:pt>
                <c:pt idx="56">
                  <c:v>5년</c:v>
                </c:pt>
                <c:pt idx="57">
                  <c:v>5년</c:v>
                </c:pt>
                <c:pt idx="58">
                  <c:v>5년</c:v>
                </c:pt>
                <c:pt idx="59">
                  <c:v>5년</c:v>
                </c:pt>
                <c:pt idx="60">
                  <c:v>6년</c:v>
                </c:pt>
                <c:pt idx="61">
                  <c:v>6년</c:v>
                </c:pt>
                <c:pt idx="62">
                  <c:v>6년</c:v>
                </c:pt>
                <c:pt idx="63">
                  <c:v>6년</c:v>
                </c:pt>
                <c:pt idx="64">
                  <c:v>6년</c:v>
                </c:pt>
                <c:pt idx="65">
                  <c:v>6년</c:v>
                </c:pt>
                <c:pt idx="66">
                  <c:v>6년</c:v>
                </c:pt>
                <c:pt idx="67">
                  <c:v>6년</c:v>
                </c:pt>
                <c:pt idx="68">
                  <c:v>6년</c:v>
                </c:pt>
                <c:pt idx="69">
                  <c:v>6년</c:v>
                </c:pt>
                <c:pt idx="70">
                  <c:v>6년</c:v>
                </c:pt>
                <c:pt idx="71">
                  <c:v>6년</c:v>
                </c:pt>
                <c:pt idx="72">
                  <c:v>7년</c:v>
                </c:pt>
                <c:pt idx="73">
                  <c:v>7년</c:v>
                </c:pt>
                <c:pt idx="74">
                  <c:v>7년</c:v>
                </c:pt>
                <c:pt idx="75">
                  <c:v>7년</c:v>
                </c:pt>
                <c:pt idx="76">
                  <c:v>7년</c:v>
                </c:pt>
                <c:pt idx="77">
                  <c:v>7년</c:v>
                </c:pt>
                <c:pt idx="78">
                  <c:v>7년</c:v>
                </c:pt>
                <c:pt idx="79">
                  <c:v>7년</c:v>
                </c:pt>
                <c:pt idx="80">
                  <c:v>7년</c:v>
                </c:pt>
                <c:pt idx="81">
                  <c:v>7년</c:v>
                </c:pt>
                <c:pt idx="82">
                  <c:v>7년</c:v>
                </c:pt>
                <c:pt idx="83">
                  <c:v>7년</c:v>
                </c:pt>
                <c:pt idx="84">
                  <c:v>8년</c:v>
                </c:pt>
                <c:pt idx="85">
                  <c:v>8년</c:v>
                </c:pt>
                <c:pt idx="86">
                  <c:v>8년</c:v>
                </c:pt>
                <c:pt idx="87">
                  <c:v>8년</c:v>
                </c:pt>
                <c:pt idx="88">
                  <c:v>8년</c:v>
                </c:pt>
                <c:pt idx="89">
                  <c:v>8년</c:v>
                </c:pt>
                <c:pt idx="90">
                  <c:v>8년</c:v>
                </c:pt>
                <c:pt idx="91">
                  <c:v>8년</c:v>
                </c:pt>
                <c:pt idx="92">
                  <c:v>8년</c:v>
                </c:pt>
                <c:pt idx="93">
                  <c:v>8년</c:v>
                </c:pt>
                <c:pt idx="94">
                  <c:v>8년</c:v>
                </c:pt>
                <c:pt idx="95">
                  <c:v>8년</c:v>
                </c:pt>
                <c:pt idx="96">
                  <c:v>9년</c:v>
                </c:pt>
                <c:pt idx="97">
                  <c:v>9년</c:v>
                </c:pt>
                <c:pt idx="98">
                  <c:v>9년</c:v>
                </c:pt>
                <c:pt idx="99">
                  <c:v>9년</c:v>
                </c:pt>
                <c:pt idx="100">
                  <c:v>9년</c:v>
                </c:pt>
                <c:pt idx="101">
                  <c:v>9년</c:v>
                </c:pt>
                <c:pt idx="102">
                  <c:v>9년</c:v>
                </c:pt>
                <c:pt idx="103">
                  <c:v>9년</c:v>
                </c:pt>
                <c:pt idx="104">
                  <c:v>9년</c:v>
                </c:pt>
                <c:pt idx="105">
                  <c:v>9년</c:v>
                </c:pt>
                <c:pt idx="106">
                  <c:v>9년</c:v>
                </c:pt>
                <c:pt idx="107">
                  <c:v>9년</c:v>
                </c:pt>
                <c:pt idx="108">
                  <c:v>10년</c:v>
                </c:pt>
                <c:pt idx="109">
                  <c:v>10년</c:v>
                </c:pt>
                <c:pt idx="110">
                  <c:v>10년</c:v>
                </c:pt>
                <c:pt idx="111">
                  <c:v>10년</c:v>
                </c:pt>
                <c:pt idx="112">
                  <c:v>10년</c:v>
                </c:pt>
                <c:pt idx="113">
                  <c:v>10년</c:v>
                </c:pt>
                <c:pt idx="114">
                  <c:v>10년</c:v>
                </c:pt>
                <c:pt idx="115">
                  <c:v>10년</c:v>
                </c:pt>
                <c:pt idx="116">
                  <c:v>10년</c:v>
                </c:pt>
                <c:pt idx="117">
                  <c:v>10년</c:v>
                </c:pt>
                <c:pt idx="118">
                  <c:v>10년</c:v>
                </c:pt>
                <c:pt idx="119">
                  <c:v>10년</c:v>
                </c:pt>
                <c:pt idx="120">
                  <c:v>11년</c:v>
                </c:pt>
                <c:pt idx="121">
                  <c:v>11년</c:v>
                </c:pt>
                <c:pt idx="122">
                  <c:v>11년</c:v>
                </c:pt>
                <c:pt idx="123">
                  <c:v>11년</c:v>
                </c:pt>
                <c:pt idx="124">
                  <c:v>11년</c:v>
                </c:pt>
                <c:pt idx="125">
                  <c:v>11년</c:v>
                </c:pt>
                <c:pt idx="126">
                  <c:v>11년</c:v>
                </c:pt>
                <c:pt idx="127">
                  <c:v>11년</c:v>
                </c:pt>
                <c:pt idx="128">
                  <c:v>11년</c:v>
                </c:pt>
                <c:pt idx="129">
                  <c:v>11년</c:v>
                </c:pt>
                <c:pt idx="130">
                  <c:v>11년</c:v>
                </c:pt>
                <c:pt idx="131">
                  <c:v>11년</c:v>
                </c:pt>
                <c:pt idx="132">
                  <c:v>12년</c:v>
                </c:pt>
                <c:pt idx="133">
                  <c:v>12년</c:v>
                </c:pt>
                <c:pt idx="134">
                  <c:v>12년</c:v>
                </c:pt>
                <c:pt idx="135">
                  <c:v>12년</c:v>
                </c:pt>
                <c:pt idx="136">
                  <c:v>12년</c:v>
                </c:pt>
                <c:pt idx="137">
                  <c:v>12년</c:v>
                </c:pt>
                <c:pt idx="138">
                  <c:v>12년</c:v>
                </c:pt>
                <c:pt idx="139">
                  <c:v>12년</c:v>
                </c:pt>
                <c:pt idx="140">
                  <c:v>12년</c:v>
                </c:pt>
                <c:pt idx="141">
                  <c:v>12년</c:v>
                </c:pt>
                <c:pt idx="142">
                  <c:v>12년</c:v>
                </c:pt>
                <c:pt idx="143">
                  <c:v>12년</c:v>
                </c:pt>
                <c:pt idx="144">
                  <c:v>13년</c:v>
                </c:pt>
                <c:pt idx="145">
                  <c:v>13년</c:v>
                </c:pt>
                <c:pt idx="146">
                  <c:v>13년</c:v>
                </c:pt>
                <c:pt idx="147">
                  <c:v>13년</c:v>
                </c:pt>
                <c:pt idx="148">
                  <c:v>13년</c:v>
                </c:pt>
                <c:pt idx="149">
                  <c:v>13년</c:v>
                </c:pt>
                <c:pt idx="150">
                  <c:v>13년</c:v>
                </c:pt>
                <c:pt idx="151">
                  <c:v>13년</c:v>
                </c:pt>
                <c:pt idx="152">
                  <c:v>13년</c:v>
                </c:pt>
                <c:pt idx="153">
                  <c:v>13년</c:v>
                </c:pt>
                <c:pt idx="154">
                  <c:v>13년</c:v>
                </c:pt>
                <c:pt idx="155">
                  <c:v>13년</c:v>
                </c:pt>
                <c:pt idx="156">
                  <c:v>14년</c:v>
                </c:pt>
                <c:pt idx="157">
                  <c:v>14년</c:v>
                </c:pt>
                <c:pt idx="158">
                  <c:v>14년</c:v>
                </c:pt>
                <c:pt idx="159">
                  <c:v>14년</c:v>
                </c:pt>
                <c:pt idx="160">
                  <c:v>14년</c:v>
                </c:pt>
                <c:pt idx="161">
                  <c:v>14년</c:v>
                </c:pt>
                <c:pt idx="162">
                  <c:v>14년</c:v>
                </c:pt>
                <c:pt idx="163">
                  <c:v>14년</c:v>
                </c:pt>
                <c:pt idx="164">
                  <c:v>14년</c:v>
                </c:pt>
                <c:pt idx="165">
                  <c:v>14년</c:v>
                </c:pt>
                <c:pt idx="166">
                  <c:v>14년</c:v>
                </c:pt>
                <c:pt idx="167">
                  <c:v>14년</c:v>
                </c:pt>
                <c:pt idx="168">
                  <c:v>15년</c:v>
                </c:pt>
                <c:pt idx="169">
                  <c:v>15년</c:v>
                </c:pt>
                <c:pt idx="170">
                  <c:v>15년</c:v>
                </c:pt>
                <c:pt idx="171">
                  <c:v>15년</c:v>
                </c:pt>
                <c:pt idx="172">
                  <c:v>15년</c:v>
                </c:pt>
                <c:pt idx="173">
                  <c:v>15년</c:v>
                </c:pt>
                <c:pt idx="174">
                  <c:v>15년</c:v>
                </c:pt>
                <c:pt idx="175">
                  <c:v>15년</c:v>
                </c:pt>
                <c:pt idx="176">
                  <c:v>15년</c:v>
                </c:pt>
                <c:pt idx="177">
                  <c:v>15년</c:v>
                </c:pt>
                <c:pt idx="178">
                  <c:v>15년</c:v>
                </c:pt>
                <c:pt idx="179">
                  <c:v>15년</c:v>
                </c:pt>
                <c:pt idx="180">
                  <c:v>16년</c:v>
                </c:pt>
                <c:pt idx="181">
                  <c:v>16년</c:v>
                </c:pt>
                <c:pt idx="182">
                  <c:v>16년</c:v>
                </c:pt>
                <c:pt idx="183">
                  <c:v>16년</c:v>
                </c:pt>
                <c:pt idx="184">
                  <c:v>16년</c:v>
                </c:pt>
                <c:pt idx="185">
                  <c:v>16년</c:v>
                </c:pt>
                <c:pt idx="186">
                  <c:v>16년</c:v>
                </c:pt>
                <c:pt idx="187">
                  <c:v>16년</c:v>
                </c:pt>
                <c:pt idx="188">
                  <c:v>16년</c:v>
                </c:pt>
                <c:pt idx="189">
                  <c:v>16년</c:v>
                </c:pt>
                <c:pt idx="190">
                  <c:v>16년</c:v>
                </c:pt>
                <c:pt idx="191">
                  <c:v>16년</c:v>
                </c:pt>
                <c:pt idx="192">
                  <c:v>17년</c:v>
                </c:pt>
                <c:pt idx="193">
                  <c:v>17년</c:v>
                </c:pt>
                <c:pt idx="194">
                  <c:v>17년</c:v>
                </c:pt>
                <c:pt idx="195">
                  <c:v>17년</c:v>
                </c:pt>
                <c:pt idx="196">
                  <c:v>17년</c:v>
                </c:pt>
                <c:pt idx="197">
                  <c:v>17년</c:v>
                </c:pt>
                <c:pt idx="198">
                  <c:v>17년</c:v>
                </c:pt>
                <c:pt idx="199">
                  <c:v>17년</c:v>
                </c:pt>
                <c:pt idx="200">
                  <c:v>17년</c:v>
                </c:pt>
                <c:pt idx="201">
                  <c:v>17년</c:v>
                </c:pt>
                <c:pt idx="202">
                  <c:v>17년</c:v>
                </c:pt>
                <c:pt idx="203">
                  <c:v>17년</c:v>
                </c:pt>
                <c:pt idx="204">
                  <c:v>18년</c:v>
                </c:pt>
                <c:pt idx="205">
                  <c:v>18년</c:v>
                </c:pt>
                <c:pt idx="206">
                  <c:v>18년</c:v>
                </c:pt>
                <c:pt idx="207">
                  <c:v>18년</c:v>
                </c:pt>
                <c:pt idx="208">
                  <c:v>18년</c:v>
                </c:pt>
                <c:pt idx="209">
                  <c:v>18년</c:v>
                </c:pt>
                <c:pt idx="210">
                  <c:v>18년</c:v>
                </c:pt>
                <c:pt idx="211">
                  <c:v>18년</c:v>
                </c:pt>
                <c:pt idx="212">
                  <c:v>18년</c:v>
                </c:pt>
                <c:pt idx="213">
                  <c:v>18년</c:v>
                </c:pt>
                <c:pt idx="214">
                  <c:v>18년</c:v>
                </c:pt>
                <c:pt idx="215">
                  <c:v>18년</c:v>
                </c:pt>
                <c:pt idx="216">
                  <c:v>19년</c:v>
                </c:pt>
                <c:pt idx="217">
                  <c:v>19년</c:v>
                </c:pt>
                <c:pt idx="218">
                  <c:v>19년</c:v>
                </c:pt>
                <c:pt idx="219">
                  <c:v>19년</c:v>
                </c:pt>
                <c:pt idx="220">
                  <c:v>19년</c:v>
                </c:pt>
                <c:pt idx="221">
                  <c:v>19년</c:v>
                </c:pt>
                <c:pt idx="222">
                  <c:v>19년</c:v>
                </c:pt>
                <c:pt idx="223">
                  <c:v>19년</c:v>
                </c:pt>
                <c:pt idx="224">
                  <c:v>19년</c:v>
                </c:pt>
                <c:pt idx="225">
                  <c:v>19년</c:v>
                </c:pt>
                <c:pt idx="226">
                  <c:v>19년</c:v>
                </c:pt>
                <c:pt idx="227">
                  <c:v>19년</c:v>
                </c:pt>
                <c:pt idx="228">
                  <c:v>20년</c:v>
                </c:pt>
                <c:pt idx="229">
                  <c:v>20년</c:v>
                </c:pt>
                <c:pt idx="230">
                  <c:v>20년</c:v>
                </c:pt>
                <c:pt idx="231">
                  <c:v>20년</c:v>
                </c:pt>
                <c:pt idx="232">
                  <c:v>20년</c:v>
                </c:pt>
                <c:pt idx="233">
                  <c:v>20년</c:v>
                </c:pt>
                <c:pt idx="234">
                  <c:v>20년</c:v>
                </c:pt>
                <c:pt idx="235">
                  <c:v>20년</c:v>
                </c:pt>
                <c:pt idx="236">
                  <c:v>20년</c:v>
                </c:pt>
                <c:pt idx="237">
                  <c:v>20년</c:v>
                </c:pt>
                <c:pt idx="238">
                  <c:v>20년</c:v>
                </c:pt>
                <c:pt idx="239">
                  <c:v>20년</c:v>
                </c:pt>
              </c:strCache>
            </c:strRef>
          </c:cat>
          <c:val>
            <c:numRef>
              <c:f>Sheet1!$D$2:$D$241</c:f>
              <c:numCache>
                <c:formatCode>General</c:formatCode>
                <c:ptCount val="240"/>
                <c:pt idx="0">
                  <c:v>9.720881827839658</c:v>
                </c:pt>
                <c:pt idx="1">
                  <c:v>19.5506861017544</c:v>
                </c:pt>
                <c:pt idx="2">
                  <c:v>29.090098544831054</c:v>
                </c:pt>
                <c:pt idx="3">
                  <c:v>39.160139012281654</c:v>
                </c:pt>
                <c:pt idx="4">
                  <c:v>49.29909772922444</c:v>
                </c:pt>
                <c:pt idx="5">
                  <c:v>59.285304638327986</c:v>
                </c:pt>
                <c:pt idx="6">
                  <c:v>69.13591270307968</c:v>
                </c:pt>
                <c:pt idx="7">
                  <c:v>79.21325670861627</c:v>
                </c:pt>
                <c:pt idx="8">
                  <c:v>89.50409185685939</c:v>
                </c:pt>
                <c:pt idx="9">
                  <c:v>99.87274762568026</c:v>
                </c:pt>
                <c:pt idx="10">
                  <c:v>109.23377239671115</c:v>
                </c:pt>
                <c:pt idx="11">
                  <c:v>118.4632380944714</c:v>
                </c:pt>
                <c:pt idx="12">
                  <c:v>128.49535396300686</c:v>
                </c:pt>
                <c:pt idx="13">
                  <c:v>138.8034898268085</c:v>
                </c:pt>
                <c:pt idx="14">
                  <c:v>150.05520432650997</c:v>
                </c:pt>
                <c:pt idx="15">
                  <c:v>160.6713471739174</c:v>
                </c:pt>
                <c:pt idx="16">
                  <c:v>171.39538374489604</c:v>
                </c:pt>
                <c:pt idx="17">
                  <c:v>180.72482044082827</c:v>
                </c:pt>
                <c:pt idx="18">
                  <c:v>191.18991686709424</c:v>
                </c:pt>
                <c:pt idx="19">
                  <c:v>203.0637098314279</c:v>
                </c:pt>
                <c:pt idx="20">
                  <c:v>212.91926221428756</c:v>
                </c:pt>
                <c:pt idx="21">
                  <c:v>224.06234623151846</c:v>
                </c:pt>
                <c:pt idx="22">
                  <c:v>233.59439929967994</c:v>
                </c:pt>
                <c:pt idx="23">
                  <c:v>243.92610044886695</c:v>
                </c:pt>
                <c:pt idx="24">
                  <c:v>254.06566638547736</c:v>
                </c:pt>
                <c:pt idx="25">
                  <c:v>266.9522129056611</c:v>
                </c:pt>
                <c:pt idx="26">
                  <c:v>279.020081666784</c:v>
                </c:pt>
                <c:pt idx="27">
                  <c:v>288.5369681218872</c:v>
                </c:pt>
                <c:pt idx="28">
                  <c:v>301.3636325097827</c:v>
                </c:pt>
                <c:pt idx="29">
                  <c:v>313.1482637084815</c:v>
                </c:pt>
                <c:pt idx="30">
                  <c:v>322.6819393134172</c:v>
                </c:pt>
                <c:pt idx="31">
                  <c:v>334.9754887918934</c:v>
                </c:pt>
                <c:pt idx="32">
                  <c:v>345.36134107029415</c:v>
                </c:pt>
                <c:pt idx="33">
                  <c:v>358.30082230188816</c:v>
                </c:pt>
                <c:pt idx="34">
                  <c:v>368.7812144922193</c:v>
                </c:pt>
                <c:pt idx="35">
                  <c:v>379.1221851901948</c:v>
                </c:pt>
                <c:pt idx="36">
                  <c:v>391.734140356817</c:v>
                </c:pt>
                <c:pt idx="37">
                  <c:v>401.75053274128913</c:v>
                </c:pt>
                <c:pt idx="38">
                  <c:v>419.82336818202566</c:v>
                </c:pt>
                <c:pt idx="39">
                  <c:v>431.55442410928913</c:v>
                </c:pt>
                <c:pt idx="40">
                  <c:v>441.17429346022783</c:v>
                </c:pt>
                <c:pt idx="41">
                  <c:v>452.04091323205193</c:v>
                </c:pt>
                <c:pt idx="42">
                  <c:v>465.8695420233052</c:v>
                </c:pt>
                <c:pt idx="43">
                  <c:v>476.49453949772754</c:v>
                </c:pt>
                <c:pt idx="44">
                  <c:v>490.0879931413584</c:v>
                </c:pt>
                <c:pt idx="45">
                  <c:v>501.54745188552306</c:v>
                </c:pt>
                <c:pt idx="46">
                  <c:v>514.1203742378453</c:v>
                </c:pt>
                <c:pt idx="47">
                  <c:v>530.4044619037624</c:v>
                </c:pt>
                <c:pt idx="48">
                  <c:v>545.2705505177083</c:v>
                </c:pt>
                <c:pt idx="49">
                  <c:v>557.0662343404299</c:v>
                </c:pt>
                <c:pt idx="50">
                  <c:v>572.3357502801165</c:v>
                </c:pt>
                <c:pt idx="51">
                  <c:v>586.1107701623291</c:v>
                </c:pt>
                <c:pt idx="52">
                  <c:v>601.2168316795827</c:v>
                </c:pt>
                <c:pt idx="53">
                  <c:v>615.6500714656671</c:v>
                </c:pt>
                <c:pt idx="54">
                  <c:v>628.3044579201172</c:v>
                </c:pt>
                <c:pt idx="55">
                  <c:v>639.1259353060688</c:v>
                </c:pt>
                <c:pt idx="56">
                  <c:v>657.6594202507881</c:v>
                </c:pt>
                <c:pt idx="57">
                  <c:v>675.6767336061274</c:v>
                </c:pt>
                <c:pt idx="58">
                  <c:v>686.2408293648789</c:v>
                </c:pt>
                <c:pt idx="59">
                  <c:v>701.5593151620054</c:v>
                </c:pt>
                <c:pt idx="60">
                  <c:v>714.3654556071746</c:v>
                </c:pt>
                <c:pt idx="61">
                  <c:v>730.4054984317997</c:v>
                </c:pt>
                <c:pt idx="62">
                  <c:v>737.8267616400851</c:v>
                </c:pt>
                <c:pt idx="63">
                  <c:v>756.1811244807932</c:v>
                </c:pt>
                <c:pt idx="64">
                  <c:v>775.3092175098596</c:v>
                </c:pt>
                <c:pt idx="65">
                  <c:v>791.0005258382345</c:v>
                </c:pt>
                <c:pt idx="66">
                  <c:v>805.7978206462807</c:v>
                </c:pt>
                <c:pt idx="67">
                  <c:v>818.1571367256114</c:v>
                </c:pt>
                <c:pt idx="68">
                  <c:v>832.9639232109362</c:v>
                </c:pt>
                <c:pt idx="69">
                  <c:v>844.899688074037</c:v>
                </c:pt>
                <c:pt idx="70">
                  <c:v>860.76824109603</c:v>
                </c:pt>
                <c:pt idx="71">
                  <c:v>878.3110317384901</c:v>
                </c:pt>
                <c:pt idx="72">
                  <c:v>895.5353178338047</c:v>
                </c:pt>
                <c:pt idx="73">
                  <c:v>904.3125268332602</c:v>
                </c:pt>
                <c:pt idx="74">
                  <c:v>921.2583046154829</c:v>
                </c:pt>
                <c:pt idx="75">
                  <c:v>936.3284488554591</c:v>
                </c:pt>
                <c:pt idx="76">
                  <c:v>940.9491774230174</c:v>
                </c:pt>
                <c:pt idx="77">
                  <c:v>963.9019940015346</c:v>
                </c:pt>
                <c:pt idx="78">
                  <c:v>989.4823755464349</c:v>
                </c:pt>
                <c:pt idx="79">
                  <c:v>1004.438756125314</c:v>
                </c:pt>
                <c:pt idx="80">
                  <c:v>1026.725098291793</c:v>
                </c:pt>
                <c:pt idx="81">
                  <c:v>1042.8521479970982</c:v>
                </c:pt>
                <c:pt idx="82">
                  <c:v>1053.7454787470544</c:v>
                </c:pt>
                <c:pt idx="83">
                  <c:v>1071.784377355433</c:v>
                </c:pt>
                <c:pt idx="84">
                  <c:v>1102.1741655103383</c:v>
                </c:pt>
                <c:pt idx="85">
                  <c:v>1113.3250652580832</c:v>
                </c:pt>
                <c:pt idx="86">
                  <c:v>1128.6561178055545</c:v>
                </c:pt>
                <c:pt idx="87">
                  <c:v>1148.4236100655776</c:v>
                </c:pt>
                <c:pt idx="88">
                  <c:v>1173.166345239111</c:v>
                </c:pt>
                <c:pt idx="89">
                  <c:v>1177.177855387282</c:v>
                </c:pt>
                <c:pt idx="90">
                  <c:v>1190.178158109856</c:v>
                </c:pt>
                <c:pt idx="91">
                  <c:v>1210.1098454182807</c:v>
                </c:pt>
                <c:pt idx="92">
                  <c:v>1233.4106262067012</c:v>
                </c:pt>
                <c:pt idx="93">
                  <c:v>1245.887271902804</c:v>
                </c:pt>
                <c:pt idx="94">
                  <c:v>1264.069645800329</c:v>
                </c:pt>
                <c:pt idx="95">
                  <c:v>1277.798739120718</c:v>
                </c:pt>
                <c:pt idx="96">
                  <c:v>1303.7451310343963</c:v>
                </c:pt>
                <c:pt idx="97">
                  <c:v>1331.1130635133823</c:v>
                </c:pt>
                <c:pt idx="98">
                  <c:v>1357.9776706682235</c:v>
                </c:pt>
                <c:pt idx="99">
                  <c:v>1382.545299080531</c:v>
                </c:pt>
                <c:pt idx="100">
                  <c:v>1387.1250896280078</c:v>
                </c:pt>
                <c:pt idx="101">
                  <c:v>1409.7660033498207</c:v>
                </c:pt>
                <c:pt idx="102">
                  <c:v>1433.202921454202</c:v>
                </c:pt>
                <c:pt idx="103">
                  <c:v>1447.3326797559234</c:v>
                </c:pt>
                <c:pt idx="104">
                  <c:v>1459.2798102841011</c:v>
                </c:pt>
                <c:pt idx="105">
                  <c:v>1483.322824617431</c:v>
                </c:pt>
                <c:pt idx="106">
                  <c:v>1497.7008908633031</c:v>
                </c:pt>
                <c:pt idx="107">
                  <c:v>1532.8393799739779</c:v>
                </c:pt>
                <c:pt idx="108">
                  <c:v>1552.5778439014257</c:v>
                </c:pt>
                <c:pt idx="109">
                  <c:v>1565.7481594971948</c:v>
                </c:pt>
                <c:pt idx="110">
                  <c:v>1583.9978658746927</c:v>
                </c:pt>
                <c:pt idx="111">
                  <c:v>1613.8057415343412</c:v>
                </c:pt>
                <c:pt idx="112">
                  <c:v>1625.3597089808072</c:v>
                </c:pt>
                <c:pt idx="113">
                  <c:v>1652.2706443739698</c:v>
                </c:pt>
                <c:pt idx="114">
                  <c:v>1667.1690311005752</c:v>
                </c:pt>
                <c:pt idx="115">
                  <c:v>1687.9621514055602</c:v>
                </c:pt>
                <c:pt idx="116">
                  <c:v>1715.7981704538886</c:v>
                </c:pt>
                <c:pt idx="117">
                  <c:v>1756.9144736820422</c:v>
                </c:pt>
                <c:pt idx="118">
                  <c:v>1772.751420968787</c:v>
                </c:pt>
                <c:pt idx="119">
                  <c:v>1783.0685737531737</c:v>
                </c:pt>
                <c:pt idx="120">
                  <c:v>1821.3874501990792</c:v>
                </c:pt>
                <c:pt idx="121">
                  <c:v>1836.695742818188</c:v>
                </c:pt>
                <c:pt idx="122">
                  <c:v>1849.23463842964</c:v>
                </c:pt>
                <c:pt idx="123">
                  <c:v>1875.143142206086</c:v>
                </c:pt>
                <c:pt idx="124">
                  <c:v>1897.6395972921941</c:v>
                </c:pt>
                <c:pt idx="125">
                  <c:v>1916.8043251641925</c:v>
                </c:pt>
                <c:pt idx="126">
                  <c:v>1951.3371808950592</c:v>
                </c:pt>
                <c:pt idx="127">
                  <c:v>1978.0809265634373</c:v>
                </c:pt>
                <c:pt idx="128">
                  <c:v>2000.491113699612</c:v>
                </c:pt>
                <c:pt idx="129">
                  <c:v>2031.0614989186943</c:v>
                </c:pt>
                <c:pt idx="130">
                  <c:v>2056.9491174979403</c:v>
                </c:pt>
                <c:pt idx="131">
                  <c:v>2100.5236238689927</c:v>
                </c:pt>
                <c:pt idx="132">
                  <c:v>2117.230128862763</c:v>
                </c:pt>
                <c:pt idx="133">
                  <c:v>2147.1805119817554</c:v>
                </c:pt>
                <c:pt idx="134">
                  <c:v>2177.5240865334245</c:v>
                </c:pt>
                <c:pt idx="135">
                  <c:v>2209.421831108196</c:v>
                </c:pt>
                <c:pt idx="136">
                  <c:v>2218.2343424856153</c:v>
                </c:pt>
                <c:pt idx="137">
                  <c:v>2248.216404501318</c:v>
                </c:pt>
                <c:pt idx="138">
                  <c:v>2281.4048616074306</c:v>
                </c:pt>
                <c:pt idx="139">
                  <c:v>2308.6748687875915</c:v>
                </c:pt>
                <c:pt idx="140">
                  <c:v>2322.0293373479094</c:v>
                </c:pt>
                <c:pt idx="141">
                  <c:v>2352.0010013992505</c:v>
                </c:pt>
                <c:pt idx="142">
                  <c:v>2379.8626915918394</c:v>
                </c:pt>
                <c:pt idx="143">
                  <c:v>2414.8224514861454</c:v>
                </c:pt>
                <c:pt idx="144">
                  <c:v>2437.656844865382</c:v>
                </c:pt>
                <c:pt idx="145">
                  <c:v>2460.153486379161</c:v>
                </c:pt>
                <c:pt idx="146">
                  <c:v>2486.080005452671</c:v>
                </c:pt>
                <c:pt idx="147">
                  <c:v>2505.8113995606927</c:v>
                </c:pt>
                <c:pt idx="148">
                  <c:v>2543.8828801038744</c:v>
                </c:pt>
                <c:pt idx="149">
                  <c:v>2581.0409376094535</c:v>
                </c:pt>
                <c:pt idx="150">
                  <c:v>2618.5175075603483</c:v>
                </c:pt>
                <c:pt idx="151">
                  <c:v>2651.4496573636497</c:v>
                </c:pt>
                <c:pt idx="152">
                  <c:v>2677.2746216893943</c:v>
                </c:pt>
                <c:pt idx="153">
                  <c:v>2724.489382492393</c:v>
                </c:pt>
                <c:pt idx="154">
                  <c:v>2765.1820630760794</c:v>
                </c:pt>
                <c:pt idx="155">
                  <c:v>2793.43160248702</c:v>
                </c:pt>
                <c:pt idx="156">
                  <c:v>2832.005896346005</c:v>
                </c:pt>
                <c:pt idx="157">
                  <c:v>2860.600440255848</c:v>
                </c:pt>
                <c:pt idx="158">
                  <c:v>2900.3150639837368</c:v>
                </c:pt>
                <c:pt idx="159">
                  <c:v>2924.056545138035</c:v>
                </c:pt>
                <c:pt idx="160">
                  <c:v>2977.625201300672</c:v>
                </c:pt>
                <c:pt idx="161">
                  <c:v>3015.264945956801</c:v>
                </c:pt>
                <c:pt idx="162">
                  <c:v>3058.5192362425664</c:v>
                </c:pt>
                <c:pt idx="163">
                  <c:v>3053.2029516744014</c:v>
                </c:pt>
                <c:pt idx="164">
                  <c:v>3096.275951233826</c:v>
                </c:pt>
                <c:pt idx="165">
                  <c:v>3116.8395391877493</c:v>
                </c:pt>
                <c:pt idx="166">
                  <c:v>3154.5028469615067</c:v>
                </c:pt>
                <c:pt idx="167">
                  <c:v>3208.517262534225</c:v>
                </c:pt>
                <c:pt idx="168">
                  <c:v>3231.6004955217304</c:v>
                </c:pt>
                <c:pt idx="169">
                  <c:v>3248.4259538848924</c:v>
                </c:pt>
                <c:pt idx="170">
                  <c:v>3285.5919169347585</c:v>
                </c:pt>
                <c:pt idx="171">
                  <c:v>3329.1832435257747</c:v>
                </c:pt>
                <c:pt idx="172">
                  <c:v>3329.2929858545476</c:v>
                </c:pt>
                <c:pt idx="173">
                  <c:v>3349.5577122940495</c:v>
                </c:pt>
                <c:pt idx="174">
                  <c:v>3398.716650010916</c:v>
                </c:pt>
                <c:pt idx="175">
                  <c:v>3434.3215458896457</c:v>
                </c:pt>
                <c:pt idx="176">
                  <c:v>3480.675271462984</c:v>
                </c:pt>
                <c:pt idx="177">
                  <c:v>3542.1372964749394</c:v>
                </c:pt>
                <c:pt idx="178">
                  <c:v>3568.4240851792297</c:v>
                </c:pt>
                <c:pt idx="179">
                  <c:v>3582.6234117492118</c:v>
                </c:pt>
                <c:pt idx="180">
                  <c:v>3625.9568355338724</c:v>
                </c:pt>
                <c:pt idx="181">
                  <c:v>3687.891848495923</c:v>
                </c:pt>
                <c:pt idx="182">
                  <c:v>3750.0811652520465</c:v>
                </c:pt>
                <c:pt idx="183">
                  <c:v>3765.9086101049916</c:v>
                </c:pt>
                <c:pt idx="184">
                  <c:v>3844.203917717614</c:v>
                </c:pt>
                <c:pt idx="185">
                  <c:v>3878.0067105342605</c:v>
                </c:pt>
                <c:pt idx="186">
                  <c:v>3907.4364953186155</c:v>
                </c:pt>
                <c:pt idx="187">
                  <c:v>3909.3488416007294</c:v>
                </c:pt>
                <c:pt idx="188">
                  <c:v>4007.992679302994</c:v>
                </c:pt>
                <c:pt idx="189">
                  <c:v>4053.010057250627</c:v>
                </c:pt>
                <c:pt idx="190">
                  <c:v>4108.690962165695</c:v>
                </c:pt>
                <c:pt idx="191">
                  <c:v>4175.758219968052</c:v>
                </c:pt>
                <c:pt idx="192">
                  <c:v>4109.7795745261465</c:v>
                </c:pt>
                <c:pt idx="193">
                  <c:v>4158.08341728289</c:v>
                </c:pt>
                <c:pt idx="194">
                  <c:v>4237.398925042691</c:v>
                </c:pt>
                <c:pt idx="195">
                  <c:v>4261.614501352052</c:v>
                </c:pt>
                <c:pt idx="196">
                  <c:v>4346.026433945083</c:v>
                </c:pt>
                <c:pt idx="197">
                  <c:v>4377.437032731329</c:v>
                </c:pt>
                <c:pt idx="198">
                  <c:v>4428.786541423334</c:v>
                </c:pt>
                <c:pt idx="199">
                  <c:v>4464.537235356305</c:v>
                </c:pt>
                <c:pt idx="200">
                  <c:v>4571.290161732606</c:v>
                </c:pt>
                <c:pt idx="201">
                  <c:v>4591.015735118632</c:v>
                </c:pt>
                <c:pt idx="202">
                  <c:v>4633.0125447235505</c:v>
                </c:pt>
                <c:pt idx="203">
                  <c:v>4672.956343484069</c:v>
                </c:pt>
                <c:pt idx="204">
                  <c:v>4663.06944662899</c:v>
                </c:pt>
                <c:pt idx="205">
                  <c:v>4660.398540378046</c:v>
                </c:pt>
                <c:pt idx="206">
                  <c:v>4771.529600968564</c:v>
                </c:pt>
                <c:pt idx="207">
                  <c:v>4806.146699791878</c:v>
                </c:pt>
                <c:pt idx="208">
                  <c:v>4849.3973305511145</c:v>
                </c:pt>
                <c:pt idx="209">
                  <c:v>4923.4345362199165</c:v>
                </c:pt>
                <c:pt idx="210">
                  <c:v>4891.77718460321</c:v>
                </c:pt>
                <c:pt idx="211">
                  <c:v>4980.792245267668</c:v>
                </c:pt>
                <c:pt idx="212">
                  <c:v>5026.556193626305</c:v>
                </c:pt>
                <c:pt idx="213">
                  <c:v>5077.725962821856</c:v>
                </c:pt>
                <c:pt idx="214">
                  <c:v>5153.467298611861</c:v>
                </c:pt>
                <c:pt idx="215">
                  <c:v>5211.652360571067</c:v>
                </c:pt>
                <c:pt idx="216">
                  <c:v>5265.855180752227</c:v>
                </c:pt>
                <c:pt idx="217">
                  <c:v>5281.759392962446</c:v>
                </c:pt>
                <c:pt idx="218">
                  <c:v>5298.753305285681</c:v>
                </c:pt>
                <c:pt idx="219">
                  <c:v>5353.5173125663005</c:v>
                </c:pt>
                <c:pt idx="220">
                  <c:v>5407.498338594157</c:v>
                </c:pt>
                <c:pt idx="221">
                  <c:v>5503.829474579812</c:v>
                </c:pt>
                <c:pt idx="222">
                  <c:v>5526.909179005814</c:v>
                </c:pt>
                <c:pt idx="223">
                  <c:v>5536.969442770522</c:v>
                </c:pt>
                <c:pt idx="224">
                  <c:v>5618.130987814243</c:v>
                </c:pt>
                <c:pt idx="225">
                  <c:v>5668.19000345133</c:v>
                </c:pt>
                <c:pt idx="226">
                  <c:v>5700.059644040356</c:v>
                </c:pt>
                <c:pt idx="227">
                  <c:v>5789.9602305524095</c:v>
                </c:pt>
                <c:pt idx="228">
                  <c:v>5865.299616805325</c:v>
                </c:pt>
                <c:pt idx="229">
                  <c:v>5890.177888430253</c:v>
                </c:pt>
                <c:pt idx="230">
                  <c:v>5942.40142389703</c:v>
                </c:pt>
                <c:pt idx="231">
                  <c:v>5992.962600993419</c:v>
                </c:pt>
                <c:pt idx="232">
                  <c:v>6170.57363650892</c:v>
                </c:pt>
                <c:pt idx="233">
                  <c:v>6263.480700866329</c:v>
                </c:pt>
                <c:pt idx="234">
                  <c:v>6278.162780082606</c:v>
                </c:pt>
                <c:pt idx="235">
                  <c:v>6300.616184445979</c:v>
                </c:pt>
                <c:pt idx="236">
                  <c:v>6370.690496032153</c:v>
                </c:pt>
                <c:pt idx="237">
                  <c:v>6376.2679004814345</c:v>
                </c:pt>
                <c:pt idx="238">
                  <c:v>6475.328199062342</c:v>
                </c:pt>
                <c:pt idx="239">
                  <c:v>6610.36111156683</c:v>
                </c:pt>
              </c:numCache>
            </c:numRef>
          </c:val>
          <c:smooth val="0"/>
        </c:ser>
        <c:ser>
          <c:idx val="3"/>
          <c:order val="3"/>
          <c:tx>
            <c:strRef>
              <c:f>Sheet1!$E$1</c:f>
              <c:strCache>
                <c:ptCount val="1"/>
                <c:pt idx="0">
                  <c:v>원금</c:v>
                </c:pt>
              </c:strCache>
            </c:strRef>
          </c:tx>
          <c:spPr>
            <a:ln w="12700">
              <a:solidFill>
                <a:srgbClr val="1A1E25"/>
              </a:solidFill>
              <a:prstDash val="sysDash"/>
            </a:ln>
          </c:spPr>
          <c:marker>
            <c:symbol val="none"/>
          </c:marker>
          <c:cat>
            <c:strRef>
              <c:f>Sheet1!$A$2:$A$241</c:f>
              <c:strCache>
                <c:ptCount val="240"/>
                <c:pt idx="0">
                  <c:v>1년</c:v>
                </c:pt>
                <c:pt idx="1">
                  <c:v>1년</c:v>
                </c:pt>
                <c:pt idx="2">
                  <c:v>1년</c:v>
                </c:pt>
                <c:pt idx="3">
                  <c:v>1년</c:v>
                </c:pt>
                <c:pt idx="4">
                  <c:v>1년</c:v>
                </c:pt>
                <c:pt idx="5">
                  <c:v>1년</c:v>
                </c:pt>
                <c:pt idx="6">
                  <c:v>1년</c:v>
                </c:pt>
                <c:pt idx="7">
                  <c:v>1년</c:v>
                </c:pt>
                <c:pt idx="8">
                  <c:v>1년</c:v>
                </c:pt>
                <c:pt idx="9">
                  <c:v>1년</c:v>
                </c:pt>
                <c:pt idx="10">
                  <c:v>1년</c:v>
                </c:pt>
                <c:pt idx="11">
                  <c:v>1년</c:v>
                </c:pt>
                <c:pt idx="12">
                  <c:v>2년</c:v>
                </c:pt>
                <c:pt idx="13">
                  <c:v>2년</c:v>
                </c:pt>
                <c:pt idx="14">
                  <c:v>2년</c:v>
                </c:pt>
                <c:pt idx="15">
                  <c:v>2년</c:v>
                </c:pt>
                <c:pt idx="16">
                  <c:v>2년</c:v>
                </c:pt>
                <c:pt idx="17">
                  <c:v>2년</c:v>
                </c:pt>
                <c:pt idx="18">
                  <c:v>2년</c:v>
                </c:pt>
                <c:pt idx="19">
                  <c:v>2년</c:v>
                </c:pt>
                <c:pt idx="20">
                  <c:v>2년</c:v>
                </c:pt>
                <c:pt idx="21">
                  <c:v>2년</c:v>
                </c:pt>
                <c:pt idx="22">
                  <c:v>2년</c:v>
                </c:pt>
                <c:pt idx="23">
                  <c:v>2년</c:v>
                </c:pt>
                <c:pt idx="24">
                  <c:v>3년</c:v>
                </c:pt>
                <c:pt idx="25">
                  <c:v>3년</c:v>
                </c:pt>
                <c:pt idx="26">
                  <c:v>3년</c:v>
                </c:pt>
                <c:pt idx="27">
                  <c:v>3년</c:v>
                </c:pt>
                <c:pt idx="28">
                  <c:v>3년</c:v>
                </c:pt>
                <c:pt idx="29">
                  <c:v>3년</c:v>
                </c:pt>
                <c:pt idx="30">
                  <c:v>3년</c:v>
                </c:pt>
                <c:pt idx="31">
                  <c:v>3년</c:v>
                </c:pt>
                <c:pt idx="32">
                  <c:v>3년</c:v>
                </c:pt>
                <c:pt idx="33">
                  <c:v>3년</c:v>
                </c:pt>
                <c:pt idx="34">
                  <c:v>3년</c:v>
                </c:pt>
                <c:pt idx="35">
                  <c:v>3년</c:v>
                </c:pt>
                <c:pt idx="36">
                  <c:v>4년</c:v>
                </c:pt>
                <c:pt idx="37">
                  <c:v>4년</c:v>
                </c:pt>
                <c:pt idx="38">
                  <c:v>4년</c:v>
                </c:pt>
                <c:pt idx="39">
                  <c:v>4년</c:v>
                </c:pt>
                <c:pt idx="40">
                  <c:v>4년</c:v>
                </c:pt>
                <c:pt idx="41">
                  <c:v>4년</c:v>
                </c:pt>
                <c:pt idx="42">
                  <c:v>4년</c:v>
                </c:pt>
                <c:pt idx="43">
                  <c:v>4년</c:v>
                </c:pt>
                <c:pt idx="44">
                  <c:v>4년</c:v>
                </c:pt>
                <c:pt idx="45">
                  <c:v>4년</c:v>
                </c:pt>
                <c:pt idx="46">
                  <c:v>4년</c:v>
                </c:pt>
                <c:pt idx="47">
                  <c:v>4년</c:v>
                </c:pt>
                <c:pt idx="48">
                  <c:v>5년</c:v>
                </c:pt>
                <c:pt idx="49">
                  <c:v>5년</c:v>
                </c:pt>
                <c:pt idx="50">
                  <c:v>5년</c:v>
                </c:pt>
                <c:pt idx="51">
                  <c:v>5년</c:v>
                </c:pt>
                <c:pt idx="52">
                  <c:v>5년</c:v>
                </c:pt>
                <c:pt idx="53">
                  <c:v>5년</c:v>
                </c:pt>
                <c:pt idx="54">
                  <c:v>5년</c:v>
                </c:pt>
                <c:pt idx="55">
                  <c:v>5년</c:v>
                </c:pt>
                <c:pt idx="56">
                  <c:v>5년</c:v>
                </c:pt>
                <c:pt idx="57">
                  <c:v>5년</c:v>
                </c:pt>
                <c:pt idx="58">
                  <c:v>5년</c:v>
                </c:pt>
                <c:pt idx="59">
                  <c:v>5년</c:v>
                </c:pt>
                <c:pt idx="60">
                  <c:v>6년</c:v>
                </c:pt>
                <c:pt idx="61">
                  <c:v>6년</c:v>
                </c:pt>
                <c:pt idx="62">
                  <c:v>6년</c:v>
                </c:pt>
                <c:pt idx="63">
                  <c:v>6년</c:v>
                </c:pt>
                <c:pt idx="64">
                  <c:v>6년</c:v>
                </c:pt>
                <c:pt idx="65">
                  <c:v>6년</c:v>
                </c:pt>
                <c:pt idx="66">
                  <c:v>6년</c:v>
                </c:pt>
                <c:pt idx="67">
                  <c:v>6년</c:v>
                </c:pt>
                <c:pt idx="68">
                  <c:v>6년</c:v>
                </c:pt>
                <c:pt idx="69">
                  <c:v>6년</c:v>
                </c:pt>
                <c:pt idx="70">
                  <c:v>6년</c:v>
                </c:pt>
                <c:pt idx="71">
                  <c:v>6년</c:v>
                </c:pt>
                <c:pt idx="72">
                  <c:v>7년</c:v>
                </c:pt>
                <c:pt idx="73">
                  <c:v>7년</c:v>
                </c:pt>
                <c:pt idx="74">
                  <c:v>7년</c:v>
                </c:pt>
                <c:pt idx="75">
                  <c:v>7년</c:v>
                </c:pt>
                <c:pt idx="76">
                  <c:v>7년</c:v>
                </c:pt>
                <c:pt idx="77">
                  <c:v>7년</c:v>
                </c:pt>
                <c:pt idx="78">
                  <c:v>7년</c:v>
                </c:pt>
                <c:pt idx="79">
                  <c:v>7년</c:v>
                </c:pt>
                <c:pt idx="80">
                  <c:v>7년</c:v>
                </c:pt>
                <c:pt idx="81">
                  <c:v>7년</c:v>
                </c:pt>
                <c:pt idx="82">
                  <c:v>7년</c:v>
                </c:pt>
                <c:pt idx="83">
                  <c:v>7년</c:v>
                </c:pt>
                <c:pt idx="84">
                  <c:v>8년</c:v>
                </c:pt>
                <c:pt idx="85">
                  <c:v>8년</c:v>
                </c:pt>
                <c:pt idx="86">
                  <c:v>8년</c:v>
                </c:pt>
                <c:pt idx="87">
                  <c:v>8년</c:v>
                </c:pt>
                <c:pt idx="88">
                  <c:v>8년</c:v>
                </c:pt>
                <c:pt idx="89">
                  <c:v>8년</c:v>
                </c:pt>
                <c:pt idx="90">
                  <c:v>8년</c:v>
                </c:pt>
                <c:pt idx="91">
                  <c:v>8년</c:v>
                </c:pt>
                <c:pt idx="92">
                  <c:v>8년</c:v>
                </c:pt>
                <c:pt idx="93">
                  <c:v>8년</c:v>
                </c:pt>
                <c:pt idx="94">
                  <c:v>8년</c:v>
                </c:pt>
                <c:pt idx="95">
                  <c:v>8년</c:v>
                </c:pt>
                <c:pt idx="96">
                  <c:v>9년</c:v>
                </c:pt>
                <c:pt idx="97">
                  <c:v>9년</c:v>
                </c:pt>
                <c:pt idx="98">
                  <c:v>9년</c:v>
                </c:pt>
                <c:pt idx="99">
                  <c:v>9년</c:v>
                </c:pt>
                <c:pt idx="100">
                  <c:v>9년</c:v>
                </c:pt>
                <c:pt idx="101">
                  <c:v>9년</c:v>
                </c:pt>
                <c:pt idx="102">
                  <c:v>9년</c:v>
                </c:pt>
                <c:pt idx="103">
                  <c:v>9년</c:v>
                </c:pt>
                <c:pt idx="104">
                  <c:v>9년</c:v>
                </c:pt>
                <c:pt idx="105">
                  <c:v>9년</c:v>
                </c:pt>
                <c:pt idx="106">
                  <c:v>9년</c:v>
                </c:pt>
                <c:pt idx="107">
                  <c:v>9년</c:v>
                </c:pt>
                <c:pt idx="108">
                  <c:v>10년</c:v>
                </c:pt>
                <c:pt idx="109">
                  <c:v>10년</c:v>
                </c:pt>
                <c:pt idx="110">
                  <c:v>10년</c:v>
                </c:pt>
                <c:pt idx="111">
                  <c:v>10년</c:v>
                </c:pt>
                <c:pt idx="112">
                  <c:v>10년</c:v>
                </c:pt>
                <c:pt idx="113">
                  <c:v>10년</c:v>
                </c:pt>
                <c:pt idx="114">
                  <c:v>10년</c:v>
                </c:pt>
                <c:pt idx="115">
                  <c:v>10년</c:v>
                </c:pt>
                <c:pt idx="116">
                  <c:v>10년</c:v>
                </c:pt>
                <c:pt idx="117">
                  <c:v>10년</c:v>
                </c:pt>
                <c:pt idx="118">
                  <c:v>10년</c:v>
                </c:pt>
                <c:pt idx="119">
                  <c:v>10년</c:v>
                </c:pt>
                <c:pt idx="120">
                  <c:v>11년</c:v>
                </c:pt>
                <c:pt idx="121">
                  <c:v>11년</c:v>
                </c:pt>
                <c:pt idx="122">
                  <c:v>11년</c:v>
                </c:pt>
                <c:pt idx="123">
                  <c:v>11년</c:v>
                </c:pt>
                <c:pt idx="124">
                  <c:v>11년</c:v>
                </c:pt>
                <c:pt idx="125">
                  <c:v>11년</c:v>
                </c:pt>
                <c:pt idx="126">
                  <c:v>11년</c:v>
                </c:pt>
                <c:pt idx="127">
                  <c:v>11년</c:v>
                </c:pt>
                <c:pt idx="128">
                  <c:v>11년</c:v>
                </c:pt>
                <c:pt idx="129">
                  <c:v>11년</c:v>
                </c:pt>
                <c:pt idx="130">
                  <c:v>11년</c:v>
                </c:pt>
                <c:pt idx="131">
                  <c:v>11년</c:v>
                </c:pt>
                <c:pt idx="132">
                  <c:v>12년</c:v>
                </c:pt>
                <c:pt idx="133">
                  <c:v>12년</c:v>
                </c:pt>
                <c:pt idx="134">
                  <c:v>12년</c:v>
                </c:pt>
                <c:pt idx="135">
                  <c:v>12년</c:v>
                </c:pt>
                <c:pt idx="136">
                  <c:v>12년</c:v>
                </c:pt>
                <c:pt idx="137">
                  <c:v>12년</c:v>
                </c:pt>
                <c:pt idx="138">
                  <c:v>12년</c:v>
                </c:pt>
                <c:pt idx="139">
                  <c:v>12년</c:v>
                </c:pt>
                <c:pt idx="140">
                  <c:v>12년</c:v>
                </c:pt>
                <c:pt idx="141">
                  <c:v>12년</c:v>
                </c:pt>
                <c:pt idx="142">
                  <c:v>12년</c:v>
                </c:pt>
                <c:pt idx="143">
                  <c:v>12년</c:v>
                </c:pt>
                <c:pt idx="144">
                  <c:v>13년</c:v>
                </c:pt>
                <c:pt idx="145">
                  <c:v>13년</c:v>
                </c:pt>
                <c:pt idx="146">
                  <c:v>13년</c:v>
                </c:pt>
                <c:pt idx="147">
                  <c:v>13년</c:v>
                </c:pt>
                <c:pt idx="148">
                  <c:v>13년</c:v>
                </c:pt>
                <c:pt idx="149">
                  <c:v>13년</c:v>
                </c:pt>
                <c:pt idx="150">
                  <c:v>13년</c:v>
                </c:pt>
                <c:pt idx="151">
                  <c:v>13년</c:v>
                </c:pt>
                <c:pt idx="152">
                  <c:v>13년</c:v>
                </c:pt>
                <c:pt idx="153">
                  <c:v>13년</c:v>
                </c:pt>
                <c:pt idx="154">
                  <c:v>13년</c:v>
                </c:pt>
                <c:pt idx="155">
                  <c:v>13년</c:v>
                </c:pt>
                <c:pt idx="156">
                  <c:v>14년</c:v>
                </c:pt>
                <c:pt idx="157">
                  <c:v>14년</c:v>
                </c:pt>
                <c:pt idx="158">
                  <c:v>14년</c:v>
                </c:pt>
                <c:pt idx="159">
                  <c:v>14년</c:v>
                </c:pt>
                <c:pt idx="160">
                  <c:v>14년</c:v>
                </c:pt>
                <c:pt idx="161">
                  <c:v>14년</c:v>
                </c:pt>
                <c:pt idx="162">
                  <c:v>14년</c:v>
                </c:pt>
                <c:pt idx="163">
                  <c:v>14년</c:v>
                </c:pt>
                <c:pt idx="164">
                  <c:v>14년</c:v>
                </c:pt>
                <c:pt idx="165">
                  <c:v>14년</c:v>
                </c:pt>
                <c:pt idx="166">
                  <c:v>14년</c:v>
                </c:pt>
                <c:pt idx="167">
                  <c:v>14년</c:v>
                </c:pt>
                <c:pt idx="168">
                  <c:v>15년</c:v>
                </c:pt>
                <c:pt idx="169">
                  <c:v>15년</c:v>
                </c:pt>
                <c:pt idx="170">
                  <c:v>15년</c:v>
                </c:pt>
                <c:pt idx="171">
                  <c:v>15년</c:v>
                </c:pt>
                <c:pt idx="172">
                  <c:v>15년</c:v>
                </c:pt>
                <c:pt idx="173">
                  <c:v>15년</c:v>
                </c:pt>
                <c:pt idx="174">
                  <c:v>15년</c:v>
                </c:pt>
                <c:pt idx="175">
                  <c:v>15년</c:v>
                </c:pt>
                <c:pt idx="176">
                  <c:v>15년</c:v>
                </c:pt>
                <c:pt idx="177">
                  <c:v>15년</c:v>
                </c:pt>
                <c:pt idx="178">
                  <c:v>15년</c:v>
                </c:pt>
                <c:pt idx="179">
                  <c:v>15년</c:v>
                </c:pt>
                <c:pt idx="180">
                  <c:v>16년</c:v>
                </c:pt>
                <c:pt idx="181">
                  <c:v>16년</c:v>
                </c:pt>
                <c:pt idx="182">
                  <c:v>16년</c:v>
                </c:pt>
                <c:pt idx="183">
                  <c:v>16년</c:v>
                </c:pt>
                <c:pt idx="184">
                  <c:v>16년</c:v>
                </c:pt>
                <c:pt idx="185">
                  <c:v>16년</c:v>
                </c:pt>
                <c:pt idx="186">
                  <c:v>16년</c:v>
                </c:pt>
                <c:pt idx="187">
                  <c:v>16년</c:v>
                </c:pt>
                <c:pt idx="188">
                  <c:v>16년</c:v>
                </c:pt>
                <c:pt idx="189">
                  <c:v>16년</c:v>
                </c:pt>
                <c:pt idx="190">
                  <c:v>16년</c:v>
                </c:pt>
                <c:pt idx="191">
                  <c:v>16년</c:v>
                </c:pt>
                <c:pt idx="192">
                  <c:v>17년</c:v>
                </c:pt>
                <c:pt idx="193">
                  <c:v>17년</c:v>
                </c:pt>
                <c:pt idx="194">
                  <c:v>17년</c:v>
                </c:pt>
                <c:pt idx="195">
                  <c:v>17년</c:v>
                </c:pt>
                <c:pt idx="196">
                  <c:v>17년</c:v>
                </c:pt>
                <c:pt idx="197">
                  <c:v>17년</c:v>
                </c:pt>
                <c:pt idx="198">
                  <c:v>17년</c:v>
                </c:pt>
                <c:pt idx="199">
                  <c:v>17년</c:v>
                </c:pt>
                <c:pt idx="200">
                  <c:v>17년</c:v>
                </c:pt>
                <c:pt idx="201">
                  <c:v>17년</c:v>
                </c:pt>
                <c:pt idx="202">
                  <c:v>17년</c:v>
                </c:pt>
                <c:pt idx="203">
                  <c:v>17년</c:v>
                </c:pt>
                <c:pt idx="204">
                  <c:v>18년</c:v>
                </c:pt>
                <c:pt idx="205">
                  <c:v>18년</c:v>
                </c:pt>
                <c:pt idx="206">
                  <c:v>18년</c:v>
                </c:pt>
                <c:pt idx="207">
                  <c:v>18년</c:v>
                </c:pt>
                <c:pt idx="208">
                  <c:v>18년</c:v>
                </c:pt>
                <c:pt idx="209">
                  <c:v>18년</c:v>
                </c:pt>
                <c:pt idx="210">
                  <c:v>18년</c:v>
                </c:pt>
                <c:pt idx="211">
                  <c:v>18년</c:v>
                </c:pt>
                <c:pt idx="212">
                  <c:v>18년</c:v>
                </c:pt>
                <c:pt idx="213">
                  <c:v>18년</c:v>
                </c:pt>
                <c:pt idx="214">
                  <c:v>18년</c:v>
                </c:pt>
                <c:pt idx="215">
                  <c:v>18년</c:v>
                </c:pt>
                <c:pt idx="216">
                  <c:v>19년</c:v>
                </c:pt>
                <c:pt idx="217">
                  <c:v>19년</c:v>
                </c:pt>
                <c:pt idx="218">
                  <c:v>19년</c:v>
                </c:pt>
                <c:pt idx="219">
                  <c:v>19년</c:v>
                </c:pt>
                <c:pt idx="220">
                  <c:v>19년</c:v>
                </c:pt>
                <c:pt idx="221">
                  <c:v>19년</c:v>
                </c:pt>
                <c:pt idx="222">
                  <c:v>19년</c:v>
                </c:pt>
                <c:pt idx="223">
                  <c:v>19년</c:v>
                </c:pt>
                <c:pt idx="224">
                  <c:v>19년</c:v>
                </c:pt>
                <c:pt idx="225">
                  <c:v>19년</c:v>
                </c:pt>
                <c:pt idx="226">
                  <c:v>19년</c:v>
                </c:pt>
                <c:pt idx="227">
                  <c:v>19년</c:v>
                </c:pt>
                <c:pt idx="228">
                  <c:v>20년</c:v>
                </c:pt>
                <c:pt idx="229">
                  <c:v>20년</c:v>
                </c:pt>
                <c:pt idx="230">
                  <c:v>20년</c:v>
                </c:pt>
                <c:pt idx="231">
                  <c:v>20년</c:v>
                </c:pt>
                <c:pt idx="232">
                  <c:v>20년</c:v>
                </c:pt>
                <c:pt idx="233">
                  <c:v>20년</c:v>
                </c:pt>
                <c:pt idx="234">
                  <c:v>20년</c:v>
                </c:pt>
                <c:pt idx="235">
                  <c:v>20년</c:v>
                </c:pt>
                <c:pt idx="236">
                  <c:v>20년</c:v>
                </c:pt>
                <c:pt idx="237">
                  <c:v>20년</c:v>
                </c:pt>
                <c:pt idx="238">
                  <c:v>20년</c:v>
                </c:pt>
                <c:pt idx="239">
                  <c:v>20년</c:v>
                </c:pt>
              </c:strCache>
            </c:strRef>
          </c:cat>
          <c:val>
            <c:numRef>
              <c:f>Sheet1!$E$2:$E$241</c:f>
              <c:numCache>
                <c:formatCode>General</c:formatCode>
                <c:ptCount val="240"/>
                <c:pt idx="0">
                  <c:v>10</c:v>
                </c:pt>
                <c:pt idx="1">
                  <c:v>20</c:v>
                </c:pt>
                <c:pt idx="2">
                  <c:v>30</c:v>
                </c:pt>
                <c:pt idx="3">
                  <c:v>40</c:v>
                </c:pt>
                <c:pt idx="4">
                  <c:v>50</c:v>
                </c:pt>
                <c:pt idx="5">
                  <c:v>60</c:v>
                </c:pt>
                <c:pt idx="6">
                  <c:v>70</c:v>
                </c:pt>
                <c:pt idx="7">
                  <c:v>80</c:v>
                </c:pt>
                <c:pt idx="8">
                  <c:v>90</c:v>
                </c:pt>
                <c:pt idx="9">
                  <c:v>100</c:v>
                </c:pt>
                <c:pt idx="10">
                  <c:v>110</c:v>
                </c:pt>
                <c:pt idx="11">
                  <c:v>120</c:v>
                </c:pt>
                <c:pt idx="12">
                  <c:v>130</c:v>
                </c:pt>
                <c:pt idx="13">
                  <c:v>140</c:v>
                </c:pt>
                <c:pt idx="14">
                  <c:v>150</c:v>
                </c:pt>
                <c:pt idx="15">
                  <c:v>160</c:v>
                </c:pt>
                <c:pt idx="16">
                  <c:v>170</c:v>
                </c:pt>
                <c:pt idx="17">
                  <c:v>180</c:v>
                </c:pt>
                <c:pt idx="18">
                  <c:v>190</c:v>
                </c:pt>
                <c:pt idx="19">
                  <c:v>200</c:v>
                </c:pt>
                <c:pt idx="20">
                  <c:v>210</c:v>
                </c:pt>
                <c:pt idx="21">
                  <c:v>220</c:v>
                </c:pt>
                <c:pt idx="22">
                  <c:v>230</c:v>
                </c:pt>
                <c:pt idx="23">
                  <c:v>240</c:v>
                </c:pt>
                <c:pt idx="24">
                  <c:v>250</c:v>
                </c:pt>
                <c:pt idx="25">
                  <c:v>260</c:v>
                </c:pt>
                <c:pt idx="26">
                  <c:v>270</c:v>
                </c:pt>
                <c:pt idx="27">
                  <c:v>280</c:v>
                </c:pt>
                <c:pt idx="28">
                  <c:v>290</c:v>
                </c:pt>
                <c:pt idx="29">
                  <c:v>300</c:v>
                </c:pt>
                <c:pt idx="30">
                  <c:v>310</c:v>
                </c:pt>
                <c:pt idx="31">
                  <c:v>320</c:v>
                </c:pt>
                <c:pt idx="32">
                  <c:v>330</c:v>
                </c:pt>
                <c:pt idx="33">
                  <c:v>340</c:v>
                </c:pt>
                <c:pt idx="34">
                  <c:v>350</c:v>
                </c:pt>
                <c:pt idx="35">
                  <c:v>360</c:v>
                </c:pt>
                <c:pt idx="36">
                  <c:v>370</c:v>
                </c:pt>
                <c:pt idx="37">
                  <c:v>380</c:v>
                </c:pt>
                <c:pt idx="38">
                  <c:v>390</c:v>
                </c:pt>
                <c:pt idx="39">
                  <c:v>400</c:v>
                </c:pt>
                <c:pt idx="40">
                  <c:v>410</c:v>
                </c:pt>
                <c:pt idx="41">
                  <c:v>420</c:v>
                </c:pt>
                <c:pt idx="42">
                  <c:v>430</c:v>
                </c:pt>
                <c:pt idx="43">
                  <c:v>440</c:v>
                </c:pt>
                <c:pt idx="44">
                  <c:v>450</c:v>
                </c:pt>
                <c:pt idx="45">
                  <c:v>460</c:v>
                </c:pt>
                <c:pt idx="46">
                  <c:v>470</c:v>
                </c:pt>
                <c:pt idx="47">
                  <c:v>480</c:v>
                </c:pt>
                <c:pt idx="48">
                  <c:v>490</c:v>
                </c:pt>
                <c:pt idx="49">
                  <c:v>500</c:v>
                </c:pt>
                <c:pt idx="50">
                  <c:v>510</c:v>
                </c:pt>
                <c:pt idx="51">
                  <c:v>520</c:v>
                </c:pt>
                <c:pt idx="52">
                  <c:v>530</c:v>
                </c:pt>
                <c:pt idx="53">
                  <c:v>540</c:v>
                </c:pt>
                <c:pt idx="54">
                  <c:v>550</c:v>
                </c:pt>
                <c:pt idx="55">
                  <c:v>560</c:v>
                </c:pt>
                <c:pt idx="56">
                  <c:v>570</c:v>
                </c:pt>
                <c:pt idx="57">
                  <c:v>580</c:v>
                </c:pt>
                <c:pt idx="58">
                  <c:v>590</c:v>
                </c:pt>
                <c:pt idx="59">
                  <c:v>600</c:v>
                </c:pt>
                <c:pt idx="60">
                  <c:v>610</c:v>
                </c:pt>
                <c:pt idx="61">
                  <c:v>620</c:v>
                </c:pt>
                <c:pt idx="62">
                  <c:v>630</c:v>
                </c:pt>
                <c:pt idx="63">
                  <c:v>640</c:v>
                </c:pt>
                <c:pt idx="64">
                  <c:v>650</c:v>
                </c:pt>
                <c:pt idx="65">
                  <c:v>660</c:v>
                </c:pt>
                <c:pt idx="66">
                  <c:v>670</c:v>
                </c:pt>
                <c:pt idx="67">
                  <c:v>680</c:v>
                </c:pt>
                <c:pt idx="68">
                  <c:v>690</c:v>
                </c:pt>
                <c:pt idx="69">
                  <c:v>700</c:v>
                </c:pt>
                <c:pt idx="70">
                  <c:v>710</c:v>
                </c:pt>
                <c:pt idx="71">
                  <c:v>720</c:v>
                </c:pt>
                <c:pt idx="72">
                  <c:v>730</c:v>
                </c:pt>
                <c:pt idx="73">
                  <c:v>740</c:v>
                </c:pt>
                <c:pt idx="74">
                  <c:v>750</c:v>
                </c:pt>
                <c:pt idx="75">
                  <c:v>760</c:v>
                </c:pt>
                <c:pt idx="76">
                  <c:v>770</c:v>
                </c:pt>
                <c:pt idx="77">
                  <c:v>780</c:v>
                </c:pt>
                <c:pt idx="78">
                  <c:v>790</c:v>
                </c:pt>
                <c:pt idx="79">
                  <c:v>800</c:v>
                </c:pt>
                <c:pt idx="80">
                  <c:v>810</c:v>
                </c:pt>
                <c:pt idx="81">
                  <c:v>820</c:v>
                </c:pt>
                <c:pt idx="82">
                  <c:v>830</c:v>
                </c:pt>
                <c:pt idx="83">
                  <c:v>840</c:v>
                </c:pt>
                <c:pt idx="84">
                  <c:v>850</c:v>
                </c:pt>
                <c:pt idx="85">
                  <c:v>860</c:v>
                </c:pt>
                <c:pt idx="86">
                  <c:v>870</c:v>
                </c:pt>
                <c:pt idx="87">
                  <c:v>880</c:v>
                </c:pt>
                <c:pt idx="88">
                  <c:v>890</c:v>
                </c:pt>
                <c:pt idx="89">
                  <c:v>900</c:v>
                </c:pt>
                <c:pt idx="90">
                  <c:v>910</c:v>
                </c:pt>
                <c:pt idx="91">
                  <c:v>920</c:v>
                </c:pt>
                <c:pt idx="92">
                  <c:v>930</c:v>
                </c:pt>
                <c:pt idx="93">
                  <c:v>940</c:v>
                </c:pt>
                <c:pt idx="94">
                  <c:v>950</c:v>
                </c:pt>
                <c:pt idx="95">
                  <c:v>960</c:v>
                </c:pt>
                <c:pt idx="96">
                  <c:v>970</c:v>
                </c:pt>
                <c:pt idx="97">
                  <c:v>980</c:v>
                </c:pt>
                <c:pt idx="98">
                  <c:v>990</c:v>
                </c:pt>
                <c:pt idx="99">
                  <c:v>1000</c:v>
                </c:pt>
                <c:pt idx="100">
                  <c:v>1010</c:v>
                </c:pt>
                <c:pt idx="101">
                  <c:v>1020</c:v>
                </c:pt>
                <c:pt idx="102">
                  <c:v>1030</c:v>
                </c:pt>
                <c:pt idx="103">
                  <c:v>1040</c:v>
                </c:pt>
                <c:pt idx="104">
                  <c:v>1050</c:v>
                </c:pt>
                <c:pt idx="105">
                  <c:v>1060</c:v>
                </c:pt>
                <c:pt idx="106">
                  <c:v>1070</c:v>
                </c:pt>
                <c:pt idx="107">
                  <c:v>1080</c:v>
                </c:pt>
                <c:pt idx="108">
                  <c:v>1090</c:v>
                </c:pt>
                <c:pt idx="109">
                  <c:v>1100</c:v>
                </c:pt>
                <c:pt idx="110">
                  <c:v>1110</c:v>
                </c:pt>
                <c:pt idx="111">
                  <c:v>1120</c:v>
                </c:pt>
                <c:pt idx="112">
                  <c:v>1130</c:v>
                </c:pt>
                <c:pt idx="113">
                  <c:v>1140</c:v>
                </c:pt>
                <c:pt idx="114">
                  <c:v>1150</c:v>
                </c:pt>
                <c:pt idx="115">
                  <c:v>1160</c:v>
                </c:pt>
                <c:pt idx="116">
                  <c:v>1170</c:v>
                </c:pt>
                <c:pt idx="117">
                  <c:v>1180</c:v>
                </c:pt>
                <c:pt idx="118">
                  <c:v>1190</c:v>
                </c:pt>
                <c:pt idx="119">
                  <c:v>1200</c:v>
                </c:pt>
                <c:pt idx="120">
                  <c:v>1210</c:v>
                </c:pt>
                <c:pt idx="121">
                  <c:v>1220</c:v>
                </c:pt>
                <c:pt idx="122">
                  <c:v>1230</c:v>
                </c:pt>
                <c:pt idx="123">
                  <c:v>1240</c:v>
                </c:pt>
                <c:pt idx="124">
                  <c:v>1250</c:v>
                </c:pt>
                <c:pt idx="125">
                  <c:v>1260</c:v>
                </c:pt>
                <c:pt idx="126">
                  <c:v>1270</c:v>
                </c:pt>
                <c:pt idx="127">
                  <c:v>1280</c:v>
                </c:pt>
                <c:pt idx="128">
                  <c:v>1290</c:v>
                </c:pt>
                <c:pt idx="129">
                  <c:v>1300</c:v>
                </c:pt>
                <c:pt idx="130">
                  <c:v>1310</c:v>
                </c:pt>
                <c:pt idx="131">
                  <c:v>1320</c:v>
                </c:pt>
                <c:pt idx="132">
                  <c:v>1330</c:v>
                </c:pt>
                <c:pt idx="133">
                  <c:v>1340</c:v>
                </c:pt>
                <c:pt idx="134">
                  <c:v>1350</c:v>
                </c:pt>
                <c:pt idx="135">
                  <c:v>1360</c:v>
                </c:pt>
                <c:pt idx="136">
                  <c:v>1370</c:v>
                </c:pt>
                <c:pt idx="137">
                  <c:v>1380</c:v>
                </c:pt>
                <c:pt idx="138">
                  <c:v>1390</c:v>
                </c:pt>
                <c:pt idx="139">
                  <c:v>1400</c:v>
                </c:pt>
                <c:pt idx="140">
                  <c:v>1410</c:v>
                </c:pt>
                <c:pt idx="141">
                  <c:v>1420</c:v>
                </c:pt>
                <c:pt idx="142">
                  <c:v>1430</c:v>
                </c:pt>
                <c:pt idx="143">
                  <c:v>1440</c:v>
                </c:pt>
                <c:pt idx="144">
                  <c:v>1450</c:v>
                </c:pt>
                <c:pt idx="145">
                  <c:v>1460</c:v>
                </c:pt>
                <c:pt idx="146">
                  <c:v>1470</c:v>
                </c:pt>
                <c:pt idx="147">
                  <c:v>1480</c:v>
                </c:pt>
                <c:pt idx="148">
                  <c:v>1490</c:v>
                </c:pt>
                <c:pt idx="149">
                  <c:v>1500</c:v>
                </c:pt>
                <c:pt idx="150">
                  <c:v>1510</c:v>
                </c:pt>
                <c:pt idx="151">
                  <c:v>1520</c:v>
                </c:pt>
                <c:pt idx="152">
                  <c:v>1530</c:v>
                </c:pt>
                <c:pt idx="153">
                  <c:v>1540</c:v>
                </c:pt>
                <c:pt idx="154">
                  <c:v>1550</c:v>
                </c:pt>
                <c:pt idx="155">
                  <c:v>1560</c:v>
                </c:pt>
                <c:pt idx="156">
                  <c:v>1570</c:v>
                </c:pt>
                <c:pt idx="157">
                  <c:v>1580</c:v>
                </c:pt>
                <c:pt idx="158">
                  <c:v>1590</c:v>
                </c:pt>
                <c:pt idx="159">
                  <c:v>1600</c:v>
                </c:pt>
                <c:pt idx="160">
                  <c:v>1610</c:v>
                </c:pt>
                <c:pt idx="161">
                  <c:v>1620</c:v>
                </c:pt>
                <c:pt idx="162">
                  <c:v>1630</c:v>
                </c:pt>
                <c:pt idx="163">
                  <c:v>1640</c:v>
                </c:pt>
                <c:pt idx="164">
                  <c:v>1650</c:v>
                </c:pt>
                <c:pt idx="165">
                  <c:v>1660</c:v>
                </c:pt>
                <c:pt idx="166">
                  <c:v>1670</c:v>
                </c:pt>
                <c:pt idx="167">
                  <c:v>1680</c:v>
                </c:pt>
                <c:pt idx="168">
                  <c:v>1690</c:v>
                </c:pt>
                <c:pt idx="169">
                  <c:v>1700</c:v>
                </c:pt>
                <c:pt idx="170">
                  <c:v>1710</c:v>
                </c:pt>
                <c:pt idx="171">
                  <c:v>1720</c:v>
                </c:pt>
                <c:pt idx="172">
                  <c:v>1730</c:v>
                </c:pt>
                <c:pt idx="173">
                  <c:v>1740</c:v>
                </c:pt>
                <c:pt idx="174">
                  <c:v>1750</c:v>
                </c:pt>
                <c:pt idx="175">
                  <c:v>1760</c:v>
                </c:pt>
                <c:pt idx="176">
                  <c:v>1770</c:v>
                </c:pt>
                <c:pt idx="177">
                  <c:v>1780</c:v>
                </c:pt>
                <c:pt idx="178">
                  <c:v>1790</c:v>
                </c:pt>
                <c:pt idx="179">
                  <c:v>1800</c:v>
                </c:pt>
                <c:pt idx="180">
                  <c:v>1810</c:v>
                </c:pt>
                <c:pt idx="181">
                  <c:v>1820</c:v>
                </c:pt>
                <c:pt idx="182">
                  <c:v>1830</c:v>
                </c:pt>
                <c:pt idx="183">
                  <c:v>1840</c:v>
                </c:pt>
                <c:pt idx="184">
                  <c:v>1850</c:v>
                </c:pt>
                <c:pt idx="185">
                  <c:v>1860</c:v>
                </c:pt>
                <c:pt idx="186">
                  <c:v>1870</c:v>
                </c:pt>
                <c:pt idx="187">
                  <c:v>1880</c:v>
                </c:pt>
                <c:pt idx="188">
                  <c:v>1890</c:v>
                </c:pt>
                <c:pt idx="189">
                  <c:v>1900</c:v>
                </c:pt>
                <c:pt idx="190">
                  <c:v>1910</c:v>
                </c:pt>
                <c:pt idx="191">
                  <c:v>1920</c:v>
                </c:pt>
                <c:pt idx="192">
                  <c:v>1930</c:v>
                </c:pt>
                <c:pt idx="193">
                  <c:v>1940</c:v>
                </c:pt>
                <c:pt idx="194">
                  <c:v>1950</c:v>
                </c:pt>
                <c:pt idx="195">
                  <c:v>1960</c:v>
                </c:pt>
                <c:pt idx="196">
                  <c:v>1970</c:v>
                </c:pt>
                <c:pt idx="197">
                  <c:v>1980</c:v>
                </c:pt>
                <c:pt idx="198">
                  <c:v>1990</c:v>
                </c:pt>
                <c:pt idx="199">
                  <c:v>2000</c:v>
                </c:pt>
                <c:pt idx="200">
                  <c:v>2010</c:v>
                </c:pt>
                <c:pt idx="201">
                  <c:v>2020</c:v>
                </c:pt>
                <c:pt idx="202">
                  <c:v>2030</c:v>
                </c:pt>
                <c:pt idx="203">
                  <c:v>2040</c:v>
                </c:pt>
                <c:pt idx="204">
                  <c:v>2050</c:v>
                </c:pt>
                <c:pt idx="205">
                  <c:v>2060</c:v>
                </c:pt>
                <c:pt idx="206">
                  <c:v>2070</c:v>
                </c:pt>
                <c:pt idx="207">
                  <c:v>2080</c:v>
                </c:pt>
                <c:pt idx="208">
                  <c:v>2090</c:v>
                </c:pt>
                <c:pt idx="209">
                  <c:v>2100</c:v>
                </c:pt>
                <c:pt idx="210">
                  <c:v>2110</c:v>
                </c:pt>
                <c:pt idx="211">
                  <c:v>2120</c:v>
                </c:pt>
                <c:pt idx="212">
                  <c:v>2130</c:v>
                </c:pt>
                <c:pt idx="213">
                  <c:v>2140</c:v>
                </c:pt>
                <c:pt idx="214">
                  <c:v>2150</c:v>
                </c:pt>
                <c:pt idx="215">
                  <c:v>2160</c:v>
                </c:pt>
                <c:pt idx="216">
                  <c:v>2170</c:v>
                </c:pt>
                <c:pt idx="217">
                  <c:v>2180</c:v>
                </c:pt>
                <c:pt idx="218">
                  <c:v>2190</c:v>
                </c:pt>
                <c:pt idx="219">
                  <c:v>2200</c:v>
                </c:pt>
                <c:pt idx="220">
                  <c:v>2210</c:v>
                </c:pt>
                <c:pt idx="221">
                  <c:v>2220</c:v>
                </c:pt>
                <c:pt idx="222">
                  <c:v>2230</c:v>
                </c:pt>
                <c:pt idx="223">
                  <c:v>2240</c:v>
                </c:pt>
                <c:pt idx="224">
                  <c:v>2250</c:v>
                </c:pt>
                <c:pt idx="225">
                  <c:v>2260</c:v>
                </c:pt>
                <c:pt idx="226">
                  <c:v>2270</c:v>
                </c:pt>
                <c:pt idx="227">
                  <c:v>2280</c:v>
                </c:pt>
                <c:pt idx="228">
                  <c:v>2290</c:v>
                </c:pt>
                <c:pt idx="229">
                  <c:v>2300</c:v>
                </c:pt>
                <c:pt idx="230">
                  <c:v>2310</c:v>
                </c:pt>
                <c:pt idx="231">
                  <c:v>2320</c:v>
                </c:pt>
                <c:pt idx="232">
                  <c:v>2330</c:v>
                </c:pt>
                <c:pt idx="233">
                  <c:v>2340</c:v>
                </c:pt>
                <c:pt idx="234">
                  <c:v>2350</c:v>
                </c:pt>
                <c:pt idx="235">
                  <c:v>2360</c:v>
                </c:pt>
                <c:pt idx="236">
                  <c:v>2370</c:v>
                </c:pt>
                <c:pt idx="237">
                  <c:v>2380</c:v>
                </c:pt>
                <c:pt idx="238">
                  <c:v>2390</c:v>
                </c:pt>
                <c:pt idx="239">
                  <c:v>2400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w="9525">
            <a:solidFill>
              <a:srgbClr val="1A1E25"/>
            </a:solidFill>
          </a:ln>
        </c:spPr>
        <c:txPr>
          <a:bodyPr/>
          <a:lstStyle/>
          <a:p>
            <a:pPr>
              <a:defRPr sz="800">
                <a:solidFill>
                  <a:srgbClr val="1A1E25"/>
                </a:solidFill>
              </a:defRPr>
            </a:pPr>
          </a:p>
        </c:txPr>
        <c:crossAx val="2140495176"/>
        <c:crosses val="autoZero"/>
        <c:auto val="1"/>
        <c:lblAlgn val="ctr"/>
        <c:lblOffset val="100"/>
        <c:noMultiLvlLbl val="0"/>
        <c:tickLblSkip val="24"/>
        <c:tickMarkSkip val="24"/>
      </c:catAx>
      <c:valAx>
        <c:axId val="2140495176"/>
        <c:scaling/>
        <c:delete val="0"/>
        <c:axPos val="l"/>
        <c:majorGridlines>
          <c:spPr>
            <a:ln w="6350">
              <a:solidFill>
                <a:srgbClr val="E3E7ED"/>
              </a:solidFill>
            </a:ln>
          </c:spPr>
        </c:majorGridlines>
        <c:numFmt formatCode="#,##0" sourceLinked="0"/>
        <c:majorTickMark val="out"/>
        <c:minorTickMark val="none"/>
        <c:tickLblPos val="nextTo"/>
        <c:spPr>
          <a:ln>
            <a:noFill/>
          </a:ln>
        </c:spPr>
        <c:txPr>
          <a:bodyPr/>
          <a:lstStyle/>
          <a:p>
            <a:pPr>
              <a:defRPr sz="800">
                <a:solidFill>
                  <a:srgbClr val="5C6573"/>
                </a:solidFill>
              </a:defRPr>
            </a:pPr>
          </a:p>
        </c:txPr>
        <c:crossAx val="2118791784"/>
        <c:crosses val="autoZero"/>
      </c:valAx>
    </c:plotArea>
    <c:plotVisOnly val="1"/>
    <c:dispBlanksAs val="gap"/>
    <c:showDLblsOverMax val="0"/>
  </c:chart>
  <c:txPr>
    <a:bodyPr/>
    <a:lstStyle/>
    <a:p>
      <a:pPr>
        <a:defRPr sz="800">
          <a:solidFill>
            <a:srgbClr val="5C6573"/>
          </a:solidFill>
          <a:latin typeface="Noto Sans KR"/>
          <a:ea typeface="Noto Sans K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Polaris 실제 운영은 2026-11부터 100만 원 × 4회 뒤 매년 12월 맞춤. 이 설명서의 비교는 매달 계속 적립으로 계산(운영 설정 불변).</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출처: src/auto_trading/ops/deneb_guard.py(브레이크 −15% 절반 · −30% 전부, T 기준), ops/mf_paper.py(LEV_MAX 0.6, VOL_REF 0.20), scripts/run_brake_184.py simulate. 변동성 = QQQ 20거래일 일간 수익률 표준편차 × √252. 브레이크 횟수: blue_manual/calc_result.json brake_10 (월 10만 원 실행, 2012-01~2026-08). SCHD 연도 수익률: data/research/div_mix_180/SCHD.csv 수정 종가. 배당 단계(세후 배당 월 10·30·50·100만 원마다 TQQQ 목표 10%p 낮추자고 묻는 승인형 규칙)는 이 쪽과 과거 계산에 넣지 않았다.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자료: QQQ · SCHD · SPY data/research/div_mix_180, TQQQ · QLD data/research/lev_div_181 (실제 ETF 수정 종가). 계산: blue_manual/calc.py — full_report/calculation.py 와 같은 run_brake_184.simulate · 비용 0.15% · 세금 0, 월 20만 원 실행이 기존 원장과 일치. 합성 연구 숫자: docs/research/181 · 182 (1986-02~2026-08, 합성 레버리지 + French 고배당 30%), 182 §7 사용자 결정 'm3가 맘에 드는데 수익과 최대 낙폭 보니까'. 주의: 2012~2026은 나스닥100이 매우 강했던 기간이라 레버리지 결과가 크게 나왔다.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금액을 각각 따로 실행(blue_manual/calc.py). 금액 ÷ 납입액 비율이 모델마다 상대 오차 1e-9 안에서 같았다(비례 모형 확인). 가장 크게 줄었던 금액 = 일간 평가액 고점에서 이후 저점까지 최대 감소액(납입이 중간에 더해진 상태).</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월말 평가액 = 각 달 마지막 거래일 종가 평가(blue_manual/calc_result.json monthly_10). 원금 누계 = 납입 회차 × 10만 원. 구간: 2012-01~2015-12 · 2016-01~2019-12 · 2020-01~2022-12 · 2023-01~2026-08 (결과 보기 전 calc_spec.md 에 고정).</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 출처: src/auto_trading/ops/polaris.py (WEIGHTS SPYM 30 · QQQM 30 · IEF 20 · GLDM 20, plan_buys 모자란 종목부터 정수 주, plan_rebalance 목표보다 1주 넘게 많은 만큼 매도), docs/current/CURRENT_SPEC.md Polaris 행. 분배금 처리 코드 없음(확인). 계산: run_namu_core_compare.run_policy YEAR (매년 12월 첫 거래일 전체 맞춤, 소수 주), SPY · QQQ · GLD 를 SPYM · QQQM · GLDM 대리로 사용. 실제 운영은 2026-11부터 100만 원 × 4회 뒤 12월 맞춤 — 보고서는 매달 계속 적립으로 비교(운영 설정 불변).</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적금: 12개월 만기 단리(납입 달마다 남은 개월 비례), 만기금은 같은 금리 1년 예금으로 해마다 재예치(연 복리), 마지막 8개월은 경과 비례 단리. 5년 값이 기존 원장 save() 식과 같음을 확인. 세후 참고는 이자에 15.4% 차감. 원금 하회 달 수: calc_result.json under_paid_months (월 10만 원 기준 Deneb 0달, 나머지 2012년 5월 1달). 합성 연구 낙폭: docs/research/181 · 182.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chart" Target="../charts/chart10.xml"/><Relationship Id="rId5" Type="http://schemas.openxmlformats.org/officeDocument/2006/relationships/chart" Target="../charts/chart11.xml"/><Relationship Id="rId6"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chart" Target="../charts/char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8.xml"/><Relationship Id="rId3" Type="http://schemas.openxmlformats.org/officeDocument/2006/relationships/chart" Target="../charts/char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1.xml"/><Relationship Id="rId3" Type="http://schemas.openxmlformats.org/officeDocument/2006/relationships/chart" Target="../charts/chart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3.xml"/><Relationship Id="rId3" Type="http://schemas.openxmlformats.org/officeDocument/2006/relationships/chart" Target="../charts/chart24.xml"/><Relationship Id="rId4" Type="http://schemas.openxmlformats.org/officeDocument/2006/relationships/notesSlide" Target="../notesSlides/notesSlide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5.xml"/><Relationship Id="rId3" Type="http://schemas.openxmlformats.org/officeDocument/2006/relationships/chart" Target="../charts/chart26.xml"/><Relationship Id="rId4" Type="http://schemas.openxmlformats.org/officeDocument/2006/relationships/chart" Target="../charts/chart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9.xml"/><Relationship Id="rId3" Type="http://schemas.openxmlformats.org/officeDocument/2006/relationships/chart" Target="../charts/chart30.xml"/><Relationship Id="rId4" Type="http://schemas.openxmlformats.org/officeDocument/2006/relationships/notesSlide" Target="../notesSlides/notesSlide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1.xml"/><Relationship Id="rId3" Type="http://schemas.openxmlformats.org/officeDocument/2006/relationships/chart" Target="../charts/chart32.xml"/><Relationship Id="rId4" Type="http://schemas.openxmlformats.org/officeDocument/2006/relationships/chart" Target="../charts/chart3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바탕"/>
          <p:cNvSpPr/>
          <p:nvPr/>
        </p:nvSpPr>
        <p:spPr>
          <a:xfrm>
            <a:off x="0" y="0"/>
            <a:ext cx="10692000" cy="7560000"/>
          </a:xfrm>
          <a:prstGeom prst="rect">
            <a:avLst/>
          </a:prstGeom>
          <a:solidFill>
            <a:srgbClr val="0A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표지 오른쪽"/>
          <p:cNvSpPr/>
          <p:nvPr/>
        </p:nvSpPr>
        <p:spPr>
          <a:xfrm>
            <a:off x="6912000" y="0"/>
            <a:ext cx="3780000" cy="7560000"/>
          </a:xfrm>
          <a:prstGeom prst="rect">
            <a:avLst/>
          </a:prstGeom>
          <a:solidFill>
            <a:srgbClr val="12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000" y="503999"/>
            <a:ext cx="43200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C9D6EA"/>
                </a:solidFill>
                <a:latin typeface="Noto Sans KR"/>
                <a:ea typeface="Noto Sans KR"/>
                <a:cs typeface="Noto Sans KR"/>
              </a:rPr>
              <a:t>투자 전략 설명서 · 2026년 10월</a:t>
            </a:r>
          </a:p>
        </p:txBody>
      </p:sp>
      <p:sp>
        <p:nvSpPr>
          <p:cNvPr id="5" name="TextBox 4"/>
          <p:cNvSpPr txBox="1"/>
          <p:nvPr/>
        </p:nvSpPr>
        <p:spPr>
          <a:xfrm>
            <a:off x="558000" y="2232000"/>
            <a:ext cx="6120000" cy="1800000"/>
          </a:xfrm>
          <a:prstGeom prst="rect">
            <a:avLst/>
          </a:prstGeom>
          <a:noFill/>
        </p:spPr>
        <p:txBody>
          <a:bodyPr wrap="square" lIns="0" rIns="0" tIns="0" bIns="0" anchor="t">
            <a:spAutoFit/>
          </a:bodyPr>
          <a:lstStyle/>
          <a:p>
            <a:pPr algn="l" eaLnBrk="0">
              <a:lnSpc>
                <a:spcPct val="110000"/>
              </a:lnSpc>
              <a:spcAft>
                <a:spcPts val="0"/>
              </a:spcAft>
            </a:pPr>
            <a:r>
              <a:rPr sz="4000" b="0" lang="ko-KR" altLang="en-US">
                <a:solidFill>
                  <a:srgbClr val="FFFFFF"/>
                </a:solidFill>
                <a:latin typeface="Malgun Gothic Semilight"/>
                <a:ea typeface="Malgun Gothic Semilight"/>
                <a:cs typeface="Malgun Gothic Semilight"/>
              </a:rPr>
              <a:t>Deneb · Polaris</a:t>
            </a:r>
          </a:p>
          <a:p>
            <a:pPr algn="l" eaLnBrk="0">
              <a:lnSpc>
                <a:spcPct val="110000"/>
              </a:lnSpc>
              <a:spcAft>
                <a:spcPts val="0"/>
              </a:spcAft>
            </a:pPr>
            <a:r>
              <a:rPr sz="4000" b="0" lang="ko-KR" altLang="en-US">
                <a:solidFill>
                  <a:srgbClr val="FFFFFF"/>
                </a:solidFill>
                <a:latin typeface="Malgun Gothic Semilight"/>
                <a:ea typeface="Malgun Gothic Semilight"/>
                <a:cs typeface="Malgun Gothic Semilight"/>
              </a:rPr>
              <a:t>투자 전략 설명서</a:t>
            </a:r>
          </a:p>
        </p:txBody>
      </p:sp>
      <p:sp>
        <p:nvSpPr>
          <p:cNvPr id="6" name="TextBox 5"/>
          <p:cNvSpPr txBox="1"/>
          <p:nvPr/>
        </p:nvSpPr>
        <p:spPr>
          <a:xfrm>
            <a:off x="558000" y="4104000"/>
            <a:ext cx="5760000" cy="864000"/>
          </a:xfrm>
          <a:prstGeom prst="rect">
            <a:avLst/>
          </a:prstGeom>
          <a:noFill/>
        </p:spPr>
        <p:txBody>
          <a:bodyPr wrap="square" lIns="0" rIns="0" tIns="0" bIns="0" anchor="t">
            <a:spAutoFit/>
          </a:bodyPr>
          <a:lstStyle/>
          <a:p>
            <a:pPr algn="l" eaLnBrk="0">
              <a:lnSpc>
                <a:spcPct val="135000"/>
              </a:lnSpc>
              <a:spcAft>
                <a:spcPts val="0"/>
              </a:spcAft>
            </a:pPr>
            <a:r>
              <a:rPr sz="1300" b="0" lang="ko-KR" altLang="en-US">
                <a:solidFill>
                  <a:srgbClr val="DCE6F5"/>
                </a:solidFill>
                <a:latin typeface="Malgun Gothic Semilight"/>
                <a:ea typeface="Malgun Gothic Semilight"/>
                <a:cs typeface="Malgun Gothic Semilight"/>
              </a:rPr>
              <a:t>매달 같은 돈을 넣는 두 가지 방법을 처음 보는 사람도 이해할 수 있게 정리했습니다. QQQ만 사는 것, 적금에 넣는 것과 무엇이 다른지 같은 조건으로 비교합니다.</a:t>
            </a:r>
          </a:p>
        </p:txBody>
      </p:sp>
      <p:sp>
        <p:nvSpPr>
          <p:cNvPr id="7" name="TextBox 6"/>
          <p:cNvSpPr txBox="1"/>
          <p:nvPr/>
        </p:nvSpPr>
        <p:spPr>
          <a:xfrm>
            <a:off x="558000" y="6336000"/>
            <a:ext cx="5760000" cy="432000"/>
          </a:xfrm>
          <a:prstGeom prst="rect">
            <a:avLst/>
          </a:prstGeom>
          <a:noFill/>
        </p:spPr>
        <p:txBody>
          <a:bodyPr wrap="square" lIns="0" rIns="0" tIns="0" bIns="0" anchor="t">
            <a:spAutoFit/>
          </a:bodyPr>
          <a:lstStyle/>
          <a:p>
            <a:pPr algn="l" eaLnBrk="0">
              <a:lnSpc>
                <a:spcPct val="130000"/>
              </a:lnSpc>
              <a:spcAft>
                <a:spcPts val="0"/>
              </a:spcAft>
            </a:pPr>
            <a:r>
              <a:rPr sz="900" b="0" lang="ko-KR" altLang="en-US">
                <a:solidFill>
                  <a:srgbClr val="C9D6EA"/>
                </a:solidFill>
                <a:latin typeface="Noto Sans KR"/>
                <a:ea typeface="Noto Sans KR"/>
                <a:cs typeface="Noto Sans KR"/>
              </a:rPr>
              <a:t>계산 기준: 2012년 1월 ~ 2026년 8월 실제 ETF 가격 · 세전 · 비용 0.15%</a:t>
            </a:r>
          </a:p>
          <a:p>
            <a:pPr algn="l" eaLnBrk="0">
              <a:lnSpc>
                <a:spcPct val="130000"/>
              </a:lnSpc>
              <a:spcAft>
                <a:spcPts val="0"/>
              </a:spcAft>
            </a:pPr>
            <a:r>
              <a:rPr sz="900" b="0" lang="ko-KR" altLang="en-US">
                <a:solidFill>
                  <a:srgbClr val="C9D6EA"/>
                </a:solidFill>
                <a:latin typeface="Noto Sans KR"/>
                <a:ea typeface="Noto Sans KR"/>
                <a:cs typeface="Noto Sans KR"/>
              </a:rPr>
              <a:t>과거 계산이며 앞으로의 수익을 약속하지 않습니다.</a:t>
            </a:r>
          </a:p>
        </p:txBody>
      </p:sp>
      <p:sp>
        <p:nvSpPr>
          <p:cNvPr id="8" name="TextBox 7"/>
          <p:cNvSpPr txBox="1"/>
          <p:nvPr/>
        </p:nvSpPr>
        <p:spPr>
          <a:xfrm>
            <a:off x="7416000" y="2268000"/>
            <a:ext cx="2736000" cy="162000"/>
          </a:xfrm>
          <a:prstGeom prst="rect">
            <a:avLst/>
          </a:prstGeom>
          <a:noFill/>
        </p:spPr>
        <p:txBody>
          <a:bodyPr wrap="square" lIns="0" rIns="0" tIns="0" bIns="0" anchor="t">
            <a:spAutoFit/>
          </a:bodyPr>
          <a:lstStyle/>
          <a:p>
            <a:pPr algn="l" eaLnBrk="0">
              <a:lnSpc>
                <a:spcPct val="100000"/>
              </a:lnSpc>
              <a:spcAft>
                <a:spcPts val="0"/>
              </a:spcAft>
            </a:pPr>
            <a:r>
              <a:rPr sz="950" b="0" lang="ko-KR" altLang="en-US">
                <a:solidFill>
                  <a:srgbClr val="9FC0EC"/>
                </a:solidFill>
                <a:latin typeface="Noto Sans KR"/>
                <a:ea typeface="Noto Sans KR"/>
                <a:cs typeface="Noto Sans KR"/>
              </a:rPr>
              <a:t>월 10만 원 · 14년 8개월</a:t>
            </a:r>
          </a:p>
        </p:txBody>
      </p:sp>
      <p:sp>
        <p:nvSpPr>
          <p:cNvPr id="9" name="TextBox 8"/>
          <p:cNvSpPr txBox="1"/>
          <p:nvPr/>
        </p:nvSpPr>
        <p:spPr>
          <a:xfrm>
            <a:off x="7416000" y="2448000"/>
            <a:ext cx="2736000" cy="324000"/>
          </a:xfrm>
          <a:prstGeom prst="rect">
            <a:avLst/>
          </a:prstGeom>
          <a:noFill/>
        </p:spPr>
        <p:txBody>
          <a:bodyPr wrap="square" lIns="0" rIns="0" tIns="0" bIns="0" anchor="t">
            <a:spAutoFit/>
          </a:bodyPr>
          <a:lstStyle/>
          <a:p>
            <a:pPr algn="l" eaLnBrk="0">
              <a:lnSpc>
                <a:spcPct val="100000"/>
              </a:lnSpc>
              <a:spcAft>
                <a:spcPts val="0"/>
              </a:spcAft>
            </a:pPr>
            <a:r>
              <a:rPr sz="1900" b="1" lang="ko-KR" altLang="en-US">
                <a:solidFill>
                  <a:srgbClr val="FFFFFF"/>
                </a:solidFill>
                <a:latin typeface="Noto Sans KR"/>
                <a:ea typeface="Noto Sans KR"/>
                <a:cs typeface="Noto Sans KR"/>
              </a:rPr>
              <a:t>넣은 돈 1,760만 원</a:t>
            </a:r>
          </a:p>
        </p:txBody>
      </p:sp>
      <p:sp>
        <p:nvSpPr>
          <p:cNvPr id="10" name="TextBox 9"/>
          <p:cNvSpPr txBox="1"/>
          <p:nvPr/>
        </p:nvSpPr>
        <p:spPr>
          <a:xfrm>
            <a:off x="7416000" y="2790000"/>
            <a:ext cx="2736000" cy="162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C9D6EA"/>
                </a:solidFill>
                <a:latin typeface="Noto Sans KR"/>
                <a:ea typeface="Noto Sans KR"/>
                <a:cs typeface="Noto Sans KR"/>
              </a:rPr>
              <a:t>2012년 1월 ~ 2026년 8월, 176번</a:t>
            </a:r>
          </a:p>
        </p:txBody>
      </p:sp>
      <p:sp>
        <p:nvSpPr>
          <p:cNvPr id="11" name="TextBox 10"/>
          <p:cNvSpPr txBox="1"/>
          <p:nvPr/>
        </p:nvSpPr>
        <p:spPr>
          <a:xfrm>
            <a:off x="7416000" y="3221999"/>
            <a:ext cx="2736000" cy="162000"/>
          </a:xfrm>
          <a:prstGeom prst="rect">
            <a:avLst/>
          </a:prstGeom>
          <a:noFill/>
        </p:spPr>
        <p:txBody>
          <a:bodyPr wrap="square" lIns="0" rIns="0" tIns="0" bIns="0" anchor="t">
            <a:spAutoFit/>
          </a:bodyPr>
          <a:lstStyle/>
          <a:p>
            <a:pPr algn="l" eaLnBrk="0">
              <a:lnSpc>
                <a:spcPct val="100000"/>
              </a:lnSpc>
              <a:spcAft>
                <a:spcPts val="0"/>
              </a:spcAft>
            </a:pPr>
            <a:r>
              <a:rPr sz="950" b="0" lang="ko-KR" altLang="en-US">
                <a:solidFill>
                  <a:srgbClr val="9FC0EC"/>
                </a:solidFill>
                <a:latin typeface="Noto Sans KR"/>
                <a:ea typeface="Noto Sans KR"/>
                <a:cs typeface="Noto Sans KR"/>
              </a:rPr>
              <a:t>Deneb</a:t>
            </a:r>
          </a:p>
        </p:txBody>
      </p:sp>
      <p:sp>
        <p:nvSpPr>
          <p:cNvPr id="12" name="TextBox 11"/>
          <p:cNvSpPr txBox="1"/>
          <p:nvPr/>
        </p:nvSpPr>
        <p:spPr>
          <a:xfrm>
            <a:off x="7416000" y="3401999"/>
            <a:ext cx="2736000" cy="324000"/>
          </a:xfrm>
          <a:prstGeom prst="rect">
            <a:avLst/>
          </a:prstGeom>
          <a:noFill/>
        </p:spPr>
        <p:txBody>
          <a:bodyPr wrap="square" lIns="0" rIns="0" tIns="0" bIns="0" anchor="t">
            <a:spAutoFit/>
          </a:bodyPr>
          <a:lstStyle/>
          <a:p>
            <a:pPr algn="l" eaLnBrk="0">
              <a:lnSpc>
                <a:spcPct val="100000"/>
              </a:lnSpc>
              <a:spcAft>
                <a:spcPts val="0"/>
              </a:spcAft>
            </a:pPr>
            <a:r>
              <a:rPr sz="1900" b="1" lang="ko-KR" altLang="en-US">
                <a:solidFill>
                  <a:srgbClr val="FFFFFF"/>
                </a:solidFill>
                <a:latin typeface="Noto Sans KR"/>
                <a:ea typeface="Noto Sans KR"/>
                <a:cs typeface="Noto Sans KR"/>
              </a:rPr>
              <a:t>3억 6,111만 원</a:t>
            </a:r>
          </a:p>
        </p:txBody>
      </p:sp>
      <p:sp>
        <p:nvSpPr>
          <p:cNvPr id="13" name="TextBox 12"/>
          <p:cNvSpPr txBox="1"/>
          <p:nvPr/>
        </p:nvSpPr>
        <p:spPr>
          <a:xfrm>
            <a:off x="7416000" y="3743999"/>
            <a:ext cx="2736000" cy="162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C9D6EA"/>
                </a:solidFill>
                <a:latin typeface="Noto Sans KR"/>
                <a:ea typeface="Noto Sans KR"/>
                <a:cs typeface="Noto Sans KR"/>
              </a:rPr>
              <a:t>최대 낙폭 −31.7%</a:t>
            </a:r>
          </a:p>
        </p:txBody>
      </p:sp>
      <p:sp>
        <p:nvSpPr>
          <p:cNvPr id="14" name="TextBox 13"/>
          <p:cNvSpPr txBox="1"/>
          <p:nvPr/>
        </p:nvSpPr>
        <p:spPr>
          <a:xfrm>
            <a:off x="7416000" y="4176000"/>
            <a:ext cx="2736000" cy="162000"/>
          </a:xfrm>
          <a:prstGeom prst="rect">
            <a:avLst/>
          </a:prstGeom>
          <a:noFill/>
        </p:spPr>
        <p:txBody>
          <a:bodyPr wrap="square" lIns="0" rIns="0" tIns="0" bIns="0" anchor="t">
            <a:spAutoFit/>
          </a:bodyPr>
          <a:lstStyle/>
          <a:p>
            <a:pPr algn="l" eaLnBrk="0">
              <a:lnSpc>
                <a:spcPct val="100000"/>
              </a:lnSpc>
              <a:spcAft>
                <a:spcPts val="0"/>
              </a:spcAft>
            </a:pPr>
            <a:r>
              <a:rPr sz="950" b="0" lang="ko-KR" altLang="en-US">
                <a:solidFill>
                  <a:srgbClr val="9FC0EC"/>
                </a:solidFill>
                <a:latin typeface="Noto Sans KR"/>
                <a:ea typeface="Noto Sans KR"/>
                <a:cs typeface="Noto Sans KR"/>
              </a:rPr>
              <a:t>Polaris</a:t>
            </a:r>
          </a:p>
        </p:txBody>
      </p:sp>
      <p:sp>
        <p:nvSpPr>
          <p:cNvPr id="15" name="TextBox 14"/>
          <p:cNvSpPr txBox="1"/>
          <p:nvPr/>
        </p:nvSpPr>
        <p:spPr>
          <a:xfrm>
            <a:off x="7416000" y="4356000"/>
            <a:ext cx="2736000" cy="324000"/>
          </a:xfrm>
          <a:prstGeom prst="rect">
            <a:avLst/>
          </a:prstGeom>
          <a:noFill/>
        </p:spPr>
        <p:txBody>
          <a:bodyPr wrap="square" lIns="0" rIns="0" tIns="0" bIns="0" anchor="t">
            <a:spAutoFit/>
          </a:bodyPr>
          <a:lstStyle/>
          <a:p>
            <a:pPr algn="l" eaLnBrk="0">
              <a:lnSpc>
                <a:spcPct val="100000"/>
              </a:lnSpc>
              <a:spcAft>
                <a:spcPts val="0"/>
              </a:spcAft>
            </a:pPr>
            <a:r>
              <a:rPr sz="1900" b="1" lang="ko-KR" altLang="en-US">
                <a:solidFill>
                  <a:srgbClr val="FFFFFF"/>
                </a:solidFill>
                <a:latin typeface="Noto Sans KR"/>
                <a:ea typeface="Noto Sans KR"/>
                <a:cs typeface="Noto Sans KR"/>
              </a:rPr>
              <a:t>5,077만 원</a:t>
            </a:r>
          </a:p>
        </p:txBody>
      </p:sp>
      <p:sp>
        <p:nvSpPr>
          <p:cNvPr id="16" name="TextBox 15"/>
          <p:cNvSpPr txBox="1"/>
          <p:nvPr/>
        </p:nvSpPr>
        <p:spPr>
          <a:xfrm>
            <a:off x="7416000" y="4698000"/>
            <a:ext cx="2736000" cy="162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C9D6EA"/>
                </a:solidFill>
                <a:latin typeface="Noto Sans KR"/>
                <a:ea typeface="Noto Sans KR"/>
                <a:cs typeface="Noto Sans KR"/>
              </a:rPr>
              <a:t>최대 낙폭 −23.4%</a:t>
            </a:r>
          </a:p>
        </p:txBody>
      </p:sp>
      <p:sp>
        <p:nvSpPr>
          <p:cNvPr id="17" name="TextBox 16"/>
          <p:cNvSpPr txBox="1"/>
          <p:nvPr/>
        </p:nvSpPr>
        <p:spPr>
          <a:xfrm>
            <a:off x="7416000" y="5130000"/>
            <a:ext cx="2736000" cy="162000"/>
          </a:xfrm>
          <a:prstGeom prst="rect">
            <a:avLst/>
          </a:prstGeom>
          <a:noFill/>
        </p:spPr>
        <p:txBody>
          <a:bodyPr wrap="square" lIns="0" rIns="0" tIns="0" bIns="0" anchor="t">
            <a:spAutoFit/>
          </a:bodyPr>
          <a:lstStyle/>
          <a:p>
            <a:pPr algn="l" eaLnBrk="0">
              <a:lnSpc>
                <a:spcPct val="100000"/>
              </a:lnSpc>
              <a:spcAft>
                <a:spcPts val="0"/>
              </a:spcAft>
            </a:pPr>
            <a:r>
              <a:rPr sz="950" b="0" lang="ko-KR" altLang="en-US">
                <a:solidFill>
                  <a:srgbClr val="9FC0EC"/>
                </a:solidFill>
                <a:latin typeface="Noto Sans KR"/>
                <a:ea typeface="Noto Sans KR"/>
                <a:cs typeface="Noto Sans KR"/>
              </a:rPr>
              <a:t>QQQ 단독 적립</a:t>
            </a:r>
          </a:p>
        </p:txBody>
      </p:sp>
      <p:sp>
        <p:nvSpPr>
          <p:cNvPr id="18" name="TextBox 17"/>
          <p:cNvSpPr txBox="1"/>
          <p:nvPr/>
        </p:nvSpPr>
        <p:spPr>
          <a:xfrm>
            <a:off x="7416000" y="5310000"/>
            <a:ext cx="2736000" cy="324000"/>
          </a:xfrm>
          <a:prstGeom prst="rect">
            <a:avLst/>
          </a:prstGeom>
          <a:noFill/>
        </p:spPr>
        <p:txBody>
          <a:bodyPr wrap="square" lIns="0" rIns="0" tIns="0" bIns="0" anchor="t">
            <a:spAutoFit/>
          </a:bodyPr>
          <a:lstStyle/>
          <a:p>
            <a:pPr algn="l" eaLnBrk="0">
              <a:lnSpc>
                <a:spcPct val="100000"/>
              </a:lnSpc>
              <a:spcAft>
                <a:spcPts val="0"/>
              </a:spcAft>
            </a:pPr>
            <a:r>
              <a:rPr sz="1900" b="1" lang="ko-KR" altLang="en-US">
                <a:solidFill>
                  <a:srgbClr val="FFFFFF"/>
                </a:solidFill>
                <a:latin typeface="Noto Sans KR"/>
                <a:ea typeface="Noto Sans KR"/>
                <a:cs typeface="Noto Sans KR"/>
              </a:rPr>
              <a:t>8,805만 원</a:t>
            </a:r>
          </a:p>
        </p:txBody>
      </p:sp>
      <p:sp>
        <p:nvSpPr>
          <p:cNvPr id="19" name="TextBox 18"/>
          <p:cNvSpPr txBox="1"/>
          <p:nvPr/>
        </p:nvSpPr>
        <p:spPr>
          <a:xfrm>
            <a:off x="7416000" y="5652000"/>
            <a:ext cx="2736000" cy="162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C9D6EA"/>
                </a:solidFill>
                <a:latin typeface="Noto Sans KR"/>
                <a:ea typeface="Noto Sans KR"/>
                <a:cs typeface="Noto Sans KR"/>
              </a:rPr>
              <a:t>최대 낙폭 −35.1%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3844800" y="619200"/>
            <a:ext cx="5364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2</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차례와 읽는 법</a:t>
            </a:r>
          </a:p>
        </p:txBody>
      </p:sp>
      <p:sp>
        <p:nvSpPr>
          <p:cNvPr id="14"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차례</a:t>
            </a:r>
          </a:p>
        </p:txBody>
      </p:sp>
      <p:graphicFrame>
        <p:nvGraphicFramePr>
          <p:cNvPr id="15" name="표"/>
          <p:cNvGraphicFramePr>
            <a:graphicFrameLocks noGrp="1"/>
          </p:cNvGraphicFramePr>
          <p:nvPr/>
        </p:nvGraphicFramePr>
        <p:xfrm>
          <a:off x="558000" y="1655999"/>
          <a:ext cx="3005998" cy="4104000"/>
        </p:xfrm>
        <a:graphic>
          <a:graphicData uri="http://schemas.openxmlformats.org/drawingml/2006/table">
            <a:tbl>
              <a:tblPr firstRow="0" bandRow="0" firstCol="0" lastCol="0" bandCol="0" lastRow="0">
                <a:tableStyleId>{5940675A-B579-460E-94D1-54222C63F5DA}</a:tableStyleId>
              </a:tblPr>
              <a:tblGrid>
                <a:gridCol w="2501999"/>
                <a:gridCol w="503999"/>
              </a:tblGrid>
              <a:tr h="2160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장</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첫 쪽</a:t>
                      </a:r>
                      <a:endParaRPr sz="850"/>
                    </a:p>
                  </a:txBody>
                  <a:tcPr marL="28800" marR="43200" marT="25200" marB="25200" anchor="b">
                    <a:lnL w="0">
                      <a:noFill/>
                    </a:lnL>
                    <a:lnR w="0">
                      <a:noFill/>
                    </a:lnR>
                    <a:lnT w="9525">
                      <a:solidFill>
                        <a:srgbClr val="1A1E25"/>
                      </a:solidFill>
                    </a:lnT>
                    <a:lnB w="9525">
                      <a:solidFill>
                        <a:srgbClr val="1A1E25"/>
                      </a:solidFill>
                    </a:lnB>
                    <a:noFill/>
                  </a:tcPr>
                </a:tc>
              </a:tr>
              <a:tr h="216000">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1장 · 전략 개요</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2장 · 공통 비교 조건</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0B3D91"/>
                          </a:solidFill>
                          <a:latin typeface="Noto Sans KR"/>
                          <a:ea typeface="Noto Sans KR"/>
                          <a:cs typeface="Noto Sans KR"/>
                        </a:rPr>
                        <a:t>2부 · Deneb</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3장 · Deneb의 구성</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4장 · 비율 선택 근거</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5장 · Deneb와 단순 적립</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12</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6장 · Deneb 안의 SCHD 배당</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7장 · 하락 방어와 복귀</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19</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0B3D91"/>
                          </a:solidFill>
                          <a:latin typeface="Noto Sans KR"/>
                          <a:ea typeface="Noto Sans KR"/>
                          <a:cs typeface="Noto Sans KR"/>
                        </a:rPr>
                        <a:t>3부 · Polaris</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22</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8장 · Polaris의 자산 배분</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23</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9장 · 채권과 금 관리</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24</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10장 · Polaris와 주식 단독 적립</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26</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0B3D91"/>
                          </a:solidFill>
                          <a:latin typeface="Noto Sans KR"/>
                          <a:ea typeface="Noto Sans KR"/>
                          <a:cs typeface="Noto Sans KR"/>
                        </a:rPr>
                        <a:t>4부 · 적금과 비교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27</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11장 · 적금과 비교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28</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0B3D91"/>
                          </a:solidFill>
                          <a:latin typeface="Noto Sans KR"/>
                          <a:ea typeface="Noto Sans KR"/>
                          <a:cs typeface="Noto Sans KR"/>
                        </a:rPr>
                        <a:t>5부 · 장기 시나리오</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29</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12장 · 장기 적립 시나리오</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30</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13장 · 결과 해석과 한계</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36</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14장 · 전체 결과표와 출처</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38</a:t>
                      </a:r>
                      <a:endParaRPr sz="900"/>
                    </a:p>
                  </a:txBody>
                  <a:tcPr marL="28800" marR="43200" marT="25200" marB="25200" anchor="ctr">
                    <a:lnL w="0">
                      <a:noFill/>
                    </a:lnL>
                    <a:lnR w="0">
                      <a:noFill/>
                    </a:lnR>
                    <a:lnT w="0">
                      <a:noFill/>
                    </a:lnT>
                    <a:lnB w="6350">
                      <a:solidFill>
                        <a:srgbClr val="C9D0DA"/>
                      </a:solidFill>
                    </a:lnB>
                    <a:noFill/>
                  </a:tcPr>
                </a:tc>
              </a:tr>
            </a:tbl>
          </a:graphicData>
        </a:graphic>
      </p:graphicFrame>
      <p:cxnSp>
        <p:nvCxnSpPr>
          <p:cNvPr id="16" name="Connector 15"/>
          <p:cNvCxnSpPr/>
          <p:nvPr/>
        </p:nvCxnSpPr>
        <p:spPr>
          <a:xfrm>
            <a:off x="558000" y="1655999"/>
            <a:ext cx="3006000" cy="0"/>
          </a:xfrm>
          <a:prstGeom prst="line">
            <a:avLst/>
          </a:prstGeom>
          <a:ln w="25400">
            <a:solidFill>
              <a:srgbClr val="1A1E25"/>
            </a:solidFill>
          </a:ln>
        </p:spPr>
      </p:cxnSp>
      <p:cxnSp>
        <p:nvCxnSpPr>
          <p:cNvPr id="17" name="Connector 16"/>
          <p:cNvCxnSpPr/>
          <p:nvPr/>
        </p:nvCxnSpPr>
        <p:spPr>
          <a:xfrm>
            <a:off x="3844800" y="990000"/>
            <a:ext cx="6289200" cy="0"/>
          </a:xfrm>
          <a:prstGeom prst="line">
            <a:avLst/>
          </a:prstGeom>
          <a:ln w="9525">
            <a:solidFill>
              <a:srgbClr val="1A1E25"/>
            </a:solidFill>
          </a:ln>
        </p:spPr>
      </p:cxnSp>
      <p:sp>
        <p:nvSpPr>
          <p:cNvPr id="18" name="표지 막대"/>
          <p:cNvSpPr/>
          <p:nvPr/>
        </p:nvSpPr>
        <p:spPr>
          <a:xfrm>
            <a:off x="3844800" y="99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그림 제목"/>
          <p:cNvSpPr txBox="1"/>
          <p:nvPr/>
        </p:nvSpPr>
        <p:spPr>
          <a:xfrm>
            <a:off x="3844800" y="1090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이 설명서를 읽는 법</a:t>
            </a:r>
          </a:p>
        </p:txBody>
      </p:sp>
      <p:sp>
        <p:nvSpPr>
          <p:cNvPr id="20" name="그림 설명"/>
          <p:cNvSpPr txBox="1"/>
          <p:nvPr/>
        </p:nvSpPr>
        <p:spPr>
          <a:xfrm>
            <a:off x="3844800" y="1278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처음 나오는 용어와 숫자의 기준</a:t>
            </a:r>
          </a:p>
        </p:txBody>
      </p:sp>
      <p:sp>
        <p:nvSpPr>
          <p:cNvPr id="21" name="TextBox 20"/>
          <p:cNvSpPr txBox="1"/>
          <p:nvPr/>
        </p:nvSpPr>
        <p:spPr>
          <a:xfrm>
            <a:off x="3844800" y="1422000"/>
            <a:ext cx="3006000" cy="5400000"/>
          </a:xfrm>
          <a:prstGeom prst="rect">
            <a:avLst/>
          </a:prstGeom>
          <a:noFill/>
        </p:spPr>
        <p:txBody>
          <a:bodyPr wrap="square" lIns="0" rIns="0" tIns="0" bIns="0" anchor="t">
            <a:spAutoFit/>
          </a:bodyPr>
          <a:lstStyle/>
          <a:p>
            <a:pPr algn="l" eaLnBrk="0">
              <a:lnSpc>
                <a:spcPct val="132000"/>
              </a:lnSpc>
              <a:spcAft>
                <a:spcPts val="800"/>
              </a:spcAft>
            </a:pPr>
            <a:r>
              <a:rPr sz="950" b="1" lang="ko-KR" altLang="en-US">
                <a:solidFill>
                  <a:srgbClr val="1A1E25"/>
                </a:solidFill>
                <a:latin typeface="Noto Sans KR"/>
                <a:ea typeface="Noto Sans KR"/>
                <a:cs typeface="Noto Sans KR"/>
              </a:rPr>
              <a:t>최종 평가액  </a:t>
            </a:r>
            <a:r>
              <a:rPr sz="950" b="0" lang="ko-KR" altLang="en-US">
                <a:solidFill>
                  <a:srgbClr val="1A1E25"/>
                </a:solidFill>
                <a:latin typeface="Noto Sans KR"/>
                <a:ea typeface="Noto Sans KR"/>
                <a:cs typeface="Noto Sans KR"/>
              </a:rPr>
              <a:t>넣은 원금과 투자이익을 더한 금액입니다. 원금이 포함돼 있으니 ‘수익’이 아닙니다. 예: 월 10만 원을 176번(1,760만 원) 넣어 8,805만 원이 됐다면 최종 평가액 8,805만 원, 투자이익 7,045만 원.</a:t>
            </a:r>
          </a:p>
          <a:p>
            <a:pPr algn="l" eaLnBrk="0">
              <a:lnSpc>
                <a:spcPct val="132000"/>
              </a:lnSpc>
              <a:spcAft>
                <a:spcPts val="800"/>
              </a:spcAft>
            </a:pPr>
            <a:r>
              <a:rPr sz="950" b="1" lang="ko-KR" altLang="en-US">
                <a:solidFill>
                  <a:srgbClr val="1A1E25"/>
                </a:solidFill>
                <a:latin typeface="Noto Sans KR"/>
                <a:ea typeface="Noto Sans KR"/>
                <a:cs typeface="Noto Sans KR"/>
              </a:rPr>
              <a:t>14년 8개월 적립 후  </a:t>
            </a:r>
            <a:r>
              <a:rPr sz="950" b="0" lang="ko-KR" altLang="en-US">
                <a:solidFill>
                  <a:srgbClr val="1A1E25"/>
                </a:solidFill>
                <a:latin typeface="Noto Sans KR"/>
                <a:ea typeface="Noto Sans KR"/>
                <a:cs typeface="Noto Sans KR"/>
              </a:rPr>
              <a:t>과거 비교의 모든 금액은 2012년 1월부터 2026년 8월까지 매달 첫 거래일에 넣은 뒤 2026년 8월 31일 종가로 잰 값입니다.</a:t>
            </a:r>
          </a:p>
          <a:p>
            <a:pPr algn="l" eaLnBrk="0">
              <a:lnSpc>
                <a:spcPct val="132000"/>
              </a:lnSpc>
              <a:spcAft>
                <a:spcPts val="800"/>
              </a:spcAft>
            </a:pPr>
            <a:r>
              <a:rPr sz="950" b="1" lang="ko-KR" altLang="en-US">
                <a:solidFill>
                  <a:srgbClr val="1A1E25"/>
                </a:solidFill>
                <a:latin typeface="Noto Sans KR"/>
                <a:ea typeface="Noto Sans KR"/>
                <a:cs typeface="Noto Sans KR"/>
              </a:rPr>
              <a:t>연복리  </a:t>
            </a:r>
            <a:r>
              <a:rPr sz="950" b="0" lang="ko-KR" altLang="en-US">
                <a:solidFill>
                  <a:srgbClr val="1A1E25"/>
                </a:solidFill>
                <a:latin typeface="Noto Sans KR"/>
                <a:ea typeface="Noto Sans KR"/>
                <a:cs typeface="Noto Sans KR"/>
              </a:rPr>
              <a:t>매달 넣은 돈의 효과를 뺀 ‘1원당’ 성과를 1년 평균 성장률로 바꾼 값입니다. 납입액과 상관없이 같습니다.</a:t>
            </a:r>
          </a:p>
        </p:txBody>
      </p:sp>
      <p:sp>
        <p:nvSpPr>
          <p:cNvPr id="22" name="TextBox 21"/>
          <p:cNvSpPr txBox="1"/>
          <p:nvPr/>
        </p:nvSpPr>
        <p:spPr>
          <a:xfrm>
            <a:off x="7128000" y="1422000"/>
            <a:ext cx="3006000" cy="5400000"/>
          </a:xfrm>
          <a:prstGeom prst="rect">
            <a:avLst/>
          </a:prstGeom>
          <a:noFill/>
        </p:spPr>
        <p:txBody>
          <a:bodyPr wrap="square" lIns="0" rIns="0" tIns="0" bIns="0" anchor="t">
            <a:spAutoFit/>
          </a:bodyPr>
          <a:lstStyle/>
          <a:p>
            <a:pPr algn="l" eaLnBrk="0">
              <a:lnSpc>
                <a:spcPct val="132000"/>
              </a:lnSpc>
              <a:spcAft>
                <a:spcPts val="800"/>
              </a:spcAft>
            </a:pPr>
            <a:r>
              <a:rPr sz="950" b="1" lang="ko-KR" altLang="en-US">
                <a:solidFill>
                  <a:srgbClr val="1A1E25"/>
                </a:solidFill>
                <a:latin typeface="Noto Sans KR"/>
                <a:ea typeface="Noto Sans KR"/>
                <a:cs typeface="Noto Sans KR"/>
              </a:rPr>
              <a:t>최대 낙폭  </a:t>
            </a:r>
            <a:r>
              <a:rPr sz="950" b="0" lang="ko-KR" altLang="en-US">
                <a:solidFill>
                  <a:srgbClr val="1A1E25"/>
                </a:solidFill>
                <a:latin typeface="Noto Sans KR"/>
                <a:ea typeface="Noto Sans KR"/>
                <a:cs typeface="Noto Sans KR"/>
              </a:rPr>
              <a:t>1원당 가치가 가장 높았던 날에서 이후 가장 낮았던 날까지 줄어든 비율입니다. −30%면 1,000만 원이 700만 원이 된 순간이 있었다는 뜻입니다. 0 아래로 내려가는 막대로 그립니다.</a:t>
            </a:r>
          </a:p>
          <a:p>
            <a:pPr algn="l" eaLnBrk="0">
              <a:lnSpc>
                <a:spcPct val="132000"/>
              </a:lnSpc>
              <a:spcAft>
                <a:spcPts val="800"/>
              </a:spcAft>
            </a:pPr>
            <a:r>
              <a:rPr sz="950" b="1" lang="ko-KR" altLang="en-US">
                <a:solidFill>
                  <a:srgbClr val="1A1E25"/>
                </a:solidFill>
                <a:latin typeface="Noto Sans KR"/>
                <a:ea typeface="Noto Sans KR"/>
                <a:cs typeface="Noto Sans KR"/>
              </a:rPr>
              <a:t>회복 기간  </a:t>
            </a:r>
            <a:r>
              <a:rPr sz="950" b="0" lang="ko-KR" altLang="en-US">
                <a:solidFill>
                  <a:srgbClr val="1A1E25"/>
                </a:solidFill>
                <a:latin typeface="Noto Sans KR"/>
                <a:ea typeface="Noto Sans KR"/>
                <a:cs typeface="Noto Sans KR"/>
              </a:rPr>
              <a:t>최대 낙폭이 시작된 고점에서 그 고점을 다시 넘을 때까지 걸린 시간입니다.</a:t>
            </a:r>
          </a:p>
          <a:p>
            <a:pPr algn="l" eaLnBrk="0">
              <a:lnSpc>
                <a:spcPct val="132000"/>
              </a:lnSpc>
              <a:spcAft>
                <a:spcPts val="800"/>
              </a:spcAft>
            </a:pPr>
            <a:r>
              <a:rPr sz="950" b="1" lang="ko-KR" altLang="en-US">
                <a:solidFill>
                  <a:srgbClr val="1A1E25"/>
                </a:solidFill>
                <a:latin typeface="Noto Sans KR"/>
                <a:ea typeface="Noto Sans KR"/>
                <a:cs typeface="Noto Sans KR"/>
              </a:rPr>
              <a:t>장기 시나리오  </a:t>
            </a:r>
            <a:r>
              <a:rPr sz="950" b="0" lang="ko-KR" altLang="en-US">
                <a:solidFill>
                  <a:srgbClr val="1A1E25"/>
                </a:solidFill>
                <a:latin typeface="Noto Sans KR"/>
                <a:ea typeface="Noto Sans KR"/>
                <a:cs typeface="Noto Sans KR"/>
              </a:rPr>
              <a:t>2012~2026년의 1년 단위 실제 움직임을 무작위로 이어 붙여 만든 1,000개의 20년 모의 경로입니다. ‘하위 10%’는 1,000개 중 아래에서 100번째쯤의 값이며, 미래에 그 확률로 일어난다는 뜻이 아닙니다.</a:t>
            </a:r>
          </a:p>
        </p:txBody>
      </p:sp>
      <p:sp>
        <p:nvSpPr>
          <p:cNvPr id="23" name="TextBox 22"/>
          <p:cNvSpPr txBox="1"/>
          <p:nvPr/>
        </p:nvSpPr>
        <p:spPr>
          <a:xfrm>
            <a:off x="3844800" y="4176000"/>
            <a:ext cx="6289200" cy="1080000"/>
          </a:xfrm>
          <a:prstGeom prst="rect">
            <a:avLst/>
          </a:prstGeom>
          <a:noFill/>
        </p:spPr>
        <p:txBody>
          <a:bodyPr wrap="square" lIns="0" rIns="0" tIns="0" bIns="0" anchor="t">
            <a:spAutoFit/>
          </a:bodyPr>
          <a:lstStyle/>
          <a:p>
            <a:pPr algn="l" eaLnBrk="0">
              <a:lnSpc>
                <a:spcPct val="132000"/>
              </a:lnSpc>
              <a:spcAft>
                <a:spcPts val="0"/>
              </a:spcAft>
            </a:pPr>
            <a:r>
              <a:rPr sz="950" b="1" lang="ko-KR" altLang="en-US">
                <a:solidFill>
                  <a:srgbClr val="1A1E25"/>
                </a:solidFill>
                <a:latin typeface="Noto Sans KR"/>
                <a:ea typeface="Noto Sans KR"/>
                <a:cs typeface="Noto Sans KR"/>
              </a:rPr>
              <a:t>세 가지 숫자를 구분합니다  </a:t>
            </a:r>
            <a:r>
              <a:rPr sz="950" b="0" lang="ko-KR" altLang="en-US">
                <a:solidFill>
                  <a:srgbClr val="1A1E25"/>
                </a:solidFill>
                <a:latin typeface="Noto Sans KR"/>
                <a:ea typeface="Noto Sans KR"/>
                <a:cs typeface="Noto Sans KR"/>
              </a:rPr>
              <a:t>과거 계산(2012~2026 실제 가격), 장기 시나리오(재조합 모의 경로), 실제 운용 기록입니다. 이 설명서의 숫자는 앞의 두 가지이며 실제 계좌 기록은 쓰지 않았습니다. 실제 계좌에는 세금 · 환율 · 정수 주 · 체결 차이가 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3844800" y="619200"/>
            <a:ext cx="5364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3</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1장 · 전략 개요</a:t>
            </a:r>
          </a:p>
        </p:txBody>
      </p:sp>
      <p:sp>
        <p:nvSpPr>
          <p:cNvPr id="14" name="제목"/>
          <p:cNvSpPr txBox="1"/>
          <p:nvPr/>
        </p:nvSpPr>
        <p:spPr>
          <a:xfrm>
            <a:off x="558000" y="990000"/>
            <a:ext cx="6120000" cy="864000"/>
          </a:xfrm>
          <a:prstGeom prst="rect">
            <a:avLst/>
          </a:prstGeom>
          <a:noFill/>
        </p:spPr>
        <p:txBody>
          <a:bodyPr wrap="square" lIns="0" rIns="0" tIns="0" bIns="0" anchor="t">
            <a:spAutoFit/>
          </a:bodyPr>
          <a:lstStyle/>
          <a:p>
            <a:pPr algn="l" eaLnBrk="0">
              <a:lnSpc>
                <a:spcPct val="108000"/>
              </a:lnSpc>
              <a:spcAft>
                <a:spcPts val="0"/>
              </a:spcAft>
            </a:pPr>
            <a:r>
              <a:rPr sz="3200" b="0" lang="ko-KR" altLang="en-US">
                <a:solidFill>
                  <a:srgbClr val="1A1E25"/>
                </a:solidFill>
                <a:latin typeface="Malgun Gothic Semilight"/>
                <a:ea typeface="Malgun Gothic Semilight"/>
                <a:cs typeface="Malgun Gothic Semilight"/>
              </a:rPr>
              <a:t>Deneb와 Polaris</a:t>
            </a:r>
          </a:p>
        </p:txBody>
      </p:sp>
      <p:sp>
        <p:nvSpPr>
          <p:cNvPr id="15" name="TextBox 14"/>
          <p:cNvSpPr txBox="1"/>
          <p:nvPr/>
        </p:nvSpPr>
        <p:spPr>
          <a:xfrm>
            <a:off x="558000" y="1710000"/>
            <a:ext cx="6300000" cy="792000"/>
          </a:xfrm>
          <a:prstGeom prst="rect">
            <a:avLst/>
          </a:prstGeom>
          <a:noFill/>
        </p:spPr>
        <p:txBody>
          <a:bodyPr wrap="square" lIns="0" rIns="0" tIns="0" bIns="0" anchor="t">
            <a:spAutoFit/>
          </a:bodyPr>
          <a:lstStyle/>
          <a:p>
            <a:pPr algn="l" eaLnBrk="0">
              <a:lnSpc>
                <a:spcPct val="130000"/>
              </a:lnSpc>
              <a:spcAft>
                <a:spcPts val="0"/>
              </a:spcAft>
            </a:pPr>
            <a:r>
              <a:rPr sz="1300" b="0" lang="ko-KR" altLang="en-US">
                <a:solidFill>
                  <a:srgbClr val="1A1E25"/>
                </a:solidFill>
                <a:latin typeface="Malgun Gothic Semilight"/>
                <a:ea typeface="Malgun Gothic Semilight"/>
                <a:cs typeface="Malgun Gothic Semilight"/>
              </a:rPr>
              <a:t>Deneb는 성장을 크게 노리고 흔들림을 규칙으로 줄입니다. Polaris는 주식에 국채와 금을 섞어 덜 흔들리게 모읍니다. 둘 다 매달 같은 날 같은 돈을 넣습니다.</a:t>
            </a:r>
          </a:p>
        </p:txBody>
      </p:sp>
      <p:sp>
        <p:nvSpPr>
          <p:cNvPr id="16" name="카드"/>
          <p:cNvSpPr/>
          <p:nvPr/>
        </p:nvSpPr>
        <p:spPr>
          <a:xfrm>
            <a:off x="558000" y="2736000"/>
            <a:ext cx="3011999" cy="2592000"/>
          </a:xfrm>
          <a:prstGeom prst="roundRect">
            <a:avLst>
              <a:gd name="adj" fmla="val 6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4000" y="2916000"/>
            <a:ext cx="2579999"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Deneb · 월 10만 원 · 14년 8개월</a:t>
            </a:r>
          </a:p>
        </p:txBody>
      </p:sp>
      <p:sp>
        <p:nvSpPr>
          <p:cNvPr id="18" name="TextBox 17"/>
          <p:cNvSpPr txBox="1"/>
          <p:nvPr/>
        </p:nvSpPr>
        <p:spPr>
          <a:xfrm>
            <a:off x="774000" y="3131999"/>
            <a:ext cx="2579999" cy="468000"/>
          </a:xfrm>
          <a:prstGeom prst="rect">
            <a:avLst/>
          </a:prstGeom>
          <a:noFill/>
        </p:spPr>
        <p:txBody>
          <a:bodyPr wrap="square" lIns="0" rIns="0" tIns="0" bIns="0" anchor="t">
            <a:spAutoFit/>
          </a:bodyPr>
          <a:lstStyle/>
          <a:p>
            <a:pPr algn="l" eaLnBrk="0">
              <a:lnSpc>
                <a:spcPct val="100000"/>
              </a:lnSpc>
              <a:spcAft>
                <a:spcPts val="0"/>
              </a:spcAft>
            </a:pPr>
            <a:r>
              <a:rPr sz="2700" b="1" lang="ko-KR" altLang="en-US">
                <a:solidFill>
                  <a:srgbClr val="0B3D91"/>
                </a:solidFill>
                <a:latin typeface="Noto Sans KR"/>
                <a:ea typeface="Noto Sans KR"/>
                <a:cs typeface="Noto Sans KR"/>
              </a:rPr>
              <a:t>3억 6,111만 원</a:t>
            </a:r>
          </a:p>
        </p:txBody>
      </p:sp>
      <p:cxnSp>
        <p:nvCxnSpPr>
          <p:cNvPr id="19" name="Connector 18"/>
          <p:cNvCxnSpPr/>
          <p:nvPr/>
        </p:nvCxnSpPr>
        <p:spPr>
          <a:xfrm>
            <a:off x="774000" y="3654000"/>
            <a:ext cx="2580000" cy="0"/>
          </a:xfrm>
          <a:prstGeom prst="line">
            <a:avLst/>
          </a:prstGeom>
          <a:ln w="9525">
            <a:solidFill>
              <a:srgbClr val="D5DCE6"/>
            </a:solidFill>
          </a:ln>
        </p:spPr>
      </p:cxnSp>
      <p:sp>
        <p:nvSpPr>
          <p:cNvPr id="20" name="TextBox 19"/>
          <p:cNvSpPr txBox="1"/>
          <p:nvPr/>
        </p:nvSpPr>
        <p:spPr>
          <a:xfrm>
            <a:off x="774000" y="36900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최대 낙폭</a:t>
            </a:r>
          </a:p>
        </p:txBody>
      </p:sp>
      <p:sp>
        <p:nvSpPr>
          <p:cNvPr id="21" name="TextBox 20"/>
          <p:cNvSpPr txBox="1"/>
          <p:nvPr/>
        </p:nvSpPr>
        <p:spPr>
          <a:xfrm>
            <a:off x="1913399" y="36900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−31.7%</a:t>
            </a:r>
          </a:p>
        </p:txBody>
      </p:sp>
      <p:cxnSp>
        <p:nvCxnSpPr>
          <p:cNvPr id="22" name="Connector 21"/>
          <p:cNvCxnSpPr/>
          <p:nvPr/>
        </p:nvCxnSpPr>
        <p:spPr>
          <a:xfrm>
            <a:off x="774000" y="3934800"/>
            <a:ext cx="2580000" cy="0"/>
          </a:xfrm>
          <a:prstGeom prst="line">
            <a:avLst/>
          </a:prstGeom>
          <a:ln w="9525">
            <a:solidFill>
              <a:srgbClr val="D5DCE6"/>
            </a:solidFill>
          </a:ln>
        </p:spPr>
      </p:cxnSp>
      <p:sp>
        <p:nvSpPr>
          <p:cNvPr id="23" name="TextBox 22"/>
          <p:cNvSpPr txBox="1"/>
          <p:nvPr/>
        </p:nvSpPr>
        <p:spPr>
          <a:xfrm>
            <a:off x="774000" y="39708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회복 기간</a:t>
            </a:r>
          </a:p>
        </p:txBody>
      </p:sp>
      <p:sp>
        <p:nvSpPr>
          <p:cNvPr id="24" name="TextBox 23"/>
          <p:cNvSpPr txBox="1"/>
          <p:nvPr/>
        </p:nvSpPr>
        <p:spPr>
          <a:xfrm>
            <a:off x="1913399" y="39708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19개월</a:t>
            </a:r>
          </a:p>
        </p:txBody>
      </p:sp>
      <p:cxnSp>
        <p:nvCxnSpPr>
          <p:cNvPr id="25" name="Connector 24"/>
          <p:cNvCxnSpPr/>
          <p:nvPr/>
        </p:nvCxnSpPr>
        <p:spPr>
          <a:xfrm>
            <a:off x="774000" y="4215600"/>
            <a:ext cx="2580000" cy="0"/>
          </a:xfrm>
          <a:prstGeom prst="line">
            <a:avLst/>
          </a:prstGeom>
          <a:ln w="9525">
            <a:solidFill>
              <a:srgbClr val="D5DCE6"/>
            </a:solidFill>
          </a:ln>
        </p:spPr>
      </p:cxnSp>
      <p:sp>
        <p:nvSpPr>
          <p:cNvPr id="26" name="TextBox 25"/>
          <p:cNvSpPr txBox="1"/>
          <p:nvPr/>
        </p:nvSpPr>
        <p:spPr>
          <a:xfrm>
            <a:off x="774000" y="42516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연복리</a:t>
            </a:r>
          </a:p>
        </p:txBody>
      </p:sp>
      <p:sp>
        <p:nvSpPr>
          <p:cNvPr id="27" name="TextBox 26"/>
          <p:cNvSpPr txBox="1"/>
          <p:nvPr/>
        </p:nvSpPr>
        <p:spPr>
          <a:xfrm>
            <a:off x="1913399" y="42516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35.6%</a:t>
            </a:r>
          </a:p>
        </p:txBody>
      </p:sp>
      <p:sp>
        <p:nvSpPr>
          <p:cNvPr id="28" name="TextBox 27"/>
          <p:cNvSpPr txBox="1"/>
          <p:nvPr/>
        </p:nvSpPr>
        <p:spPr>
          <a:xfrm>
            <a:off x="774000" y="5022000"/>
            <a:ext cx="2579999" cy="216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TQQQ 최대 60% + SCHD, 하락 방어</a:t>
            </a:r>
          </a:p>
        </p:txBody>
      </p:sp>
      <p:sp>
        <p:nvSpPr>
          <p:cNvPr id="29" name="카드"/>
          <p:cNvSpPr/>
          <p:nvPr/>
        </p:nvSpPr>
        <p:spPr>
          <a:xfrm>
            <a:off x="3840000" y="2736000"/>
            <a:ext cx="3011999" cy="2592000"/>
          </a:xfrm>
          <a:prstGeom prst="roundRect">
            <a:avLst>
              <a:gd name="adj" fmla="val 6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55999" y="2916000"/>
            <a:ext cx="2579999"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Polaris · 월 10만 원 · 14년 8개월</a:t>
            </a:r>
          </a:p>
        </p:txBody>
      </p:sp>
      <p:sp>
        <p:nvSpPr>
          <p:cNvPr id="31" name="TextBox 30"/>
          <p:cNvSpPr txBox="1"/>
          <p:nvPr/>
        </p:nvSpPr>
        <p:spPr>
          <a:xfrm>
            <a:off x="4055999" y="3131999"/>
            <a:ext cx="2579999" cy="468000"/>
          </a:xfrm>
          <a:prstGeom prst="rect">
            <a:avLst/>
          </a:prstGeom>
          <a:noFill/>
        </p:spPr>
        <p:txBody>
          <a:bodyPr wrap="square" lIns="0" rIns="0" tIns="0" bIns="0" anchor="t">
            <a:spAutoFit/>
          </a:bodyPr>
          <a:lstStyle/>
          <a:p>
            <a:pPr algn="l" eaLnBrk="0">
              <a:lnSpc>
                <a:spcPct val="100000"/>
              </a:lnSpc>
              <a:spcAft>
                <a:spcPts val="0"/>
              </a:spcAft>
            </a:pPr>
            <a:r>
              <a:rPr sz="2700" b="1" lang="ko-KR" altLang="en-US">
                <a:solidFill>
                  <a:srgbClr val="1E9A84"/>
                </a:solidFill>
                <a:latin typeface="Noto Sans KR"/>
                <a:ea typeface="Noto Sans KR"/>
                <a:cs typeface="Noto Sans KR"/>
              </a:rPr>
              <a:t>5,077만 원</a:t>
            </a:r>
          </a:p>
        </p:txBody>
      </p:sp>
      <p:cxnSp>
        <p:nvCxnSpPr>
          <p:cNvPr id="32" name="Connector 31"/>
          <p:cNvCxnSpPr/>
          <p:nvPr/>
        </p:nvCxnSpPr>
        <p:spPr>
          <a:xfrm>
            <a:off x="4055999" y="3654000"/>
            <a:ext cx="2580000" cy="0"/>
          </a:xfrm>
          <a:prstGeom prst="line">
            <a:avLst/>
          </a:prstGeom>
          <a:ln w="9525">
            <a:solidFill>
              <a:srgbClr val="D5DCE6"/>
            </a:solidFill>
          </a:ln>
        </p:spPr>
      </p:cxnSp>
      <p:sp>
        <p:nvSpPr>
          <p:cNvPr id="33" name="TextBox 32"/>
          <p:cNvSpPr txBox="1"/>
          <p:nvPr/>
        </p:nvSpPr>
        <p:spPr>
          <a:xfrm>
            <a:off x="4055999" y="36900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최대 낙폭</a:t>
            </a:r>
          </a:p>
        </p:txBody>
      </p:sp>
      <p:sp>
        <p:nvSpPr>
          <p:cNvPr id="34" name="TextBox 33"/>
          <p:cNvSpPr txBox="1"/>
          <p:nvPr/>
        </p:nvSpPr>
        <p:spPr>
          <a:xfrm>
            <a:off x="5195399" y="36900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−23.4%</a:t>
            </a:r>
          </a:p>
        </p:txBody>
      </p:sp>
      <p:cxnSp>
        <p:nvCxnSpPr>
          <p:cNvPr id="35" name="Connector 34"/>
          <p:cNvCxnSpPr/>
          <p:nvPr/>
        </p:nvCxnSpPr>
        <p:spPr>
          <a:xfrm>
            <a:off x="4055999" y="3934800"/>
            <a:ext cx="2580000" cy="0"/>
          </a:xfrm>
          <a:prstGeom prst="line">
            <a:avLst/>
          </a:prstGeom>
          <a:ln w="9525">
            <a:solidFill>
              <a:srgbClr val="D5DCE6"/>
            </a:solidFill>
          </a:ln>
        </p:spPr>
      </p:cxnSp>
      <p:sp>
        <p:nvSpPr>
          <p:cNvPr id="36" name="TextBox 35"/>
          <p:cNvSpPr txBox="1"/>
          <p:nvPr/>
        </p:nvSpPr>
        <p:spPr>
          <a:xfrm>
            <a:off x="4055999" y="39708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회복 기간</a:t>
            </a:r>
          </a:p>
        </p:txBody>
      </p:sp>
      <p:sp>
        <p:nvSpPr>
          <p:cNvPr id="37" name="TextBox 36"/>
          <p:cNvSpPr txBox="1"/>
          <p:nvPr/>
        </p:nvSpPr>
        <p:spPr>
          <a:xfrm>
            <a:off x="5195399" y="39708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24개월</a:t>
            </a:r>
          </a:p>
        </p:txBody>
      </p:sp>
      <p:cxnSp>
        <p:nvCxnSpPr>
          <p:cNvPr id="38" name="Connector 37"/>
          <p:cNvCxnSpPr/>
          <p:nvPr/>
        </p:nvCxnSpPr>
        <p:spPr>
          <a:xfrm>
            <a:off x="4055999" y="4215600"/>
            <a:ext cx="2580000" cy="0"/>
          </a:xfrm>
          <a:prstGeom prst="line">
            <a:avLst/>
          </a:prstGeom>
          <a:ln w="9525">
            <a:solidFill>
              <a:srgbClr val="D5DCE6"/>
            </a:solidFill>
          </a:ln>
        </p:spPr>
      </p:cxnSp>
      <p:sp>
        <p:nvSpPr>
          <p:cNvPr id="39" name="TextBox 38"/>
          <p:cNvSpPr txBox="1"/>
          <p:nvPr/>
        </p:nvSpPr>
        <p:spPr>
          <a:xfrm>
            <a:off x="4055999" y="42516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연복리</a:t>
            </a:r>
          </a:p>
        </p:txBody>
      </p:sp>
      <p:sp>
        <p:nvSpPr>
          <p:cNvPr id="40" name="TextBox 39"/>
          <p:cNvSpPr txBox="1"/>
          <p:nvPr/>
        </p:nvSpPr>
        <p:spPr>
          <a:xfrm>
            <a:off x="5195399" y="42516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12.3%</a:t>
            </a:r>
          </a:p>
        </p:txBody>
      </p:sp>
      <p:sp>
        <p:nvSpPr>
          <p:cNvPr id="41" name="TextBox 40"/>
          <p:cNvSpPr txBox="1"/>
          <p:nvPr/>
        </p:nvSpPr>
        <p:spPr>
          <a:xfrm>
            <a:off x="4055999" y="5022000"/>
            <a:ext cx="2579999" cy="216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미국 주식 60 · 국채 20 · 금 20</a:t>
            </a:r>
          </a:p>
        </p:txBody>
      </p:sp>
      <p:sp>
        <p:nvSpPr>
          <p:cNvPr id="42" name="카드"/>
          <p:cNvSpPr/>
          <p:nvPr/>
        </p:nvSpPr>
        <p:spPr>
          <a:xfrm>
            <a:off x="7121999" y="2736000"/>
            <a:ext cx="3011999" cy="2592000"/>
          </a:xfrm>
          <a:prstGeom prst="roundRect">
            <a:avLst>
              <a:gd name="adj" fmla="val 6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38000" y="2916000"/>
            <a:ext cx="2579999"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QQQ 단독 적립 · 대조군</a:t>
            </a:r>
          </a:p>
        </p:txBody>
      </p:sp>
      <p:sp>
        <p:nvSpPr>
          <p:cNvPr id="44" name="TextBox 43"/>
          <p:cNvSpPr txBox="1"/>
          <p:nvPr/>
        </p:nvSpPr>
        <p:spPr>
          <a:xfrm>
            <a:off x="7338000" y="3131999"/>
            <a:ext cx="2579999" cy="468000"/>
          </a:xfrm>
          <a:prstGeom prst="rect">
            <a:avLst/>
          </a:prstGeom>
          <a:noFill/>
        </p:spPr>
        <p:txBody>
          <a:bodyPr wrap="square" lIns="0" rIns="0" tIns="0" bIns="0" anchor="t">
            <a:spAutoFit/>
          </a:bodyPr>
          <a:lstStyle/>
          <a:p>
            <a:pPr algn="l" eaLnBrk="0">
              <a:lnSpc>
                <a:spcPct val="100000"/>
              </a:lnSpc>
              <a:spcAft>
                <a:spcPts val="0"/>
              </a:spcAft>
            </a:pPr>
            <a:r>
              <a:rPr sz="2700" b="1" lang="ko-KR" altLang="en-US">
                <a:solidFill>
                  <a:srgbClr val="E07A1F"/>
                </a:solidFill>
                <a:latin typeface="Noto Sans KR"/>
                <a:ea typeface="Noto Sans KR"/>
                <a:cs typeface="Noto Sans KR"/>
              </a:rPr>
              <a:t>8,805만 원</a:t>
            </a:r>
          </a:p>
        </p:txBody>
      </p:sp>
      <p:cxnSp>
        <p:nvCxnSpPr>
          <p:cNvPr id="45" name="Connector 44"/>
          <p:cNvCxnSpPr/>
          <p:nvPr/>
        </p:nvCxnSpPr>
        <p:spPr>
          <a:xfrm>
            <a:off x="7338000" y="3654000"/>
            <a:ext cx="2579999" cy="0"/>
          </a:xfrm>
          <a:prstGeom prst="line">
            <a:avLst/>
          </a:prstGeom>
          <a:ln w="9525">
            <a:solidFill>
              <a:srgbClr val="D5DCE6"/>
            </a:solidFill>
          </a:ln>
        </p:spPr>
      </p:cxnSp>
      <p:sp>
        <p:nvSpPr>
          <p:cNvPr id="46" name="TextBox 45"/>
          <p:cNvSpPr txBox="1"/>
          <p:nvPr/>
        </p:nvSpPr>
        <p:spPr>
          <a:xfrm>
            <a:off x="7338000" y="36900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최대 낙폭</a:t>
            </a:r>
          </a:p>
        </p:txBody>
      </p:sp>
      <p:sp>
        <p:nvSpPr>
          <p:cNvPr id="47" name="TextBox 46"/>
          <p:cNvSpPr txBox="1"/>
          <p:nvPr/>
        </p:nvSpPr>
        <p:spPr>
          <a:xfrm>
            <a:off x="8477400" y="36900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−35.1%</a:t>
            </a:r>
          </a:p>
        </p:txBody>
      </p:sp>
      <p:cxnSp>
        <p:nvCxnSpPr>
          <p:cNvPr id="48" name="Connector 47"/>
          <p:cNvCxnSpPr/>
          <p:nvPr/>
        </p:nvCxnSpPr>
        <p:spPr>
          <a:xfrm>
            <a:off x="7338000" y="3934800"/>
            <a:ext cx="2579999" cy="0"/>
          </a:xfrm>
          <a:prstGeom prst="line">
            <a:avLst/>
          </a:prstGeom>
          <a:ln w="9525">
            <a:solidFill>
              <a:srgbClr val="D5DCE6"/>
            </a:solidFill>
          </a:ln>
        </p:spPr>
      </p:cxnSp>
      <p:sp>
        <p:nvSpPr>
          <p:cNvPr id="49" name="TextBox 48"/>
          <p:cNvSpPr txBox="1"/>
          <p:nvPr/>
        </p:nvSpPr>
        <p:spPr>
          <a:xfrm>
            <a:off x="7338000" y="39708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회복 기간</a:t>
            </a:r>
          </a:p>
        </p:txBody>
      </p:sp>
      <p:sp>
        <p:nvSpPr>
          <p:cNvPr id="50" name="TextBox 49"/>
          <p:cNvSpPr txBox="1"/>
          <p:nvPr/>
        </p:nvSpPr>
        <p:spPr>
          <a:xfrm>
            <a:off x="8477400" y="39708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24개월</a:t>
            </a:r>
          </a:p>
        </p:txBody>
      </p:sp>
      <p:cxnSp>
        <p:nvCxnSpPr>
          <p:cNvPr id="51" name="Connector 50"/>
          <p:cNvCxnSpPr/>
          <p:nvPr/>
        </p:nvCxnSpPr>
        <p:spPr>
          <a:xfrm>
            <a:off x="7338000" y="4215600"/>
            <a:ext cx="2579999" cy="0"/>
          </a:xfrm>
          <a:prstGeom prst="line">
            <a:avLst/>
          </a:prstGeom>
          <a:ln w="9525">
            <a:solidFill>
              <a:srgbClr val="D5DCE6"/>
            </a:solidFill>
          </a:ln>
        </p:spPr>
      </p:cxnSp>
      <p:sp>
        <p:nvSpPr>
          <p:cNvPr id="52" name="TextBox 51"/>
          <p:cNvSpPr txBox="1"/>
          <p:nvPr/>
        </p:nvSpPr>
        <p:spPr>
          <a:xfrm>
            <a:off x="7338000" y="42516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연복리</a:t>
            </a:r>
          </a:p>
        </p:txBody>
      </p:sp>
      <p:sp>
        <p:nvSpPr>
          <p:cNvPr id="53" name="TextBox 52"/>
          <p:cNvSpPr txBox="1"/>
          <p:nvPr/>
        </p:nvSpPr>
        <p:spPr>
          <a:xfrm>
            <a:off x="8477400" y="42516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19.8%</a:t>
            </a:r>
          </a:p>
        </p:txBody>
      </p:sp>
      <p:sp>
        <p:nvSpPr>
          <p:cNvPr id="54" name="TextBox 53"/>
          <p:cNvSpPr txBox="1"/>
          <p:nvPr/>
        </p:nvSpPr>
        <p:spPr>
          <a:xfrm>
            <a:off x="7338000" y="5022000"/>
            <a:ext cx="2579999" cy="216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나스닥100 ETF 하나만 계속 삼</a:t>
            </a:r>
          </a:p>
        </p:txBody>
      </p:sp>
      <p:sp>
        <p:nvSpPr>
          <p:cNvPr id="55" name="TextBox 54"/>
          <p:cNvSpPr txBox="1"/>
          <p:nvPr/>
        </p:nvSpPr>
        <p:spPr>
          <a:xfrm>
            <a:off x="558000" y="5562000"/>
            <a:ext cx="9576000" cy="576000"/>
          </a:xfrm>
          <a:prstGeom prst="rect">
            <a:avLst/>
          </a:prstGeom>
          <a:noFill/>
        </p:spPr>
        <p:txBody>
          <a:bodyPr wrap="square" lIns="0" rIns="0" tIns="0" bIns="0" anchor="t">
            <a:spAutoFit/>
          </a:bodyPr>
          <a:lstStyle/>
          <a:p>
            <a:pPr algn="l" eaLnBrk="0">
              <a:lnSpc>
                <a:spcPct val="132000"/>
              </a:lnSpc>
              <a:spcAft>
                <a:spcPts val="0"/>
              </a:spcAft>
            </a:pPr>
            <a:r>
              <a:rPr sz="1000" b="0" lang="ko-KR" altLang="en-US">
                <a:solidFill>
                  <a:srgbClr val="1A1E25"/>
                </a:solidFill>
                <a:latin typeface="Noto Sans KR"/>
                <a:ea typeface="Noto Sans KR"/>
                <a:cs typeface="Noto Sans KR"/>
              </a:rPr>
              <a:t>세 카드 모두 원금 1,760만 원 · 세전입니다. 큰 숫자 아래의 낙폭은 그 숫자를 얻는 동안 견뎌야 했던 하락입니다. 2012~2026년은 미국 성장주가 강했던 기간이어서 결과가 크게 나왔습니다.</a:t>
            </a:r>
          </a:p>
        </p:txBody>
      </p:sp>
      <p:sp>
        <p:nvSpPr>
          <p:cNvPr id="56"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실제 ETF 수정 종가(QQQ · QLD · TQQQ · SCHD · SPY · IEF · GLD), 자체 계산 · 비용 0.15% · 세전 · 환율 고정 · 소수 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3844800" y="619200"/>
            <a:ext cx="5364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4</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1장 · 전략 개요</a:t>
            </a:r>
          </a:p>
        </p:txBody>
      </p:sp>
      <p:sp>
        <p:nvSpPr>
          <p:cNvPr id="14" name="제목"/>
          <p:cNvSpPr txBox="1"/>
          <p:nvPr/>
        </p:nvSpPr>
        <p:spPr>
          <a:xfrm>
            <a:off x="558000" y="990000"/>
            <a:ext cx="6120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두 전략 나란히</a:t>
            </a:r>
          </a:p>
        </p:txBody>
      </p:sp>
      <p:graphicFrame>
        <p:nvGraphicFramePr>
          <p:cNvPr id="15" name="표"/>
          <p:cNvGraphicFramePr>
            <a:graphicFrameLocks noGrp="1"/>
          </p:cNvGraphicFramePr>
          <p:nvPr/>
        </p:nvGraphicFramePr>
        <p:xfrm>
          <a:off x="558000" y="1710000"/>
          <a:ext cx="9575999" cy="3402000"/>
        </p:xfrm>
        <a:graphic>
          <a:graphicData uri="http://schemas.openxmlformats.org/drawingml/2006/table">
            <a:tbl>
              <a:tblPr firstRow="0" bandRow="0" firstCol="0" lastCol="0" bandCol="0" lastRow="0">
                <a:tableStyleId>{5940675A-B579-460E-94D1-54222C63F5DA}</a:tableStyleId>
              </a:tblPr>
              <a:tblGrid>
                <a:gridCol w="1080000"/>
                <a:gridCol w="2988000"/>
                <a:gridCol w="2988000"/>
                <a:gridCol w="2519999"/>
              </a:tblGrid>
              <a:tr h="3780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Deneb</a:t>
                      </a:r>
                      <a:endParaRPr sz="850"/>
                    </a:p>
                  </a:txBody>
                  <a:tcPr marL="28800" marR="43200" marT="25200" marB="25200" anchor="b">
                    <a:lnL w="0">
                      <a:noFill/>
                    </a:lnL>
                    <a:lnR w="0">
                      <a:noFill/>
                    </a:lnR>
                    <a:lnT w="9525">
                      <a:solidFill>
                        <a:srgbClr val="1A1E25"/>
                      </a:solidFill>
                    </a:lnT>
                    <a:lnB w="9525">
                      <a:solidFill>
                        <a:srgbClr val="1A1E25"/>
                      </a:solidFill>
                    </a:lnB>
                    <a:solidFill>
                      <a:srgbClr val="EDF1F7"/>
                    </a:solid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Polaris</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QQQ 단독 적립 (비교 기준)</a:t>
                      </a:r>
                      <a:endParaRPr sz="850"/>
                    </a:p>
                  </a:txBody>
                  <a:tcPr marL="28800" marR="43200" marT="25200" marB="25200" anchor="b">
                    <a:lnL w="0">
                      <a:noFill/>
                    </a:lnL>
                    <a:lnR w="0">
                      <a:noFill/>
                    </a:lnR>
                    <a:lnT w="9525">
                      <a:solidFill>
                        <a:srgbClr val="1A1E25"/>
                      </a:solidFill>
                    </a:lnT>
                    <a:lnB w="9525">
                      <a:solidFill>
                        <a:srgbClr val="1A1E25"/>
                      </a:solidFill>
                    </a:lnB>
                    <a:noFill/>
                  </a:tcPr>
                </a:tc>
              </a:tr>
              <a:tr h="378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목적</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높은 성장을 노리되 큰 하락은 규칙으로 줄인다</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주식만 들 때보다 덜 흔들리며 모은다</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나스닥100을 그대로 따라간다</a:t>
                      </a:r>
                      <a:endParaRPr sz="900"/>
                    </a:p>
                  </a:txBody>
                  <a:tcPr marL="28800" marR="43200" marT="25200" marB="25200" anchor="ctr">
                    <a:lnL w="0">
                      <a:noFill/>
                    </a:lnL>
                    <a:lnR w="0">
                      <a:noFill/>
                    </a:lnR>
                    <a:lnT w="0">
                      <a:noFill/>
                    </a:lnT>
                    <a:lnB w="6350">
                      <a:solidFill>
                        <a:srgbClr val="C9D0DA"/>
                      </a:solidFill>
                    </a:lnB>
                    <a:noFill/>
                  </a:tcPr>
                </a:tc>
              </a:tr>
              <a:tr h="378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사는 것</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TQQQ(나스닥100 일간 3배) · SCHD(미국 배당주)</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SPYM(S&amp;P500) · QQQM(나스닥100) · IEF(미국 국채 7~10년) · GLDM(금)</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QQQ(나스닥100)</a:t>
                      </a:r>
                      <a:endParaRPr sz="900"/>
                    </a:p>
                  </a:txBody>
                  <a:tcPr marL="28800" marR="43200" marT="25200" marB="25200" anchor="ctr">
                    <a:lnL w="0">
                      <a:noFill/>
                    </a:lnL>
                    <a:lnR w="0">
                      <a:noFill/>
                    </a:lnR>
                    <a:lnT w="0">
                      <a:noFill/>
                    </a:lnT>
                    <a:lnB w="6350">
                      <a:solidFill>
                        <a:srgbClr val="C9D0DA"/>
                      </a:solidFill>
                    </a:lnB>
                    <a:noFill/>
                  </a:tcPr>
                </a:tc>
              </a:tr>
              <a:tr h="378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비율</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TQQQ 최대 60%, 시장이 흔들리면 줄임 · 나머지 SCHD</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30 · 30 · 20 · 20 고정 목표</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100%</a:t>
                      </a:r>
                      <a:endParaRPr sz="900"/>
                    </a:p>
                  </a:txBody>
                  <a:tcPr marL="28800" marR="43200" marT="25200" marB="25200" anchor="ctr">
                    <a:lnL w="0">
                      <a:noFill/>
                    </a:lnL>
                    <a:lnR w="0">
                      <a:noFill/>
                    </a:lnR>
                    <a:lnT w="0">
                      <a:noFill/>
                    </a:lnT>
                    <a:lnB w="6350">
                      <a:solidFill>
                        <a:srgbClr val="C9D0DA"/>
                      </a:solidFill>
                    </a:lnB>
                    <a:noFill/>
                  </a:tcPr>
                </a:tc>
              </a:tr>
              <a:tr h="378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매달 넣은 돈</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목표 비율에 맞게 두 ETF를 사고, 넘친 쪽은 판다</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목표보다 모자란 종목부터 산다(팔지 않음)</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전부 QQQ를 산다</a:t>
                      </a:r>
                      <a:endParaRPr sz="900"/>
                    </a:p>
                  </a:txBody>
                  <a:tcPr marL="28800" marR="43200" marT="25200" marB="25200" anchor="ctr">
                    <a:lnL w="0">
                      <a:noFill/>
                    </a:lnL>
                    <a:lnR w="0">
                      <a:noFill/>
                    </a:lnR>
                    <a:lnT w="0">
                      <a:noFill/>
                    </a:lnT>
                    <a:lnB w="6350">
                      <a:solidFill>
                        <a:srgbClr val="C9D0DA"/>
                      </a:solidFill>
                    </a:lnB>
                    <a:noFill/>
                  </a:tcPr>
                </a:tc>
              </a:tr>
              <a:tr h="378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언제 파나</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TQQQ가 고점보다 15% 내리면 절반, 30%면 전부 · 매달 맞춤</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매년 12월 맞춤 때 넘친 종목만 (버튼 승인)</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팔지 않는다</a:t>
                      </a:r>
                      <a:endParaRPr sz="900"/>
                    </a:p>
                  </a:txBody>
                  <a:tcPr marL="28800" marR="43200" marT="25200" marB="25200" anchor="ctr">
                    <a:lnL w="0">
                      <a:noFill/>
                    </a:lnL>
                    <a:lnR w="0">
                      <a:noFill/>
                    </a:lnR>
                    <a:lnT w="0">
                      <a:noFill/>
                    </a:lnT>
                    <a:lnB w="6350">
                      <a:solidFill>
                        <a:srgbClr val="C9D0DA"/>
                      </a:solidFill>
                    </a:lnB>
                    <a:noFill/>
                  </a:tcPr>
                </a:tc>
              </a:tr>
              <a:tr h="378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언제 다시 사나</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나스닥100 추세가 꺼졌다 다시 켜진 날 보관 현금으로 TQQQ</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별도 재매수 규칙 없음 · 12월 맞춤</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a:t>
                      </a:r>
                      <a:endParaRPr sz="900"/>
                    </a:p>
                  </a:txBody>
                  <a:tcPr marL="28800" marR="43200" marT="25200" marB="25200" anchor="ctr">
                    <a:lnL w="0">
                      <a:noFill/>
                    </a:lnL>
                    <a:lnR w="0">
                      <a:noFill/>
                    </a:lnR>
                    <a:lnT w="0">
                      <a:noFill/>
                    </a:lnT>
                    <a:lnB w="6350">
                      <a:solidFill>
                        <a:srgbClr val="C9D0DA"/>
                      </a:solidFill>
                    </a:lnB>
                    <a:noFill/>
                  </a:tcPr>
                </a:tc>
              </a:tr>
              <a:tr h="378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주요 위험</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3배 상품의 큰 하락 · 되산 값이 판 값보다 비쌀 수 있음</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주식 · 국채 · 금이 함께 내릴 수 있음 · 상승장 수익 포기</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고점 대비 −35% 같은 하락을 그대로 받음</a:t>
                      </a:r>
                      <a:endParaRPr sz="900"/>
                    </a:p>
                  </a:txBody>
                  <a:tcPr marL="28800" marR="43200" marT="25200" marB="25200" anchor="ctr">
                    <a:lnL w="0">
                      <a:noFill/>
                    </a:lnL>
                    <a:lnR w="0">
                      <a:noFill/>
                    </a:lnR>
                    <a:lnT w="0">
                      <a:noFill/>
                    </a:lnT>
                    <a:lnB w="6350">
                      <a:solidFill>
                        <a:srgbClr val="C9D0DA"/>
                      </a:solidFill>
                    </a:lnB>
                    <a:noFill/>
                  </a:tcPr>
                </a:tc>
              </a:tr>
              <a:tr h="378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실제 운영</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토스증권 · 매일 전날 종가로 하락 방어 확인</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나무증권 원화 주문 · 매달 버튼 · 정수 주</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a:t>
                      </a:r>
                      <a:endParaRPr sz="900"/>
                    </a:p>
                  </a:txBody>
                  <a:tcPr marL="28800" marR="43200" marT="25200" marB="25200" anchor="ctr">
                    <a:lnL w="0">
                      <a:noFill/>
                    </a:lnL>
                    <a:lnR w="0">
                      <a:noFill/>
                    </a:lnR>
                    <a:lnT w="0">
                      <a:noFill/>
                    </a:lnT>
                    <a:lnB w="6350">
                      <a:solidFill>
                        <a:srgbClr val="C9D0DA"/>
                      </a:solidFill>
                    </a:lnB>
                    <a:noFill/>
                  </a:tcPr>
                </a:tc>
              </a:tr>
            </a:tbl>
          </a:graphicData>
        </a:graphic>
      </p:graphicFrame>
      <p:cxnSp>
        <p:nvCxnSpPr>
          <p:cNvPr id="16" name="Connector 15"/>
          <p:cNvCxnSpPr/>
          <p:nvPr/>
        </p:nvCxnSpPr>
        <p:spPr>
          <a:xfrm>
            <a:off x="558000" y="1710000"/>
            <a:ext cx="9576000" cy="0"/>
          </a:xfrm>
          <a:prstGeom prst="line">
            <a:avLst/>
          </a:prstGeom>
          <a:ln w="25400">
            <a:solidFill>
              <a:srgbClr val="1A1E25"/>
            </a:solidFill>
          </a:ln>
        </p:spPr>
      </p:cxnSp>
      <p:sp>
        <p:nvSpPr>
          <p:cNvPr id="17"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src/auto_trading/ops/deneb_guard.py · mf_paper.py · polaris.py, docs/current/CURRENT_SPEC.md (2026-10-17 기준 규칙)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3844800" y="619200"/>
            <a:ext cx="5364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5</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2장 · 공통 비교 조건</a:t>
            </a:r>
          </a:p>
        </p:txBody>
      </p:sp>
      <p:sp>
        <p:nvSpPr>
          <p:cNvPr id="14"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같은 조건으로
비교하기</a:t>
            </a:r>
          </a:p>
        </p:txBody>
      </p:sp>
      <p:sp>
        <p:nvSpPr>
          <p:cNvPr id="15" name="TextBox 14"/>
          <p:cNvSpPr txBox="1"/>
          <p:nvPr/>
        </p:nvSpPr>
        <p:spPr>
          <a:xfrm>
            <a:off x="558000" y="1925999"/>
            <a:ext cx="3006000" cy="1440000"/>
          </a:xfrm>
          <a:prstGeom prst="rect">
            <a:avLst/>
          </a:prstGeom>
          <a:noFill/>
        </p:spPr>
        <p:txBody>
          <a:bodyPr wrap="square" lIns="0" rIns="0" tIns="0" bIns="0" anchor="t">
            <a:spAutoFit/>
          </a:bodyPr>
          <a:lstStyle/>
          <a:p>
            <a:pPr algn="l" eaLnBrk="0">
              <a:lnSpc>
                <a:spcPct val="132000"/>
              </a:lnSpc>
              <a:spcAft>
                <a:spcPts val="0"/>
              </a:spcAft>
            </a:pPr>
            <a:r>
              <a:rPr sz="1050" b="0" lang="ko-KR" altLang="en-US">
                <a:solidFill>
                  <a:srgbClr val="1A1E25"/>
                </a:solidFill>
                <a:latin typeface="Noto Sans KR"/>
                <a:ea typeface="Noto Sans KR"/>
                <a:cs typeface="Noto Sans KR"/>
              </a:rPr>
              <a:t>전략끼리 공정하게 비교하려면 넣는 날, 넣는 돈, 비용을 똑같이 맞춰야 합니다. 아래 조건은 이 설명서의 모든 과거 비교에 똑같이 적용했습니다.</a:t>
            </a:r>
          </a:p>
        </p:txBody>
      </p:sp>
      <p:graphicFrame>
        <p:nvGraphicFramePr>
          <p:cNvPr id="16" name="표"/>
          <p:cNvGraphicFramePr>
            <a:graphicFrameLocks noGrp="1"/>
          </p:cNvGraphicFramePr>
          <p:nvPr/>
        </p:nvGraphicFramePr>
        <p:xfrm>
          <a:off x="558000" y="3240000"/>
          <a:ext cx="3005999" cy="2008800"/>
        </p:xfrm>
        <a:graphic>
          <a:graphicData uri="http://schemas.openxmlformats.org/drawingml/2006/table">
            <a:tbl>
              <a:tblPr firstRow="0" bandRow="0" firstCol="0" lastCol="0" bandCol="0" lastRow="0">
                <a:tableStyleId>{5940675A-B579-460E-94D1-54222C63F5DA}</a:tableStyleId>
              </a:tblPr>
              <a:tblGrid>
                <a:gridCol w="864000"/>
                <a:gridCol w="2141999"/>
              </a:tblGrid>
              <a:tr h="2232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항목</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조건</a:t>
                      </a:r>
                      <a:endParaRPr sz="850"/>
                    </a:p>
                  </a:txBody>
                  <a:tcPr marL="28800" marR="43200" marT="25200" marB="25200" anchor="b">
                    <a:lnL w="0">
                      <a:noFill/>
                    </a:lnL>
                    <a:lnR w="0">
                      <a:noFill/>
                    </a:lnR>
                    <a:lnT w="9525">
                      <a:solidFill>
                        <a:srgbClr val="1A1E25"/>
                      </a:solidFill>
                    </a:lnT>
                    <a:lnB w="9525">
                      <a:solidFill>
                        <a:srgbClr val="1A1E25"/>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기간</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2012년 1월 ~ 2026년 8월 31일 (14년 8개월)</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납입</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매달 첫 거래일 · 176번</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납입액</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10만 · 20만 · 30만 · 50만 · 100만 원 각각 따로 계산</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가격 자료</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실제 ETF 수정 종가 — 배당은 자동 재투자</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거래 비용</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사고팔 때마다 0.15%</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세금</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넣지 않음 (세전)</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환율</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고정 (원 = 달러로 계산)</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주식 수</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소수 주 허용 (실제는 정수 주)</a:t>
                      </a:r>
                      <a:endParaRPr sz="900"/>
                    </a:p>
                  </a:txBody>
                  <a:tcPr marL="28800" marR="43200" marT="25200" marB="25200" anchor="ctr">
                    <a:lnL w="0">
                      <a:noFill/>
                    </a:lnL>
                    <a:lnR w="0">
                      <a:noFill/>
                    </a:lnR>
                    <a:lnT w="0">
                      <a:noFill/>
                    </a:lnT>
                    <a:lnB w="6350">
                      <a:solidFill>
                        <a:srgbClr val="C9D0DA"/>
                      </a:solidFill>
                    </a:lnB>
                    <a:noFill/>
                  </a:tcPr>
                </a:tc>
              </a:tr>
            </a:tbl>
          </a:graphicData>
        </a:graphic>
      </p:graphicFrame>
      <p:cxnSp>
        <p:nvCxnSpPr>
          <p:cNvPr id="17" name="Connector 16"/>
          <p:cNvCxnSpPr/>
          <p:nvPr/>
        </p:nvCxnSpPr>
        <p:spPr>
          <a:xfrm>
            <a:off x="558000" y="3240000"/>
            <a:ext cx="3006000" cy="0"/>
          </a:xfrm>
          <a:prstGeom prst="line">
            <a:avLst/>
          </a:prstGeom>
          <a:ln w="25400">
            <a:solidFill>
              <a:srgbClr val="1A1E25"/>
            </a:solidFill>
          </a:ln>
        </p:spPr>
      </p:cxnSp>
      <p:cxnSp>
        <p:nvCxnSpPr>
          <p:cNvPr id="18" name="Connector 17"/>
          <p:cNvCxnSpPr/>
          <p:nvPr/>
        </p:nvCxnSpPr>
        <p:spPr>
          <a:xfrm>
            <a:off x="3844800" y="990000"/>
            <a:ext cx="6289200" cy="0"/>
          </a:xfrm>
          <a:prstGeom prst="line">
            <a:avLst/>
          </a:prstGeom>
          <a:ln w="9525">
            <a:solidFill>
              <a:srgbClr val="1A1E25"/>
            </a:solidFill>
          </a:ln>
        </p:spPr>
      </p:cxnSp>
      <p:sp>
        <p:nvSpPr>
          <p:cNvPr id="19" name="표지 막대"/>
          <p:cNvSpPr/>
          <p:nvPr/>
        </p:nvSpPr>
        <p:spPr>
          <a:xfrm>
            <a:off x="3844800" y="99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그림 제목"/>
          <p:cNvSpPr txBox="1"/>
          <p:nvPr/>
        </p:nvSpPr>
        <p:spPr>
          <a:xfrm>
            <a:off x="3844800" y="1090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세 종류의 숫자</a:t>
            </a:r>
          </a:p>
        </p:txBody>
      </p:sp>
      <p:sp>
        <p:nvSpPr>
          <p:cNvPr id="21" name="그림 설명"/>
          <p:cNvSpPr txBox="1"/>
          <p:nvPr/>
        </p:nvSpPr>
        <p:spPr>
          <a:xfrm>
            <a:off x="3844800" y="1278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이 설명서는 앞의 두 가지만 씁니다</a:t>
            </a:r>
          </a:p>
        </p:txBody>
      </p:sp>
      <p:sp>
        <p:nvSpPr>
          <p:cNvPr id="22" name="카드"/>
          <p:cNvSpPr/>
          <p:nvPr/>
        </p:nvSpPr>
        <p:spPr>
          <a:xfrm>
            <a:off x="3844800" y="1458000"/>
            <a:ext cx="1970400" cy="1908000"/>
          </a:xfrm>
          <a:prstGeom prst="roundRect">
            <a:avLst>
              <a:gd name="adj" fmla="val 6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88800" y="1602000"/>
            <a:ext cx="1700399" cy="216000"/>
          </a:xfrm>
          <a:prstGeom prst="rect">
            <a:avLst/>
          </a:prstGeom>
          <a:noFill/>
        </p:spPr>
        <p:txBody>
          <a:bodyPr wrap="square" lIns="0" rIns="0" tIns="0" bIns="0" anchor="t">
            <a:spAutoFit/>
          </a:bodyPr>
          <a:lstStyle/>
          <a:p>
            <a:pPr algn="l" eaLnBrk="0">
              <a:lnSpc>
                <a:spcPct val="100000"/>
              </a:lnSpc>
              <a:spcAft>
                <a:spcPts val="0"/>
              </a:spcAft>
            </a:pPr>
            <a:r>
              <a:rPr sz="1150" b="1" lang="ko-KR" altLang="en-US">
                <a:solidFill>
                  <a:srgbClr val="1A1E25"/>
                </a:solidFill>
                <a:latin typeface="Noto Sans KR"/>
                <a:ea typeface="Noto Sans KR"/>
                <a:cs typeface="Noto Sans KR"/>
              </a:rPr>
              <a:t>과거 계산</a:t>
            </a:r>
          </a:p>
        </p:txBody>
      </p:sp>
      <p:sp>
        <p:nvSpPr>
          <p:cNvPr id="24" name="TextBox 23"/>
          <p:cNvSpPr txBox="1"/>
          <p:nvPr/>
        </p:nvSpPr>
        <p:spPr>
          <a:xfrm>
            <a:off x="3988800" y="1872000"/>
            <a:ext cx="1700399" cy="1440000"/>
          </a:xfrm>
          <a:prstGeom prst="rect">
            <a:avLst/>
          </a:prstGeom>
          <a:noFill/>
        </p:spPr>
        <p:txBody>
          <a:bodyPr wrap="square" lIns="0" rIns="0" tIns="0" bIns="0" anchor="t">
            <a:spAutoFit/>
          </a:bodyPr>
          <a:lstStyle/>
          <a:p>
            <a:pPr algn="l" eaLnBrk="0">
              <a:lnSpc>
                <a:spcPct val="132000"/>
              </a:lnSpc>
              <a:spcAft>
                <a:spcPts val="0"/>
              </a:spcAft>
            </a:pPr>
            <a:r>
              <a:rPr sz="900" b="0" lang="ko-KR" altLang="en-US">
                <a:solidFill>
                  <a:srgbClr val="1A1E25"/>
                </a:solidFill>
                <a:latin typeface="Noto Sans KR"/>
                <a:ea typeface="Noto Sans KR"/>
                <a:cs typeface="Noto Sans KR"/>
              </a:rPr>
              <a:t>2012~2026년 실제 가격으로 규칙을 그대로 돌린 결과. 실제 그 기간에 그렇게 샀다면 어땠는지를 보여 줍니다. 다만 2012년 이후 자료라 닷컴 붕괴 · 2008년 금융위기는 들어 있지 않습니다.</a:t>
            </a:r>
          </a:p>
        </p:txBody>
      </p:sp>
      <p:sp>
        <p:nvSpPr>
          <p:cNvPr id="25" name="카드"/>
          <p:cNvSpPr/>
          <p:nvPr/>
        </p:nvSpPr>
        <p:spPr>
          <a:xfrm>
            <a:off x="5977200" y="1458000"/>
            <a:ext cx="1970400" cy="1908000"/>
          </a:xfrm>
          <a:prstGeom prst="roundRect">
            <a:avLst>
              <a:gd name="adj" fmla="val 6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21200" y="1602000"/>
            <a:ext cx="1700399" cy="216000"/>
          </a:xfrm>
          <a:prstGeom prst="rect">
            <a:avLst/>
          </a:prstGeom>
          <a:noFill/>
        </p:spPr>
        <p:txBody>
          <a:bodyPr wrap="square" lIns="0" rIns="0" tIns="0" bIns="0" anchor="t">
            <a:spAutoFit/>
          </a:bodyPr>
          <a:lstStyle/>
          <a:p>
            <a:pPr algn="l" eaLnBrk="0">
              <a:lnSpc>
                <a:spcPct val="100000"/>
              </a:lnSpc>
              <a:spcAft>
                <a:spcPts val="0"/>
              </a:spcAft>
            </a:pPr>
            <a:r>
              <a:rPr sz="1150" b="1" lang="ko-KR" altLang="en-US">
                <a:solidFill>
                  <a:srgbClr val="1A1E25"/>
                </a:solidFill>
                <a:latin typeface="Noto Sans KR"/>
                <a:ea typeface="Noto Sans KR"/>
                <a:cs typeface="Noto Sans KR"/>
              </a:rPr>
              <a:t>장기 시나리오</a:t>
            </a:r>
          </a:p>
        </p:txBody>
      </p:sp>
      <p:sp>
        <p:nvSpPr>
          <p:cNvPr id="27" name="TextBox 26"/>
          <p:cNvSpPr txBox="1"/>
          <p:nvPr/>
        </p:nvSpPr>
        <p:spPr>
          <a:xfrm>
            <a:off x="6121200" y="1872000"/>
            <a:ext cx="1700399" cy="1440000"/>
          </a:xfrm>
          <a:prstGeom prst="rect">
            <a:avLst/>
          </a:prstGeom>
          <a:noFill/>
        </p:spPr>
        <p:txBody>
          <a:bodyPr wrap="square" lIns="0" rIns="0" tIns="0" bIns="0" anchor="t">
            <a:spAutoFit/>
          </a:bodyPr>
          <a:lstStyle/>
          <a:p>
            <a:pPr algn="l" eaLnBrk="0">
              <a:lnSpc>
                <a:spcPct val="132000"/>
              </a:lnSpc>
              <a:spcAft>
                <a:spcPts val="0"/>
              </a:spcAft>
            </a:pPr>
            <a:r>
              <a:rPr sz="900" b="0" lang="ko-KR" altLang="en-US">
                <a:solidFill>
                  <a:srgbClr val="1A1E25"/>
                </a:solidFill>
                <a:latin typeface="Noto Sans KR"/>
                <a:ea typeface="Noto Sans KR"/>
                <a:cs typeface="Noto Sans KR"/>
              </a:rPr>
              <a:t>같은 2012~2026년 움직임을 1년 단위로 뒤섞어 만든 1,000개의 20년 경로. 결과의 폭을 보는 용도이며 미래 확률이 아닙니다.</a:t>
            </a:r>
          </a:p>
        </p:txBody>
      </p:sp>
      <p:sp>
        <p:nvSpPr>
          <p:cNvPr id="28" name="카드"/>
          <p:cNvSpPr/>
          <p:nvPr/>
        </p:nvSpPr>
        <p:spPr>
          <a:xfrm>
            <a:off x="8109600" y="1458000"/>
            <a:ext cx="1970400" cy="1908000"/>
          </a:xfrm>
          <a:prstGeom prst="roundRect">
            <a:avLst>
              <a:gd name="adj" fmla="val 6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53600" y="1602000"/>
            <a:ext cx="1700399" cy="216000"/>
          </a:xfrm>
          <a:prstGeom prst="rect">
            <a:avLst/>
          </a:prstGeom>
          <a:noFill/>
        </p:spPr>
        <p:txBody>
          <a:bodyPr wrap="square" lIns="0" rIns="0" tIns="0" bIns="0" anchor="t">
            <a:spAutoFit/>
          </a:bodyPr>
          <a:lstStyle/>
          <a:p>
            <a:pPr algn="l" eaLnBrk="0">
              <a:lnSpc>
                <a:spcPct val="100000"/>
              </a:lnSpc>
              <a:spcAft>
                <a:spcPts val="0"/>
              </a:spcAft>
            </a:pPr>
            <a:r>
              <a:rPr sz="1150" b="1" lang="ko-KR" altLang="en-US">
                <a:solidFill>
                  <a:srgbClr val="1A1E25"/>
                </a:solidFill>
                <a:latin typeface="Noto Sans KR"/>
                <a:ea typeface="Noto Sans KR"/>
                <a:cs typeface="Noto Sans KR"/>
              </a:rPr>
              <a:t>실제 운용 기록</a:t>
            </a:r>
          </a:p>
        </p:txBody>
      </p:sp>
      <p:sp>
        <p:nvSpPr>
          <p:cNvPr id="30" name="TextBox 29"/>
          <p:cNvSpPr txBox="1"/>
          <p:nvPr/>
        </p:nvSpPr>
        <p:spPr>
          <a:xfrm>
            <a:off x="8253600" y="1872000"/>
            <a:ext cx="1700399" cy="1440000"/>
          </a:xfrm>
          <a:prstGeom prst="rect">
            <a:avLst/>
          </a:prstGeom>
          <a:noFill/>
        </p:spPr>
        <p:txBody>
          <a:bodyPr wrap="square" lIns="0" rIns="0" tIns="0" bIns="0" anchor="t">
            <a:spAutoFit/>
          </a:bodyPr>
          <a:lstStyle/>
          <a:p>
            <a:pPr algn="l" eaLnBrk="0">
              <a:lnSpc>
                <a:spcPct val="132000"/>
              </a:lnSpc>
              <a:spcAft>
                <a:spcPts val="0"/>
              </a:spcAft>
            </a:pPr>
            <a:r>
              <a:rPr sz="900" b="0" lang="ko-KR" altLang="en-US">
                <a:solidFill>
                  <a:srgbClr val="1A1E25"/>
                </a:solidFill>
                <a:latin typeface="Noto Sans KR"/>
                <a:ea typeface="Noto Sans KR"/>
                <a:cs typeface="Noto Sans KR"/>
              </a:rPr>
              <a:t>실제 계좌의 체결 결과. 이 설명서에는 쓰지 않았습니다. 실제와 계산은 세금 · 환율 · 정수 주 · 체결 가격 때문에 다를 수 있습니다.</a:t>
            </a:r>
          </a:p>
        </p:txBody>
      </p:sp>
      <p:cxnSp>
        <p:nvCxnSpPr>
          <p:cNvPr id="31" name="Connector 30"/>
          <p:cNvCxnSpPr/>
          <p:nvPr/>
        </p:nvCxnSpPr>
        <p:spPr>
          <a:xfrm>
            <a:off x="3844800" y="3600000"/>
            <a:ext cx="6289200" cy="0"/>
          </a:xfrm>
          <a:prstGeom prst="line">
            <a:avLst/>
          </a:prstGeom>
          <a:ln w="9525">
            <a:solidFill>
              <a:srgbClr val="1A1E25"/>
            </a:solidFill>
          </a:ln>
        </p:spPr>
      </p:cxnSp>
      <p:sp>
        <p:nvSpPr>
          <p:cNvPr id="32" name="표지 막대"/>
          <p:cNvSpPr/>
          <p:nvPr/>
        </p:nvSpPr>
        <p:spPr>
          <a:xfrm>
            <a:off x="3844800" y="360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그림 제목"/>
          <p:cNvSpPr txBox="1"/>
          <p:nvPr/>
        </p:nvSpPr>
        <p:spPr>
          <a:xfrm>
            <a:off x="3844800" y="3700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납입액이 달라지면</a:t>
            </a:r>
          </a:p>
        </p:txBody>
      </p:sp>
      <p:sp>
        <p:nvSpPr>
          <p:cNvPr id="34" name="그림 설명"/>
          <p:cNvSpPr txBox="1"/>
          <p:nvPr/>
        </p:nvSpPr>
        <p:spPr>
          <a:xfrm>
            <a:off x="3844800" y="3888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세전 · 소수 주 · 비율 비용이라 금액이 정확히 비례합니다</a:t>
            </a:r>
          </a:p>
        </p:txBody>
      </p:sp>
      <p:graphicFrame>
        <p:nvGraphicFramePr>
          <p:cNvPr id="35" name="표"/>
          <p:cNvGraphicFramePr>
            <a:graphicFrameLocks noGrp="1"/>
          </p:cNvGraphicFramePr>
          <p:nvPr/>
        </p:nvGraphicFramePr>
        <p:xfrm>
          <a:off x="3844800" y="4068000"/>
          <a:ext cx="6289195" cy="669600"/>
        </p:xfrm>
        <a:graphic>
          <a:graphicData uri="http://schemas.openxmlformats.org/drawingml/2006/table">
            <a:tbl>
              <a:tblPr firstRow="0" bandRow="0" firstCol="0" lastCol="0" bandCol="0" lastRow="0">
                <a:tableStyleId>{5940675A-B579-460E-94D1-54222C63F5DA}</a:tableStyleId>
              </a:tblPr>
              <a:tblGrid>
                <a:gridCol w="1260000"/>
                <a:gridCol w="1005839"/>
                <a:gridCol w="1005839"/>
                <a:gridCol w="1005839"/>
                <a:gridCol w="1005839"/>
                <a:gridCol w="1005839"/>
              </a:tblGrid>
              <a:tr h="2232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월 납입액</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월 10만 원</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월 20만 원</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월 30만 원</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월 50만 원</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월 100만 원</a:t>
                      </a:r>
                      <a:endParaRPr sz="850"/>
                    </a:p>
                  </a:txBody>
                  <a:tcPr marL="28800" marR="43200" marT="25200" marB="25200" anchor="b">
                    <a:lnL w="0">
                      <a:noFill/>
                    </a:lnL>
                    <a:lnR w="0">
                      <a:noFill/>
                    </a:lnR>
                    <a:lnT w="9525">
                      <a:solidFill>
                        <a:srgbClr val="1A1E25"/>
                      </a:solidFill>
                    </a:lnT>
                    <a:lnB w="9525">
                      <a:solidFill>
                        <a:srgbClr val="1A1E25"/>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원금 (176번)</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3,520만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5,280만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1억 7,600만 원</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배수 (10만 원 기준)</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 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 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 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 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 10</a:t>
                      </a:r>
                      <a:endParaRPr sz="900"/>
                    </a:p>
                  </a:txBody>
                  <a:tcPr marL="28800" marR="43200" marT="25200" marB="25200" anchor="ctr">
                    <a:lnL w="0">
                      <a:noFill/>
                    </a:lnL>
                    <a:lnR w="0">
                      <a:noFill/>
                    </a:lnR>
                    <a:lnT w="0">
                      <a:noFill/>
                    </a:lnT>
                    <a:lnB w="6350">
                      <a:solidFill>
                        <a:srgbClr val="C9D0DA"/>
                      </a:solidFill>
                    </a:lnB>
                    <a:noFill/>
                  </a:tcPr>
                </a:tc>
              </a:tr>
            </a:tbl>
          </a:graphicData>
        </a:graphic>
      </p:graphicFrame>
      <p:cxnSp>
        <p:nvCxnSpPr>
          <p:cNvPr id="36" name="Connector 35"/>
          <p:cNvCxnSpPr/>
          <p:nvPr/>
        </p:nvCxnSpPr>
        <p:spPr>
          <a:xfrm>
            <a:off x="3844800" y="4068000"/>
            <a:ext cx="6289200" cy="0"/>
          </a:xfrm>
          <a:prstGeom prst="line">
            <a:avLst/>
          </a:prstGeom>
          <a:ln w="25400">
            <a:solidFill>
              <a:srgbClr val="1A1E25"/>
            </a:solidFill>
          </a:ln>
        </p:spPr>
      </p:cxnSp>
      <p:sp>
        <p:nvSpPr>
          <p:cNvPr id="37" name="TextBox 36"/>
          <p:cNvSpPr txBox="1"/>
          <p:nvPr/>
        </p:nvSpPr>
        <p:spPr>
          <a:xfrm>
            <a:off x="3844800" y="4896000"/>
            <a:ext cx="6289200" cy="1800000"/>
          </a:xfrm>
          <a:prstGeom prst="rect">
            <a:avLst/>
          </a:prstGeom>
          <a:noFill/>
        </p:spPr>
        <p:txBody>
          <a:bodyPr wrap="square" lIns="0" rIns="0" tIns="0" bIns="0" anchor="t">
            <a:spAutoFit/>
          </a:bodyPr>
          <a:lstStyle/>
          <a:p>
            <a:pPr algn="l" eaLnBrk="0">
              <a:lnSpc>
                <a:spcPct val="132000"/>
              </a:lnSpc>
              <a:spcAft>
                <a:spcPts val="600"/>
              </a:spcAft>
            </a:pPr>
            <a:r>
              <a:rPr sz="950" b="0" lang="ko-KR" altLang="en-US">
                <a:solidFill>
                  <a:srgbClr val="1A1E25"/>
                </a:solidFill>
                <a:latin typeface="Noto Sans KR"/>
                <a:ea typeface="Noto Sans KR"/>
                <a:cs typeface="Noto Sans KR"/>
              </a:rPr>
              <a:t>다섯 금액을 따로 계산해도 연복리 · 낙폭은 모두 같고, 최종 금액만 납입액에 비례했습니다(상대 오차 10억분의 1 이하). 그래서 수익률 그림은 한 번, 금액 표는 다섯 줄로 보여 줍니다.</a:t>
            </a:r>
          </a:p>
          <a:p>
            <a:pPr algn="l" eaLnBrk="0">
              <a:lnSpc>
                <a:spcPct val="132000"/>
              </a:lnSpc>
              <a:spcAft>
                <a:spcPts val="600"/>
              </a:spcAft>
            </a:pPr>
            <a:r>
              <a:rPr sz="950" b="0" lang="ko-KR" altLang="en-US">
                <a:solidFill>
                  <a:srgbClr val="1A1E25"/>
                </a:solidFill>
                <a:latin typeface="Noto Sans KR"/>
                <a:ea typeface="Noto Sans KR"/>
                <a:cs typeface="Noto Sans KR"/>
              </a:rPr>
              <a:t>실제 계좌에서는 정수 주, 최소 주문 금액, 해외주식 양도세(연 250만 원 공제 뒤 22%), 환율 때문에 비례가 깨집니다. 금액이 클수록 세금 차이가 커집니다.</a:t>
            </a:r>
          </a:p>
        </p:txBody>
      </p:sp>
      <p:sp>
        <p:nvSpPr>
          <p:cNvPr id="38"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blue_manual/calc_spec.md (결과 전 고정) · calc.py — 다섯 금액 각각 실행, 월 20만 원 결과가 기존 52쪽 원장과 일치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3844800" y="619200"/>
            <a:ext cx="5364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6</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2장 · 공통 비교 조건</a:t>
            </a:r>
          </a:p>
        </p:txBody>
      </p:sp>
      <p:sp>
        <p:nvSpPr>
          <p:cNvPr id="14" name="제목"/>
          <p:cNvSpPr txBox="1"/>
          <p:nvPr/>
        </p:nvSpPr>
        <p:spPr>
          <a:xfrm>
            <a:off x="558000" y="990000"/>
            <a:ext cx="6120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비교 대상 11가지</a:t>
            </a:r>
          </a:p>
        </p:txBody>
      </p:sp>
      <p:graphicFrame>
        <p:nvGraphicFramePr>
          <p:cNvPr id="15" name="표"/>
          <p:cNvGraphicFramePr>
            <a:graphicFrameLocks noGrp="1"/>
          </p:cNvGraphicFramePr>
          <p:nvPr/>
        </p:nvGraphicFramePr>
        <p:xfrm>
          <a:off x="558000" y="1674000"/>
          <a:ext cx="9575999" cy="4104000"/>
        </p:xfrm>
        <a:graphic>
          <a:graphicData uri="http://schemas.openxmlformats.org/drawingml/2006/table">
            <a:tbl>
              <a:tblPr firstRow="0" bandRow="0" firstCol="0" lastCol="0" bandCol="0" lastRow="0">
                <a:tableStyleId>{5940675A-B579-460E-94D1-54222C63F5DA}</a:tableStyleId>
              </a:tblPr>
              <a:tblGrid>
                <a:gridCol w="1440000"/>
                <a:gridCol w="2376000"/>
                <a:gridCol w="4464000"/>
                <a:gridCol w="1295999"/>
              </a:tblGrid>
              <a:tr h="342000">
                <a:tc>
                  <a:txBody>
                    <a:bodyPr wrap="square"/>
                    <a:lstStyle/>
                    <a:p>
                      <a:pPr algn="l" eaLnBrk="0">
                        <a:lnSpc>
                          <a:spcPct val="112000"/>
                        </a:lnSpc>
                        <a:spcAft>
                          <a:spcPts val="0"/>
                        </a:spcAft>
                      </a:pPr>
                      <a:r>
                        <a:rPr sz="830" b="1" lang="ko-KR" altLang="en-US">
                          <a:solidFill>
                            <a:srgbClr val="5C6573"/>
                          </a:solidFill>
                          <a:latin typeface="Noto Sans KR"/>
                          <a:ea typeface="Noto Sans KR"/>
                          <a:cs typeface="Noto Sans KR"/>
                        </a:rPr>
                        <a:t>이름</a:t>
                      </a:r>
                      <a:endParaRPr sz="83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30" b="1" lang="ko-KR" altLang="en-US">
                          <a:solidFill>
                            <a:srgbClr val="5C6573"/>
                          </a:solidFill>
                          <a:latin typeface="Noto Sans KR"/>
                          <a:ea typeface="Noto Sans KR"/>
                          <a:cs typeface="Noto Sans KR"/>
                        </a:rPr>
                        <a:t>사는 상품</a:t>
                      </a:r>
                      <a:endParaRPr sz="83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30" b="1" lang="ko-KR" altLang="en-US">
                          <a:solidFill>
                            <a:srgbClr val="5C6573"/>
                          </a:solidFill>
                          <a:latin typeface="Noto Sans KR"/>
                          <a:ea typeface="Noto Sans KR"/>
                          <a:cs typeface="Noto Sans KR"/>
                        </a:rPr>
                        <a:t>규칙</a:t>
                      </a:r>
                      <a:endParaRPr sz="83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30" b="1" lang="ko-KR" altLang="en-US">
                          <a:solidFill>
                            <a:srgbClr val="5C6573"/>
                          </a:solidFill>
                          <a:latin typeface="Noto Sans KR"/>
                          <a:ea typeface="Noto Sans KR"/>
                          <a:cs typeface="Noto Sans KR"/>
                        </a:rPr>
                        <a:t>비중 맞추기</a:t>
                      </a:r>
                      <a:endParaRPr sz="830"/>
                    </a:p>
                  </a:txBody>
                  <a:tcPr marL="28800" marR="43200" marT="25200" marB="25200" anchor="b">
                    <a:lnL w="0">
                      <a:noFill/>
                    </a:lnL>
                    <a:lnR w="0">
                      <a:noFill/>
                    </a:lnR>
                    <a:lnT w="9525">
                      <a:solidFill>
                        <a:srgbClr val="1A1E25"/>
                      </a:solidFill>
                    </a:lnT>
                    <a:lnB w="9525">
                      <a:solidFill>
                        <a:srgbClr val="1A1E25"/>
                      </a:solidFill>
                    </a:lnB>
                    <a:noFill/>
                  </a:tcPr>
                </a:tc>
              </a:tr>
              <a:tr h="342000">
                <a:tc>
                  <a:txBody>
                    <a:bodyPr wrap="square"/>
                    <a:lstStyle/>
                    <a:p>
                      <a:pPr algn="l" eaLnBrk="0">
                        <a:lnSpc>
                          <a:spcPct val="112000"/>
                        </a:lnSpc>
                        <a:spcAft>
                          <a:spcPts val="0"/>
                        </a:spcAft>
                      </a:pPr>
                      <a:r>
                        <a:rPr sz="880" b="1" lang="ko-KR" altLang="en-US">
                          <a:solidFill>
                            <a:srgbClr val="1A1E25"/>
                          </a:solidFill>
                          <a:latin typeface="Noto Sans KR"/>
                          <a:ea typeface="Noto Sans KR"/>
                          <a:cs typeface="Noto Sans KR"/>
                        </a:rPr>
                        <a:t>Deneb</a:t>
                      </a:r>
                      <a:endParaRPr sz="88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TQQQ · SCHD</a:t>
                      </a:r>
                      <a:endParaRPr sz="88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TQQQ 60% × (20% ÷ 나스닥100 20일 변동성), 최대 60% · 하락 방어(−15% 절반, −30% 전부 → 현금 보관 → 추세 복귀 때 되삼)</a:t>
                      </a:r>
                      <a:endParaRPr sz="88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매달 첫 거래일</a:t>
                      </a:r>
                      <a:endParaRPr sz="880"/>
                    </a:p>
                  </a:txBody>
                  <a:tcPr marL="28800" marR="43200" marT="25200" marB="25200" anchor="ctr">
                    <a:lnL w="0">
                      <a:noFill/>
                    </a:lnL>
                    <a:lnR w="0">
                      <a:noFill/>
                    </a:lnR>
                    <a:lnT w="0">
                      <a:noFill/>
                    </a:lnT>
                    <a:lnB w="6350">
                      <a:solidFill>
                        <a:srgbClr val="C9D0DA"/>
                      </a:solidFill>
                    </a:lnB>
                    <a:solidFill>
                      <a:srgbClr val="EDF1F7"/>
                    </a:solidFill>
                  </a:tcPr>
                </a:tc>
              </a:tr>
              <a:tr h="342000">
                <a:tc>
                  <a:txBody>
                    <a:bodyPr wrap="square"/>
                    <a:lstStyle/>
                    <a:p>
                      <a:pPr algn="l" eaLnBrk="0">
                        <a:lnSpc>
                          <a:spcPct val="112000"/>
                        </a:lnSpc>
                        <a:spcAft>
                          <a:spcPts val="0"/>
                        </a:spcAft>
                      </a:pPr>
                      <a:r>
                        <a:rPr sz="880" b="1" lang="ko-KR" altLang="en-US">
                          <a:solidFill>
                            <a:srgbClr val="1A1E25"/>
                          </a:solidFill>
                          <a:latin typeface="Noto Sans KR"/>
                          <a:ea typeface="Noto Sans KR"/>
                          <a:cs typeface="Noto Sans KR"/>
                        </a:rPr>
                        <a:t>변동성 조절만</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TQQQ · SCHD</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Deneb에서 하락 방어만 뺌 — 방어의 효과를 보기 위한 대조군</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매달</a:t>
                      </a:r>
                      <a:endParaRPr sz="880"/>
                    </a:p>
                  </a:txBody>
                  <a:tcPr marL="28800" marR="43200" marT="25200" marB="25200" anchor="ctr">
                    <a:lnL w="0">
                      <a:noFill/>
                    </a:lnL>
                    <a:lnR w="0">
                      <a:noFill/>
                    </a:lnR>
                    <a:lnT w="0">
                      <a:noFill/>
                    </a:lnT>
                    <a:lnB w="6350">
                      <a:solidFill>
                        <a:srgbClr val="C9D0DA"/>
                      </a:solidFill>
                    </a:lnB>
                    <a:noFill/>
                  </a:tcPr>
                </a:tc>
              </a:tr>
              <a:tr h="342000">
                <a:tc>
                  <a:txBody>
                    <a:bodyPr wrap="square"/>
                    <a:lstStyle/>
                    <a:p>
                      <a:pPr algn="l" eaLnBrk="0">
                        <a:lnSpc>
                          <a:spcPct val="112000"/>
                        </a:lnSpc>
                        <a:spcAft>
                          <a:spcPts val="0"/>
                        </a:spcAft>
                      </a:pPr>
                      <a:r>
                        <a:rPr sz="880" b="1" lang="ko-KR" altLang="en-US">
                          <a:solidFill>
                            <a:srgbClr val="1A1E25"/>
                          </a:solidFill>
                          <a:latin typeface="Noto Sans KR"/>
                          <a:ea typeface="Noto Sans KR"/>
                          <a:cs typeface="Noto Sans KR"/>
                        </a:rPr>
                        <a:t>TQQQ 60 · SCHD 40</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TQQQ · SCHD</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60 : 40 고정 — 변동성 조절도 방어도 없음</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매달 60 : 40으로</a:t>
                      </a:r>
                      <a:endParaRPr sz="880"/>
                    </a:p>
                  </a:txBody>
                  <a:tcPr marL="28800" marR="43200" marT="25200" marB="25200" anchor="ctr">
                    <a:lnL w="0">
                      <a:noFill/>
                    </a:lnL>
                    <a:lnR w="0">
                      <a:noFill/>
                    </a:lnR>
                    <a:lnT w="0">
                      <a:noFill/>
                    </a:lnT>
                    <a:lnB w="6350">
                      <a:solidFill>
                        <a:srgbClr val="C9D0DA"/>
                      </a:solidFill>
                    </a:lnB>
                    <a:noFill/>
                  </a:tcPr>
                </a:tc>
              </a:tr>
              <a:tr h="342000">
                <a:tc>
                  <a:txBody>
                    <a:bodyPr wrap="square"/>
                    <a:lstStyle/>
                    <a:p>
                      <a:pPr algn="l" eaLnBrk="0">
                        <a:lnSpc>
                          <a:spcPct val="112000"/>
                        </a:lnSpc>
                        <a:spcAft>
                          <a:spcPts val="0"/>
                        </a:spcAft>
                      </a:pPr>
                      <a:r>
                        <a:rPr sz="880" b="1" lang="ko-KR" altLang="en-US">
                          <a:solidFill>
                            <a:srgbClr val="1A1E25"/>
                          </a:solidFill>
                          <a:latin typeface="Noto Sans KR"/>
                          <a:ea typeface="Noto Sans KR"/>
                          <a:cs typeface="Noto Sans KR"/>
                        </a:rPr>
                        <a:t>QLD 60 · SCHD 40</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QLD(2배) · SCHD</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60 : 40 고정</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매달</a:t>
                      </a:r>
                      <a:endParaRPr sz="880"/>
                    </a:p>
                  </a:txBody>
                  <a:tcPr marL="28800" marR="43200" marT="25200" marB="25200" anchor="ctr">
                    <a:lnL w="0">
                      <a:noFill/>
                    </a:lnL>
                    <a:lnR w="0">
                      <a:noFill/>
                    </a:lnR>
                    <a:lnT w="0">
                      <a:noFill/>
                    </a:lnT>
                    <a:lnB w="6350">
                      <a:solidFill>
                        <a:srgbClr val="C9D0DA"/>
                      </a:solidFill>
                    </a:lnB>
                    <a:noFill/>
                  </a:tcPr>
                </a:tc>
              </a:tr>
              <a:tr h="342000">
                <a:tc>
                  <a:txBody>
                    <a:bodyPr wrap="square"/>
                    <a:lstStyle/>
                    <a:p>
                      <a:pPr algn="l" eaLnBrk="0">
                        <a:lnSpc>
                          <a:spcPct val="112000"/>
                        </a:lnSpc>
                        <a:spcAft>
                          <a:spcPts val="0"/>
                        </a:spcAft>
                      </a:pPr>
                      <a:r>
                        <a:rPr sz="880" b="1" lang="ko-KR" altLang="en-US">
                          <a:solidFill>
                            <a:srgbClr val="1A1E25"/>
                          </a:solidFill>
                          <a:latin typeface="Noto Sans KR"/>
                          <a:ea typeface="Noto Sans KR"/>
                          <a:cs typeface="Noto Sans KR"/>
                        </a:rPr>
                        <a:t>QQQ 60 · SCHD 40</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QQQ · SCHD</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60 : 40 고정</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매달</a:t>
                      </a:r>
                      <a:endParaRPr sz="880"/>
                    </a:p>
                  </a:txBody>
                  <a:tcPr marL="28800" marR="43200" marT="25200" marB="25200" anchor="ctr">
                    <a:lnL w="0">
                      <a:noFill/>
                    </a:lnL>
                    <a:lnR w="0">
                      <a:noFill/>
                    </a:lnR>
                    <a:lnT w="0">
                      <a:noFill/>
                    </a:lnT>
                    <a:lnB w="6350">
                      <a:solidFill>
                        <a:srgbClr val="C9D0DA"/>
                      </a:solidFill>
                    </a:lnB>
                    <a:noFill/>
                  </a:tcPr>
                </a:tc>
              </a:tr>
              <a:tr h="342000">
                <a:tc>
                  <a:txBody>
                    <a:bodyPr wrap="square"/>
                    <a:lstStyle/>
                    <a:p>
                      <a:pPr algn="l" eaLnBrk="0">
                        <a:lnSpc>
                          <a:spcPct val="112000"/>
                        </a:lnSpc>
                        <a:spcAft>
                          <a:spcPts val="0"/>
                        </a:spcAft>
                      </a:pPr>
                      <a:r>
                        <a:rPr sz="880" b="1" lang="ko-KR" altLang="en-US">
                          <a:solidFill>
                            <a:srgbClr val="1A1E25"/>
                          </a:solidFill>
                          <a:latin typeface="Noto Sans KR"/>
                          <a:ea typeface="Noto Sans KR"/>
                          <a:cs typeface="Noto Sans KR"/>
                        </a:rPr>
                        <a:t>QQQ 단독 적립</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QQQ (나스닥100 1배)</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매달 같은 돈으로 QQQ만 사서 보유 · 팔지 않음</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없음</a:t>
                      </a:r>
                      <a:endParaRPr sz="880"/>
                    </a:p>
                  </a:txBody>
                  <a:tcPr marL="28800" marR="43200" marT="25200" marB="25200" anchor="ctr">
                    <a:lnL w="0">
                      <a:noFill/>
                    </a:lnL>
                    <a:lnR w="0">
                      <a:noFill/>
                    </a:lnR>
                    <a:lnT w="0">
                      <a:noFill/>
                    </a:lnT>
                    <a:lnB w="6350">
                      <a:solidFill>
                        <a:srgbClr val="C9D0DA"/>
                      </a:solidFill>
                    </a:lnB>
                    <a:noFill/>
                  </a:tcPr>
                </a:tc>
              </a:tr>
              <a:tr h="342000">
                <a:tc>
                  <a:txBody>
                    <a:bodyPr wrap="square"/>
                    <a:lstStyle/>
                    <a:p>
                      <a:pPr algn="l" eaLnBrk="0">
                        <a:lnSpc>
                          <a:spcPct val="112000"/>
                        </a:lnSpc>
                        <a:spcAft>
                          <a:spcPts val="0"/>
                        </a:spcAft>
                      </a:pPr>
                      <a:r>
                        <a:rPr sz="880" b="1" lang="ko-KR" altLang="en-US">
                          <a:solidFill>
                            <a:srgbClr val="1A1E25"/>
                          </a:solidFill>
                          <a:latin typeface="Noto Sans KR"/>
                          <a:ea typeface="Noto Sans KR"/>
                          <a:cs typeface="Noto Sans KR"/>
                        </a:rPr>
                        <a:t>QLD 단독</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QLD (나스닥100 일간 2배)</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QLD만 사서 보유</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없음</a:t>
                      </a:r>
                      <a:endParaRPr sz="880"/>
                    </a:p>
                  </a:txBody>
                  <a:tcPr marL="28800" marR="43200" marT="25200" marB="25200" anchor="ctr">
                    <a:lnL w="0">
                      <a:noFill/>
                    </a:lnL>
                    <a:lnR w="0">
                      <a:noFill/>
                    </a:lnR>
                    <a:lnT w="0">
                      <a:noFill/>
                    </a:lnT>
                    <a:lnB w="6350">
                      <a:solidFill>
                        <a:srgbClr val="C9D0DA"/>
                      </a:solidFill>
                    </a:lnB>
                    <a:noFill/>
                  </a:tcPr>
                </a:tc>
              </a:tr>
              <a:tr h="342000">
                <a:tc>
                  <a:txBody>
                    <a:bodyPr wrap="square"/>
                    <a:lstStyle/>
                    <a:p>
                      <a:pPr algn="l" eaLnBrk="0">
                        <a:lnSpc>
                          <a:spcPct val="112000"/>
                        </a:lnSpc>
                        <a:spcAft>
                          <a:spcPts val="0"/>
                        </a:spcAft>
                      </a:pPr>
                      <a:r>
                        <a:rPr sz="880" b="1" lang="ko-KR" altLang="en-US">
                          <a:solidFill>
                            <a:srgbClr val="1A1E25"/>
                          </a:solidFill>
                          <a:latin typeface="Noto Sans KR"/>
                          <a:ea typeface="Noto Sans KR"/>
                          <a:cs typeface="Noto Sans KR"/>
                        </a:rPr>
                        <a:t>TQQQ 단독</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TQQQ (나스닥100 일간 3배)</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TQQQ만 사서 보유</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없음</a:t>
                      </a:r>
                      <a:endParaRPr sz="880"/>
                    </a:p>
                  </a:txBody>
                  <a:tcPr marL="28800" marR="43200" marT="25200" marB="25200" anchor="ctr">
                    <a:lnL w="0">
                      <a:noFill/>
                    </a:lnL>
                    <a:lnR w="0">
                      <a:noFill/>
                    </a:lnR>
                    <a:lnT w="0">
                      <a:noFill/>
                    </a:lnT>
                    <a:lnB w="6350">
                      <a:solidFill>
                        <a:srgbClr val="C9D0DA"/>
                      </a:solidFill>
                    </a:lnB>
                    <a:noFill/>
                  </a:tcPr>
                </a:tc>
              </a:tr>
              <a:tr h="342000">
                <a:tc>
                  <a:txBody>
                    <a:bodyPr wrap="square"/>
                    <a:lstStyle/>
                    <a:p>
                      <a:pPr algn="l" eaLnBrk="0">
                        <a:lnSpc>
                          <a:spcPct val="112000"/>
                        </a:lnSpc>
                        <a:spcAft>
                          <a:spcPts val="0"/>
                        </a:spcAft>
                      </a:pPr>
                      <a:r>
                        <a:rPr sz="880" b="1" lang="ko-KR" altLang="en-US">
                          <a:solidFill>
                            <a:srgbClr val="1A1E25"/>
                          </a:solidFill>
                          <a:latin typeface="Noto Sans KR"/>
                          <a:ea typeface="Noto Sans KR"/>
                          <a:cs typeface="Noto Sans KR"/>
                        </a:rPr>
                        <a:t>S&amp;P500 단독</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SPY (S&amp;P500 1배)</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SPY만 사서 보유</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없음</a:t>
                      </a:r>
                      <a:endParaRPr sz="880"/>
                    </a:p>
                  </a:txBody>
                  <a:tcPr marL="28800" marR="43200" marT="25200" marB="25200" anchor="ctr">
                    <a:lnL w="0">
                      <a:noFill/>
                    </a:lnL>
                    <a:lnR w="0">
                      <a:noFill/>
                    </a:lnR>
                    <a:lnT w="0">
                      <a:noFill/>
                    </a:lnT>
                    <a:lnB w="6350">
                      <a:solidFill>
                        <a:srgbClr val="C9D0DA"/>
                      </a:solidFill>
                    </a:lnB>
                    <a:noFill/>
                  </a:tcPr>
                </a:tc>
              </a:tr>
              <a:tr h="342000">
                <a:tc>
                  <a:txBody>
                    <a:bodyPr wrap="square"/>
                    <a:lstStyle/>
                    <a:p>
                      <a:pPr algn="l" eaLnBrk="0">
                        <a:lnSpc>
                          <a:spcPct val="112000"/>
                        </a:lnSpc>
                        <a:spcAft>
                          <a:spcPts val="0"/>
                        </a:spcAft>
                      </a:pPr>
                      <a:r>
                        <a:rPr sz="880" b="1" lang="ko-KR" altLang="en-US">
                          <a:solidFill>
                            <a:srgbClr val="1A1E25"/>
                          </a:solidFill>
                          <a:latin typeface="Noto Sans KR"/>
                          <a:ea typeface="Noto Sans KR"/>
                          <a:cs typeface="Noto Sans KR"/>
                        </a:rPr>
                        <a:t>Polaris</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SPY · QQQ · IEF · GLD (실제는 SPYM · QQQM · IEF · GLDM)</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30 · 30 · 20 · 20 · 새 돈은 모자란 종목부터</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매년 12월 첫 거래일</a:t>
                      </a:r>
                      <a:endParaRPr sz="880"/>
                    </a:p>
                  </a:txBody>
                  <a:tcPr marL="28800" marR="43200" marT="25200" marB="25200" anchor="ctr">
                    <a:lnL w="0">
                      <a:noFill/>
                    </a:lnL>
                    <a:lnR w="0">
                      <a:noFill/>
                    </a:lnR>
                    <a:lnT w="0">
                      <a:noFill/>
                    </a:lnT>
                    <a:lnB w="6350">
                      <a:solidFill>
                        <a:srgbClr val="C9D0DA"/>
                      </a:solidFill>
                    </a:lnB>
                    <a:noFill/>
                  </a:tcPr>
                </a:tc>
              </a:tr>
              <a:tr h="342000">
                <a:tc>
                  <a:txBody>
                    <a:bodyPr wrap="square"/>
                    <a:lstStyle/>
                    <a:p>
                      <a:pPr algn="l" eaLnBrk="0">
                        <a:lnSpc>
                          <a:spcPct val="112000"/>
                        </a:lnSpc>
                        <a:spcAft>
                          <a:spcPts val="0"/>
                        </a:spcAft>
                      </a:pPr>
                      <a:r>
                        <a:rPr sz="880" b="1" lang="ko-KR" altLang="en-US">
                          <a:solidFill>
                            <a:srgbClr val="1A1E25"/>
                          </a:solidFill>
                          <a:latin typeface="Noto Sans KR"/>
                          <a:ea typeface="Noto Sans KR"/>
                          <a:cs typeface="Noto Sans KR"/>
                        </a:rPr>
                        <a:t>적금 3% · 4%</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은행 적금</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1년 만기 단리 → 원리금을 같은 금리 예금으로 해마다 재예치 · 세전</a:t>
                      </a:r>
                      <a:endParaRPr sz="88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80" b="0" lang="ko-KR" altLang="en-US">
                          <a:solidFill>
                            <a:srgbClr val="1A1E25"/>
                          </a:solidFill>
                          <a:latin typeface="Noto Sans KR"/>
                          <a:ea typeface="Noto Sans KR"/>
                          <a:cs typeface="Noto Sans KR"/>
                        </a:rPr>
                        <a:t>—</a:t>
                      </a:r>
                      <a:endParaRPr sz="880"/>
                    </a:p>
                  </a:txBody>
                  <a:tcPr marL="28800" marR="43200" marT="25200" marB="25200" anchor="ctr">
                    <a:lnL w="0">
                      <a:noFill/>
                    </a:lnL>
                    <a:lnR w="0">
                      <a:noFill/>
                    </a:lnR>
                    <a:lnT w="0">
                      <a:noFill/>
                    </a:lnT>
                    <a:lnB w="6350">
                      <a:solidFill>
                        <a:srgbClr val="C9D0DA"/>
                      </a:solidFill>
                    </a:lnB>
                    <a:noFill/>
                  </a:tcPr>
                </a:tc>
              </a:tr>
            </a:tbl>
          </a:graphicData>
        </a:graphic>
      </p:graphicFrame>
      <p:cxnSp>
        <p:nvCxnSpPr>
          <p:cNvPr id="16" name="Connector 15"/>
          <p:cNvCxnSpPr/>
          <p:nvPr/>
        </p:nvCxnSpPr>
        <p:spPr>
          <a:xfrm>
            <a:off x="558000" y="1674000"/>
            <a:ext cx="9576000" cy="0"/>
          </a:xfrm>
          <a:prstGeom prst="line">
            <a:avLst/>
          </a:prstGeom>
          <a:ln w="25400">
            <a:solidFill>
              <a:srgbClr val="1A1E25"/>
            </a:solidFill>
          </a:ln>
        </p:spPr>
      </p:cxnSp>
      <p:sp>
        <p:nvSpPr>
          <p:cNvPr id="17" name="TextBox 16"/>
          <p:cNvSpPr txBox="1"/>
          <p:nvPr/>
        </p:nvSpPr>
        <p:spPr>
          <a:xfrm>
            <a:off x="558000" y="6390000"/>
            <a:ext cx="9576000" cy="503999"/>
          </a:xfrm>
          <a:prstGeom prst="rect">
            <a:avLst/>
          </a:prstGeom>
          <a:noFill/>
        </p:spPr>
        <p:txBody>
          <a:bodyPr wrap="square" lIns="0" rIns="0" tIns="0" bIns="0" anchor="t">
            <a:spAutoFit/>
          </a:bodyPr>
          <a:lstStyle/>
          <a:p>
            <a:pPr algn="l" eaLnBrk="0">
              <a:lnSpc>
                <a:spcPct val="132000"/>
              </a:lnSpc>
              <a:spcAft>
                <a:spcPts val="0"/>
              </a:spcAft>
            </a:pPr>
            <a:r>
              <a:rPr sz="900" b="0" lang="ko-KR" altLang="en-US">
                <a:solidFill>
                  <a:srgbClr val="1A1E25"/>
                </a:solidFill>
                <a:latin typeface="Noto Sans KR"/>
                <a:ea typeface="Noto Sans KR"/>
                <a:cs typeface="Noto Sans KR"/>
              </a:rPr>
              <a:t>고정 섞기와 Deneb는 매달 비중을 맞추고, 단독 적립은 맞출 것이 없습니다. Polaris의 SPYM · QQQM · GLDM은 같은 지수 · 자산을 따르는 보수가 낮은 상품이라 계산에는 자료가 긴 SPY · QQQ · GLD를 썼습니다.</a:t>
            </a:r>
          </a:p>
        </p:txBody>
      </p:sp>
      <p:sp>
        <p:nvSpPr>
          <p:cNvPr id="18"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실제 ETF 수정 종가(QQQ · QLD · TQQQ · SCHD · SPY · IEF · GLD), 자체 계산 · 비용 0.15% · 세전 · 환율 고정 · 소수 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4893000" y="619200"/>
            <a:ext cx="6660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7</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2부 · Deneb</a:t>
            </a:r>
          </a:p>
        </p:txBody>
      </p:sp>
      <p:sp>
        <p:nvSpPr>
          <p:cNvPr id="14" name="제목"/>
          <p:cNvSpPr txBox="1"/>
          <p:nvPr/>
        </p:nvSpPr>
        <p:spPr>
          <a:xfrm>
            <a:off x="558000" y="990000"/>
            <a:ext cx="6120000" cy="864000"/>
          </a:xfrm>
          <a:prstGeom prst="rect">
            <a:avLst/>
          </a:prstGeom>
          <a:noFill/>
        </p:spPr>
        <p:txBody>
          <a:bodyPr wrap="square" lIns="0" rIns="0" tIns="0" bIns="0" anchor="t">
            <a:spAutoFit/>
          </a:bodyPr>
          <a:lstStyle/>
          <a:p>
            <a:pPr algn="l" eaLnBrk="0">
              <a:lnSpc>
                <a:spcPct val="108000"/>
              </a:lnSpc>
              <a:spcAft>
                <a:spcPts val="0"/>
              </a:spcAft>
            </a:pPr>
            <a:r>
              <a:rPr sz="3200" b="0" lang="ko-KR" altLang="en-US">
                <a:solidFill>
                  <a:srgbClr val="1A1E25"/>
                </a:solidFill>
                <a:latin typeface="Malgun Gothic Semilight"/>
                <a:ea typeface="Malgun Gothic Semilight"/>
                <a:cs typeface="Malgun Gothic Semilight"/>
              </a:rPr>
              <a:t>Deneb</a:t>
            </a:r>
          </a:p>
        </p:txBody>
      </p:sp>
      <p:sp>
        <p:nvSpPr>
          <p:cNvPr id="15" name="TextBox 14"/>
          <p:cNvSpPr txBox="1"/>
          <p:nvPr/>
        </p:nvSpPr>
        <p:spPr>
          <a:xfrm>
            <a:off x="558000" y="1710000"/>
            <a:ext cx="6300000" cy="792000"/>
          </a:xfrm>
          <a:prstGeom prst="rect">
            <a:avLst/>
          </a:prstGeom>
          <a:noFill/>
        </p:spPr>
        <p:txBody>
          <a:bodyPr wrap="square" lIns="0" rIns="0" tIns="0" bIns="0" anchor="t">
            <a:spAutoFit/>
          </a:bodyPr>
          <a:lstStyle/>
          <a:p>
            <a:pPr algn="l" eaLnBrk="0">
              <a:lnSpc>
                <a:spcPct val="130000"/>
              </a:lnSpc>
              <a:spcAft>
                <a:spcPts val="0"/>
              </a:spcAft>
            </a:pPr>
            <a:r>
              <a:rPr sz="1300" b="0" lang="ko-KR" altLang="en-US">
                <a:solidFill>
                  <a:srgbClr val="1A1E25"/>
                </a:solidFill>
                <a:latin typeface="Malgun Gothic Semilight"/>
                <a:ea typeface="Malgun Gothic Semilight"/>
                <a:cs typeface="Malgun Gothic Semilight"/>
              </a:rPr>
              <a:t>같은 3배 상품이라도 담는 비율과 파는 규칙에 따라 끝 금액과 견뎌야 할 하락이 크게 달라졌습니다. 월 10만 원, 14년 8개월 적립 후입니다.</a:t>
            </a:r>
          </a:p>
        </p:txBody>
      </p:sp>
      <p:sp>
        <p:nvSpPr>
          <p:cNvPr id="16" name="카드"/>
          <p:cNvSpPr/>
          <p:nvPr/>
        </p:nvSpPr>
        <p:spPr>
          <a:xfrm>
            <a:off x="558000" y="2736000"/>
            <a:ext cx="3011999" cy="2592000"/>
          </a:xfrm>
          <a:prstGeom prst="roundRect">
            <a:avLst>
              <a:gd name="adj" fmla="val 6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4000" y="2916000"/>
            <a:ext cx="2579999"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TQQQ 단독 적립</a:t>
            </a:r>
          </a:p>
        </p:txBody>
      </p:sp>
      <p:sp>
        <p:nvSpPr>
          <p:cNvPr id="18" name="TextBox 17"/>
          <p:cNvSpPr txBox="1"/>
          <p:nvPr/>
        </p:nvSpPr>
        <p:spPr>
          <a:xfrm>
            <a:off x="774000" y="3131999"/>
            <a:ext cx="2579999" cy="468000"/>
          </a:xfrm>
          <a:prstGeom prst="rect">
            <a:avLst/>
          </a:prstGeom>
          <a:noFill/>
        </p:spPr>
        <p:txBody>
          <a:bodyPr wrap="square" lIns="0" rIns="0" tIns="0" bIns="0" anchor="t">
            <a:spAutoFit/>
          </a:bodyPr>
          <a:lstStyle/>
          <a:p>
            <a:pPr algn="l" eaLnBrk="0">
              <a:lnSpc>
                <a:spcPct val="100000"/>
              </a:lnSpc>
              <a:spcAft>
                <a:spcPts val="0"/>
              </a:spcAft>
            </a:pPr>
            <a:r>
              <a:rPr sz="2700" b="1" lang="ko-KR" altLang="en-US">
                <a:solidFill>
                  <a:srgbClr val="7A4CB0"/>
                </a:solidFill>
                <a:latin typeface="Noto Sans KR"/>
                <a:ea typeface="Noto Sans KR"/>
                <a:cs typeface="Noto Sans KR"/>
              </a:rPr>
              <a:t>5억 1,272만 원</a:t>
            </a:r>
          </a:p>
        </p:txBody>
      </p:sp>
      <p:cxnSp>
        <p:nvCxnSpPr>
          <p:cNvPr id="19" name="Connector 18"/>
          <p:cNvCxnSpPr/>
          <p:nvPr/>
        </p:nvCxnSpPr>
        <p:spPr>
          <a:xfrm>
            <a:off x="774000" y="3654000"/>
            <a:ext cx="2580000" cy="0"/>
          </a:xfrm>
          <a:prstGeom prst="line">
            <a:avLst/>
          </a:prstGeom>
          <a:ln w="9525">
            <a:solidFill>
              <a:srgbClr val="D5DCE6"/>
            </a:solidFill>
          </a:ln>
        </p:spPr>
      </p:cxnSp>
      <p:sp>
        <p:nvSpPr>
          <p:cNvPr id="20" name="TextBox 19"/>
          <p:cNvSpPr txBox="1"/>
          <p:nvPr/>
        </p:nvSpPr>
        <p:spPr>
          <a:xfrm>
            <a:off x="774000" y="36900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최대 낙폭</a:t>
            </a:r>
          </a:p>
        </p:txBody>
      </p:sp>
      <p:sp>
        <p:nvSpPr>
          <p:cNvPr id="21" name="TextBox 20"/>
          <p:cNvSpPr txBox="1"/>
          <p:nvPr/>
        </p:nvSpPr>
        <p:spPr>
          <a:xfrm>
            <a:off x="1913399" y="36900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−81.7%</a:t>
            </a:r>
          </a:p>
        </p:txBody>
      </p:sp>
      <p:cxnSp>
        <p:nvCxnSpPr>
          <p:cNvPr id="22" name="Connector 21"/>
          <p:cNvCxnSpPr/>
          <p:nvPr/>
        </p:nvCxnSpPr>
        <p:spPr>
          <a:xfrm>
            <a:off x="774000" y="3934800"/>
            <a:ext cx="2580000" cy="0"/>
          </a:xfrm>
          <a:prstGeom prst="line">
            <a:avLst/>
          </a:prstGeom>
          <a:ln w="9525">
            <a:solidFill>
              <a:srgbClr val="D5DCE6"/>
            </a:solidFill>
          </a:ln>
        </p:spPr>
      </p:cxnSp>
      <p:sp>
        <p:nvSpPr>
          <p:cNvPr id="23" name="TextBox 22"/>
          <p:cNvSpPr txBox="1"/>
          <p:nvPr/>
        </p:nvSpPr>
        <p:spPr>
          <a:xfrm>
            <a:off x="774000" y="39708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회복 기간</a:t>
            </a:r>
          </a:p>
        </p:txBody>
      </p:sp>
      <p:sp>
        <p:nvSpPr>
          <p:cNvPr id="24" name="TextBox 23"/>
          <p:cNvSpPr txBox="1"/>
          <p:nvPr/>
        </p:nvSpPr>
        <p:spPr>
          <a:xfrm>
            <a:off x="1913399" y="39708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36개월</a:t>
            </a:r>
          </a:p>
        </p:txBody>
      </p:sp>
      <p:sp>
        <p:nvSpPr>
          <p:cNvPr id="25" name="TextBox 24"/>
          <p:cNvSpPr txBox="1"/>
          <p:nvPr/>
        </p:nvSpPr>
        <p:spPr>
          <a:xfrm>
            <a:off x="774000" y="5022000"/>
            <a:ext cx="2579999" cy="216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가장 많이 남았지만 −82%를 견뎌야 했음</a:t>
            </a:r>
          </a:p>
        </p:txBody>
      </p:sp>
      <p:sp>
        <p:nvSpPr>
          <p:cNvPr id="26" name="카드"/>
          <p:cNvSpPr/>
          <p:nvPr/>
        </p:nvSpPr>
        <p:spPr>
          <a:xfrm>
            <a:off x="3840000" y="2736000"/>
            <a:ext cx="3011999" cy="2592000"/>
          </a:xfrm>
          <a:prstGeom prst="roundRect">
            <a:avLst>
              <a:gd name="adj" fmla="val 6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55999" y="2916000"/>
            <a:ext cx="2579999"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TQQQ 60 · SCHD 40 고정</a:t>
            </a:r>
          </a:p>
        </p:txBody>
      </p:sp>
      <p:sp>
        <p:nvSpPr>
          <p:cNvPr id="28" name="TextBox 27"/>
          <p:cNvSpPr txBox="1"/>
          <p:nvPr/>
        </p:nvSpPr>
        <p:spPr>
          <a:xfrm>
            <a:off x="4055999" y="3131999"/>
            <a:ext cx="2579999" cy="468000"/>
          </a:xfrm>
          <a:prstGeom prst="rect">
            <a:avLst/>
          </a:prstGeom>
          <a:noFill/>
        </p:spPr>
        <p:txBody>
          <a:bodyPr wrap="square" lIns="0" rIns="0" tIns="0" bIns="0" anchor="t">
            <a:spAutoFit/>
          </a:bodyPr>
          <a:lstStyle/>
          <a:p>
            <a:pPr algn="l" eaLnBrk="0">
              <a:lnSpc>
                <a:spcPct val="100000"/>
              </a:lnSpc>
              <a:spcAft>
                <a:spcPts val="0"/>
              </a:spcAft>
            </a:pPr>
            <a:r>
              <a:rPr sz="2700" b="1" lang="ko-KR" altLang="en-US">
                <a:solidFill>
                  <a:srgbClr val="7E5BB8"/>
                </a:solidFill>
                <a:latin typeface="Noto Sans KR"/>
                <a:ea typeface="Noto Sans KR"/>
                <a:cs typeface="Noto Sans KR"/>
              </a:rPr>
              <a:t>2억 6,587만 원</a:t>
            </a:r>
          </a:p>
        </p:txBody>
      </p:sp>
      <p:cxnSp>
        <p:nvCxnSpPr>
          <p:cNvPr id="29" name="Connector 28"/>
          <p:cNvCxnSpPr/>
          <p:nvPr/>
        </p:nvCxnSpPr>
        <p:spPr>
          <a:xfrm>
            <a:off x="4055999" y="3654000"/>
            <a:ext cx="2580000" cy="0"/>
          </a:xfrm>
          <a:prstGeom prst="line">
            <a:avLst/>
          </a:prstGeom>
          <a:ln w="9525">
            <a:solidFill>
              <a:srgbClr val="D5DCE6"/>
            </a:solidFill>
          </a:ln>
        </p:spPr>
      </p:cxnSp>
      <p:sp>
        <p:nvSpPr>
          <p:cNvPr id="30" name="TextBox 29"/>
          <p:cNvSpPr txBox="1"/>
          <p:nvPr/>
        </p:nvSpPr>
        <p:spPr>
          <a:xfrm>
            <a:off x="4055999" y="36900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최대 낙폭</a:t>
            </a:r>
          </a:p>
        </p:txBody>
      </p:sp>
      <p:sp>
        <p:nvSpPr>
          <p:cNvPr id="31" name="TextBox 30"/>
          <p:cNvSpPr txBox="1"/>
          <p:nvPr/>
        </p:nvSpPr>
        <p:spPr>
          <a:xfrm>
            <a:off x="5195399" y="36900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−61.4%</a:t>
            </a:r>
          </a:p>
        </p:txBody>
      </p:sp>
      <p:cxnSp>
        <p:nvCxnSpPr>
          <p:cNvPr id="32" name="Connector 31"/>
          <p:cNvCxnSpPr/>
          <p:nvPr/>
        </p:nvCxnSpPr>
        <p:spPr>
          <a:xfrm>
            <a:off x="4055999" y="3934800"/>
            <a:ext cx="2580000" cy="0"/>
          </a:xfrm>
          <a:prstGeom prst="line">
            <a:avLst/>
          </a:prstGeom>
          <a:ln w="9525">
            <a:solidFill>
              <a:srgbClr val="D5DCE6"/>
            </a:solidFill>
          </a:ln>
        </p:spPr>
      </p:cxnSp>
      <p:sp>
        <p:nvSpPr>
          <p:cNvPr id="33" name="TextBox 32"/>
          <p:cNvSpPr txBox="1"/>
          <p:nvPr/>
        </p:nvSpPr>
        <p:spPr>
          <a:xfrm>
            <a:off x="4055999" y="39708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회복 기간</a:t>
            </a:r>
          </a:p>
        </p:txBody>
      </p:sp>
      <p:sp>
        <p:nvSpPr>
          <p:cNvPr id="34" name="TextBox 33"/>
          <p:cNvSpPr txBox="1"/>
          <p:nvPr/>
        </p:nvSpPr>
        <p:spPr>
          <a:xfrm>
            <a:off x="5195399" y="39708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29개월</a:t>
            </a:r>
          </a:p>
        </p:txBody>
      </p:sp>
      <p:sp>
        <p:nvSpPr>
          <p:cNvPr id="35" name="TextBox 34"/>
          <p:cNvSpPr txBox="1"/>
          <p:nvPr/>
        </p:nvSpPr>
        <p:spPr>
          <a:xfrm>
            <a:off x="4055999" y="5022000"/>
            <a:ext cx="2579999" cy="216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섞기만 하고 줄이지 않음</a:t>
            </a:r>
          </a:p>
        </p:txBody>
      </p:sp>
      <p:sp>
        <p:nvSpPr>
          <p:cNvPr id="36" name="카드"/>
          <p:cNvSpPr/>
          <p:nvPr/>
        </p:nvSpPr>
        <p:spPr>
          <a:xfrm>
            <a:off x="7121999" y="2736000"/>
            <a:ext cx="3011999" cy="2592000"/>
          </a:xfrm>
          <a:prstGeom prst="roundRect">
            <a:avLst>
              <a:gd name="adj" fmla="val 6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38000" y="2916000"/>
            <a:ext cx="2579999"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Deneb</a:t>
            </a:r>
          </a:p>
        </p:txBody>
      </p:sp>
      <p:sp>
        <p:nvSpPr>
          <p:cNvPr id="38" name="TextBox 37"/>
          <p:cNvSpPr txBox="1"/>
          <p:nvPr/>
        </p:nvSpPr>
        <p:spPr>
          <a:xfrm>
            <a:off x="7338000" y="3131999"/>
            <a:ext cx="2579999" cy="468000"/>
          </a:xfrm>
          <a:prstGeom prst="rect">
            <a:avLst/>
          </a:prstGeom>
          <a:noFill/>
        </p:spPr>
        <p:txBody>
          <a:bodyPr wrap="square" lIns="0" rIns="0" tIns="0" bIns="0" anchor="t">
            <a:spAutoFit/>
          </a:bodyPr>
          <a:lstStyle/>
          <a:p>
            <a:pPr algn="l" eaLnBrk="0">
              <a:lnSpc>
                <a:spcPct val="100000"/>
              </a:lnSpc>
              <a:spcAft>
                <a:spcPts val="0"/>
              </a:spcAft>
            </a:pPr>
            <a:r>
              <a:rPr sz="2700" b="1" lang="ko-KR" altLang="en-US">
                <a:solidFill>
                  <a:srgbClr val="0B3D91"/>
                </a:solidFill>
                <a:latin typeface="Noto Sans KR"/>
                <a:ea typeface="Noto Sans KR"/>
                <a:cs typeface="Noto Sans KR"/>
              </a:rPr>
              <a:t>3억 6,111만 원</a:t>
            </a:r>
          </a:p>
        </p:txBody>
      </p:sp>
      <p:cxnSp>
        <p:nvCxnSpPr>
          <p:cNvPr id="39" name="Connector 38"/>
          <p:cNvCxnSpPr/>
          <p:nvPr/>
        </p:nvCxnSpPr>
        <p:spPr>
          <a:xfrm>
            <a:off x="7338000" y="3654000"/>
            <a:ext cx="2579999" cy="0"/>
          </a:xfrm>
          <a:prstGeom prst="line">
            <a:avLst/>
          </a:prstGeom>
          <a:ln w="9525">
            <a:solidFill>
              <a:srgbClr val="D5DCE6"/>
            </a:solidFill>
          </a:ln>
        </p:spPr>
      </p:cxnSp>
      <p:sp>
        <p:nvSpPr>
          <p:cNvPr id="40" name="TextBox 39"/>
          <p:cNvSpPr txBox="1"/>
          <p:nvPr/>
        </p:nvSpPr>
        <p:spPr>
          <a:xfrm>
            <a:off x="7338000" y="36900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최대 낙폭</a:t>
            </a:r>
          </a:p>
        </p:txBody>
      </p:sp>
      <p:sp>
        <p:nvSpPr>
          <p:cNvPr id="41" name="TextBox 40"/>
          <p:cNvSpPr txBox="1"/>
          <p:nvPr/>
        </p:nvSpPr>
        <p:spPr>
          <a:xfrm>
            <a:off x="8477400" y="36900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−31.7%</a:t>
            </a:r>
          </a:p>
        </p:txBody>
      </p:sp>
      <p:cxnSp>
        <p:nvCxnSpPr>
          <p:cNvPr id="42" name="Connector 41"/>
          <p:cNvCxnSpPr/>
          <p:nvPr/>
        </p:nvCxnSpPr>
        <p:spPr>
          <a:xfrm>
            <a:off x="7338000" y="3934800"/>
            <a:ext cx="2579999" cy="0"/>
          </a:xfrm>
          <a:prstGeom prst="line">
            <a:avLst/>
          </a:prstGeom>
          <a:ln w="9525">
            <a:solidFill>
              <a:srgbClr val="D5DCE6"/>
            </a:solidFill>
          </a:ln>
        </p:spPr>
      </p:cxnSp>
      <p:sp>
        <p:nvSpPr>
          <p:cNvPr id="43" name="TextBox 42"/>
          <p:cNvSpPr txBox="1"/>
          <p:nvPr/>
        </p:nvSpPr>
        <p:spPr>
          <a:xfrm>
            <a:off x="7338000" y="39708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회복 기간</a:t>
            </a:r>
          </a:p>
        </p:txBody>
      </p:sp>
      <p:sp>
        <p:nvSpPr>
          <p:cNvPr id="44" name="TextBox 43"/>
          <p:cNvSpPr txBox="1"/>
          <p:nvPr/>
        </p:nvSpPr>
        <p:spPr>
          <a:xfrm>
            <a:off x="8477400" y="39708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19개월</a:t>
            </a:r>
          </a:p>
        </p:txBody>
      </p:sp>
      <p:sp>
        <p:nvSpPr>
          <p:cNvPr id="45" name="TextBox 44"/>
          <p:cNvSpPr txBox="1"/>
          <p:nvPr/>
        </p:nvSpPr>
        <p:spPr>
          <a:xfrm>
            <a:off x="7338000" y="5022000"/>
            <a:ext cx="2579999" cy="216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변동성 조절 + 하락 방어</a:t>
            </a:r>
          </a:p>
        </p:txBody>
      </p:sp>
      <p:sp>
        <p:nvSpPr>
          <p:cNvPr id="46" name="TextBox 45"/>
          <p:cNvSpPr txBox="1"/>
          <p:nvPr/>
        </p:nvSpPr>
        <p:spPr>
          <a:xfrm>
            <a:off x="558000" y="5562000"/>
            <a:ext cx="9576000" cy="576000"/>
          </a:xfrm>
          <a:prstGeom prst="rect">
            <a:avLst/>
          </a:prstGeom>
          <a:noFill/>
        </p:spPr>
        <p:txBody>
          <a:bodyPr wrap="square" lIns="0" rIns="0" tIns="0" bIns="0" anchor="t">
            <a:spAutoFit/>
          </a:bodyPr>
          <a:lstStyle/>
          <a:p>
            <a:pPr algn="l" eaLnBrk="0">
              <a:lnSpc>
                <a:spcPct val="132000"/>
              </a:lnSpc>
              <a:spcAft>
                <a:spcPts val="0"/>
              </a:spcAft>
            </a:pPr>
            <a:r>
              <a:rPr sz="1000" b="0" lang="ko-KR" altLang="en-US">
                <a:solidFill>
                  <a:srgbClr val="1A1E25"/>
                </a:solidFill>
                <a:latin typeface="Noto Sans KR"/>
                <a:ea typeface="Noto Sans KR"/>
                <a:cs typeface="Noto Sans KR"/>
              </a:rPr>
              <a:t>TQQQ 단독보다 덜 남았지만 낙폭은 절반 아래였습니다. 이 결과는 2012~2026년 한 기간의 것이고, 하락 방어가 다음 하락에서도 같은 효과를 낸다는 보장은 없습니다.</a:t>
            </a:r>
          </a:p>
        </p:txBody>
      </p:sp>
      <p:sp>
        <p:nvSpPr>
          <p:cNvPr id="47"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실제 ETF 수정 종가(QQQ · QLD · TQQQ · SCHD · SPY · IEF · GLD), 자체 계산 · 비용 0.15% · 세전 · 환율 고정 · 소수 주</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4893000" y="619200"/>
            <a:ext cx="6660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8</a:t>
            </a:r>
          </a:p>
        </p:txBody>
      </p:sp>
      <p:sp>
        <p:nvSpPr>
          <p:cNvPr id="13"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Deneb의 구성</a:t>
            </a:r>
          </a:p>
        </p:txBody>
      </p:sp>
      <p:sp>
        <p:nvSpPr>
          <p:cNvPr id="14" name="인용 막대"/>
          <p:cNvSpPr/>
          <p:nvPr/>
        </p:nvSpPr>
        <p:spPr>
          <a:xfrm>
            <a:off x="558000" y="1594800"/>
            <a:ext cx="32400" cy="9324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인용"/>
          <p:cNvSpPr txBox="1"/>
          <p:nvPr/>
        </p:nvSpPr>
        <p:spPr>
          <a:xfrm>
            <a:off x="737999" y="1565999"/>
            <a:ext cx="2826000" cy="990000"/>
          </a:xfrm>
          <a:prstGeom prst="rect">
            <a:avLst/>
          </a:prstGeom>
          <a:noFill/>
        </p:spPr>
        <p:txBody>
          <a:bodyPr wrap="square" lIns="0" rIns="0" tIns="0" bIns="0" anchor="t">
            <a:spAutoFit/>
          </a:bodyPr>
          <a:lstStyle/>
          <a:p>
            <a:pPr algn="l" eaLnBrk="0">
              <a:lnSpc>
                <a:spcPct val="122000"/>
              </a:lnSpc>
              <a:spcAft>
                <a:spcPts val="0"/>
              </a:spcAft>
            </a:pPr>
            <a:r>
              <a:rPr sz="1450" b="0" lang="ko-KR" altLang="en-US">
                <a:solidFill>
                  <a:srgbClr val="1A1E25"/>
                </a:solidFill>
                <a:latin typeface="Malgun Gothic Semilight"/>
                <a:ea typeface="Malgun Gothic Semilight"/>
                <a:cs typeface="Malgun Gothic Semilight"/>
              </a:rPr>
              <a:t>매달 넣는 돈을 TQQQ와 SCHD에 나눠 삽니다. TQQQ는 최대 60%까지만 담고, 시장이 크게 흔들리면 그 몫을 줄입니다.</a:t>
            </a:r>
          </a:p>
        </p:txBody>
      </p:sp>
      <p:sp>
        <p:nvSpPr>
          <p:cNvPr id="16" name="TextBox 15"/>
          <p:cNvSpPr txBox="1"/>
          <p:nvPr/>
        </p:nvSpPr>
        <p:spPr>
          <a:xfrm>
            <a:off x="558000" y="2718000"/>
            <a:ext cx="3006000" cy="4248000"/>
          </a:xfrm>
          <a:prstGeom prst="rect">
            <a:avLst/>
          </a:prstGeom>
          <a:noFill/>
        </p:spPr>
        <p:txBody>
          <a:bodyPr wrap="square" lIns="0" rIns="0" tIns="0" bIns="0" anchor="t">
            <a:spAutoFit/>
          </a:bodyPr>
          <a:lstStyle/>
          <a:p>
            <a:pPr algn="l" eaLnBrk="0">
              <a:lnSpc>
                <a:spcPct val="132000"/>
              </a:lnSpc>
              <a:spcAft>
                <a:spcPts val="700"/>
              </a:spcAft>
            </a:pPr>
            <a:r>
              <a:rPr sz="1000" b="1" lang="ko-KR" altLang="en-US">
                <a:solidFill>
                  <a:srgbClr val="1A1E25"/>
                </a:solidFill>
                <a:latin typeface="Noto Sans KR"/>
                <a:ea typeface="Noto Sans KR"/>
                <a:cs typeface="Noto Sans KR"/>
              </a:rPr>
              <a:t>TQQQ  </a:t>
            </a:r>
            <a:r>
              <a:rPr sz="1000" b="0" lang="ko-KR" altLang="en-US">
                <a:solidFill>
                  <a:srgbClr val="1A1E25"/>
                </a:solidFill>
                <a:latin typeface="Noto Sans KR"/>
                <a:ea typeface="Noto Sans KR"/>
                <a:cs typeface="Noto Sans KR"/>
              </a:rPr>
              <a:t>나스닥100 지수의 하루 움직임을 3배로 따라가는 미국 ETF입니다. 지수가 하루 1% 오르면 약 3% 오르고, 1% 내리면 약 3% 내립니다. Deneb에서 수익을 키우는 쪽입니다.</a:t>
            </a:r>
          </a:p>
          <a:p>
            <a:pPr algn="l" eaLnBrk="0">
              <a:lnSpc>
                <a:spcPct val="132000"/>
              </a:lnSpc>
              <a:spcAft>
                <a:spcPts val="700"/>
              </a:spcAft>
            </a:pPr>
            <a:r>
              <a:rPr sz="1000" b="1" lang="ko-KR" altLang="en-US">
                <a:solidFill>
                  <a:srgbClr val="1A1E25"/>
                </a:solidFill>
                <a:latin typeface="Noto Sans KR"/>
                <a:ea typeface="Noto Sans KR"/>
                <a:cs typeface="Noto Sans KR"/>
              </a:rPr>
              <a:t>SCHD  </a:t>
            </a:r>
            <a:r>
              <a:rPr sz="1000" b="0" lang="ko-KR" altLang="en-US">
                <a:solidFill>
                  <a:srgbClr val="1A1E25"/>
                </a:solidFill>
                <a:latin typeface="Noto Sans KR"/>
                <a:ea typeface="Noto Sans KR"/>
                <a:cs typeface="Noto Sans KR"/>
              </a:rPr>
              <a:t>배당을 꾸준히 늘려 온 미국 기업 약 100곳에 나눠 투자하는 ETF입니다. 성장주와 다르게 움직이는 날이 많아 계좌의 흔들림을 덜어 줍니다. 그래도 주식이라 원금을 지켜 주지는 않습니다. 2018년 −6%, 2022년 −3%처럼 함께 내린 해가 있습니다.</a:t>
            </a:r>
          </a:p>
          <a:p>
            <a:pPr algn="l" eaLnBrk="0">
              <a:lnSpc>
                <a:spcPct val="132000"/>
              </a:lnSpc>
              <a:spcAft>
                <a:spcPts val="700"/>
              </a:spcAft>
            </a:pPr>
            <a:r>
              <a:rPr sz="1000" b="1" lang="ko-KR" altLang="en-US">
                <a:solidFill>
                  <a:srgbClr val="1A1E25"/>
                </a:solidFill>
                <a:latin typeface="Noto Sans KR"/>
                <a:ea typeface="Noto Sans KR"/>
                <a:cs typeface="Noto Sans KR"/>
              </a:rPr>
              <a:t>매달 맞춤  </a:t>
            </a:r>
            <a:r>
              <a:rPr sz="1000" b="0" lang="ko-KR" altLang="en-US">
                <a:solidFill>
                  <a:srgbClr val="1A1E25"/>
                </a:solidFill>
                <a:latin typeface="Noto Sans KR"/>
                <a:ea typeface="Noto Sans KR"/>
                <a:cs typeface="Noto Sans KR"/>
              </a:rPr>
              <a:t>매달 첫 거래일에 새 돈을 넣으면서 두 ETF의 비율을 목표에 다시 맞춥니다. 목표보다 많아진 쪽은 일부 팔고, 모자란 쪽을 삽니다. 이 비율은 새 돈뿐 아니라 계좌 전체(하락 방어로 따로 보관한 현금은 빼고)에 적용됩니다.</a:t>
            </a:r>
          </a:p>
          <a:p>
            <a:pPr algn="l" eaLnBrk="0">
              <a:lnSpc>
                <a:spcPct val="132000"/>
              </a:lnSpc>
              <a:spcAft>
                <a:spcPts val="700"/>
              </a:spcAft>
            </a:pPr>
            <a:r>
              <a:rPr sz="1000" b="1" lang="ko-KR" altLang="en-US">
                <a:solidFill>
                  <a:srgbClr val="1A1E25"/>
                </a:solidFill>
                <a:latin typeface="Noto Sans KR"/>
                <a:ea typeface="Noto Sans KR"/>
                <a:cs typeface="Noto Sans KR"/>
              </a:rPr>
              <a:t>계좌 전체로 보면  </a:t>
            </a:r>
            <a:r>
              <a:rPr sz="1000" b="0" lang="ko-KR" altLang="en-US">
                <a:solidFill>
                  <a:srgbClr val="1A1E25"/>
                </a:solidFill>
                <a:latin typeface="Noto Sans KR"/>
                <a:ea typeface="Noto Sans KR"/>
                <a:cs typeface="Noto Sans KR"/>
              </a:rPr>
              <a:t>TQQQ가 60%이면 계좌는 나스닥100에 약 1.8배(60% × 3배) 노출됩니다. ‘3배 상품을 산다’와 ‘계좌가 3배로 움직인다’는 같은 말이 아닙니다.</a:t>
            </a:r>
          </a:p>
        </p:txBody>
      </p:sp>
      <p:cxnSp>
        <p:nvCxnSpPr>
          <p:cNvPr id="17" name="Connector 16"/>
          <p:cNvCxnSpPr/>
          <p:nvPr/>
        </p:nvCxnSpPr>
        <p:spPr>
          <a:xfrm>
            <a:off x="3844800" y="990000"/>
            <a:ext cx="6289200" cy="0"/>
          </a:xfrm>
          <a:prstGeom prst="line">
            <a:avLst/>
          </a:prstGeom>
          <a:ln w="9525">
            <a:solidFill>
              <a:srgbClr val="1A1E25"/>
            </a:solidFill>
          </a:ln>
        </p:spPr>
      </p:cxnSp>
      <p:sp>
        <p:nvSpPr>
          <p:cNvPr id="18" name="표지 막대"/>
          <p:cNvSpPr/>
          <p:nvPr/>
        </p:nvSpPr>
        <p:spPr>
          <a:xfrm>
            <a:off x="3844800" y="99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그림 제목"/>
          <p:cNvSpPr txBox="1"/>
          <p:nvPr/>
        </p:nvSpPr>
        <p:spPr>
          <a:xfrm>
            <a:off x="3844800" y="1090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시장 흔들림에 따른 월 10만 원의 목표 배분</a:t>
            </a:r>
          </a:p>
        </p:txBody>
      </p:sp>
      <p:sp>
        <p:nvSpPr>
          <p:cNvPr id="20" name="그림 설명"/>
          <p:cNvSpPr txBox="1"/>
          <p:nvPr/>
        </p:nvSpPr>
        <p:spPr>
          <a:xfrm>
            <a:off x="3844800" y="1278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나스닥100(QQQ) 최근 20거래일 변동성(연율) 기준 · 하락 방어가 작동하지 않는 평상시 · 단위 만 원</a:t>
            </a:r>
          </a:p>
        </p:txBody>
      </p:sp>
      <p:graphicFrame>
        <p:nvGraphicFramePr>
          <p:cNvPr id="21" name="변동성별 배분"/>
          <p:cNvGraphicFramePr>
            <a:graphicFrameLocks noGrp="1"/>
          </p:cNvGraphicFramePr>
          <p:nvPr/>
        </p:nvGraphicFramePr>
        <p:xfrm>
          <a:off x="3844800" y="1458000"/>
          <a:ext cx="4273200" cy="2232000"/>
        </p:xfrm>
        <a:graphic>
          <a:graphicData uri="http://schemas.openxmlformats.org/drawingml/2006/chart">
            <c:chart xmlns:c="http://schemas.openxmlformats.org/drawingml/2006/chart" r:id="rId2"/>
          </a:graphicData>
        </a:graphic>
      </p:graphicFrame>
      <p:sp>
        <p:nvSpPr>
          <p:cNvPr id="22" name="TextBox 21"/>
          <p:cNvSpPr txBox="1"/>
          <p:nvPr/>
        </p:nvSpPr>
        <p:spPr>
          <a:xfrm>
            <a:off x="8225999" y="1530000"/>
            <a:ext cx="1908000" cy="2160000"/>
          </a:xfrm>
          <a:prstGeom prst="rect">
            <a:avLst/>
          </a:prstGeom>
          <a:noFill/>
        </p:spPr>
        <p:txBody>
          <a:bodyPr wrap="square" lIns="0" rIns="0" tIns="0" bIns="0" anchor="t">
            <a:spAutoFit/>
          </a:bodyPr>
          <a:lstStyle/>
          <a:p>
            <a:pPr algn="l" eaLnBrk="0">
              <a:lnSpc>
                <a:spcPct val="125000"/>
              </a:lnSpc>
              <a:spcAft>
                <a:spcPts val="300"/>
              </a:spcAft>
            </a:pPr>
            <a:r>
              <a:rPr sz="900" b="1" lang="ko-KR" altLang="en-US">
                <a:solidFill>
                  <a:srgbClr val="1A1E25"/>
                </a:solidFill>
                <a:latin typeface="Noto Sans KR"/>
                <a:ea typeface="Noto Sans KR"/>
                <a:cs typeface="Noto Sans KR"/>
              </a:rPr>
              <a:t>목표 TQQQ 비중</a:t>
            </a:r>
          </a:p>
          <a:p>
            <a:pPr algn="l" eaLnBrk="0">
              <a:lnSpc>
                <a:spcPct val="125000"/>
              </a:lnSpc>
              <a:spcAft>
                <a:spcPts val="300"/>
              </a:spcAft>
            </a:pPr>
            <a:r>
              <a:rPr sz="900" b="0" lang="ko-KR" altLang="en-US">
                <a:solidFill>
                  <a:srgbClr val="1A1E25"/>
                </a:solidFill>
                <a:latin typeface="Noto Sans KR"/>
                <a:ea typeface="Noto Sans KR"/>
                <a:cs typeface="Noto Sans KR"/>
              </a:rPr>
              <a:t>60% × (20% ÷ 지금 변동성)</a:t>
            </a:r>
          </a:p>
          <a:p>
            <a:pPr algn="l" eaLnBrk="0">
              <a:lnSpc>
                <a:spcPct val="125000"/>
              </a:lnSpc>
              <a:spcAft>
                <a:spcPts val="300"/>
              </a:spcAft>
            </a:pPr>
            <a:r>
              <a:rPr sz="900" b="0" lang="ko-KR" altLang="en-US">
                <a:solidFill>
                  <a:srgbClr val="1A1E25"/>
                </a:solidFill>
                <a:latin typeface="Noto Sans KR"/>
                <a:ea typeface="Noto Sans KR"/>
                <a:cs typeface="Noto Sans KR"/>
              </a:rPr>
              <a:t>단, 60%를 넘지 않습니다.</a:t>
            </a:r>
          </a:p>
          <a:p>
            <a:pPr algn="l" eaLnBrk="0">
              <a:lnSpc>
                <a:spcPct val="125000"/>
              </a:lnSpc>
              <a:spcAft>
                <a:spcPts val="300"/>
              </a:spcAft>
            </a:pPr>
            <a:r>
              <a:rPr sz="900" b="1" lang="ko-KR" altLang="en-US">
                <a:solidFill>
                  <a:srgbClr val="1A1E25"/>
                </a:solidFill>
                <a:latin typeface="Noto Sans KR"/>
                <a:ea typeface="Noto Sans KR"/>
                <a:cs typeface="Noto Sans KR"/>
              </a:rPr>
              <a:t>예: 변동성 30%</a:t>
            </a:r>
          </a:p>
          <a:p>
            <a:pPr algn="l" eaLnBrk="0">
              <a:lnSpc>
                <a:spcPct val="125000"/>
              </a:lnSpc>
              <a:spcAft>
                <a:spcPts val="300"/>
              </a:spcAft>
            </a:pPr>
            <a:r>
              <a:rPr sz="900" b="0" lang="ko-KR" altLang="en-US">
                <a:solidFill>
                  <a:srgbClr val="1A1E25"/>
                </a:solidFill>
                <a:latin typeface="Noto Sans KR"/>
                <a:ea typeface="Noto Sans KR"/>
                <a:cs typeface="Noto Sans KR"/>
              </a:rPr>
              <a:t>60% × 20 ÷ 30 = 40%</a:t>
            </a:r>
          </a:p>
          <a:p>
            <a:pPr algn="l" eaLnBrk="0">
              <a:lnSpc>
                <a:spcPct val="125000"/>
              </a:lnSpc>
              <a:spcAft>
                <a:spcPts val="300"/>
              </a:spcAft>
            </a:pPr>
            <a:r>
              <a:rPr sz="900" b="0" lang="ko-KR" altLang="en-US">
                <a:solidFill>
                  <a:srgbClr val="1A1E25"/>
                </a:solidFill>
                <a:latin typeface="Noto Sans KR"/>
                <a:ea typeface="Noto Sans KR"/>
                <a:cs typeface="Noto Sans KR"/>
              </a:rPr>
              <a:t>→ 10만 원 중 TQQQ 4만, SCHD 6만</a:t>
            </a:r>
          </a:p>
        </p:txBody>
      </p:sp>
      <p:cxnSp>
        <p:nvCxnSpPr>
          <p:cNvPr id="23" name="Connector 22"/>
          <p:cNvCxnSpPr/>
          <p:nvPr/>
        </p:nvCxnSpPr>
        <p:spPr>
          <a:xfrm>
            <a:off x="3844800" y="3960000"/>
            <a:ext cx="3006000" cy="0"/>
          </a:xfrm>
          <a:prstGeom prst="line">
            <a:avLst/>
          </a:prstGeom>
          <a:ln w="7620">
            <a:solidFill>
              <a:srgbClr val="1A1E25"/>
            </a:solidFill>
          </a:ln>
        </p:spPr>
      </p:cxnSp>
      <p:sp>
        <p:nvSpPr>
          <p:cNvPr id="24" name="TextBox 23"/>
          <p:cNvSpPr txBox="1"/>
          <p:nvPr/>
        </p:nvSpPr>
        <p:spPr>
          <a:xfrm>
            <a:off x="3844800" y="4050000"/>
            <a:ext cx="3006000" cy="216000"/>
          </a:xfrm>
          <a:prstGeom prst="rect">
            <a:avLst/>
          </a:prstGeom>
          <a:noFill/>
        </p:spPr>
        <p:txBody>
          <a:bodyPr wrap="square" lIns="0" rIns="0" tIns="0" bIns="0" anchor="t">
            <a:spAutoFit/>
          </a:bodyPr>
          <a:lstStyle/>
          <a:p>
            <a:pPr algn="l" eaLnBrk="0">
              <a:lnSpc>
                <a:spcPct val="100000"/>
              </a:lnSpc>
              <a:spcAft>
                <a:spcPts val="0"/>
              </a:spcAft>
            </a:pPr>
            <a:r>
              <a:rPr sz="1250" b="0" lang="ko-KR" altLang="en-US">
                <a:solidFill>
                  <a:srgbClr val="1A1E25"/>
                </a:solidFill>
                <a:latin typeface="Malgun Gothic Semilight"/>
                <a:ea typeface="Malgun Gothic Semilight"/>
                <a:cs typeface="Malgun Gothic Semilight"/>
              </a:rPr>
              <a:t>일간 3배와 장기 3배</a:t>
            </a:r>
          </a:p>
        </p:txBody>
      </p:sp>
      <p:sp>
        <p:nvSpPr>
          <p:cNvPr id="25" name="TextBox 24"/>
          <p:cNvSpPr txBox="1"/>
          <p:nvPr/>
        </p:nvSpPr>
        <p:spPr>
          <a:xfrm>
            <a:off x="3844800" y="4338000"/>
            <a:ext cx="3006000" cy="936000"/>
          </a:xfrm>
          <a:prstGeom prst="rect">
            <a:avLst/>
          </a:prstGeom>
          <a:noFill/>
        </p:spPr>
        <p:txBody>
          <a:bodyPr wrap="square" lIns="0" rIns="0" tIns="0" bIns="0" anchor="t">
            <a:spAutoFit/>
          </a:bodyPr>
          <a:lstStyle/>
          <a:p>
            <a:pPr algn="l" eaLnBrk="0">
              <a:lnSpc>
                <a:spcPct val="132000"/>
              </a:lnSpc>
              <a:spcAft>
                <a:spcPts val="0"/>
              </a:spcAft>
            </a:pPr>
            <a:r>
              <a:rPr sz="950" b="0" lang="ko-KR" altLang="en-US">
                <a:solidFill>
                  <a:srgbClr val="1A1E25"/>
                </a:solidFill>
                <a:latin typeface="Noto Sans KR"/>
                <a:ea typeface="Noto Sans KR"/>
                <a:cs typeface="Noto Sans KR"/>
              </a:rPr>
              <a:t>TQQQ는 ‘하루’ 수익률의 3배를 맞춥니다. 아래처럼 이틀 동안 지수가 1% 내렸을 때 TQQQ는 3%가 아니라 9% 내렸습니다. 오르내림이 반복될수록 이런 차이가 쌓여, 긴 기간의 수익률은 지수의 정확히 3배가 되지 않습니다.</a:t>
            </a:r>
          </a:p>
        </p:txBody>
      </p:sp>
      <p:graphicFrame>
        <p:nvGraphicFramePr>
          <p:cNvPr id="26" name="표"/>
          <p:cNvGraphicFramePr>
            <a:graphicFrameLocks noGrp="1"/>
          </p:cNvGraphicFramePr>
          <p:nvPr/>
        </p:nvGraphicFramePr>
        <p:xfrm>
          <a:off x="3844800" y="5310000"/>
          <a:ext cx="3006000" cy="648000"/>
        </p:xfrm>
        <a:graphic>
          <a:graphicData uri="http://schemas.openxmlformats.org/drawingml/2006/table">
            <a:tbl>
              <a:tblPr firstRow="0" bandRow="0" firstCol="0" lastCol="0" bandCol="0" lastRow="0">
                <a:tableStyleId>{5940675A-B579-460E-94D1-54222C63F5DA}</a:tableStyleId>
              </a:tblPr>
              <a:tblGrid>
                <a:gridCol w="990000"/>
                <a:gridCol w="450000"/>
                <a:gridCol w="540000"/>
                <a:gridCol w="540000"/>
                <a:gridCol w="486000"/>
              </a:tblGrid>
              <a:tr h="2160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100에서 시작</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출발</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1일 +10%</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2일 −10%</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결과</a:t>
                      </a:r>
                      <a:endParaRPr sz="850"/>
                    </a:p>
                  </a:txBody>
                  <a:tcPr marL="28800" marR="43200" marT="25200" marB="25200" anchor="b">
                    <a:lnL w="0">
                      <a:noFill/>
                    </a:lnL>
                    <a:lnR w="0">
                      <a:noFill/>
                    </a:lnR>
                    <a:lnT w="9525">
                      <a:solidFill>
                        <a:srgbClr val="1A1E25"/>
                      </a:solidFill>
                    </a:lnT>
                    <a:lnB w="9525">
                      <a:solidFill>
                        <a:srgbClr val="1A1E25"/>
                      </a:solidFill>
                    </a:lnB>
                    <a:noFill/>
                  </a:tcPr>
                </a:tc>
              </a:tr>
              <a:tr h="216000">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나스닥100 지수</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110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99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TQQQ (일간 3배)</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130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91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−9%</a:t>
                      </a:r>
                      <a:endParaRPr sz="90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7" name="Connector 26"/>
          <p:cNvCxnSpPr/>
          <p:nvPr/>
        </p:nvCxnSpPr>
        <p:spPr>
          <a:xfrm>
            <a:off x="3844800" y="5310000"/>
            <a:ext cx="3006000" cy="0"/>
          </a:xfrm>
          <a:prstGeom prst="line">
            <a:avLst/>
          </a:prstGeom>
          <a:ln w="25400">
            <a:solidFill>
              <a:srgbClr val="1A1E25"/>
            </a:solidFill>
          </a:ln>
        </p:spPr>
      </p:cxnSp>
      <p:sp>
        <p:nvSpPr>
          <p:cNvPr id="28" name="TextBox 27"/>
          <p:cNvSpPr txBox="1"/>
          <p:nvPr/>
        </p:nvSpPr>
        <p:spPr>
          <a:xfrm>
            <a:off x="3844800" y="6120000"/>
            <a:ext cx="3006000" cy="503999"/>
          </a:xfrm>
          <a:prstGeom prst="rect">
            <a:avLst/>
          </a:prstGeom>
          <a:noFill/>
        </p:spPr>
        <p:txBody>
          <a:bodyPr wrap="square" lIns="0" rIns="0" tIns="0" bIns="0" anchor="t">
            <a:spAutoFit/>
          </a:bodyPr>
          <a:lstStyle/>
          <a:p>
            <a:pPr algn="l" eaLnBrk="0">
              <a:lnSpc>
                <a:spcPct val="132000"/>
              </a:lnSpc>
              <a:spcAft>
                <a:spcPts val="0"/>
              </a:spcAft>
            </a:pPr>
            <a:r>
              <a:rPr sz="850" b="0" lang="ko-KR" altLang="en-US">
                <a:solidFill>
                  <a:srgbClr val="5C6573"/>
                </a:solidFill>
                <a:latin typeface="Noto Sans KR"/>
                <a:ea typeface="Noto Sans KR"/>
                <a:cs typeface="Noto Sans KR"/>
              </a:rPr>
              <a:t>꾸준히 한 방향으로 오르는 시기에는 반대로 3배보다 더 오를 수도 있습니다. 같은 식이 TQQQ 단독 결과의 큰 낙폭(−82%)에도 그대로 작용했습니다.</a:t>
            </a:r>
          </a:p>
        </p:txBody>
      </p:sp>
      <p:cxnSp>
        <p:nvCxnSpPr>
          <p:cNvPr id="29" name="Connector 28"/>
          <p:cNvCxnSpPr/>
          <p:nvPr/>
        </p:nvCxnSpPr>
        <p:spPr>
          <a:xfrm>
            <a:off x="7128000" y="3960000"/>
            <a:ext cx="3006000" cy="0"/>
          </a:xfrm>
          <a:prstGeom prst="line">
            <a:avLst/>
          </a:prstGeom>
          <a:ln w="7620">
            <a:solidFill>
              <a:srgbClr val="1A1E25"/>
            </a:solidFill>
          </a:ln>
        </p:spPr>
      </p:cxnSp>
      <p:sp>
        <p:nvSpPr>
          <p:cNvPr id="30" name="TextBox 29"/>
          <p:cNvSpPr txBox="1"/>
          <p:nvPr/>
        </p:nvSpPr>
        <p:spPr>
          <a:xfrm>
            <a:off x="7128000" y="4050000"/>
            <a:ext cx="3006000" cy="216000"/>
          </a:xfrm>
          <a:prstGeom prst="rect">
            <a:avLst/>
          </a:prstGeom>
          <a:noFill/>
        </p:spPr>
        <p:txBody>
          <a:bodyPr wrap="square" lIns="0" rIns="0" tIns="0" bIns="0" anchor="t">
            <a:spAutoFit/>
          </a:bodyPr>
          <a:lstStyle/>
          <a:p>
            <a:pPr algn="l" eaLnBrk="0">
              <a:lnSpc>
                <a:spcPct val="100000"/>
              </a:lnSpc>
              <a:spcAft>
                <a:spcPts val="0"/>
              </a:spcAft>
            </a:pPr>
            <a:r>
              <a:rPr sz="1250" b="0" lang="ko-KR" altLang="en-US">
                <a:solidFill>
                  <a:srgbClr val="1A1E25"/>
                </a:solidFill>
                <a:latin typeface="Malgun Gothic Semilight"/>
                <a:ea typeface="Malgun Gothic Semilight"/>
                <a:cs typeface="Malgun Gothic Semilight"/>
              </a:rPr>
              <a:t>하락 방어와 복귀</a:t>
            </a:r>
          </a:p>
        </p:txBody>
      </p:sp>
      <p:sp>
        <p:nvSpPr>
          <p:cNvPr id="31" name="TextBox 30"/>
          <p:cNvSpPr txBox="1"/>
          <p:nvPr/>
        </p:nvSpPr>
        <p:spPr>
          <a:xfrm>
            <a:off x="7128000" y="4338000"/>
            <a:ext cx="3006000" cy="2592000"/>
          </a:xfrm>
          <a:prstGeom prst="rect">
            <a:avLst/>
          </a:prstGeom>
          <a:noFill/>
        </p:spPr>
        <p:txBody>
          <a:bodyPr wrap="square" lIns="0" rIns="0" tIns="0" bIns="0" anchor="t">
            <a:spAutoFit/>
          </a:bodyPr>
          <a:lstStyle/>
          <a:p>
            <a:pPr algn="l" eaLnBrk="0">
              <a:lnSpc>
                <a:spcPct val="132000"/>
              </a:lnSpc>
              <a:spcAft>
                <a:spcPts val="500"/>
              </a:spcAft>
            </a:pPr>
            <a:r>
              <a:rPr sz="950" b="1" lang="ko-KR" altLang="en-US">
                <a:solidFill>
                  <a:srgbClr val="1A1E25"/>
                </a:solidFill>
                <a:latin typeface="Noto Sans KR"/>
                <a:ea typeface="Noto Sans KR"/>
                <a:cs typeface="Noto Sans KR"/>
              </a:rPr>
              <a:t>1단계  </a:t>
            </a:r>
            <a:r>
              <a:rPr sz="950" b="0" lang="ko-KR" altLang="en-US">
                <a:solidFill>
                  <a:srgbClr val="1A1E25"/>
                </a:solidFill>
                <a:latin typeface="Noto Sans KR"/>
                <a:ea typeface="Noto Sans KR"/>
                <a:cs typeface="Noto Sans KR"/>
              </a:rPr>
              <a:t>TQQQ 가격이 자기 최고점보다 15% 내리면 가진 TQQQ의 절반을 팝니다.</a:t>
            </a:r>
          </a:p>
          <a:p>
            <a:pPr algn="l" eaLnBrk="0">
              <a:lnSpc>
                <a:spcPct val="132000"/>
              </a:lnSpc>
              <a:spcAft>
                <a:spcPts val="500"/>
              </a:spcAft>
            </a:pPr>
            <a:r>
              <a:rPr sz="950" b="1" lang="ko-KR" altLang="en-US">
                <a:solidFill>
                  <a:srgbClr val="1A1E25"/>
                </a:solidFill>
                <a:latin typeface="Noto Sans KR"/>
                <a:ea typeface="Noto Sans KR"/>
                <a:cs typeface="Noto Sans KR"/>
              </a:rPr>
              <a:t>2단계  </a:t>
            </a:r>
            <a:r>
              <a:rPr sz="950" b="0" lang="ko-KR" altLang="en-US">
                <a:solidFill>
                  <a:srgbClr val="1A1E25"/>
                </a:solidFill>
                <a:latin typeface="Noto Sans KR"/>
                <a:ea typeface="Noto Sans KR"/>
                <a:cs typeface="Noto Sans KR"/>
              </a:rPr>
              <a:t>30% 내리면 남은 TQQQ를 모두 팝니다.</a:t>
            </a:r>
          </a:p>
          <a:p>
            <a:pPr algn="l" eaLnBrk="0">
              <a:lnSpc>
                <a:spcPct val="132000"/>
              </a:lnSpc>
              <a:spcAft>
                <a:spcPts val="500"/>
              </a:spcAft>
            </a:pPr>
            <a:r>
              <a:rPr sz="950" b="1" lang="ko-KR" altLang="en-US">
                <a:solidFill>
                  <a:srgbClr val="1A1E25"/>
                </a:solidFill>
                <a:latin typeface="Noto Sans KR"/>
                <a:ea typeface="Noto Sans KR"/>
                <a:cs typeface="Noto Sans KR"/>
              </a:rPr>
              <a:t>보관  </a:t>
            </a:r>
            <a:r>
              <a:rPr sz="950" b="0" lang="ko-KR" altLang="en-US">
                <a:solidFill>
                  <a:srgbClr val="1A1E25"/>
                </a:solidFill>
                <a:latin typeface="Noto Sans KR"/>
                <a:ea typeface="Noto Sans KR"/>
                <a:cs typeface="Noto Sans KR"/>
              </a:rPr>
              <a:t>판 돈은 현금으로 따로 두고, 매달 비율 계산에서 뺍니다. 그동안 새 돈의 TQQQ 몫도 1단계면 절반, 2단계면 0으로 줄어 나머지는 SCHD로 갑니다.</a:t>
            </a:r>
          </a:p>
          <a:p>
            <a:pPr algn="l" eaLnBrk="0">
              <a:lnSpc>
                <a:spcPct val="132000"/>
              </a:lnSpc>
              <a:spcAft>
                <a:spcPts val="500"/>
              </a:spcAft>
            </a:pPr>
            <a:r>
              <a:rPr sz="950" b="1" lang="ko-KR" altLang="en-US">
                <a:solidFill>
                  <a:srgbClr val="1A1E25"/>
                </a:solidFill>
                <a:latin typeface="Noto Sans KR"/>
                <a:ea typeface="Noto Sans KR"/>
                <a:cs typeface="Noto Sans KR"/>
              </a:rPr>
              <a:t>복귀  </a:t>
            </a:r>
            <a:r>
              <a:rPr sz="950" b="0" lang="ko-KR" altLang="en-US">
                <a:solidFill>
                  <a:srgbClr val="1A1E25"/>
                </a:solidFill>
                <a:latin typeface="Noto Sans KR"/>
                <a:ea typeface="Noto Sans KR"/>
                <a:cs typeface="Noto Sans KR"/>
              </a:rPr>
              <a:t>나스닥100 추세 신호(20·60·120일 가격 비교 중 2개 이상 상승)가 꺼졌다가 다시 켜진 날, 보관한 현금으로 TQQQ를 다시 삽니다.</a:t>
            </a:r>
          </a:p>
          <a:p>
            <a:pPr algn="l" eaLnBrk="0">
              <a:lnSpc>
                <a:spcPct val="132000"/>
              </a:lnSpc>
              <a:spcAft>
                <a:spcPts val="500"/>
              </a:spcAft>
            </a:pPr>
            <a:r>
              <a:rPr sz="950" b="1" lang="ko-KR" altLang="en-US">
                <a:solidFill>
                  <a:srgbClr val="1A1E25"/>
                </a:solidFill>
                <a:latin typeface="Noto Sans KR"/>
                <a:ea typeface="Noto Sans KR"/>
                <a:cs typeface="Noto Sans KR"/>
              </a:rPr>
              <a:t>대가  </a:t>
            </a:r>
            <a:r>
              <a:rPr sz="950" b="0" lang="ko-KR" altLang="en-US">
                <a:solidFill>
                  <a:srgbClr val="1A1E25"/>
                </a:solidFill>
                <a:latin typeface="Noto Sans KR"/>
                <a:ea typeface="Noto Sans KR"/>
                <a:cs typeface="Noto Sans KR"/>
              </a:rPr>
              <a:t>2012~2026년 계산에서 49번 팔고 34번 되샀는데, 되산 가격이 판 평균값보다 비쌌던 경우가 절반(17번)이었습니다.</a:t>
            </a:r>
          </a:p>
        </p:txBody>
      </p:sp>
      <p:sp>
        <p:nvSpPr>
          <p:cNvPr id="32"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3장 · Deneb의 구성</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4893000" y="619200"/>
            <a:ext cx="6660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9</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3장 · Deneb의 구성</a:t>
            </a:r>
          </a:p>
        </p:txBody>
      </p:sp>
      <p:sp>
        <p:nvSpPr>
          <p:cNvPr id="14"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SCHD의 역할과
한계</a:t>
            </a:r>
          </a:p>
        </p:txBody>
      </p:sp>
      <p:sp>
        <p:nvSpPr>
          <p:cNvPr id="15" name="인용 막대"/>
          <p:cNvSpPr/>
          <p:nvPr/>
        </p:nvSpPr>
        <p:spPr>
          <a:xfrm>
            <a:off x="558000" y="1972800"/>
            <a:ext cx="32400" cy="8784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인용"/>
          <p:cNvSpPr txBox="1"/>
          <p:nvPr/>
        </p:nvSpPr>
        <p:spPr>
          <a:xfrm>
            <a:off x="737999" y="1944000"/>
            <a:ext cx="2826000" cy="936000"/>
          </a:xfrm>
          <a:prstGeom prst="rect">
            <a:avLst/>
          </a:prstGeom>
          <a:noFill/>
        </p:spPr>
        <p:txBody>
          <a:bodyPr wrap="square" lIns="0" rIns="0" tIns="0" bIns="0" anchor="t">
            <a:spAutoFit/>
          </a:bodyPr>
          <a:lstStyle/>
          <a:p>
            <a:pPr algn="l" eaLnBrk="0">
              <a:lnSpc>
                <a:spcPct val="122000"/>
              </a:lnSpc>
              <a:spcAft>
                <a:spcPts val="0"/>
              </a:spcAft>
            </a:pPr>
            <a:r>
              <a:rPr sz="1450" b="0" lang="ko-KR" altLang="en-US">
                <a:solidFill>
                  <a:srgbClr val="1A1E25"/>
                </a:solidFill>
                <a:latin typeface="Malgun Gothic Semilight"/>
                <a:ea typeface="Malgun Gothic Semilight"/>
                <a:cs typeface="Malgun Gothic Semilight"/>
              </a:rPr>
              <a:t>SCHD는 흔들림을 덜어 주는 쪽이지, 원금을 지켜 주는 자산이 아닙니다.</a:t>
            </a:r>
          </a:p>
        </p:txBody>
      </p:sp>
      <p:sp>
        <p:nvSpPr>
          <p:cNvPr id="17" name="TextBox 16"/>
          <p:cNvSpPr txBox="1"/>
          <p:nvPr/>
        </p:nvSpPr>
        <p:spPr>
          <a:xfrm>
            <a:off x="558000" y="3024000"/>
            <a:ext cx="3006000" cy="3780000"/>
          </a:xfrm>
          <a:prstGeom prst="rect">
            <a:avLst/>
          </a:prstGeom>
          <a:noFill/>
        </p:spPr>
        <p:txBody>
          <a:bodyPr wrap="square" lIns="0" rIns="0" tIns="0" bIns="0" anchor="t">
            <a:spAutoFit/>
          </a:bodyPr>
          <a:lstStyle/>
          <a:p>
            <a:pPr algn="l" eaLnBrk="0">
              <a:lnSpc>
                <a:spcPct val="132000"/>
              </a:lnSpc>
              <a:spcAft>
                <a:spcPts val="700"/>
              </a:spcAft>
            </a:pPr>
            <a:r>
              <a:rPr sz="950" b="0" lang="ko-KR" altLang="en-US">
                <a:solidFill>
                  <a:srgbClr val="1A1E25"/>
                </a:solidFill>
                <a:latin typeface="Noto Sans KR"/>
                <a:ea typeface="Noto Sans KR"/>
                <a:cs typeface="Noto Sans KR"/>
              </a:rPr>
              <a:t>TQQQ와 SCHD를 함께 들면, TQQQ가 크게 내리는 날 SCHD가 덜 내려 계좌 전체의 낙폭이 줄어듭니다. 매달 비율을 맞추면서 덜 내린 SCHD 일부를 팔아 많이 내린 TQQQ를 싸게 사는 효과도 생깁니다.</a:t>
            </a:r>
          </a:p>
          <a:p>
            <a:pPr algn="l" eaLnBrk="0">
              <a:lnSpc>
                <a:spcPct val="132000"/>
              </a:lnSpc>
              <a:spcAft>
                <a:spcPts val="700"/>
              </a:spcAft>
            </a:pPr>
            <a:r>
              <a:rPr sz="950" b="0" lang="ko-KR" altLang="en-US">
                <a:solidFill>
                  <a:srgbClr val="1A1E25"/>
                </a:solidFill>
                <a:latin typeface="Noto Sans KR"/>
                <a:ea typeface="Noto Sans KR"/>
                <a:cs typeface="Noto Sans KR"/>
              </a:rPr>
              <a:t>하지만 SCHD도 주식입니다. 2020년 3월이나 2022년처럼 시장 전체가 내리면 함께 내립니다. 오른쪽 표처럼 TQQQ가 −79% 내린 2022년에 SCHD는 −3%였지만, 2018년에는 둘 다 내렸습니다.</a:t>
            </a:r>
          </a:p>
          <a:p>
            <a:pPr algn="l" eaLnBrk="0">
              <a:lnSpc>
                <a:spcPct val="132000"/>
              </a:lnSpc>
              <a:spcAft>
                <a:spcPts val="700"/>
              </a:spcAft>
            </a:pPr>
            <a:r>
              <a:rPr sz="950" b="0" lang="ko-KR" altLang="en-US">
                <a:solidFill>
                  <a:srgbClr val="1A1E25"/>
                </a:solidFill>
                <a:latin typeface="Noto Sans KR"/>
                <a:ea typeface="Noto Sans KR"/>
                <a:cs typeface="Noto Sans KR"/>
              </a:rPr>
              <a:t>2012~2026년 Deneb 안의 SCHD 몫은 계좌의 약 34% ~ 73%였습니다(2013년 이후 달말). 변동성이 크거나 하락 방어가 작동한 달에 SCHD 비중이 커졌습니다.</a:t>
            </a:r>
          </a:p>
        </p:txBody>
      </p:sp>
      <p:cxnSp>
        <p:nvCxnSpPr>
          <p:cNvPr id="18" name="Connector 17"/>
          <p:cNvCxnSpPr/>
          <p:nvPr/>
        </p:nvCxnSpPr>
        <p:spPr>
          <a:xfrm>
            <a:off x="3844800" y="990000"/>
            <a:ext cx="6289200" cy="0"/>
          </a:xfrm>
          <a:prstGeom prst="line">
            <a:avLst/>
          </a:prstGeom>
          <a:ln w="9525">
            <a:solidFill>
              <a:srgbClr val="1A1E25"/>
            </a:solidFill>
          </a:ln>
        </p:spPr>
      </p:cxnSp>
      <p:sp>
        <p:nvSpPr>
          <p:cNvPr id="19" name="표지 막대"/>
          <p:cNvSpPr/>
          <p:nvPr/>
        </p:nvSpPr>
        <p:spPr>
          <a:xfrm>
            <a:off x="3844800" y="99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그림 제목"/>
          <p:cNvSpPr txBox="1"/>
          <p:nvPr/>
        </p:nvSpPr>
        <p:spPr>
          <a:xfrm>
            <a:off x="3844800" y="1090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TQQQ · SCHD · QQQ 연간 수익률</a:t>
            </a:r>
          </a:p>
        </p:txBody>
      </p:sp>
      <p:sp>
        <p:nvSpPr>
          <p:cNvPr id="21" name="그림 설명"/>
          <p:cNvSpPr txBox="1"/>
          <p:nvPr/>
        </p:nvSpPr>
        <p:spPr>
          <a:xfrm>
            <a:off x="3844800" y="1278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실제 ETF 수정 종가 · 달러 기준 · 배당 포함</a:t>
            </a:r>
          </a:p>
        </p:txBody>
      </p:sp>
      <p:graphicFrame>
        <p:nvGraphicFramePr>
          <p:cNvPr id="22" name="연간 수익률"/>
          <p:cNvGraphicFramePr>
            <a:graphicFrameLocks noGrp="1"/>
          </p:cNvGraphicFramePr>
          <p:nvPr/>
        </p:nvGraphicFramePr>
        <p:xfrm>
          <a:off x="3844800" y="1440000"/>
          <a:ext cx="6289200" cy="2376000"/>
        </p:xfrm>
        <a:graphic>
          <a:graphicData uri="http://schemas.openxmlformats.org/drawingml/2006/chart">
            <c:chart xmlns:c="http://schemas.openxmlformats.org/drawingml/2006/chart" r:id="rId2"/>
          </a:graphicData>
        </a:graphic>
      </p:graphicFrame>
      <p:cxnSp>
        <p:nvCxnSpPr>
          <p:cNvPr id="23" name="Connector 22"/>
          <p:cNvCxnSpPr/>
          <p:nvPr/>
        </p:nvCxnSpPr>
        <p:spPr>
          <a:xfrm>
            <a:off x="3844800" y="4068000"/>
            <a:ext cx="6289200" cy="0"/>
          </a:xfrm>
          <a:prstGeom prst="line">
            <a:avLst/>
          </a:prstGeom>
          <a:ln w="9525">
            <a:solidFill>
              <a:srgbClr val="1A1E25"/>
            </a:solidFill>
          </a:ln>
        </p:spPr>
      </p:cxnSp>
      <p:sp>
        <p:nvSpPr>
          <p:cNvPr id="24" name="표지 막대"/>
          <p:cNvSpPr/>
          <p:nvPr/>
        </p:nvSpPr>
        <p:spPr>
          <a:xfrm>
            <a:off x="3844800" y="4068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그림 제목"/>
          <p:cNvSpPr txBox="1"/>
          <p:nvPr/>
        </p:nvSpPr>
        <p:spPr>
          <a:xfrm>
            <a:off x="3844800" y="4168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Deneb 안의 SCHD 비중 · 달말</a:t>
            </a:r>
          </a:p>
        </p:txBody>
      </p:sp>
      <p:sp>
        <p:nvSpPr>
          <p:cNvPr id="26" name="그림 설명"/>
          <p:cNvSpPr txBox="1"/>
          <p:nvPr/>
        </p:nvSpPr>
        <p:spPr>
          <a:xfrm>
            <a:off x="3844800" y="4356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SCHD 평가액 ÷ 계좌 평가액(하락 방어로 보관한 현금 포함) · 월 10만 원</a:t>
            </a:r>
          </a:p>
        </p:txBody>
      </p:sp>
      <p:graphicFrame>
        <p:nvGraphicFramePr>
          <p:cNvPr id="27" name="SCHD 비중"/>
          <p:cNvGraphicFramePr>
            <a:graphicFrameLocks noGrp="1"/>
          </p:cNvGraphicFramePr>
          <p:nvPr/>
        </p:nvGraphicFramePr>
        <p:xfrm>
          <a:off x="3844800" y="4500000"/>
          <a:ext cx="6289200" cy="2376000"/>
        </p:xfrm>
        <a:graphic>
          <a:graphicData uri="http://schemas.openxmlformats.org/drawingml/2006/chart">
            <c:chart xmlns:c="http://schemas.openxmlformats.org/drawingml/2006/chart" r:id="rId3"/>
          </a:graphicData>
        </a:graphic>
      </p:graphicFrame>
      <p:sp>
        <p:nvSpPr>
          <p:cNvPr id="28"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실제 ETF 수정 종가(QQQ · QLD · TQQQ · SCHD · SPY · IEF · GLD), 자체 계산 · 비용 0.15% · 세전 · 환율 고정 · 소수 주</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4893000" y="619200"/>
            <a:ext cx="6660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10</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4장 · 비율 선택 근거</a:t>
            </a:r>
          </a:p>
        </p:txBody>
      </p:sp>
      <p:sp>
        <p:nvSpPr>
          <p:cNvPr id="14"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긴 기간 연구</a:t>
            </a:r>
          </a:p>
        </p:txBody>
      </p:sp>
      <p:sp>
        <p:nvSpPr>
          <p:cNvPr id="15" name="인용 막대"/>
          <p:cNvSpPr/>
          <p:nvPr/>
        </p:nvSpPr>
        <p:spPr>
          <a:xfrm>
            <a:off x="558000" y="1594800"/>
            <a:ext cx="32400" cy="8784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인용"/>
          <p:cNvSpPr txBox="1"/>
          <p:nvPr/>
        </p:nvSpPr>
        <p:spPr>
          <a:xfrm>
            <a:off x="737999" y="1565999"/>
            <a:ext cx="2826000" cy="936000"/>
          </a:xfrm>
          <a:prstGeom prst="rect">
            <a:avLst/>
          </a:prstGeom>
          <a:noFill/>
        </p:spPr>
        <p:txBody>
          <a:bodyPr wrap="square" lIns="0" rIns="0" tIns="0" bIns="0" anchor="t">
            <a:spAutoFit/>
          </a:bodyPr>
          <a:lstStyle/>
          <a:p>
            <a:pPr algn="l" eaLnBrk="0">
              <a:lnSpc>
                <a:spcPct val="122000"/>
              </a:lnSpc>
              <a:spcAft>
                <a:spcPts val="0"/>
              </a:spcAft>
            </a:pPr>
            <a:r>
              <a:rPr sz="1450" b="0" lang="ko-KR" altLang="en-US">
                <a:solidFill>
                  <a:srgbClr val="1A1E25"/>
                </a:solidFill>
                <a:latin typeface="Malgun Gothic Semilight"/>
                <a:ea typeface="Malgun Gothic Semilight"/>
                <a:cs typeface="Malgun Gothic Semilight"/>
              </a:rPr>
              <a:t>3배 상품만 오래 들면 닷컴 붕괴 같은 하락에서 거의 0이 될 수 있었습니다.</a:t>
            </a:r>
          </a:p>
        </p:txBody>
      </p:sp>
      <p:sp>
        <p:nvSpPr>
          <p:cNvPr id="17" name="TextBox 16"/>
          <p:cNvSpPr txBox="1"/>
          <p:nvPr/>
        </p:nvSpPr>
        <p:spPr>
          <a:xfrm>
            <a:off x="558000" y="2664000"/>
            <a:ext cx="3006000" cy="3960000"/>
          </a:xfrm>
          <a:prstGeom prst="rect">
            <a:avLst/>
          </a:prstGeom>
          <a:noFill/>
        </p:spPr>
        <p:txBody>
          <a:bodyPr wrap="square" lIns="0" rIns="0" tIns="0" bIns="0" anchor="t">
            <a:spAutoFit/>
          </a:bodyPr>
          <a:lstStyle/>
          <a:p>
            <a:pPr algn="l" eaLnBrk="0">
              <a:lnSpc>
                <a:spcPct val="132000"/>
              </a:lnSpc>
              <a:spcAft>
                <a:spcPts val="700"/>
              </a:spcAft>
            </a:pPr>
            <a:r>
              <a:rPr sz="950" b="1" lang="ko-KR" altLang="en-US">
                <a:solidFill>
                  <a:srgbClr val="1A1E25"/>
                </a:solidFill>
                <a:latin typeface="Noto Sans KR"/>
                <a:ea typeface="Noto Sans KR"/>
                <a:cs typeface="Noto Sans KR"/>
              </a:rPr>
              <a:t>무엇을 했나  </a:t>
            </a:r>
            <a:r>
              <a:rPr sz="950" b="0" lang="ko-KR" altLang="en-US">
                <a:solidFill>
                  <a:srgbClr val="1A1E25"/>
                </a:solidFill>
                <a:latin typeface="Noto Sans KR"/>
                <a:ea typeface="Noto Sans KR"/>
                <a:cs typeface="Noto Sans KR"/>
              </a:rPr>
              <a:t>실제 TQQQ는 2010년에 나왔습니다. 그래서 1986~2026년 나스닥100의 하루 움직임으로 2배 · 3배 상품을 만들어(보수 · 금리 비용 반영) 40년을 돌려 봤습니다. 배당주는 미국 고배당 상위 30% 자료를 썼습니다.</a:t>
            </a:r>
          </a:p>
          <a:p>
            <a:pPr algn="l" eaLnBrk="0">
              <a:lnSpc>
                <a:spcPct val="132000"/>
              </a:lnSpc>
              <a:spcAft>
                <a:spcPts val="700"/>
              </a:spcAft>
            </a:pPr>
            <a:r>
              <a:rPr sz="950" b="1" lang="ko-KR" altLang="en-US">
                <a:solidFill>
                  <a:srgbClr val="1A1E25"/>
                </a:solidFill>
                <a:latin typeface="Noto Sans KR"/>
                <a:ea typeface="Noto Sans KR"/>
                <a:cs typeface="Noto Sans KR"/>
              </a:rPr>
              <a:t>찾은 것  </a:t>
            </a:r>
            <a:r>
              <a:rPr sz="950" b="0" lang="ko-KR" altLang="en-US">
                <a:solidFill>
                  <a:srgbClr val="1A1E25"/>
                </a:solidFill>
                <a:latin typeface="Noto Sans KR"/>
                <a:ea typeface="Noto Sans KR"/>
                <a:cs typeface="Noto Sans KR"/>
              </a:rPr>
              <a:t>3배만 들면 연 15.7%로 1배(15.2%)와 비슷했지만 낙폭은 100%였습니다. 배당주를 40% 섞고 매달 맞추면 연 20.7%로 오히려 올랐습니다. 그래도 닷컴 붕괴 때 −98%였습니다.</a:t>
            </a:r>
          </a:p>
          <a:p>
            <a:pPr algn="l" eaLnBrk="0">
              <a:lnSpc>
                <a:spcPct val="132000"/>
              </a:lnSpc>
              <a:spcAft>
                <a:spcPts val="700"/>
              </a:spcAft>
            </a:pPr>
            <a:r>
              <a:rPr sz="950" b="1" lang="ko-KR" altLang="en-US">
                <a:solidFill>
                  <a:srgbClr val="1A1E25"/>
                </a:solidFill>
                <a:latin typeface="Noto Sans KR"/>
                <a:ea typeface="Noto Sans KR"/>
                <a:cs typeface="Noto Sans KR"/>
              </a:rPr>
              <a:t>연구 결과와 선택  </a:t>
            </a:r>
            <a:r>
              <a:rPr sz="950" b="0" lang="ko-KR" altLang="en-US">
                <a:solidFill>
                  <a:srgbClr val="1A1E25"/>
                </a:solidFill>
                <a:latin typeface="Noto Sans KR"/>
                <a:ea typeface="Noto Sans KR"/>
                <a:cs typeface="Noto Sans KR"/>
              </a:rPr>
              <a:t>변동성 조절(M3)은 수익 · 샤프가 가장 좋았지만 미리 정한 ‘낙폭 5%p 이상 감소’ 기준을 2배에서 못 넘어 기각됐습니다. 사용자가 “수익과 최대 낙폭을 보고” M3를 골랐고, 뒤이은 연구로 하락 방어를 더했습니다. 60%는 비교 연구의 출발점에서 이어받은 상한이며 최적값으로 증명된 숫자가 아닙니다.</a:t>
            </a:r>
          </a:p>
        </p:txBody>
      </p:sp>
      <p:cxnSp>
        <p:nvCxnSpPr>
          <p:cNvPr id="18" name="Connector 17"/>
          <p:cNvCxnSpPr/>
          <p:nvPr/>
        </p:nvCxnSpPr>
        <p:spPr>
          <a:xfrm>
            <a:off x="3844800" y="990000"/>
            <a:ext cx="6289200" cy="0"/>
          </a:xfrm>
          <a:prstGeom prst="line">
            <a:avLst/>
          </a:prstGeom>
          <a:ln w="9525">
            <a:solidFill>
              <a:srgbClr val="1A1E25"/>
            </a:solidFill>
          </a:ln>
        </p:spPr>
      </p:cxnSp>
      <p:sp>
        <p:nvSpPr>
          <p:cNvPr id="19" name="표지 막대"/>
          <p:cNvSpPr/>
          <p:nvPr/>
        </p:nvSpPr>
        <p:spPr>
          <a:xfrm>
            <a:off x="3844800" y="99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그림 제목"/>
          <p:cNvSpPr txBox="1"/>
          <p:nvPr/>
        </p:nvSpPr>
        <p:spPr>
          <a:xfrm>
            <a:off x="3844800" y="1090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레버리지 섞기 — 1986 ~ 2026년 합성 자료</a:t>
            </a:r>
          </a:p>
        </p:txBody>
      </p:sp>
      <p:sp>
        <p:nvSpPr>
          <p:cNvPr id="21" name="그림 설명"/>
          <p:cNvSpPr txBox="1"/>
          <p:nvPr/>
        </p:nvSpPr>
        <p:spPr>
          <a:xfrm>
            <a:off x="3844800" y="1278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매달 비율 맞춤 · 비용 0.15% · 세전 · 이 표의 숫자는 실제 ETF 결과(다음 쪽)와 섞어 비교하지 않음</a:t>
            </a:r>
          </a:p>
        </p:txBody>
      </p:sp>
      <p:graphicFrame>
        <p:nvGraphicFramePr>
          <p:cNvPr id="22" name="표"/>
          <p:cNvGraphicFramePr>
            <a:graphicFrameLocks noGrp="1"/>
          </p:cNvGraphicFramePr>
          <p:nvPr/>
        </p:nvGraphicFramePr>
        <p:xfrm>
          <a:off x="3844800" y="1458000"/>
          <a:ext cx="3186000" cy="1944000"/>
        </p:xfrm>
        <a:graphic>
          <a:graphicData uri="http://schemas.openxmlformats.org/drawingml/2006/table">
            <a:tbl>
              <a:tblPr firstRow="0" bandRow="0" firstCol="0" lastCol="0" bandCol="0" lastRow="0">
                <a:tableStyleId>{5940675A-B579-460E-94D1-54222C63F5DA}</a:tableStyleId>
              </a:tblPr>
              <a:tblGrid>
                <a:gridCol w="1404000"/>
                <a:gridCol w="576000"/>
                <a:gridCol w="630000"/>
                <a:gridCol w="576000"/>
              </a:tblGrid>
              <a:tr h="2160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구성</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연 수익</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최대 낙폭</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최악 12개월</a:t>
                      </a:r>
                      <a:endParaRPr sz="850"/>
                    </a:p>
                  </a:txBody>
                  <a:tcPr marL="28800" marR="43200" marT="25200" marB="25200" anchor="b">
                    <a:lnL w="0">
                      <a:noFill/>
                    </a:lnL>
                    <a:lnR w="0">
                      <a:noFill/>
                    </a:lnR>
                    <a:lnT w="9525">
                      <a:solidFill>
                        <a:srgbClr val="1A1E25"/>
                      </a:solidFill>
                    </a:lnT>
                    <a:lnB w="9525">
                      <a:solidFill>
                        <a:srgbClr val="1A1E25"/>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나스닥100 1배만</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15.2%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−67%</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2배만</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18.9%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−98%</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−93%</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2배 60 + 배당주 40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18.6%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−74%</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3배만</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15.7%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−99%</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3배 80 + 배당주 20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19.4%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−96%</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3배 60 + 배당주 40</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20.7%</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−98%</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−89%</a:t>
                      </a:r>
                      <a:endParaRPr sz="90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3배 50 + 배당주 50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20.5%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−95%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−83%</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3배 60 + 채권 20 + 금 20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19.6%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−97%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−89%</a:t>
                      </a:r>
                      <a:endParaRPr sz="90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3" name="Connector 22"/>
          <p:cNvCxnSpPr/>
          <p:nvPr/>
        </p:nvCxnSpPr>
        <p:spPr>
          <a:xfrm>
            <a:off x="3844800" y="1458000"/>
            <a:ext cx="3186000" cy="0"/>
          </a:xfrm>
          <a:prstGeom prst="line">
            <a:avLst/>
          </a:prstGeom>
          <a:ln w="25400">
            <a:solidFill>
              <a:srgbClr val="1A1E25"/>
            </a:solidFill>
          </a:ln>
        </p:spPr>
      </p:cxnSp>
      <p:graphicFrame>
        <p:nvGraphicFramePr>
          <p:cNvPr id="24" name="표"/>
          <p:cNvGraphicFramePr>
            <a:graphicFrameLocks noGrp="1"/>
          </p:cNvGraphicFramePr>
          <p:nvPr/>
        </p:nvGraphicFramePr>
        <p:xfrm>
          <a:off x="7200000" y="1458000"/>
          <a:ext cx="2934000" cy="1350000"/>
        </p:xfrm>
        <a:graphic>
          <a:graphicData uri="http://schemas.openxmlformats.org/drawingml/2006/table">
            <a:tbl>
              <a:tblPr firstRow="0" bandRow="0" firstCol="0" lastCol="0" bandCol="0" lastRow="0">
                <a:tableStyleId>{5940675A-B579-460E-94D1-54222C63F5DA}</a:tableStyleId>
              </a:tblPr>
              <a:tblGrid>
                <a:gridCol w="1332000"/>
                <a:gridCol w="486000"/>
                <a:gridCol w="576000"/>
                <a:gridCol w="540000"/>
              </a:tblGrid>
              <a:tr h="2700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3배 60% 상한에서 줄이는 방법</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연 수익</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최대 낙폭</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판정</a:t>
                      </a:r>
                      <a:endParaRPr sz="850"/>
                    </a:p>
                  </a:txBody>
                  <a:tcPr marL="28800" marR="43200" marT="25200" marB="25200" anchor="b">
                    <a:lnL w="0">
                      <a:noFill/>
                    </a:lnL>
                    <a:lnR w="0">
                      <a:noFill/>
                    </a:lnR>
                    <a:lnT w="9525">
                      <a:solidFill>
                        <a:srgbClr val="1A1E25"/>
                      </a:solidFill>
                    </a:lnT>
                    <a:lnB w="9525">
                      <a:solidFill>
                        <a:srgbClr val="1A1E25"/>
                      </a:solidFill>
                    </a:lnB>
                    <a:noFill/>
                  </a:tcPr>
                </a:tc>
              </a:tr>
              <a:tr h="270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M0 고정 60 : 40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20.7%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−98%</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기준</a:t>
                      </a:r>
                      <a:endParaRPr sz="900"/>
                    </a:p>
                  </a:txBody>
                  <a:tcPr marL="28800" marR="43200" marT="25200" marB="25200" anchor="ctr">
                    <a:lnL w="0">
                      <a:noFill/>
                    </a:lnL>
                    <a:lnR w="0">
                      <a:noFill/>
                    </a:lnR>
                    <a:lnT w="0">
                      <a:noFill/>
                    </a:lnT>
                    <a:lnB w="6350">
                      <a:solidFill>
                        <a:srgbClr val="C9D0DA"/>
                      </a:solidFill>
                    </a:lnB>
                    <a:noFill/>
                  </a:tcPr>
                </a:tc>
              </a:tr>
              <a:tr h="270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M1 추세 스위치</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19.1%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통과</a:t>
                      </a:r>
                      <a:endParaRPr sz="900"/>
                    </a:p>
                  </a:txBody>
                  <a:tcPr marL="28800" marR="43200" marT="25200" marB="25200" anchor="ctr">
                    <a:lnL w="0">
                      <a:noFill/>
                    </a:lnL>
                    <a:lnR w="0">
                      <a:noFill/>
                    </a:lnR>
                    <a:lnT w="0">
                      <a:noFill/>
                    </a:lnT>
                    <a:lnB w="6350">
                      <a:solidFill>
                        <a:srgbClr val="C9D0DA"/>
                      </a:solidFill>
                    </a:lnB>
                    <a:noFill/>
                  </a:tcPr>
                </a:tc>
              </a:tr>
              <a:tr h="270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M2 낙폭 브레이크</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19.5%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통과</a:t>
                      </a:r>
                      <a:endParaRPr sz="900"/>
                    </a:p>
                  </a:txBody>
                  <a:tcPr marL="28800" marR="43200" marT="25200" marB="25200" anchor="ctr">
                    <a:lnL w="0">
                      <a:noFill/>
                    </a:lnL>
                    <a:lnR w="0">
                      <a:noFill/>
                    </a:lnR>
                    <a:lnT w="0">
                      <a:noFill/>
                    </a:lnT>
                    <a:lnB w="6350">
                      <a:solidFill>
                        <a:srgbClr val="C9D0DA"/>
                      </a:solidFill>
                    </a:lnB>
                    <a:noFill/>
                  </a:tcPr>
                </a:tc>
              </a:tr>
              <a:tr h="270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M3 변동성 맞춤 (Deneb 바탕)</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24.5%</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−79%</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기각*</a:t>
                      </a:r>
                      <a:endParaRPr sz="900"/>
                    </a:p>
                  </a:txBody>
                  <a:tcPr marL="28800" marR="43200" marT="25200" marB="25200" anchor="ctr">
                    <a:lnL w="0">
                      <a:noFill/>
                    </a:lnL>
                    <a:lnR w="0">
                      <a:noFill/>
                    </a:lnR>
                    <a:lnT w="0">
                      <a:noFill/>
                    </a:lnT>
                    <a:lnB w="6350">
                      <a:solidFill>
                        <a:srgbClr val="C9D0DA"/>
                      </a:solidFill>
                    </a:lnB>
                    <a:solidFill>
                      <a:srgbClr val="EDF1F7"/>
                    </a:solidFill>
                  </a:tcPr>
                </a:tc>
              </a:tr>
            </a:tbl>
          </a:graphicData>
        </a:graphic>
      </p:graphicFrame>
      <p:cxnSp>
        <p:nvCxnSpPr>
          <p:cNvPr id="25" name="Connector 24"/>
          <p:cNvCxnSpPr/>
          <p:nvPr/>
        </p:nvCxnSpPr>
        <p:spPr>
          <a:xfrm>
            <a:off x="7200000" y="1458000"/>
            <a:ext cx="2934000" cy="0"/>
          </a:xfrm>
          <a:prstGeom prst="line">
            <a:avLst/>
          </a:prstGeom>
          <a:ln w="25400">
            <a:solidFill>
              <a:srgbClr val="1A1E25"/>
            </a:solidFill>
          </a:ln>
        </p:spPr>
      </p:cxnSp>
      <p:sp>
        <p:nvSpPr>
          <p:cNvPr id="26" name="TextBox 25"/>
          <p:cNvSpPr txBox="1"/>
          <p:nvPr/>
        </p:nvSpPr>
        <p:spPr>
          <a:xfrm>
            <a:off x="7200000" y="3078000"/>
            <a:ext cx="2934000" cy="827999"/>
          </a:xfrm>
          <a:prstGeom prst="rect">
            <a:avLst/>
          </a:prstGeom>
          <a:noFill/>
        </p:spPr>
        <p:txBody>
          <a:bodyPr wrap="square" lIns="0" rIns="0" tIns="0" bIns="0" anchor="t">
            <a:spAutoFit/>
          </a:bodyPr>
          <a:lstStyle/>
          <a:p>
            <a:pPr algn="l" eaLnBrk="0">
              <a:lnSpc>
                <a:spcPct val="132000"/>
              </a:lnSpc>
              <a:spcAft>
                <a:spcPts val="0"/>
              </a:spcAft>
            </a:pPr>
            <a:r>
              <a:rPr sz="850" b="0" lang="ko-KR" altLang="en-US">
                <a:solidFill>
                  <a:srgbClr val="5C6573"/>
                </a:solidFill>
                <a:latin typeface="Noto Sans KR"/>
                <a:ea typeface="Noto Sans KR"/>
                <a:cs typeface="Noto Sans KR"/>
              </a:rPr>
              <a:t>* 기각됐지만 사용자가 선택. M3 ‘변동성 맞춤’이 지금 Deneb의 TQQQ 60% × (20% ÷ 변동성) 규칙입니다. 하락 방어(연구 183 · 184)는 그 뒤에 더해졌습니다.</a:t>
            </a:r>
          </a:p>
        </p:txBody>
      </p:sp>
      <p:cxnSp>
        <p:nvCxnSpPr>
          <p:cNvPr id="27" name="Connector 26"/>
          <p:cNvCxnSpPr/>
          <p:nvPr/>
        </p:nvCxnSpPr>
        <p:spPr>
          <a:xfrm>
            <a:off x="3844800" y="3924000"/>
            <a:ext cx="6289200" cy="0"/>
          </a:xfrm>
          <a:prstGeom prst="line">
            <a:avLst/>
          </a:prstGeom>
          <a:ln w="9525">
            <a:solidFill>
              <a:srgbClr val="1A1E25"/>
            </a:solidFill>
          </a:ln>
        </p:spPr>
      </p:cxnSp>
      <p:sp>
        <p:nvSpPr>
          <p:cNvPr id="28" name="표지 막대"/>
          <p:cNvSpPr/>
          <p:nvPr/>
        </p:nvSpPr>
        <p:spPr>
          <a:xfrm>
            <a:off x="3844800" y="3924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그림 제목"/>
          <p:cNvSpPr txBox="1"/>
          <p:nvPr/>
        </p:nvSpPr>
        <p:spPr>
          <a:xfrm>
            <a:off x="3844800" y="4024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배율을 올려 얻은 것과 늘어난 것</a:t>
            </a:r>
          </a:p>
        </p:txBody>
      </p:sp>
      <p:sp>
        <p:nvSpPr>
          <p:cNvPr id="30" name="그림 설명"/>
          <p:cNvSpPr txBox="1"/>
          <p:nvPr/>
        </p:nvSpPr>
        <p:spPr>
          <a:xfrm>
            <a:off x="3844800" y="4212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1986~2026 합성 · 배당주 40% 섞기 기준</a:t>
            </a:r>
          </a:p>
        </p:txBody>
      </p:sp>
      <p:graphicFrame>
        <p:nvGraphicFramePr>
          <p:cNvPr id="31" name="배율 효과"/>
          <p:cNvGraphicFramePr>
            <a:graphicFrameLocks noGrp="1"/>
          </p:cNvGraphicFramePr>
          <p:nvPr/>
        </p:nvGraphicFramePr>
        <p:xfrm>
          <a:off x="3844800" y="4356000"/>
          <a:ext cx="6289200" cy="2484000"/>
        </p:xfrm>
        <a:graphic>
          <a:graphicData uri="http://schemas.openxmlformats.org/drawingml/2006/chart">
            <c:chart xmlns:c="http://schemas.openxmlformats.org/drawingml/2006/chart" r:id="rId2"/>
          </a:graphicData>
        </a:graphic>
      </p:graphicFrame>
      <p:sp>
        <p:nvSpPr>
          <p:cNvPr id="32"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docs/research/181 · 182 (1986-02 ~ 2026-08, 합성 레버리지 + French 고배당 30%, 각 판정 1회) · 182 §7 사용자 결정</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4893000" y="619200"/>
            <a:ext cx="6660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11</a:t>
            </a:r>
          </a:p>
        </p:txBody>
      </p:sp>
      <p:sp>
        <p:nvSpPr>
          <p:cNvPr id="13"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나스닥 1·2·3배와
Deneb</a:t>
            </a:r>
          </a:p>
        </p:txBody>
      </p:sp>
      <p:sp>
        <p:nvSpPr>
          <p:cNvPr id="14" name="TextBox 13"/>
          <p:cNvSpPr txBox="1"/>
          <p:nvPr/>
        </p:nvSpPr>
        <p:spPr>
          <a:xfrm>
            <a:off x="558000" y="1890000"/>
            <a:ext cx="3006000" cy="1080000"/>
          </a:xfrm>
          <a:prstGeom prst="rect">
            <a:avLst/>
          </a:prstGeom>
          <a:noFill/>
        </p:spPr>
        <p:txBody>
          <a:bodyPr wrap="square" lIns="0" rIns="0" tIns="0" bIns="0" anchor="t">
            <a:spAutoFit/>
          </a:bodyPr>
          <a:lstStyle/>
          <a:p>
            <a:pPr algn="l" eaLnBrk="0">
              <a:lnSpc>
                <a:spcPct val="132000"/>
              </a:lnSpc>
              <a:spcAft>
                <a:spcPts val="0"/>
              </a:spcAft>
            </a:pPr>
            <a:r>
              <a:rPr sz="1050" b="0" lang="ko-KR" altLang="en-US">
                <a:solidFill>
                  <a:srgbClr val="1A1E25"/>
                </a:solidFill>
                <a:latin typeface="Noto Sans KR"/>
                <a:ea typeface="Noto Sans KR"/>
                <a:cs typeface="Noto Sans KR"/>
              </a:rPr>
              <a:t>같은 돈을 매달 넣었을 때, 배율과 섞는 방식에 따라 끝에 남은 돈과 중간에 견뎌야 했던 하락이 어떻게 달랐는지 봅니다.</a:t>
            </a:r>
          </a:p>
        </p:txBody>
      </p:sp>
      <p:sp>
        <p:nvSpPr>
          <p:cNvPr id="15" name="TextBox 14"/>
          <p:cNvSpPr txBox="1"/>
          <p:nvPr/>
        </p:nvSpPr>
        <p:spPr>
          <a:xfrm>
            <a:off x="3844800" y="1007999"/>
            <a:ext cx="3006000" cy="1944000"/>
          </a:xfrm>
          <a:prstGeom prst="rect">
            <a:avLst/>
          </a:prstGeom>
          <a:noFill/>
        </p:spPr>
        <p:txBody>
          <a:bodyPr wrap="square" lIns="0" rIns="0" tIns="0" bIns="0" anchor="t">
            <a:spAutoFit/>
          </a:bodyPr>
          <a:lstStyle/>
          <a:p>
            <a:pPr algn="l" eaLnBrk="0">
              <a:lnSpc>
                <a:spcPct val="132000"/>
              </a:lnSpc>
              <a:spcAft>
                <a:spcPts val="500"/>
              </a:spcAft>
            </a:pPr>
            <a:r>
              <a:rPr sz="950" b="1" lang="ko-KR" altLang="en-US">
                <a:solidFill>
                  <a:srgbClr val="1A1E25"/>
                </a:solidFill>
                <a:latin typeface="Noto Sans KR"/>
                <a:ea typeface="Noto Sans KR"/>
                <a:cs typeface="Noto Sans KR"/>
              </a:rPr>
              <a:t>비교 조건  </a:t>
            </a:r>
            <a:r>
              <a:rPr sz="950" b="0" lang="ko-KR" altLang="en-US">
                <a:solidFill>
                  <a:srgbClr val="1A1E25"/>
                </a:solidFill>
                <a:latin typeface="Noto Sans KR"/>
                <a:ea typeface="Noto Sans KR"/>
                <a:cs typeface="Noto Sans KR"/>
              </a:rPr>
              <a:t>2012년 1월부터 2026년 8월까지 매달 첫 거래일에 10만 원씩 176번, 모두 1,760만 원을 넣었습니다. 실제 ETF 가격(배당 재투자)을 썼고 사고팔 때마다 0.15% 비용, 세금 전, 환율 고정입니다.</a:t>
            </a:r>
          </a:p>
          <a:p>
            <a:pPr algn="l" eaLnBrk="0">
              <a:lnSpc>
                <a:spcPct val="132000"/>
              </a:lnSpc>
              <a:spcAft>
                <a:spcPts val="500"/>
              </a:spcAft>
            </a:pPr>
            <a:r>
              <a:rPr sz="950" b="1" lang="ko-KR" altLang="en-US">
                <a:solidFill>
                  <a:srgbClr val="1A1E25"/>
                </a:solidFill>
                <a:latin typeface="Noto Sans KR"/>
                <a:ea typeface="Noto Sans KR"/>
                <a:cs typeface="Noto Sans KR"/>
              </a:rPr>
              <a:t>고정 섞기  </a:t>
            </a:r>
            <a:r>
              <a:rPr sz="950" b="0" lang="ko-KR" altLang="en-US">
                <a:solidFill>
                  <a:srgbClr val="1A1E25"/>
                </a:solidFill>
                <a:latin typeface="Noto Sans KR"/>
                <a:ea typeface="Noto Sans KR"/>
                <a:cs typeface="Noto Sans KR"/>
              </a:rPr>
              <a:t>‘60 + 40 고정’은 매달 첫 거래일에 비율을 60 : 40으로 되돌립니다. 하락 방어는 없습니다.</a:t>
            </a:r>
          </a:p>
          <a:p>
            <a:pPr algn="l" eaLnBrk="0">
              <a:lnSpc>
                <a:spcPct val="132000"/>
              </a:lnSpc>
              <a:spcAft>
                <a:spcPts val="500"/>
              </a:spcAft>
            </a:pPr>
            <a:r>
              <a:rPr sz="950" b="1" lang="ko-KR" altLang="en-US">
                <a:solidFill>
                  <a:srgbClr val="1A1E25"/>
                </a:solidFill>
                <a:latin typeface="Noto Sans KR"/>
                <a:ea typeface="Noto Sans KR"/>
                <a:cs typeface="Noto Sans KR"/>
              </a:rPr>
              <a:t>변동성 조절만  </a:t>
            </a:r>
            <a:r>
              <a:rPr sz="950" b="0" lang="ko-KR" altLang="en-US">
                <a:solidFill>
                  <a:srgbClr val="1A1E25"/>
                </a:solidFill>
                <a:latin typeface="Noto Sans KR"/>
                <a:ea typeface="Noto Sans KR"/>
                <a:cs typeface="Noto Sans KR"/>
              </a:rPr>
              <a:t>Deneb에서 하락 방어(매도 · 보관 · 복귀)만 뺀 것입니다.</a:t>
            </a:r>
          </a:p>
        </p:txBody>
      </p:sp>
      <p:sp>
        <p:nvSpPr>
          <p:cNvPr id="16" name="TextBox 15"/>
          <p:cNvSpPr txBox="1"/>
          <p:nvPr/>
        </p:nvSpPr>
        <p:spPr>
          <a:xfrm>
            <a:off x="7128000" y="1007999"/>
            <a:ext cx="3006000" cy="1944000"/>
          </a:xfrm>
          <a:prstGeom prst="rect">
            <a:avLst/>
          </a:prstGeom>
          <a:noFill/>
        </p:spPr>
        <p:txBody>
          <a:bodyPr wrap="square" lIns="0" rIns="0" tIns="0" bIns="0" anchor="t">
            <a:spAutoFit/>
          </a:bodyPr>
          <a:lstStyle/>
          <a:p>
            <a:pPr algn="l" eaLnBrk="0">
              <a:lnSpc>
                <a:spcPct val="132000"/>
              </a:lnSpc>
              <a:spcAft>
                <a:spcPts val="500"/>
              </a:spcAft>
            </a:pPr>
            <a:r>
              <a:rPr sz="950" b="1" lang="ko-KR" altLang="en-US">
                <a:solidFill>
                  <a:srgbClr val="1A1E25"/>
                </a:solidFill>
                <a:latin typeface="Noto Sans KR"/>
                <a:ea typeface="Noto Sans KR"/>
                <a:cs typeface="Noto Sans KR"/>
              </a:rPr>
              <a:t>연구 결과와 선택  </a:t>
            </a:r>
            <a:r>
              <a:rPr sz="950" b="0" lang="ko-KR" altLang="en-US">
                <a:solidFill>
                  <a:srgbClr val="1A1E25"/>
                </a:solidFill>
                <a:latin typeface="Noto Sans KR"/>
                <a:ea typeface="Noto Sans KR"/>
                <a:cs typeface="Noto Sans KR"/>
              </a:rPr>
              <a:t>1986~2026년 합성 자료 연구에서 3배 60 + 배당주 40 고정은 최대 −98%까지 내렸습니다. 변동성 조절은 낙폭을 −79%로 줄였지만, 미리 정한 기준(2배에서도 5%p 이상 감소)을 못 넘어 연구 판정은 ‘기각’이었습니다. 그래도 사용자가 수익과 낙폭을 보고 이 방식을 골랐고, 이후 하락 방어를 더했습니다.</a:t>
            </a:r>
          </a:p>
          <a:p>
            <a:pPr algn="l" eaLnBrk="0">
              <a:lnSpc>
                <a:spcPct val="132000"/>
              </a:lnSpc>
              <a:spcAft>
                <a:spcPts val="500"/>
              </a:spcAft>
            </a:pPr>
            <a:r>
              <a:rPr sz="950" b="1" lang="ko-KR" altLang="en-US">
                <a:solidFill>
                  <a:srgbClr val="1A1E25"/>
                </a:solidFill>
                <a:latin typeface="Noto Sans KR"/>
                <a:ea typeface="Noto Sans KR"/>
                <a:cs typeface="Noto Sans KR"/>
              </a:rPr>
              <a:t>60%  </a:t>
            </a:r>
            <a:r>
              <a:rPr sz="950" b="0" lang="ko-KR" altLang="en-US">
                <a:solidFill>
                  <a:srgbClr val="1A1E25"/>
                </a:solidFill>
                <a:latin typeface="Noto Sans KR"/>
                <a:ea typeface="Noto Sans KR"/>
                <a:cs typeface="Noto Sans KR"/>
              </a:rPr>
              <a:t>최적값으로 증명된 숫자가 아니라 앞선 비교 연구에서 이어받은 상한입니다. 이 합성 연구 숫자는 아래 실제 ETF 결과와 기간 · 자료가 달라 섞어 비교하지 않습니다.</a:t>
            </a:r>
          </a:p>
        </p:txBody>
      </p:sp>
      <p:cxnSp>
        <p:nvCxnSpPr>
          <p:cNvPr id="17" name="Connector 16"/>
          <p:cNvCxnSpPr/>
          <p:nvPr/>
        </p:nvCxnSpPr>
        <p:spPr>
          <a:xfrm>
            <a:off x="558000" y="3078000"/>
            <a:ext cx="4680000" cy="0"/>
          </a:xfrm>
          <a:prstGeom prst="line">
            <a:avLst/>
          </a:prstGeom>
          <a:ln w="9525">
            <a:solidFill>
              <a:srgbClr val="1A1E25"/>
            </a:solidFill>
          </a:ln>
        </p:spPr>
      </p:cxnSp>
      <p:sp>
        <p:nvSpPr>
          <p:cNvPr id="18" name="표지 막대"/>
          <p:cNvSpPr/>
          <p:nvPr/>
        </p:nvSpPr>
        <p:spPr>
          <a:xfrm>
            <a:off x="558000" y="3078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그림 제목"/>
          <p:cNvSpPr txBox="1"/>
          <p:nvPr/>
        </p:nvSpPr>
        <p:spPr>
          <a:xfrm>
            <a:off x="558000" y="3178800"/>
            <a:ext cx="4680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14년 8개월 적립 후 최종 평가액 · 월 10만 원</a:t>
            </a:r>
          </a:p>
        </p:txBody>
      </p:sp>
      <p:sp>
        <p:nvSpPr>
          <p:cNvPr id="20" name="그림 설명"/>
          <p:cNvSpPr txBox="1"/>
          <p:nvPr/>
        </p:nvSpPr>
        <p:spPr>
          <a:xfrm>
            <a:off x="558000" y="3366000"/>
            <a:ext cx="4680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2012년 1월 ~ 2026년 8월 31일 · 176회 · 원금 1,760만 원 · 단위 만 원 · 세전</a:t>
            </a:r>
          </a:p>
        </p:txBody>
      </p:sp>
      <p:graphicFrame>
        <p:nvGraphicFramePr>
          <p:cNvPr id="21" name="최종 평가액"/>
          <p:cNvGraphicFramePr>
            <a:graphicFrameLocks noGrp="1"/>
          </p:cNvGraphicFramePr>
          <p:nvPr/>
        </p:nvGraphicFramePr>
        <p:xfrm>
          <a:off x="558000" y="3528000"/>
          <a:ext cx="4680000" cy="1835999"/>
        </p:xfrm>
        <a:graphic>
          <a:graphicData uri="http://schemas.openxmlformats.org/drawingml/2006/chart">
            <c:chart xmlns:c="http://schemas.openxmlformats.org/drawingml/2006/chart" r:id="rId2"/>
          </a:graphicData>
        </a:graphic>
      </p:graphicFrame>
      <p:cxnSp>
        <p:nvCxnSpPr>
          <p:cNvPr id="22" name="Connector 21"/>
          <p:cNvCxnSpPr/>
          <p:nvPr/>
        </p:nvCxnSpPr>
        <p:spPr>
          <a:xfrm>
            <a:off x="5454000" y="3078000"/>
            <a:ext cx="4680000" cy="0"/>
          </a:xfrm>
          <a:prstGeom prst="line">
            <a:avLst/>
          </a:prstGeom>
          <a:ln w="9525">
            <a:solidFill>
              <a:srgbClr val="1A1E25"/>
            </a:solidFill>
          </a:ln>
        </p:spPr>
      </p:cxnSp>
      <p:sp>
        <p:nvSpPr>
          <p:cNvPr id="23" name="표지 막대"/>
          <p:cNvSpPr/>
          <p:nvPr/>
        </p:nvSpPr>
        <p:spPr>
          <a:xfrm>
            <a:off x="5454000" y="3078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그림 제목"/>
          <p:cNvSpPr txBox="1"/>
          <p:nvPr/>
        </p:nvSpPr>
        <p:spPr>
          <a:xfrm>
            <a:off x="5454000" y="3178800"/>
            <a:ext cx="4679999"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최대 낙폭</a:t>
            </a:r>
          </a:p>
        </p:txBody>
      </p:sp>
      <p:sp>
        <p:nvSpPr>
          <p:cNvPr id="25" name="그림 설명"/>
          <p:cNvSpPr txBox="1"/>
          <p:nvPr/>
        </p:nvSpPr>
        <p:spPr>
          <a:xfrm>
            <a:off x="5454000" y="3366000"/>
            <a:ext cx="4679999"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납입 효과를 뺀 단위 가격의 일간 고점 대비 최대 하락 · 2012-01 ~ 2026-08</a:t>
            </a:r>
          </a:p>
        </p:txBody>
      </p:sp>
      <p:graphicFrame>
        <p:nvGraphicFramePr>
          <p:cNvPr id="26" name="최대 낙폭"/>
          <p:cNvGraphicFramePr>
            <a:graphicFrameLocks noGrp="1"/>
          </p:cNvGraphicFramePr>
          <p:nvPr/>
        </p:nvGraphicFramePr>
        <p:xfrm>
          <a:off x="5454000" y="3528000"/>
          <a:ext cx="4679999" cy="1835999"/>
        </p:xfrm>
        <a:graphic>
          <a:graphicData uri="http://schemas.openxmlformats.org/drawingml/2006/chart">
            <c:chart xmlns:c="http://schemas.openxmlformats.org/drawingml/2006/chart" r:id="rId3"/>
          </a:graphicData>
        </a:graphic>
      </p:graphicFrame>
      <p:graphicFrame>
        <p:nvGraphicFramePr>
          <p:cNvPr id="27" name="표"/>
          <p:cNvGraphicFramePr>
            <a:graphicFrameLocks noGrp="1"/>
          </p:cNvGraphicFramePr>
          <p:nvPr/>
        </p:nvGraphicFramePr>
        <p:xfrm>
          <a:off x="558000" y="5454000"/>
          <a:ext cx="9575991" cy="1296000"/>
        </p:xfrm>
        <a:graphic>
          <a:graphicData uri="http://schemas.openxmlformats.org/drawingml/2006/table">
            <a:tbl>
              <a:tblPr firstRow="0" bandRow="0" firstCol="0" lastCol="0" bandCol="0" lastRow="0">
                <a:tableStyleId>{5940675A-B579-460E-94D1-54222C63F5DA}</a:tableStyleId>
              </a:tblPr>
              <a:tblGrid>
                <a:gridCol w="936000"/>
                <a:gridCol w="959999"/>
                <a:gridCol w="959999"/>
                <a:gridCol w="959999"/>
                <a:gridCol w="959999"/>
                <a:gridCol w="959999"/>
                <a:gridCol w="959999"/>
                <a:gridCol w="959999"/>
                <a:gridCol w="959999"/>
                <a:gridCol w="959999"/>
              </a:tblGrid>
              <a:tr h="2160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월 10만 원 · 14년 8개월</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QQQ 단독</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QLD 단독</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TQQQ 단독</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S&amp;P500 단독</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QQQ 60
SCHD 40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QLD 60
SCHD 40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TQQQ 60
SCHD 40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변동성 조절만</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Deneb</a:t>
                      </a:r>
                      <a:endParaRPr sz="800"/>
                    </a:p>
                  </a:txBody>
                  <a:tcPr marL="28800" marR="43200" marT="25200" marB="25200" anchor="b">
                    <a:lnL w="0">
                      <a:noFill/>
                    </a:lnL>
                    <a:lnR w="0">
                      <a:noFill/>
                    </a:lnR>
                    <a:lnT w="9525">
                      <a:solidFill>
                        <a:srgbClr val="1A1E25"/>
                      </a:solidFill>
                    </a:lnT>
                    <a:lnB w="9525">
                      <a:solidFill>
                        <a:srgbClr val="1A1E25"/>
                      </a:solidFill>
                    </a:lnB>
                    <a:solidFill>
                      <a:srgbClr val="EDF1F7"/>
                    </a:solid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최종 평가액</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8,805만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2억 5,432만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5억 1,272만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5,810만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7,163만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1억 4,449만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2억 6,587만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2억 6,442만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3억 6,111만</a:t>
                      </a:r>
                      <a:endParaRPr sz="85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투자이익</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7,045만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2억 3,672만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4억 9,512만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4,050만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5,403만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1억 2,689만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2억 4,827만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2억 4,682만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3억 4,351만</a:t>
                      </a:r>
                      <a:endParaRPr sz="85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연복리</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19.8%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33.6%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43.6%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17.4%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26.4%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34.4%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34.3%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35.6%</a:t>
                      </a:r>
                      <a:endParaRPr sz="85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최대 낙폭</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−35.1%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−63.7%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−81.7%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−33.7%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−29.9%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−46.2%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−61.4%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−52.1%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−31.7%</a:t>
                      </a:r>
                      <a:endParaRPr sz="85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회복 기간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24개월</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30개월</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36개월</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6개월</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4개월</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25개월</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29개월</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6개월</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19개월</a:t>
                      </a:r>
                      <a:endParaRPr sz="850"/>
                    </a:p>
                  </a:txBody>
                  <a:tcPr marL="28800" marR="43200" marT="25200" marB="25200" anchor="ctr">
                    <a:lnL w="0">
                      <a:noFill/>
                    </a:lnL>
                    <a:lnR w="0">
                      <a:noFill/>
                    </a:lnR>
                    <a:lnT w="0">
                      <a:noFill/>
                    </a:lnT>
                    <a:lnB w="6350">
                      <a:solidFill>
                        <a:srgbClr val="C9D0DA"/>
                      </a:solidFill>
                    </a:lnB>
                    <a:solidFill>
                      <a:srgbClr val="EDF1F7"/>
                    </a:solidFill>
                  </a:tcPr>
                </a:tc>
              </a:tr>
            </a:tbl>
          </a:graphicData>
        </a:graphic>
      </p:graphicFrame>
      <p:cxnSp>
        <p:nvCxnSpPr>
          <p:cNvPr id="28" name="Connector 27"/>
          <p:cNvCxnSpPr/>
          <p:nvPr/>
        </p:nvCxnSpPr>
        <p:spPr>
          <a:xfrm>
            <a:off x="558000" y="5454000"/>
            <a:ext cx="9575999" cy="0"/>
          </a:xfrm>
          <a:prstGeom prst="line">
            <a:avLst/>
          </a:prstGeom>
          <a:ln w="25400">
            <a:solidFill>
              <a:srgbClr val="1A1E25"/>
            </a:solidFill>
          </a:ln>
        </p:spPr>
      </p:cxnSp>
      <p:sp>
        <p:nvSpPr>
          <p:cNvPr id="29" name="TextBox 28"/>
          <p:cNvSpPr txBox="1"/>
          <p:nvPr/>
        </p:nvSpPr>
        <p:spPr>
          <a:xfrm>
            <a:off x="558000" y="6948000"/>
            <a:ext cx="9576000" cy="180000"/>
          </a:xfrm>
          <a:prstGeom prst="rect">
            <a:avLst/>
          </a:prstGeom>
          <a:noFill/>
        </p:spPr>
        <p:txBody>
          <a:bodyPr wrap="square" lIns="0" rIns="0" tIns="0" bIns="0" anchor="t">
            <a:spAutoFit/>
          </a:bodyPr>
          <a:lstStyle/>
          <a:p>
            <a:pPr algn="l" eaLnBrk="0">
              <a:lnSpc>
                <a:spcPct val="132000"/>
              </a:lnSpc>
              <a:spcAft>
                <a:spcPts val="0"/>
              </a:spcAft>
            </a:pPr>
            <a:r>
              <a:rPr sz="750" b="0" lang="ko-KR" altLang="en-US">
                <a:solidFill>
                  <a:srgbClr val="5C6573"/>
                </a:solidFill>
                <a:latin typeface="Noto Sans KR"/>
                <a:ea typeface="Noto Sans KR"/>
                <a:cs typeface="Noto Sans KR"/>
              </a:rPr>
              <a:t>모든 값은 2012년 1월부터 2026년 8월까지 14년 8개월 동안 매달 10만 원을 넣은 결과. 투자이익 = 최종 평가액 − 원금 1,760만 원. 회복 기간 = 최대 낙폭이 시작된 고점에서 그 고점을 다시 넘은 날까지. 금액 단위 원(억 · 만 표기).</a:t>
            </a:r>
          </a:p>
        </p:txBody>
      </p:sp>
      <p:sp>
        <p:nvSpPr>
          <p:cNvPr id="30"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4장 · 비율 선택 근거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4893000" y="619200"/>
            <a:ext cx="6660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12</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5장 · Deneb와 단순 적립</a:t>
            </a:r>
          </a:p>
        </p:txBody>
      </p:sp>
      <p:sp>
        <p:nvSpPr>
          <p:cNvPr id="14" name="제목"/>
          <p:cNvSpPr txBox="1"/>
          <p:nvPr/>
        </p:nvSpPr>
        <p:spPr>
          <a:xfrm>
            <a:off x="558000" y="990000"/>
            <a:ext cx="6120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다섯 납입액 — 배율별</a:t>
            </a:r>
          </a:p>
        </p:txBody>
      </p:sp>
      <p:sp>
        <p:nvSpPr>
          <p:cNvPr id="15" name="TextBox 14"/>
          <p:cNvSpPr txBox="1"/>
          <p:nvPr/>
        </p:nvSpPr>
        <p:spPr>
          <a:xfrm>
            <a:off x="558000" y="1584000"/>
            <a:ext cx="6120000" cy="503999"/>
          </a:xfrm>
          <a:prstGeom prst="rect">
            <a:avLst/>
          </a:prstGeom>
          <a:noFill/>
        </p:spPr>
        <p:txBody>
          <a:bodyPr wrap="square" lIns="0" rIns="0" tIns="0" bIns="0" anchor="t">
            <a:spAutoFit/>
          </a:bodyPr>
          <a:lstStyle/>
          <a:p>
            <a:pPr algn="l" eaLnBrk="0">
              <a:lnSpc>
                <a:spcPct val="132000"/>
              </a:lnSpc>
              <a:spcAft>
                <a:spcPts val="0"/>
              </a:spcAft>
            </a:pPr>
            <a:r>
              <a:rPr sz="1050" b="0" lang="ko-KR" altLang="en-US">
                <a:solidFill>
                  <a:srgbClr val="1A1E25"/>
                </a:solidFill>
                <a:latin typeface="Noto Sans KR"/>
                <a:ea typeface="Noto Sans KR"/>
                <a:cs typeface="Noto Sans KR"/>
              </a:rPr>
              <a:t>같은 돈을 QQQ · QLD · TQQQ · S&amp;P500에 그대로 넣었을 때와 Deneb에 넣었을 때 14년 8개월 뒤 금액입니다.</a:t>
            </a:r>
          </a:p>
        </p:txBody>
      </p:sp>
      <p:cxnSp>
        <p:nvCxnSpPr>
          <p:cNvPr id="16" name="Connector 15"/>
          <p:cNvCxnSpPr/>
          <p:nvPr/>
        </p:nvCxnSpPr>
        <p:spPr>
          <a:xfrm>
            <a:off x="558000" y="2124000"/>
            <a:ext cx="9576000" cy="0"/>
          </a:xfrm>
          <a:prstGeom prst="line">
            <a:avLst/>
          </a:prstGeom>
          <a:ln w="9525">
            <a:solidFill>
              <a:srgbClr val="1A1E25"/>
            </a:solidFill>
          </a:ln>
        </p:spPr>
      </p:cxnSp>
      <p:sp>
        <p:nvSpPr>
          <p:cNvPr id="17" name="표지 막대"/>
          <p:cNvSpPr/>
          <p:nvPr/>
        </p:nvSpPr>
        <p:spPr>
          <a:xfrm>
            <a:off x="558000" y="2124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그림 제목"/>
          <p:cNvSpPr txBox="1"/>
          <p:nvPr/>
        </p:nvSpPr>
        <p:spPr>
          <a:xfrm>
            <a:off x="558000" y="2224800"/>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14년 8개월 적립 후 최종 평가액</a:t>
            </a:r>
          </a:p>
        </p:txBody>
      </p:sp>
      <p:sp>
        <p:nvSpPr>
          <p:cNvPr id="19" name="그림 설명"/>
          <p:cNvSpPr txBox="1"/>
          <p:nvPr/>
        </p:nvSpPr>
        <p:spPr>
          <a:xfrm>
            <a:off x="558000" y="2412000"/>
            <a:ext cx="957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2012-01 ~ 2026-08 · 176회 · 단위 만 원 · 세전</a:t>
            </a:r>
          </a:p>
        </p:txBody>
      </p:sp>
      <p:graphicFrame>
        <p:nvGraphicFramePr>
          <p:cNvPr id="20" name="표"/>
          <p:cNvGraphicFramePr>
            <a:graphicFrameLocks noGrp="1"/>
          </p:cNvGraphicFramePr>
          <p:nvPr/>
        </p:nvGraphicFramePr>
        <p:xfrm>
          <a:off x="558000" y="2592000"/>
          <a:ext cx="9575994" cy="1785600"/>
        </p:xfrm>
        <a:graphic>
          <a:graphicData uri="http://schemas.openxmlformats.org/drawingml/2006/table">
            <a:tbl>
              <a:tblPr firstRow="0" bandRow="0" firstCol="0" lastCol="0" bandCol="0" lastRow="0">
                <a:tableStyleId>{5940675A-B579-460E-94D1-54222C63F5DA}</a:tableStyleId>
              </a:tblPr>
              <a:tblGrid>
                <a:gridCol w="936000"/>
                <a:gridCol w="756000"/>
                <a:gridCol w="1157999"/>
                <a:gridCol w="1157999"/>
                <a:gridCol w="1157999"/>
                <a:gridCol w="1157999"/>
                <a:gridCol w="1157999"/>
                <a:gridCol w="1157999"/>
                <a:gridCol w="936000"/>
              </a:tblGrid>
              <a:tr h="2232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월 납입액</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원금</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QQQ 단독 적립</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QLD 단독</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TQQQ 단독</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S&amp;P500 단독</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TQQQ 60 · SCHD 40</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Deneb</a:t>
                      </a:r>
                      <a:endParaRPr sz="850"/>
                    </a:p>
                  </a:txBody>
                  <a:tcPr marL="28800" marR="43200" marT="25200" marB="25200" anchor="b">
                    <a:lnL w="0">
                      <a:noFill/>
                    </a:lnL>
                    <a:lnR w="0">
                      <a:noFill/>
                    </a:lnR>
                    <a:lnT w="9525">
                      <a:solidFill>
                        <a:srgbClr val="1A1E25"/>
                      </a:solidFill>
                    </a:lnT>
                    <a:lnB w="9525">
                      <a:solidFill>
                        <a:srgbClr val="1A1E25"/>
                      </a:solidFill>
                    </a:lnB>
                    <a:solidFill>
                      <a:srgbClr val="EDF1F7"/>
                    </a:solid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Deneb − QQQ</a:t>
                      </a:r>
                      <a:endParaRPr sz="850"/>
                    </a:p>
                  </a:txBody>
                  <a:tcPr marL="28800" marR="43200" marT="25200" marB="25200" anchor="b">
                    <a:lnL w="0">
                      <a:noFill/>
                    </a:lnL>
                    <a:lnR w="0">
                      <a:noFill/>
                    </a:lnR>
                    <a:lnT w="9525">
                      <a:solidFill>
                        <a:srgbClr val="1A1E25"/>
                      </a:solidFill>
                    </a:lnT>
                    <a:lnB w="9525">
                      <a:solidFill>
                        <a:srgbClr val="1A1E25"/>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10만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25,432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51,272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5,810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26,587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36,111</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+27,307</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20만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3,520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50,864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102,543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11,620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53,174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72,222</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+54,613</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30만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5,280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26,414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76,296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153,815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17,430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79,761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108,334</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+81,920</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50만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44,023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127,160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256,358</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29,050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132,935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180,556</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+136,533</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100만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88,045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254,321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512,716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58,100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265,870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361,112</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+273,067</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최대 낙폭</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−35.1%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−63.7%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−81.7%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−33.7%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−61.4%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−31.7%</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회복 기간</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24개월</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30개월</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36개월</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6개월</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29개월</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19개월</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a:t>
                      </a:r>
                      <a:endParaRPr sz="90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1" name="Connector 20"/>
          <p:cNvCxnSpPr/>
          <p:nvPr/>
        </p:nvCxnSpPr>
        <p:spPr>
          <a:xfrm>
            <a:off x="558000" y="2592000"/>
            <a:ext cx="9575999" cy="0"/>
          </a:xfrm>
          <a:prstGeom prst="line">
            <a:avLst/>
          </a:prstGeom>
          <a:ln w="25400">
            <a:solidFill>
              <a:srgbClr val="1A1E25"/>
            </a:solidFill>
          </a:ln>
        </p:spPr>
      </p:cxnSp>
      <p:cxnSp>
        <p:nvCxnSpPr>
          <p:cNvPr id="22" name="Connector 21"/>
          <p:cNvCxnSpPr/>
          <p:nvPr/>
        </p:nvCxnSpPr>
        <p:spPr>
          <a:xfrm>
            <a:off x="558000" y="4824000"/>
            <a:ext cx="3006000" cy="0"/>
          </a:xfrm>
          <a:prstGeom prst="line">
            <a:avLst/>
          </a:prstGeom>
          <a:ln w="6350">
            <a:solidFill>
              <a:srgbClr val="C9D0DA"/>
            </a:solidFill>
          </a:ln>
        </p:spPr>
      </p:cxnSp>
      <p:sp>
        <p:nvSpPr>
          <p:cNvPr id="23" name="TextBox 22"/>
          <p:cNvSpPr txBox="1"/>
          <p:nvPr/>
        </p:nvSpPr>
        <p:spPr>
          <a:xfrm>
            <a:off x="558000" y="4896000"/>
            <a:ext cx="3006000" cy="1979999"/>
          </a:xfrm>
          <a:prstGeom prst="rect">
            <a:avLst/>
          </a:prstGeom>
          <a:noFill/>
        </p:spPr>
        <p:txBody>
          <a:bodyPr wrap="square" lIns="0" rIns="0" tIns="0" bIns="0" anchor="t">
            <a:spAutoFit/>
          </a:bodyPr>
          <a:lstStyle/>
          <a:p>
            <a:pPr algn="l" eaLnBrk="0">
              <a:lnSpc>
                <a:spcPct val="132000"/>
              </a:lnSpc>
              <a:spcAft>
                <a:spcPts val="400"/>
              </a:spcAft>
            </a:pPr>
            <a:r>
              <a:rPr sz="950" b="1" lang="ko-KR" altLang="en-US">
                <a:solidFill>
                  <a:srgbClr val="1A1E25"/>
                </a:solidFill>
                <a:latin typeface="Noto Sans KR"/>
                <a:ea typeface="Noto Sans KR"/>
                <a:cs typeface="Noto Sans KR"/>
              </a:rPr>
              <a:t>가장 많이 남은 쪽  </a:t>
            </a:r>
            <a:r>
              <a:rPr sz="950" b="0" lang="ko-KR" altLang="en-US">
                <a:solidFill>
                  <a:srgbClr val="1A1E25"/>
                </a:solidFill>
                <a:latin typeface="Noto Sans KR"/>
                <a:ea typeface="Noto Sans KR"/>
                <a:cs typeface="Noto Sans KR"/>
              </a:rPr>
              <a:t>TQQQ 단독이 모든 금액에서 가장 많이 남았습니다. 월 100만 원이면 51억 원이 넘습니다. 그러나 2022년에 고점 대비 −82%까지 내려 3년 가까이 회복하지 못했습니다.</a:t>
            </a:r>
          </a:p>
        </p:txBody>
      </p:sp>
      <p:cxnSp>
        <p:nvCxnSpPr>
          <p:cNvPr id="24" name="Connector 23"/>
          <p:cNvCxnSpPr/>
          <p:nvPr/>
        </p:nvCxnSpPr>
        <p:spPr>
          <a:xfrm>
            <a:off x="3844800" y="4824000"/>
            <a:ext cx="3006000" cy="0"/>
          </a:xfrm>
          <a:prstGeom prst="line">
            <a:avLst/>
          </a:prstGeom>
          <a:ln w="6350">
            <a:solidFill>
              <a:srgbClr val="C9D0DA"/>
            </a:solidFill>
          </a:ln>
        </p:spPr>
      </p:cxnSp>
      <p:sp>
        <p:nvSpPr>
          <p:cNvPr id="25" name="TextBox 24"/>
          <p:cNvSpPr txBox="1"/>
          <p:nvPr/>
        </p:nvSpPr>
        <p:spPr>
          <a:xfrm>
            <a:off x="3844800" y="4896000"/>
            <a:ext cx="3006000" cy="1979999"/>
          </a:xfrm>
          <a:prstGeom prst="rect">
            <a:avLst/>
          </a:prstGeom>
          <a:noFill/>
        </p:spPr>
        <p:txBody>
          <a:bodyPr wrap="square" lIns="0" rIns="0" tIns="0" bIns="0" anchor="t">
            <a:spAutoFit/>
          </a:bodyPr>
          <a:lstStyle/>
          <a:p>
            <a:pPr algn="l" eaLnBrk="0">
              <a:lnSpc>
                <a:spcPct val="132000"/>
              </a:lnSpc>
              <a:spcAft>
                <a:spcPts val="400"/>
              </a:spcAft>
            </a:pPr>
            <a:r>
              <a:rPr sz="950" b="1" lang="ko-KR" altLang="en-US">
                <a:solidFill>
                  <a:srgbClr val="1A1E25"/>
                </a:solidFill>
                <a:latin typeface="Noto Sans KR"/>
                <a:ea typeface="Noto Sans KR"/>
                <a:cs typeface="Noto Sans KR"/>
              </a:rPr>
              <a:t>Deneb의 위치  </a:t>
            </a:r>
            <a:r>
              <a:rPr sz="950" b="0" lang="ko-KR" altLang="en-US">
                <a:solidFill>
                  <a:srgbClr val="1A1E25"/>
                </a:solidFill>
                <a:latin typeface="Noto Sans KR"/>
                <a:ea typeface="Noto Sans KR"/>
                <a:cs typeface="Noto Sans KR"/>
              </a:rPr>
              <a:t>TQQQ 단독의 약 70%를 남기면서 최대 낙폭은 −32%로 QQQ 단독 적립(−35%)과 비슷했습니다. 같은 돈이면 QQQ 단독 적립보다 4.1배 많이 남았습니다.</a:t>
            </a:r>
          </a:p>
        </p:txBody>
      </p:sp>
      <p:cxnSp>
        <p:nvCxnSpPr>
          <p:cNvPr id="26" name="Connector 25"/>
          <p:cNvCxnSpPr/>
          <p:nvPr/>
        </p:nvCxnSpPr>
        <p:spPr>
          <a:xfrm>
            <a:off x="7128000" y="4824000"/>
            <a:ext cx="3006000" cy="0"/>
          </a:xfrm>
          <a:prstGeom prst="line">
            <a:avLst/>
          </a:prstGeom>
          <a:ln w="6350">
            <a:solidFill>
              <a:srgbClr val="C9D0DA"/>
            </a:solidFill>
          </a:ln>
        </p:spPr>
      </p:cxnSp>
      <p:sp>
        <p:nvSpPr>
          <p:cNvPr id="27" name="TextBox 26"/>
          <p:cNvSpPr txBox="1"/>
          <p:nvPr/>
        </p:nvSpPr>
        <p:spPr>
          <a:xfrm>
            <a:off x="7128000" y="4896000"/>
            <a:ext cx="3006000" cy="1979999"/>
          </a:xfrm>
          <a:prstGeom prst="rect">
            <a:avLst/>
          </a:prstGeom>
          <a:noFill/>
        </p:spPr>
        <p:txBody>
          <a:bodyPr wrap="square" lIns="0" rIns="0" tIns="0" bIns="0" anchor="t">
            <a:spAutoFit/>
          </a:bodyPr>
          <a:lstStyle/>
          <a:p>
            <a:pPr algn="l" eaLnBrk="0">
              <a:lnSpc>
                <a:spcPct val="132000"/>
              </a:lnSpc>
              <a:spcAft>
                <a:spcPts val="400"/>
              </a:spcAft>
            </a:pPr>
            <a:r>
              <a:rPr sz="950" b="1" lang="ko-KR" altLang="en-US">
                <a:solidFill>
                  <a:srgbClr val="1A1E25"/>
                </a:solidFill>
                <a:latin typeface="Noto Sans KR"/>
                <a:ea typeface="Noto Sans KR"/>
                <a:cs typeface="Noto Sans KR"/>
              </a:rPr>
              <a:t>주의  </a:t>
            </a:r>
            <a:r>
              <a:rPr sz="950" b="0" lang="ko-KR" altLang="en-US">
                <a:solidFill>
                  <a:srgbClr val="1A1E25"/>
                </a:solidFill>
                <a:latin typeface="Noto Sans KR"/>
                <a:ea typeface="Noto Sans KR"/>
                <a:cs typeface="Noto Sans KR"/>
              </a:rPr>
              <a:t>이 차이의 상당 부분은 2012~2026년 나스닥100이 연 20% 가까이 오른 덕분입니다. 상승이 약한 기간에는 레버리지의 손실이 더 커질 수 있습니다(4장 긴 기간 연구).</a:t>
            </a:r>
          </a:p>
        </p:txBody>
      </p:sp>
      <p:sp>
        <p:nvSpPr>
          <p:cNvPr id="28"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실제 ETF 수정 종가(QQQ · QLD · TQQQ · SCHD · SPY · IEF · GLD), 자체 계산 · 비용 0.15% · 세전 · 환율 고정 · 소수 주</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4893000" y="619200"/>
            <a:ext cx="6660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13</a:t>
            </a:r>
          </a:p>
        </p:txBody>
      </p:sp>
      <p:sp>
        <p:nvSpPr>
          <p:cNvPr id="13"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다섯 납입액의 결과</a:t>
            </a:r>
          </a:p>
        </p:txBody>
      </p:sp>
      <p:sp>
        <p:nvSpPr>
          <p:cNvPr id="14" name="인용 막대"/>
          <p:cNvSpPr/>
          <p:nvPr/>
        </p:nvSpPr>
        <p:spPr>
          <a:xfrm>
            <a:off x="558000" y="1576800"/>
            <a:ext cx="32400" cy="7344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인용"/>
          <p:cNvSpPr txBox="1"/>
          <p:nvPr/>
        </p:nvSpPr>
        <p:spPr>
          <a:xfrm>
            <a:off x="737999" y="1548000"/>
            <a:ext cx="2826000" cy="792000"/>
          </a:xfrm>
          <a:prstGeom prst="rect">
            <a:avLst/>
          </a:prstGeom>
          <a:noFill/>
        </p:spPr>
        <p:txBody>
          <a:bodyPr wrap="square" lIns="0" rIns="0" tIns="0" bIns="0" anchor="t">
            <a:spAutoFit/>
          </a:bodyPr>
          <a:lstStyle/>
          <a:p>
            <a:pPr algn="l" eaLnBrk="0">
              <a:lnSpc>
                <a:spcPct val="122000"/>
              </a:lnSpc>
              <a:spcAft>
                <a:spcPts val="0"/>
              </a:spcAft>
            </a:pPr>
            <a:r>
              <a:rPr sz="1450" b="0" lang="ko-KR" altLang="en-US">
                <a:solidFill>
                  <a:srgbClr val="1A1E25"/>
                </a:solidFill>
                <a:latin typeface="Malgun Gothic Semilight"/>
                <a:ea typeface="Malgun Gothic Semilight"/>
                <a:cs typeface="Malgun Gothic Semilight"/>
              </a:rPr>
              <a:t>14년 8개월 · 같은 날 · 같은 비용입니다. 금액만 다릅니다.</a:t>
            </a:r>
          </a:p>
        </p:txBody>
      </p:sp>
      <p:sp>
        <p:nvSpPr>
          <p:cNvPr id="16" name="TextBox 15"/>
          <p:cNvSpPr txBox="1"/>
          <p:nvPr/>
        </p:nvSpPr>
        <p:spPr>
          <a:xfrm>
            <a:off x="558000" y="2466000"/>
            <a:ext cx="3006000" cy="900000"/>
          </a:xfrm>
          <a:prstGeom prst="rect">
            <a:avLst/>
          </a:prstGeom>
          <a:noFill/>
        </p:spPr>
        <p:txBody>
          <a:bodyPr wrap="square" lIns="0" rIns="0" tIns="0" bIns="0" anchor="t">
            <a:spAutoFit/>
          </a:bodyPr>
          <a:lstStyle/>
          <a:p>
            <a:pPr algn="l" eaLnBrk="0">
              <a:lnSpc>
                <a:spcPct val="132000"/>
              </a:lnSpc>
              <a:spcAft>
                <a:spcPts val="0"/>
              </a:spcAft>
            </a:pPr>
            <a:r>
              <a:rPr sz="950" b="0" lang="ko-KR" altLang="en-US">
                <a:solidFill>
                  <a:srgbClr val="1A1E25"/>
                </a:solidFill>
                <a:latin typeface="Noto Sans KR"/>
                <a:ea typeface="Noto Sans KR"/>
                <a:cs typeface="Noto Sans KR"/>
              </a:rPr>
              <a:t>이 계산은 세금 전 · 소수 주 허용 · 비율 비용이어서 연복리와 낙폭은 금액과 상관없이 같습니다 (Deneb 연 35.6%, QQQ 단독 적립 19.8%, Polaris 12.3%). 그래서 아래 금액만 다섯 줄로 나눠 봅니다.</a:t>
            </a:r>
          </a:p>
        </p:txBody>
      </p:sp>
      <p:cxnSp>
        <p:nvCxnSpPr>
          <p:cNvPr id="17" name="Connector 16"/>
          <p:cNvCxnSpPr/>
          <p:nvPr/>
        </p:nvCxnSpPr>
        <p:spPr>
          <a:xfrm>
            <a:off x="3844800" y="990000"/>
            <a:ext cx="6289200" cy="0"/>
          </a:xfrm>
          <a:prstGeom prst="line">
            <a:avLst/>
          </a:prstGeom>
          <a:ln w="9525">
            <a:solidFill>
              <a:srgbClr val="1A1E25"/>
            </a:solidFill>
          </a:ln>
        </p:spPr>
      </p:cxnSp>
      <p:sp>
        <p:nvSpPr>
          <p:cNvPr id="18" name="표지 막대"/>
          <p:cNvSpPr/>
          <p:nvPr/>
        </p:nvSpPr>
        <p:spPr>
          <a:xfrm>
            <a:off x="3844800" y="99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그림 제목"/>
          <p:cNvSpPr txBox="1"/>
          <p:nvPr/>
        </p:nvSpPr>
        <p:spPr>
          <a:xfrm>
            <a:off x="3844800" y="1090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14년 8개월 적립 후 최종 평가액 차이 — QQQ 단독 적립과 비교</a:t>
            </a:r>
          </a:p>
        </p:txBody>
      </p:sp>
      <p:sp>
        <p:nvSpPr>
          <p:cNvPr id="20" name="그림 설명"/>
          <p:cNvSpPr txBox="1"/>
          <p:nvPr/>
        </p:nvSpPr>
        <p:spPr>
          <a:xfrm>
            <a:off x="3844800" y="1278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같은 돈으로 QQQ만 샀을 때보다 더 남았으면 오른쪽, 덜 남았으면 왼쪽 · 2026-08-31 · 단위 만 원 · 세전</a:t>
            </a:r>
          </a:p>
        </p:txBody>
      </p:sp>
      <p:graphicFrame>
        <p:nvGraphicFramePr>
          <p:cNvPr id="21" name="QQQ 대비 차이"/>
          <p:cNvGraphicFramePr>
            <a:graphicFrameLocks noGrp="1"/>
          </p:cNvGraphicFramePr>
          <p:nvPr/>
        </p:nvGraphicFramePr>
        <p:xfrm>
          <a:off x="3844800" y="1458000"/>
          <a:ext cx="6289200" cy="1944000"/>
        </p:xfrm>
        <a:graphic>
          <a:graphicData uri="http://schemas.openxmlformats.org/drawingml/2006/chart">
            <c:chart xmlns:c="http://schemas.openxmlformats.org/drawingml/2006/chart" r:id="rId2"/>
          </a:graphicData>
        </a:graphic>
      </p:graphicFrame>
      <p:cxnSp>
        <p:nvCxnSpPr>
          <p:cNvPr id="22" name="Connector 21"/>
          <p:cNvCxnSpPr/>
          <p:nvPr/>
        </p:nvCxnSpPr>
        <p:spPr>
          <a:xfrm>
            <a:off x="558000" y="3654000"/>
            <a:ext cx="9576000" cy="0"/>
          </a:xfrm>
          <a:prstGeom prst="line">
            <a:avLst/>
          </a:prstGeom>
          <a:ln w="9525">
            <a:solidFill>
              <a:srgbClr val="1A1E25"/>
            </a:solidFill>
          </a:ln>
        </p:spPr>
      </p:cxnSp>
      <p:sp>
        <p:nvSpPr>
          <p:cNvPr id="23" name="표지 막대"/>
          <p:cNvSpPr/>
          <p:nvPr/>
        </p:nvSpPr>
        <p:spPr>
          <a:xfrm>
            <a:off x="558000" y="3654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그림 제목"/>
          <p:cNvSpPr txBox="1"/>
          <p:nvPr/>
        </p:nvSpPr>
        <p:spPr>
          <a:xfrm>
            <a:off x="558000" y="3754800"/>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14년 8개월 적립 후 납입액별 최종 평가액과 투자이익</a:t>
            </a:r>
          </a:p>
        </p:txBody>
      </p:sp>
      <p:sp>
        <p:nvSpPr>
          <p:cNvPr id="25" name="그림 설명"/>
          <p:cNvSpPr txBox="1"/>
          <p:nvPr/>
        </p:nvSpPr>
        <p:spPr>
          <a:xfrm>
            <a:off x="558000" y="3942000"/>
            <a:ext cx="957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2012-01 ~ 2026-08 매달 첫 거래일 납입 176회 · 단위 만 원 · 세전 · 투자이익 = 최종 평가액 − 원금</a:t>
            </a:r>
          </a:p>
        </p:txBody>
      </p:sp>
      <p:graphicFrame>
        <p:nvGraphicFramePr>
          <p:cNvPr id="26" name="표"/>
          <p:cNvGraphicFramePr>
            <a:graphicFrameLocks noGrp="1"/>
          </p:cNvGraphicFramePr>
          <p:nvPr/>
        </p:nvGraphicFramePr>
        <p:xfrm>
          <a:off x="558000" y="4140000"/>
          <a:ext cx="9575992" cy="1512000"/>
        </p:xfrm>
        <a:graphic>
          <a:graphicData uri="http://schemas.openxmlformats.org/drawingml/2006/table">
            <a:tbl>
              <a:tblPr firstRow="0" bandRow="0" firstCol="0" lastCol="0" bandCol="0" lastRow="0">
                <a:tableStyleId>{5940675A-B579-460E-94D1-54222C63F5DA}</a:tableStyleId>
              </a:tblPr>
              <a:tblGrid>
                <a:gridCol w="929014"/>
                <a:gridCol w="821820"/>
                <a:gridCol w="982611"/>
                <a:gridCol w="982611"/>
                <a:gridCol w="982611"/>
                <a:gridCol w="982611"/>
                <a:gridCol w="982611"/>
                <a:gridCol w="982611"/>
                <a:gridCol w="964746"/>
                <a:gridCol w="964746"/>
              </a:tblGrid>
              <a:tr h="2160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원금</a:t>
                      </a:r>
                      <a:endParaRPr sz="850"/>
                    </a:p>
                  </a:txBody>
                  <a:tcPr marL="28800" marR="43200" marT="25200" marB="25200" anchor="b">
                    <a:lnL w="0">
                      <a:noFill/>
                    </a:lnL>
                    <a:lnR w="0">
                      <a:noFill/>
                    </a:lnR>
                    <a:lnT w="9525">
                      <a:solidFill>
                        <a:srgbClr val="1A1E25"/>
                      </a:solidFill>
                    </a:lnT>
                    <a:lnB w="0">
                      <a:noFill/>
                    </a:lnB>
                    <a:noFill/>
                  </a:tcPr>
                </a:tc>
                <a:tc gridSpan="2">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Deneb</a:t>
                      </a:r>
                      <a:endParaRPr sz="850"/>
                    </a:p>
                  </a:txBody>
                  <a:tcPr marL="28800" marR="43200" marT="25200" marB="25200" anchor="b">
                    <a:lnL w="0">
                      <a:noFill/>
                    </a:lnL>
                    <a:lnR w="0">
                      <a:noFill/>
                    </a:lnR>
                    <a:lnT w="9525">
                      <a:solidFill>
                        <a:srgbClr val="1A1E25"/>
                      </a:solidFill>
                    </a:lnT>
                    <a:lnB w="0">
                      <a:noFill/>
                    </a:lnB>
                    <a:noFill/>
                  </a:tcPr>
                </a:tc>
                <a:tc hMerge="1">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c gridSpan="2">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QQQ 단독 적립</a:t>
                      </a:r>
                      <a:endParaRPr sz="850"/>
                    </a:p>
                  </a:txBody>
                  <a:tcPr marL="28800" marR="43200" marT="25200" marB="25200" anchor="b">
                    <a:lnL w="0">
                      <a:noFill/>
                    </a:lnL>
                    <a:lnR w="0">
                      <a:noFill/>
                    </a:lnR>
                    <a:lnT w="9525">
                      <a:solidFill>
                        <a:srgbClr val="1A1E25"/>
                      </a:solidFill>
                    </a:lnT>
                    <a:lnB w="0">
                      <a:noFill/>
                    </a:lnB>
                    <a:noFill/>
                  </a:tcPr>
                </a:tc>
                <a:tc hMerge="1">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c gridSpan="2">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Polaris</a:t>
                      </a:r>
                      <a:endParaRPr sz="850"/>
                    </a:p>
                  </a:txBody>
                  <a:tcPr marL="28800" marR="43200" marT="25200" marB="25200" anchor="b">
                    <a:lnL w="0">
                      <a:noFill/>
                    </a:lnL>
                    <a:lnR w="0">
                      <a:noFill/>
                    </a:lnR>
                    <a:lnT w="9525">
                      <a:solidFill>
                        <a:srgbClr val="1A1E25"/>
                      </a:solidFill>
                    </a:lnT>
                    <a:lnB w="0">
                      <a:noFill/>
                    </a:lnB>
                    <a:noFill/>
                  </a:tcPr>
                </a:tc>
                <a:tc hMerge="1">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c gridSpan="2">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QQQ 단독 적립과 차이</a:t>
                      </a:r>
                      <a:endParaRPr sz="850"/>
                    </a:p>
                  </a:txBody>
                  <a:tcPr marL="28800" marR="43200" marT="25200" marB="25200" anchor="b">
                    <a:lnL w="0">
                      <a:noFill/>
                    </a:lnL>
                    <a:lnR w="0">
                      <a:noFill/>
                    </a:lnR>
                    <a:lnT w="9525">
                      <a:solidFill>
                        <a:srgbClr val="1A1E25"/>
                      </a:solidFill>
                    </a:lnT>
                    <a:lnB w="0">
                      <a:noFill/>
                    </a:lnB>
                    <a:noFill/>
                  </a:tcPr>
                </a:tc>
                <a:tc hMerge="1">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r>
              <a:tr h="2160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월 납입액</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최종 평가액</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투자이익</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최종 평가액</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투자이익</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최종 평가액</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투자이익</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Deneb</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Polaris</a:t>
                      </a:r>
                      <a:endParaRPr sz="850"/>
                    </a:p>
                  </a:txBody>
                  <a:tcPr marL="28800" marR="43200" marT="25200" marB="25200" anchor="b">
                    <a:lnL w="0">
                      <a:noFill/>
                    </a:lnL>
                    <a:lnR w="0">
                      <a:noFill/>
                    </a:lnR>
                    <a:lnT w="0">
                      <a:noFill/>
                    </a:lnT>
                    <a:lnB w="9525">
                      <a:solidFill>
                        <a:srgbClr val="1A1E25"/>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10만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36,111</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34,351</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7,045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5,077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3,317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+27,307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−3,728</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20만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3,520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72,222</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68,702</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14,089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10,153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6,633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+54,613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−7,456</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30만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5,280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108,334</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103,054</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26,414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21,134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15,230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9,950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+81,920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−11,183</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50만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180,556</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171,756</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44,023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35,223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25,384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16,584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+136,533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−18,639</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100만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361,112</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343,512</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88,045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70,445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50,767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33,167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+273,067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−37,278</a:t>
                      </a:r>
                      <a:endParaRPr sz="90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7" name="Connector 26"/>
          <p:cNvCxnSpPr/>
          <p:nvPr/>
        </p:nvCxnSpPr>
        <p:spPr>
          <a:xfrm>
            <a:off x="558000" y="4140000"/>
            <a:ext cx="9576000" cy="0"/>
          </a:xfrm>
          <a:prstGeom prst="line">
            <a:avLst/>
          </a:prstGeom>
          <a:ln w="25400">
            <a:solidFill>
              <a:srgbClr val="1A1E25"/>
            </a:solidFill>
          </a:ln>
        </p:spPr>
      </p:cxnSp>
      <p:cxnSp>
        <p:nvCxnSpPr>
          <p:cNvPr id="28" name="Connector 27"/>
          <p:cNvCxnSpPr/>
          <p:nvPr/>
        </p:nvCxnSpPr>
        <p:spPr>
          <a:xfrm>
            <a:off x="558000" y="5886000"/>
            <a:ext cx="3006000" cy="0"/>
          </a:xfrm>
          <a:prstGeom prst="line">
            <a:avLst/>
          </a:prstGeom>
          <a:ln w="6350">
            <a:solidFill>
              <a:srgbClr val="C9D0DA"/>
            </a:solidFill>
          </a:ln>
        </p:spPr>
      </p:cxnSp>
      <p:sp>
        <p:nvSpPr>
          <p:cNvPr id="29" name="TextBox 28"/>
          <p:cNvSpPr txBox="1"/>
          <p:nvPr/>
        </p:nvSpPr>
        <p:spPr>
          <a:xfrm>
            <a:off x="558000" y="5958000"/>
            <a:ext cx="3006000" cy="1296000"/>
          </a:xfrm>
          <a:prstGeom prst="rect">
            <a:avLst/>
          </a:prstGeom>
          <a:noFill/>
        </p:spPr>
        <p:txBody>
          <a:bodyPr wrap="square" lIns="0" rIns="0" tIns="0" bIns="0" anchor="t">
            <a:spAutoFit/>
          </a:bodyPr>
          <a:lstStyle/>
          <a:p>
            <a:pPr algn="l" eaLnBrk="0">
              <a:lnSpc>
                <a:spcPct val="132000"/>
              </a:lnSpc>
              <a:spcAft>
                <a:spcPts val="0"/>
              </a:spcAft>
            </a:pPr>
            <a:r>
              <a:rPr sz="900" b="1" lang="ko-KR" altLang="en-US">
                <a:solidFill>
                  <a:srgbClr val="1A1E25"/>
                </a:solidFill>
                <a:latin typeface="Noto Sans KR"/>
                <a:ea typeface="Noto Sans KR"/>
                <a:cs typeface="Noto Sans KR"/>
              </a:rPr>
              <a:t>읽는 법  </a:t>
            </a:r>
            <a:r>
              <a:rPr sz="900" b="0" lang="ko-KR" altLang="en-US">
                <a:solidFill>
                  <a:srgbClr val="1A1E25"/>
                </a:solidFill>
                <a:latin typeface="Noto Sans KR"/>
                <a:ea typeface="Noto Sans KR"/>
                <a:cs typeface="Noto Sans KR"/>
              </a:rPr>
              <a:t>최종 평가액은 넣은 원금이 포함된 금액입니다. 원금을 뺀 투자이익을 따로 봐야 합니다. 예: 월 10만 원 QQQ 단독 적립은 8,805만 원이 남았고 그중 7,045만 원이 투자이익입니다.</a:t>
            </a:r>
          </a:p>
        </p:txBody>
      </p:sp>
      <p:cxnSp>
        <p:nvCxnSpPr>
          <p:cNvPr id="30" name="Connector 29"/>
          <p:cNvCxnSpPr/>
          <p:nvPr/>
        </p:nvCxnSpPr>
        <p:spPr>
          <a:xfrm>
            <a:off x="3844800" y="5886000"/>
            <a:ext cx="3006000" cy="0"/>
          </a:xfrm>
          <a:prstGeom prst="line">
            <a:avLst/>
          </a:prstGeom>
          <a:ln w="6350">
            <a:solidFill>
              <a:srgbClr val="C9D0DA"/>
            </a:solidFill>
          </a:ln>
        </p:spPr>
      </p:cxnSp>
      <p:sp>
        <p:nvSpPr>
          <p:cNvPr id="31" name="TextBox 30"/>
          <p:cNvSpPr txBox="1"/>
          <p:nvPr/>
        </p:nvSpPr>
        <p:spPr>
          <a:xfrm>
            <a:off x="3844800" y="5958000"/>
            <a:ext cx="3006000" cy="1296000"/>
          </a:xfrm>
          <a:prstGeom prst="rect">
            <a:avLst/>
          </a:prstGeom>
          <a:noFill/>
        </p:spPr>
        <p:txBody>
          <a:bodyPr wrap="square" lIns="0" rIns="0" tIns="0" bIns="0" anchor="t">
            <a:spAutoFit/>
          </a:bodyPr>
          <a:lstStyle/>
          <a:p>
            <a:pPr algn="l" eaLnBrk="0">
              <a:lnSpc>
                <a:spcPct val="132000"/>
              </a:lnSpc>
              <a:spcAft>
                <a:spcPts val="0"/>
              </a:spcAft>
            </a:pPr>
            <a:r>
              <a:rPr sz="900" b="1" lang="ko-KR" altLang="en-US">
                <a:solidFill>
                  <a:srgbClr val="1A1E25"/>
                </a:solidFill>
                <a:latin typeface="Noto Sans KR"/>
                <a:ea typeface="Noto Sans KR"/>
                <a:cs typeface="Noto Sans KR"/>
              </a:rPr>
              <a:t>돈으로 본 흔들림  </a:t>
            </a:r>
            <a:r>
              <a:rPr sz="900" b="0" lang="ko-KR" altLang="en-US">
                <a:solidFill>
                  <a:srgbClr val="1A1E25"/>
                </a:solidFill>
                <a:latin typeface="Noto Sans KR"/>
                <a:ea typeface="Noto Sans KR"/>
                <a:cs typeface="Noto Sans KR"/>
              </a:rPr>
              <a:t>비율이 같아도 금액이 크면 체감이 다릅니다. 월 10만 원 Deneb 평가액은 2024년 12월 2억 2,316만 원에서 2025년 4월까지 4,082만 원 줄었습니다. 월 100만 원이면 같은 기간 4억 817만 원이 줄어듭니다.</a:t>
            </a:r>
          </a:p>
        </p:txBody>
      </p:sp>
      <p:cxnSp>
        <p:nvCxnSpPr>
          <p:cNvPr id="32" name="Connector 31"/>
          <p:cNvCxnSpPr/>
          <p:nvPr/>
        </p:nvCxnSpPr>
        <p:spPr>
          <a:xfrm>
            <a:off x="7128000" y="5886000"/>
            <a:ext cx="3006000" cy="0"/>
          </a:xfrm>
          <a:prstGeom prst="line">
            <a:avLst/>
          </a:prstGeom>
          <a:ln w="6350">
            <a:solidFill>
              <a:srgbClr val="C9D0DA"/>
            </a:solidFill>
          </a:ln>
        </p:spPr>
      </p:cxnSp>
      <p:sp>
        <p:nvSpPr>
          <p:cNvPr id="33" name="TextBox 32"/>
          <p:cNvSpPr txBox="1"/>
          <p:nvPr/>
        </p:nvSpPr>
        <p:spPr>
          <a:xfrm>
            <a:off x="7128000" y="5958000"/>
            <a:ext cx="3006000" cy="1296000"/>
          </a:xfrm>
          <a:prstGeom prst="rect">
            <a:avLst/>
          </a:prstGeom>
          <a:noFill/>
        </p:spPr>
        <p:txBody>
          <a:bodyPr wrap="square" lIns="0" rIns="0" tIns="0" bIns="0" anchor="t">
            <a:spAutoFit/>
          </a:bodyPr>
          <a:lstStyle/>
          <a:p>
            <a:pPr algn="l" eaLnBrk="0">
              <a:lnSpc>
                <a:spcPct val="132000"/>
              </a:lnSpc>
              <a:spcAft>
                <a:spcPts val="0"/>
              </a:spcAft>
            </a:pPr>
            <a:r>
              <a:rPr sz="900" b="1" lang="ko-KR" altLang="en-US">
                <a:solidFill>
                  <a:srgbClr val="1A1E25"/>
                </a:solidFill>
                <a:latin typeface="Noto Sans KR"/>
                <a:ea typeface="Noto Sans KR"/>
                <a:cs typeface="Noto Sans KR"/>
              </a:rPr>
              <a:t>비례가 깨지는 경우  </a:t>
            </a:r>
            <a:r>
              <a:rPr sz="900" b="0" lang="ko-KR" altLang="en-US">
                <a:solidFill>
                  <a:srgbClr val="1A1E25"/>
                </a:solidFill>
                <a:latin typeface="Noto Sans KR"/>
                <a:ea typeface="Noto Sans KR"/>
                <a:cs typeface="Noto Sans KR"/>
              </a:rPr>
              <a:t>실제 계좌에서는 정수 주 매수, 최소 주문 금액, 해외주식 양도세(연 250만 원 공제 뒤 22%), 환율 때문에 금액이 정확히 비례하지 않습니다. 이 표는 실제 주문 결과가 아니라 설명용 계산입니다.</a:t>
            </a:r>
          </a:p>
        </p:txBody>
      </p:sp>
      <p:sp>
        <p:nvSpPr>
          <p:cNvPr id="34"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5장 · Deneb와 단순 적립</a:t>
            </a:r>
          </a:p>
        </p:txBody>
      </p:sp>
      <p:sp>
        <p:nvSpPr>
          <p:cNvPr id="35"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실제 ETF 수정 종가(QQQ · QLD · TQQQ · SCHD · SPY · IEF · GLD), 자체 계산 · 비용 0.15% · 세전 · 환율 고정 · 소수 주</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4893000" y="619200"/>
            <a:ext cx="6660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14</a:t>
            </a:r>
          </a:p>
        </p:txBody>
      </p:sp>
      <p:sp>
        <p:nvSpPr>
          <p:cNvPr id="13"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기간별 자산 변화</a:t>
            </a:r>
          </a:p>
        </p:txBody>
      </p:sp>
      <p:sp>
        <p:nvSpPr>
          <p:cNvPr id="14" name="인용 막대"/>
          <p:cNvSpPr/>
          <p:nvPr/>
        </p:nvSpPr>
        <p:spPr>
          <a:xfrm>
            <a:off x="558000" y="1576800"/>
            <a:ext cx="32400" cy="7344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인용"/>
          <p:cNvSpPr txBox="1"/>
          <p:nvPr/>
        </p:nvSpPr>
        <p:spPr>
          <a:xfrm>
            <a:off x="737999" y="1548000"/>
            <a:ext cx="2826000" cy="792000"/>
          </a:xfrm>
          <a:prstGeom prst="rect">
            <a:avLst/>
          </a:prstGeom>
          <a:noFill/>
        </p:spPr>
        <p:txBody>
          <a:bodyPr wrap="square" lIns="0" rIns="0" tIns="0" bIns="0" anchor="t">
            <a:spAutoFit/>
          </a:bodyPr>
          <a:lstStyle/>
          <a:p>
            <a:pPr algn="l" eaLnBrk="0">
              <a:lnSpc>
                <a:spcPct val="122000"/>
              </a:lnSpc>
              <a:spcAft>
                <a:spcPts val="0"/>
              </a:spcAft>
            </a:pPr>
            <a:r>
              <a:rPr sz="1450" b="0" lang="ko-KR" altLang="en-US">
                <a:solidFill>
                  <a:srgbClr val="1A1E25"/>
                </a:solidFill>
                <a:latin typeface="Malgun Gothic Semilight"/>
                <a:ea typeface="Malgun Gothic Semilight"/>
                <a:cs typeface="Malgun Gothic Semilight"/>
              </a:rPr>
              <a:t>14년을 한 그림에 넣으면 앞쪽 몇 해가 바닥에 붙어 버립니다.</a:t>
            </a:r>
          </a:p>
        </p:txBody>
      </p:sp>
      <p:sp>
        <p:nvSpPr>
          <p:cNvPr id="16" name="TextBox 15"/>
          <p:cNvSpPr txBox="1"/>
          <p:nvPr/>
        </p:nvSpPr>
        <p:spPr>
          <a:xfrm>
            <a:off x="558000" y="2466000"/>
            <a:ext cx="3006000" cy="1512000"/>
          </a:xfrm>
          <a:prstGeom prst="rect">
            <a:avLst/>
          </a:prstGeom>
          <a:noFill/>
        </p:spPr>
        <p:txBody>
          <a:bodyPr wrap="square" lIns="0" rIns="0" tIns="0" bIns="0" anchor="t">
            <a:spAutoFit/>
          </a:bodyPr>
          <a:lstStyle/>
          <a:p>
            <a:pPr algn="l" eaLnBrk="0">
              <a:lnSpc>
                <a:spcPct val="132000"/>
              </a:lnSpc>
              <a:spcAft>
                <a:spcPts val="600"/>
              </a:spcAft>
            </a:pPr>
            <a:r>
              <a:rPr sz="950" b="0" lang="ko-KR" altLang="en-US">
                <a:solidFill>
                  <a:srgbClr val="1A1E25"/>
                </a:solidFill>
                <a:latin typeface="Noto Sans KR"/>
                <a:ea typeface="Noto Sans KR"/>
                <a:cs typeface="Noto Sans KR"/>
              </a:rPr>
              <a:t>그래서 네 구간으로 나눠 구간마다 세로축을 따로 잡았습니다. 칸마다 세로축 숫자가 다르니 칸끼리 선 높이를 비교하지 말고, 같은 칸 안에서 선끼리 비교하세요.</a:t>
            </a:r>
          </a:p>
          <a:p>
            <a:pPr algn="l" eaLnBrk="0">
              <a:lnSpc>
                <a:spcPct val="132000"/>
              </a:lnSpc>
              <a:spcAft>
                <a:spcPts val="600"/>
              </a:spcAft>
            </a:pPr>
            <a:r>
              <a:rPr sz="950" b="0" lang="ko-KR" altLang="en-US">
                <a:solidFill>
                  <a:srgbClr val="1A1E25"/>
                </a:solidFill>
                <a:latin typeface="Noto Sans KR"/>
                <a:ea typeface="Noto Sans KR"/>
                <a:cs typeface="Noto Sans KR"/>
              </a:rPr>
              <a:t>모든 선은 2012년 1월부터 매달 10만 원을 넣은 같은 계좌입니다. 다른 납입액은 3쪽 표처럼 금액만 비례해서 커집니다.</a:t>
            </a:r>
          </a:p>
        </p:txBody>
      </p:sp>
      <p:cxnSp>
        <p:nvCxnSpPr>
          <p:cNvPr id="17" name="Connector 16"/>
          <p:cNvCxnSpPr/>
          <p:nvPr/>
        </p:nvCxnSpPr>
        <p:spPr>
          <a:xfrm>
            <a:off x="558000" y="4031999"/>
            <a:ext cx="3006000" cy="0"/>
          </a:xfrm>
          <a:prstGeom prst="line">
            <a:avLst/>
          </a:prstGeom>
          <a:ln w="9525">
            <a:solidFill>
              <a:srgbClr val="1A1E25"/>
            </a:solidFill>
          </a:ln>
        </p:spPr>
      </p:cxnSp>
      <p:sp>
        <p:nvSpPr>
          <p:cNvPr id="18" name="표지 막대"/>
          <p:cNvSpPr/>
          <p:nvPr/>
        </p:nvSpPr>
        <p:spPr>
          <a:xfrm>
            <a:off x="558000" y="4031999"/>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그림 제목"/>
          <p:cNvSpPr txBox="1"/>
          <p:nvPr/>
        </p:nvSpPr>
        <p:spPr>
          <a:xfrm>
            <a:off x="558000" y="4132799"/>
            <a:ext cx="300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구간 끝 평가액 · 월 10만 원</a:t>
            </a:r>
          </a:p>
        </p:txBody>
      </p:sp>
      <p:sp>
        <p:nvSpPr>
          <p:cNvPr id="20" name="그림 설명"/>
          <p:cNvSpPr txBox="1"/>
          <p:nvPr/>
        </p:nvSpPr>
        <p:spPr>
          <a:xfrm>
            <a:off x="558000" y="4320000"/>
            <a:ext cx="300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2012년 1월 첫 납입부터 센 적립 기간 · 단위 만 원 · 세전</a:t>
            </a:r>
          </a:p>
        </p:txBody>
      </p:sp>
      <p:graphicFrame>
        <p:nvGraphicFramePr>
          <p:cNvPr id="21" name="표"/>
          <p:cNvGraphicFramePr>
            <a:graphicFrameLocks noGrp="1"/>
          </p:cNvGraphicFramePr>
          <p:nvPr/>
        </p:nvGraphicFramePr>
        <p:xfrm>
          <a:off x="558000" y="4482000"/>
          <a:ext cx="3005998" cy="1252800"/>
        </p:xfrm>
        <a:graphic>
          <a:graphicData uri="http://schemas.openxmlformats.org/drawingml/2006/table">
            <a:tbl>
              <a:tblPr firstRow="0" bandRow="0" firstCol="0" lastCol="0" bandCol="0" lastRow="0">
                <a:tableStyleId>{5940675A-B579-460E-94D1-54222C63F5DA}</a:tableStyleId>
              </a:tblPr>
              <a:tblGrid>
                <a:gridCol w="503999"/>
                <a:gridCol w="666000"/>
                <a:gridCol w="378000"/>
                <a:gridCol w="503999"/>
                <a:gridCol w="522000"/>
                <a:gridCol w="432000"/>
              </a:tblGrid>
              <a:tr h="2088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달말</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적립 기간</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원금</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Deneb</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QQQ 단독</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Polaris</a:t>
                      </a:r>
                      <a:endParaRPr sz="800"/>
                    </a:p>
                  </a:txBody>
                  <a:tcPr marL="28800" marR="43200" marT="25200" marB="25200" anchor="b">
                    <a:lnL w="0">
                      <a:noFill/>
                    </a:lnL>
                    <a:lnR w="0">
                      <a:noFill/>
                    </a:lnR>
                    <a:lnT w="9525">
                      <a:solidFill>
                        <a:srgbClr val="1A1E25"/>
                      </a:solidFill>
                    </a:lnT>
                    <a:lnB w="9525">
                      <a:solidFill>
                        <a:srgbClr val="1A1E25"/>
                      </a:solidFill>
                    </a:lnB>
                    <a:noFill/>
                  </a:tcPr>
                </a:tc>
              </a:tr>
              <a:tr h="208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2015.12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480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709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679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546</a:t>
                      </a:r>
                      <a:endParaRPr sz="850"/>
                    </a:p>
                  </a:txBody>
                  <a:tcPr marL="28800" marR="43200" marT="25200" marB="25200" anchor="ctr">
                    <a:lnL w="0">
                      <a:noFill/>
                    </a:lnL>
                    <a:lnR w="0">
                      <a:noFill/>
                    </a:lnR>
                    <a:lnT w="0">
                      <a:noFill/>
                    </a:lnT>
                    <a:lnB w="6350">
                      <a:solidFill>
                        <a:srgbClr val="C9D0DA"/>
                      </a:solidFill>
                    </a:lnB>
                    <a:noFill/>
                  </a:tcPr>
                </a:tc>
              </a:tr>
              <a:tr h="208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2019.12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960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3,046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2,056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1,493</a:t>
                      </a:r>
                      <a:endParaRPr sz="850"/>
                    </a:p>
                  </a:txBody>
                  <a:tcPr marL="28800" marR="43200" marT="25200" marB="25200" anchor="ctr">
                    <a:lnL w="0">
                      <a:noFill/>
                    </a:lnL>
                    <a:lnR w="0">
                      <a:noFill/>
                    </a:lnR>
                    <a:lnT w="0">
                      <a:noFill/>
                    </a:lnT>
                    <a:lnB w="6350">
                      <a:solidFill>
                        <a:srgbClr val="C9D0DA"/>
                      </a:solidFill>
                    </a:lnB>
                    <a:noFill/>
                  </a:tcPr>
                </a:tc>
              </a:tr>
              <a:tr h="208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2021.12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10,450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4,226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2,473</a:t>
                      </a:r>
                      <a:endParaRPr sz="850"/>
                    </a:p>
                  </a:txBody>
                  <a:tcPr marL="28800" marR="43200" marT="25200" marB="25200" anchor="ctr">
                    <a:lnL w="0">
                      <a:noFill/>
                    </a:lnL>
                    <a:lnR w="0">
                      <a:noFill/>
                    </a:lnR>
                    <a:lnT w="0">
                      <a:noFill/>
                    </a:lnT>
                    <a:lnB w="6350">
                      <a:solidFill>
                        <a:srgbClr val="C9D0DA"/>
                      </a:solidFill>
                    </a:lnB>
                    <a:noFill/>
                  </a:tcPr>
                </a:tc>
              </a:tr>
              <a:tr h="208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2022.12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11년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1,320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7,840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2,951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2,120</a:t>
                      </a:r>
                      <a:endParaRPr sz="850"/>
                    </a:p>
                  </a:txBody>
                  <a:tcPr marL="28800" marR="43200" marT="25200" marB="25200" anchor="ctr">
                    <a:lnL w="0">
                      <a:noFill/>
                    </a:lnL>
                    <a:lnR w="0">
                      <a:noFill/>
                    </a:lnR>
                    <a:lnT w="0">
                      <a:noFill/>
                    </a:lnT>
                    <a:lnB w="6350">
                      <a:solidFill>
                        <a:srgbClr val="C9D0DA"/>
                      </a:solidFill>
                    </a:lnB>
                    <a:noFill/>
                  </a:tcPr>
                </a:tc>
              </a:tr>
              <a:tr h="208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2026.08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14년 8개월</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1,760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36,111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8,805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5,077</a:t>
                      </a:r>
                      <a:endParaRPr sz="85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2" name="Connector 21"/>
          <p:cNvCxnSpPr/>
          <p:nvPr/>
        </p:nvCxnSpPr>
        <p:spPr>
          <a:xfrm>
            <a:off x="558000" y="4482000"/>
            <a:ext cx="3006000" cy="0"/>
          </a:xfrm>
          <a:prstGeom prst="line">
            <a:avLst/>
          </a:prstGeom>
          <a:ln w="25400">
            <a:solidFill>
              <a:srgbClr val="1A1E25"/>
            </a:solidFill>
          </a:ln>
        </p:spPr>
      </p:cxnSp>
      <p:sp>
        <p:nvSpPr>
          <p:cNvPr id="23" name="TextBox 22"/>
          <p:cNvSpPr txBox="1"/>
          <p:nvPr/>
        </p:nvSpPr>
        <p:spPr>
          <a:xfrm>
            <a:off x="558000" y="5940000"/>
            <a:ext cx="3006000" cy="1080000"/>
          </a:xfrm>
          <a:prstGeom prst="rect">
            <a:avLst/>
          </a:prstGeom>
          <a:noFill/>
        </p:spPr>
        <p:txBody>
          <a:bodyPr wrap="square" lIns="0" rIns="0" tIns="0" bIns="0" anchor="t">
            <a:spAutoFit/>
          </a:bodyPr>
          <a:lstStyle/>
          <a:p>
            <a:pPr algn="l" eaLnBrk="0">
              <a:lnSpc>
                <a:spcPct val="132000"/>
              </a:lnSpc>
              <a:spcAft>
                <a:spcPts val="0"/>
              </a:spcAft>
            </a:pPr>
            <a:r>
              <a:rPr sz="900" b="0" lang="ko-KR" altLang="en-US">
                <a:solidFill>
                  <a:srgbClr val="1A1E25"/>
                </a:solidFill>
                <a:latin typeface="Noto Sans KR"/>
                <a:ea typeface="Noto Sans KR"/>
                <a:cs typeface="Noto Sans KR"/>
              </a:rPr>
              <a:t>2022년 한 해 동안 Deneb는 10,450만 원에서 7,840만 원으로, QQQ 단독 적립은 4,226만 원에서 2,951만 원으로 줄었습니다. 그사이 넣은 120만 원이 포함된 금액입니다.</a:t>
            </a:r>
          </a:p>
        </p:txBody>
      </p:sp>
      <p:cxnSp>
        <p:nvCxnSpPr>
          <p:cNvPr id="24" name="Connector 23"/>
          <p:cNvCxnSpPr/>
          <p:nvPr/>
        </p:nvCxnSpPr>
        <p:spPr>
          <a:xfrm>
            <a:off x="3844800" y="1116000"/>
            <a:ext cx="324000" cy="0"/>
          </a:xfrm>
          <a:prstGeom prst="line">
            <a:avLst/>
          </a:prstGeom>
          <a:ln w="28575">
            <a:solidFill>
              <a:srgbClr val="0B3D91"/>
            </a:solidFill>
          </a:ln>
        </p:spPr>
      </p:cxnSp>
      <p:sp>
        <p:nvSpPr>
          <p:cNvPr id="25" name="TextBox 24"/>
          <p:cNvSpPr txBox="1"/>
          <p:nvPr/>
        </p:nvSpPr>
        <p:spPr>
          <a:xfrm>
            <a:off x="4222800" y="1026000"/>
            <a:ext cx="126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Deneb</a:t>
            </a:r>
          </a:p>
        </p:txBody>
      </p:sp>
      <p:cxnSp>
        <p:nvCxnSpPr>
          <p:cNvPr id="26" name="Connector 25"/>
          <p:cNvCxnSpPr/>
          <p:nvPr/>
        </p:nvCxnSpPr>
        <p:spPr>
          <a:xfrm>
            <a:off x="4996800" y="1116000"/>
            <a:ext cx="324000" cy="0"/>
          </a:xfrm>
          <a:prstGeom prst="line">
            <a:avLst/>
          </a:prstGeom>
          <a:ln w="25400">
            <a:solidFill>
              <a:srgbClr val="E07A1F"/>
            </a:solidFill>
            <a:prstDash val="dash"/>
          </a:ln>
        </p:spPr>
      </p:cxnSp>
      <p:sp>
        <p:nvSpPr>
          <p:cNvPr id="27" name="TextBox 26"/>
          <p:cNvSpPr txBox="1"/>
          <p:nvPr/>
        </p:nvSpPr>
        <p:spPr>
          <a:xfrm>
            <a:off x="5374800" y="1026000"/>
            <a:ext cx="126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QQQ 단독 적립</a:t>
            </a:r>
          </a:p>
        </p:txBody>
      </p:sp>
      <p:cxnSp>
        <p:nvCxnSpPr>
          <p:cNvPr id="28" name="Connector 27"/>
          <p:cNvCxnSpPr/>
          <p:nvPr/>
        </p:nvCxnSpPr>
        <p:spPr>
          <a:xfrm>
            <a:off x="6537600" y="1116000"/>
            <a:ext cx="324000" cy="0"/>
          </a:xfrm>
          <a:prstGeom prst="line">
            <a:avLst/>
          </a:prstGeom>
          <a:ln w="25400">
            <a:solidFill>
              <a:srgbClr val="1E9A84"/>
            </a:solidFill>
          </a:ln>
        </p:spPr>
      </p:cxnSp>
      <p:sp>
        <p:nvSpPr>
          <p:cNvPr id="29" name="TextBox 28"/>
          <p:cNvSpPr txBox="1"/>
          <p:nvPr/>
        </p:nvSpPr>
        <p:spPr>
          <a:xfrm>
            <a:off x="6915600" y="1026000"/>
            <a:ext cx="126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Polaris</a:t>
            </a:r>
          </a:p>
        </p:txBody>
      </p:sp>
      <p:cxnSp>
        <p:nvCxnSpPr>
          <p:cNvPr id="30" name="Connector 29"/>
          <p:cNvCxnSpPr/>
          <p:nvPr/>
        </p:nvCxnSpPr>
        <p:spPr>
          <a:xfrm>
            <a:off x="7883999" y="1116000"/>
            <a:ext cx="324000" cy="0"/>
          </a:xfrm>
          <a:prstGeom prst="line">
            <a:avLst/>
          </a:prstGeom>
          <a:ln w="12700">
            <a:solidFill>
              <a:srgbClr val="1A1E25"/>
            </a:solidFill>
            <a:prstDash val="sysDash"/>
          </a:ln>
        </p:spPr>
      </p:cxnSp>
      <p:sp>
        <p:nvSpPr>
          <p:cNvPr id="31" name="TextBox 30"/>
          <p:cNvSpPr txBox="1"/>
          <p:nvPr/>
        </p:nvSpPr>
        <p:spPr>
          <a:xfrm>
            <a:off x="8262000" y="1026000"/>
            <a:ext cx="126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넣은 원금 누계</a:t>
            </a:r>
          </a:p>
        </p:txBody>
      </p:sp>
      <p:cxnSp>
        <p:nvCxnSpPr>
          <p:cNvPr id="32" name="Connector 31"/>
          <p:cNvCxnSpPr/>
          <p:nvPr/>
        </p:nvCxnSpPr>
        <p:spPr>
          <a:xfrm>
            <a:off x="3844800" y="1350000"/>
            <a:ext cx="3006000" cy="0"/>
          </a:xfrm>
          <a:prstGeom prst="line">
            <a:avLst/>
          </a:prstGeom>
          <a:ln w="9525">
            <a:solidFill>
              <a:srgbClr val="1A1E25"/>
            </a:solidFill>
          </a:ln>
        </p:spPr>
      </p:cxnSp>
      <p:sp>
        <p:nvSpPr>
          <p:cNvPr id="33" name="표지 막대"/>
          <p:cNvSpPr/>
          <p:nvPr/>
        </p:nvSpPr>
        <p:spPr>
          <a:xfrm>
            <a:off x="3844800" y="135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그림 제목"/>
          <p:cNvSpPr txBox="1"/>
          <p:nvPr/>
        </p:nvSpPr>
        <p:spPr>
          <a:xfrm>
            <a:off x="3844800" y="1450800"/>
            <a:ext cx="300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2012~2015년</a:t>
            </a:r>
          </a:p>
        </p:txBody>
      </p:sp>
      <p:sp>
        <p:nvSpPr>
          <p:cNvPr id="35" name="그림 설명"/>
          <p:cNvSpPr txBox="1"/>
          <p:nvPr/>
        </p:nvSpPr>
        <p:spPr>
          <a:xfrm>
            <a:off x="3844800" y="1638000"/>
            <a:ext cx="300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월말 평가액 · 단위 만 원 · 구간 끝 원금 480만 원</a:t>
            </a:r>
          </a:p>
        </p:txBody>
      </p:sp>
      <p:graphicFrame>
        <p:nvGraphicFramePr>
          <p:cNvPr id="36" name="2012~2015 평가액"/>
          <p:cNvGraphicFramePr>
            <a:graphicFrameLocks noGrp="1"/>
          </p:cNvGraphicFramePr>
          <p:nvPr/>
        </p:nvGraphicFramePr>
        <p:xfrm>
          <a:off x="3844800" y="1782000"/>
          <a:ext cx="3006000" cy="2268000"/>
        </p:xfrm>
        <a:graphic>
          <a:graphicData uri="http://schemas.openxmlformats.org/drawingml/2006/chart">
            <c:chart xmlns:c="http://schemas.openxmlformats.org/drawingml/2006/chart" r:id="rId2"/>
          </a:graphicData>
        </a:graphic>
      </p:graphicFrame>
      <p:cxnSp>
        <p:nvCxnSpPr>
          <p:cNvPr id="37" name="Connector 36"/>
          <p:cNvCxnSpPr/>
          <p:nvPr/>
        </p:nvCxnSpPr>
        <p:spPr>
          <a:xfrm>
            <a:off x="7128000" y="1350000"/>
            <a:ext cx="3006000" cy="0"/>
          </a:xfrm>
          <a:prstGeom prst="line">
            <a:avLst/>
          </a:prstGeom>
          <a:ln w="9525">
            <a:solidFill>
              <a:srgbClr val="1A1E25"/>
            </a:solidFill>
          </a:ln>
        </p:spPr>
      </p:cxnSp>
      <p:sp>
        <p:nvSpPr>
          <p:cNvPr id="38" name="표지 막대"/>
          <p:cNvSpPr/>
          <p:nvPr/>
        </p:nvSpPr>
        <p:spPr>
          <a:xfrm>
            <a:off x="7128000" y="135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그림 제목"/>
          <p:cNvSpPr txBox="1"/>
          <p:nvPr/>
        </p:nvSpPr>
        <p:spPr>
          <a:xfrm>
            <a:off x="7128000" y="1450800"/>
            <a:ext cx="300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2016~2019년</a:t>
            </a:r>
          </a:p>
        </p:txBody>
      </p:sp>
      <p:sp>
        <p:nvSpPr>
          <p:cNvPr id="40" name="그림 설명"/>
          <p:cNvSpPr txBox="1"/>
          <p:nvPr/>
        </p:nvSpPr>
        <p:spPr>
          <a:xfrm>
            <a:off x="7128000" y="1638000"/>
            <a:ext cx="300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월말 평가액 · 단위 만 원 · 구간 끝 원금 960만 원</a:t>
            </a:r>
          </a:p>
        </p:txBody>
      </p:sp>
      <p:graphicFrame>
        <p:nvGraphicFramePr>
          <p:cNvPr id="41" name="2016~2019 평가액"/>
          <p:cNvGraphicFramePr>
            <a:graphicFrameLocks noGrp="1"/>
          </p:cNvGraphicFramePr>
          <p:nvPr/>
        </p:nvGraphicFramePr>
        <p:xfrm>
          <a:off x="7128000" y="1782000"/>
          <a:ext cx="3006000" cy="2268000"/>
        </p:xfrm>
        <a:graphic>
          <a:graphicData uri="http://schemas.openxmlformats.org/drawingml/2006/chart">
            <c:chart xmlns:c="http://schemas.openxmlformats.org/drawingml/2006/chart" r:id="rId3"/>
          </a:graphicData>
        </a:graphic>
      </p:graphicFrame>
      <p:cxnSp>
        <p:nvCxnSpPr>
          <p:cNvPr id="42" name="Connector 41"/>
          <p:cNvCxnSpPr/>
          <p:nvPr/>
        </p:nvCxnSpPr>
        <p:spPr>
          <a:xfrm>
            <a:off x="3844800" y="4176000"/>
            <a:ext cx="3006000" cy="0"/>
          </a:xfrm>
          <a:prstGeom prst="line">
            <a:avLst/>
          </a:prstGeom>
          <a:ln w="9525">
            <a:solidFill>
              <a:srgbClr val="1A1E25"/>
            </a:solidFill>
          </a:ln>
        </p:spPr>
      </p:cxnSp>
      <p:sp>
        <p:nvSpPr>
          <p:cNvPr id="43" name="표지 막대"/>
          <p:cNvSpPr/>
          <p:nvPr/>
        </p:nvSpPr>
        <p:spPr>
          <a:xfrm>
            <a:off x="3844800" y="4176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그림 제목"/>
          <p:cNvSpPr txBox="1"/>
          <p:nvPr/>
        </p:nvSpPr>
        <p:spPr>
          <a:xfrm>
            <a:off x="3844800" y="4276800"/>
            <a:ext cx="300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2020~2022년</a:t>
            </a:r>
          </a:p>
        </p:txBody>
      </p:sp>
      <p:sp>
        <p:nvSpPr>
          <p:cNvPr id="45" name="그림 설명"/>
          <p:cNvSpPr txBox="1"/>
          <p:nvPr/>
        </p:nvSpPr>
        <p:spPr>
          <a:xfrm>
            <a:off x="3844800" y="4464000"/>
            <a:ext cx="300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월말 평가액 · 단위 만 원 · 구간 끝 원금 1,320만 원</a:t>
            </a:r>
          </a:p>
        </p:txBody>
      </p:sp>
      <p:graphicFrame>
        <p:nvGraphicFramePr>
          <p:cNvPr id="46" name="2020~2022 평가액"/>
          <p:cNvGraphicFramePr>
            <a:graphicFrameLocks noGrp="1"/>
          </p:cNvGraphicFramePr>
          <p:nvPr/>
        </p:nvGraphicFramePr>
        <p:xfrm>
          <a:off x="3844800" y="4608000"/>
          <a:ext cx="3006000" cy="2268000"/>
        </p:xfrm>
        <a:graphic>
          <a:graphicData uri="http://schemas.openxmlformats.org/drawingml/2006/chart">
            <c:chart xmlns:c="http://schemas.openxmlformats.org/drawingml/2006/chart" r:id="rId4"/>
          </a:graphicData>
        </a:graphic>
      </p:graphicFrame>
      <p:cxnSp>
        <p:nvCxnSpPr>
          <p:cNvPr id="47" name="Connector 46"/>
          <p:cNvCxnSpPr/>
          <p:nvPr/>
        </p:nvCxnSpPr>
        <p:spPr>
          <a:xfrm>
            <a:off x="7128000" y="4176000"/>
            <a:ext cx="3006000" cy="0"/>
          </a:xfrm>
          <a:prstGeom prst="line">
            <a:avLst/>
          </a:prstGeom>
          <a:ln w="9525">
            <a:solidFill>
              <a:srgbClr val="1A1E25"/>
            </a:solidFill>
          </a:ln>
        </p:spPr>
      </p:cxnSp>
      <p:sp>
        <p:nvSpPr>
          <p:cNvPr id="48" name="표지 막대"/>
          <p:cNvSpPr/>
          <p:nvPr/>
        </p:nvSpPr>
        <p:spPr>
          <a:xfrm>
            <a:off x="7128000" y="4176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그림 제목"/>
          <p:cNvSpPr txBox="1"/>
          <p:nvPr/>
        </p:nvSpPr>
        <p:spPr>
          <a:xfrm>
            <a:off x="7128000" y="4276800"/>
            <a:ext cx="300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2023~2026년 (8월까지)</a:t>
            </a:r>
          </a:p>
        </p:txBody>
      </p:sp>
      <p:sp>
        <p:nvSpPr>
          <p:cNvPr id="50" name="그림 설명"/>
          <p:cNvSpPr txBox="1"/>
          <p:nvPr/>
        </p:nvSpPr>
        <p:spPr>
          <a:xfrm>
            <a:off x="7128000" y="4464000"/>
            <a:ext cx="300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월말 평가액 · 단위 만 원 · 구간 끝 원금 1,760만 원</a:t>
            </a:r>
          </a:p>
        </p:txBody>
      </p:sp>
      <p:graphicFrame>
        <p:nvGraphicFramePr>
          <p:cNvPr id="51" name="2023~2026 평가액"/>
          <p:cNvGraphicFramePr>
            <a:graphicFrameLocks noGrp="1"/>
          </p:cNvGraphicFramePr>
          <p:nvPr/>
        </p:nvGraphicFramePr>
        <p:xfrm>
          <a:off x="7128000" y="4608000"/>
          <a:ext cx="3006000" cy="2268000"/>
        </p:xfrm>
        <a:graphic>
          <a:graphicData uri="http://schemas.openxmlformats.org/drawingml/2006/chart">
            <c:chart xmlns:c="http://schemas.openxmlformats.org/drawingml/2006/chart" r:id="rId5"/>
          </a:graphicData>
        </a:graphic>
      </p:graphicFrame>
      <p:sp>
        <p:nvSpPr>
          <p:cNvPr id="52"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5장 · Deneb와 단순 적립</a:t>
            </a:r>
          </a:p>
        </p:txBody>
      </p:sp>
      <p:sp>
        <p:nvSpPr>
          <p:cNvPr id="53"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실제 ETF 수정 종가(QQQ · QLD · TQQQ · SCHD · SPY · IEF · GLD), 자체 계산 · 비용 0.15% · 세전 · 환율 고정 · 소수 주</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4893000" y="619200"/>
            <a:ext cx="6660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15</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5장 · Deneb와 단순 적립</a:t>
            </a:r>
          </a:p>
        </p:txBody>
      </p:sp>
      <p:sp>
        <p:nvSpPr>
          <p:cNvPr id="14"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기간별 — 레버리지
단독과 비교</a:t>
            </a:r>
          </a:p>
        </p:txBody>
      </p:sp>
      <p:sp>
        <p:nvSpPr>
          <p:cNvPr id="15" name="TextBox 14"/>
          <p:cNvSpPr txBox="1"/>
          <p:nvPr/>
        </p:nvSpPr>
        <p:spPr>
          <a:xfrm>
            <a:off x="558000" y="1944000"/>
            <a:ext cx="3006000" cy="1800000"/>
          </a:xfrm>
          <a:prstGeom prst="rect">
            <a:avLst/>
          </a:prstGeom>
          <a:noFill/>
        </p:spPr>
        <p:txBody>
          <a:bodyPr wrap="square" lIns="0" rIns="0" tIns="0" bIns="0" anchor="t">
            <a:spAutoFit/>
          </a:bodyPr>
          <a:lstStyle/>
          <a:p>
            <a:pPr algn="l" eaLnBrk="0">
              <a:lnSpc>
                <a:spcPct val="132000"/>
              </a:lnSpc>
              <a:spcAft>
                <a:spcPts val="700"/>
              </a:spcAft>
            </a:pPr>
            <a:r>
              <a:rPr sz="950" b="0" lang="ko-KR" altLang="en-US">
                <a:solidFill>
                  <a:srgbClr val="1A1E25"/>
                </a:solidFill>
                <a:latin typeface="Noto Sans KR"/>
                <a:ea typeface="Noto Sans KR"/>
                <a:cs typeface="Noto Sans KR"/>
              </a:rPr>
              <a:t>앞 쪽과 같은 네 구간입니다. 이번에는 Deneb를 QLD 단독 · TQQQ 단독과 비교합니다. 칸마다 세로축이 다릅니다.</a:t>
            </a:r>
          </a:p>
          <a:p>
            <a:pPr algn="l" eaLnBrk="0">
              <a:lnSpc>
                <a:spcPct val="132000"/>
              </a:lnSpc>
              <a:spcAft>
                <a:spcPts val="700"/>
              </a:spcAft>
            </a:pPr>
            <a:r>
              <a:rPr sz="950" b="0" lang="ko-KR" altLang="en-US">
                <a:solidFill>
                  <a:srgbClr val="1A1E25"/>
                </a:solidFill>
                <a:latin typeface="Noto Sans KR"/>
                <a:ea typeface="Noto Sans KR"/>
                <a:cs typeface="Noto Sans KR"/>
              </a:rPr>
              <a:t>2021년 말 TQQQ 단독은 27,289만 원이었지만 2022년 말 5,770만 원으로 줄었습니다. 같은 기간 Deneb는 10,450만 원에서 7,840만 원이었습니다.</a:t>
            </a:r>
          </a:p>
          <a:p>
            <a:pPr algn="l" eaLnBrk="0">
              <a:lnSpc>
                <a:spcPct val="132000"/>
              </a:lnSpc>
              <a:spcAft>
                <a:spcPts val="700"/>
              </a:spcAft>
            </a:pPr>
            <a:r>
              <a:rPr sz="950" b="0" lang="ko-KR" altLang="en-US">
                <a:solidFill>
                  <a:srgbClr val="1A1E25"/>
                </a:solidFill>
                <a:latin typeface="Noto Sans KR"/>
                <a:ea typeface="Noto Sans KR"/>
                <a:cs typeface="Noto Sans KR"/>
              </a:rPr>
              <a:t>반대로 2023년 이후 강한 상승장에서는 TQQQ 단독이 다시 앞섰습니다. 하락 방어는 큰 하락을 줄이는 대신 반등 초기를 일부 놓칩니다.</a:t>
            </a:r>
          </a:p>
        </p:txBody>
      </p:sp>
      <p:cxnSp>
        <p:nvCxnSpPr>
          <p:cNvPr id="16" name="Connector 15"/>
          <p:cNvCxnSpPr/>
          <p:nvPr/>
        </p:nvCxnSpPr>
        <p:spPr>
          <a:xfrm>
            <a:off x="3844800" y="1116000"/>
            <a:ext cx="324000" cy="0"/>
          </a:xfrm>
          <a:prstGeom prst="line">
            <a:avLst/>
          </a:prstGeom>
          <a:ln w="28575">
            <a:solidFill>
              <a:srgbClr val="0B3D91"/>
            </a:solidFill>
          </a:ln>
        </p:spPr>
      </p:cxnSp>
      <p:sp>
        <p:nvSpPr>
          <p:cNvPr id="17" name="TextBox 16"/>
          <p:cNvSpPr txBox="1"/>
          <p:nvPr/>
        </p:nvSpPr>
        <p:spPr>
          <a:xfrm>
            <a:off x="4222800" y="1026000"/>
            <a:ext cx="162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Deneb</a:t>
            </a:r>
          </a:p>
        </p:txBody>
      </p:sp>
      <p:cxnSp>
        <p:nvCxnSpPr>
          <p:cNvPr id="18" name="Connector 17"/>
          <p:cNvCxnSpPr/>
          <p:nvPr/>
        </p:nvCxnSpPr>
        <p:spPr>
          <a:xfrm>
            <a:off x="4978800" y="1116000"/>
            <a:ext cx="324000" cy="0"/>
          </a:xfrm>
          <a:prstGeom prst="line">
            <a:avLst/>
          </a:prstGeom>
          <a:ln w="22225">
            <a:solidFill>
              <a:srgbClr val="7A4CB0"/>
            </a:solidFill>
            <a:prstDash val="dash"/>
          </a:ln>
        </p:spPr>
      </p:cxnSp>
      <p:sp>
        <p:nvSpPr>
          <p:cNvPr id="19" name="TextBox 18"/>
          <p:cNvSpPr txBox="1"/>
          <p:nvPr/>
        </p:nvSpPr>
        <p:spPr>
          <a:xfrm>
            <a:off x="5356800" y="1026000"/>
            <a:ext cx="162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TQQQ 단독</a:t>
            </a:r>
          </a:p>
        </p:txBody>
      </p:sp>
      <p:cxnSp>
        <p:nvCxnSpPr>
          <p:cNvPr id="20" name="Connector 19"/>
          <p:cNvCxnSpPr/>
          <p:nvPr/>
        </p:nvCxnSpPr>
        <p:spPr>
          <a:xfrm>
            <a:off x="6292800" y="1116000"/>
            <a:ext cx="324000" cy="0"/>
          </a:xfrm>
          <a:prstGeom prst="line">
            <a:avLst/>
          </a:prstGeom>
          <a:ln w="19050">
            <a:solidFill>
              <a:srgbClr val="3D9BE0"/>
            </a:solidFill>
          </a:ln>
        </p:spPr>
      </p:cxnSp>
      <p:sp>
        <p:nvSpPr>
          <p:cNvPr id="21" name="TextBox 20"/>
          <p:cNvSpPr txBox="1"/>
          <p:nvPr/>
        </p:nvSpPr>
        <p:spPr>
          <a:xfrm>
            <a:off x="6670800" y="1026000"/>
            <a:ext cx="162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QLD 단독</a:t>
            </a:r>
          </a:p>
        </p:txBody>
      </p:sp>
      <p:cxnSp>
        <p:nvCxnSpPr>
          <p:cNvPr id="22" name="Connector 21"/>
          <p:cNvCxnSpPr/>
          <p:nvPr/>
        </p:nvCxnSpPr>
        <p:spPr>
          <a:xfrm>
            <a:off x="7516800" y="1116000"/>
            <a:ext cx="323999" cy="0"/>
          </a:xfrm>
          <a:prstGeom prst="line">
            <a:avLst/>
          </a:prstGeom>
          <a:ln w="12700">
            <a:solidFill>
              <a:srgbClr val="1A1E25"/>
            </a:solidFill>
            <a:prstDash val="sysDash"/>
          </a:ln>
        </p:spPr>
      </p:cxnSp>
      <p:sp>
        <p:nvSpPr>
          <p:cNvPr id="23" name="TextBox 22"/>
          <p:cNvSpPr txBox="1"/>
          <p:nvPr/>
        </p:nvSpPr>
        <p:spPr>
          <a:xfrm>
            <a:off x="7894800" y="1026000"/>
            <a:ext cx="162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넣은 원금 누계</a:t>
            </a:r>
          </a:p>
        </p:txBody>
      </p:sp>
      <p:cxnSp>
        <p:nvCxnSpPr>
          <p:cNvPr id="24" name="Connector 23"/>
          <p:cNvCxnSpPr/>
          <p:nvPr/>
        </p:nvCxnSpPr>
        <p:spPr>
          <a:xfrm>
            <a:off x="3844800" y="1350000"/>
            <a:ext cx="3006000" cy="0"/>
          </a:xfrm>
          <a:prstGeom prst="line">
            <a:avLst/>
          </a:prstGeom>
          <a:ln w="9525">
            <a:solidFill>
              <a:srgbClr val="1A1E25"/>
            </a:solidFill>
          </a:ln>
        </p:spPr>
      </p:cxnSp>
      <p:sp>
        <p:nvSpPr>
          <p:cNvPr id="25" name="표지 막대"/>
          <p:cNvSpPr/>
          <p:nvPr/>
        </p:nvSpPr>
        <p:spPr>
          <a:xfrm>
            <a:off x="3844800" y="135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그림 제목"/>
          <p:cNvSpPr txBox="1"/>
          <p:nvPr/>
        </p:nvSpPr>
        <p:spPr>
          <a:xfrm>
            <a:off x="3844800" y="1450800"/>
            <a:ext cx="300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2012~2015년</a:t>
            </a:r>
          </a:p>
        </p:txBody>
      </p:sp>
      <p:sp>
        <p:nvSpPr>
          <p:cNvPr id="27" name="그림 설명"/>
          <p:cNvSpPr txBox="1"/>
          <p:nvPr/>
        </p:nvSpPr>
        <p:spPr>
          <a:xfrm>
            <a:off x="3844800" y="1638000"/>
            <a:ext cx="300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월말 평가액 · 만 원 · 구간 끝 원금 480만 원</a:t>
            </a:r>
          </a:p>
        </p:txBody>
      </p:sp>
      <p:graphicFrame>
        <p:nvGraphicFramePr>
          <p:cNvPr id="28" name="레버리지 2012"/>
          <p:cNvGraphicFramePr>
            <a:graphicFrameLocks noGrp="1"/>
          </p:cNvGraphicFramePr>
          <p:nvPr/>
        </p:nvGraphicFramePr>
        <p:xfrm>
          <a:off x="3844800" y="1800000"/>
          <a:ext cx="3006000" cy="2232000"/>
        </p:xfrm>
        <a:graphic>
          <a:graphicData uri="http://schemas.openxmlformats.org/drawingml/2006/chart">
            <c:chart xmlns:c="http://schemas.openxmlformats.org/drawingml/2006/chart" r:id="rId2"/>
          </a:graphicData>
        </a:graphic>
      </p:graphicFrame>
      <p:cxnSp>
        <p:nvCxnSpPr>
          <p:cNvPr id="29" name="Connector 28"/>
          <p:cNvCxnSpPr/>
          <p:nvPr/>
        </p:nvCxnSpPr>
        <p:spPr>
          <a:xfrm>
            <a:off x="7128000" y="1350000"/>
            <a:ext cx="3006000" cy="0"/>
          </a:xfrm>
          <a:prstGeom prst="line">
            <a:avLst/>
          </a:prstGeom>
          <a:ln w="9525">
            <a:solidFill>
              <a:srgbClr val="1A1E25"/>
            </a:solidFill>
          </a:ln>
        </p:spPr>
      </p:cxnSp>
      <p:sp>
        <p:nvSpPr>
          <p:cNvPr id="30" name="표지 막대"/>
          <p:cNvSpPr/>
          <p:nvPr/>
        </p:nvSpPr>
        <p:spPr>
          <a:xfrm>
            <a:off x="7128000" y="135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그림 제목"/>
          <p:cNvSpPr txBox="1"/>
          <p:nvPr/>
        </p:nvSpPr>
        <p:spPr>
          <a:xfrm>
            <a:off x="7128000" y="1450800"/>
            <a:ext cx="300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2016~2019년</a:t>
            </a:r>
          </a:p>
        </p:txBody>
      </p:sp>
      <p:sp>
        <p:nvSpPr>
          <p:cNvPr id="32" name="그림 설명"/>
          <p:cNvSpPr txBox="1"/>
          <p:nvPr/>
        </p:nvSpPr>
        <p:spPr>
          <a:xfrm>
            <a:off x="7128000" y="1638000"/>
            <a:ext cx="300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월말 평가액 · 만 원 · 구간 끝 원금 960만 원</a:t>
            </a:r>
          </a:p>
        </p:txBody>
      </p:sp>
      <p:graphicFrame>
        <p:nvGraphicFramePr>
          <p:cNvPr id="33" name="레버리지 2016"/>
          <p:cNvGraphicFramePr>
            <a:graphicFrameLocks noGrp="1"/>
          </p:cNvGraphicFramePr>
          <p:nvPr/>
        </p:nvGraphicFramePr>
        <p:xfrm>
          <a:off x="7128000" y="1800000"/>
          <a:ext cx="3006000" cy="2232000"/>
        </p:xfrm>
        <a:graphic>
          <a:graphicData uri="http://schemas.openxmlformats.org/drawingml/2006/chart">
            <c:chart xmlns:c="http://schemas.openxmlformats.org/drawingml/2006/chart" r:id="rId3"/>
          </a:graphicData>
        </a:graphic>
      </p:graphicFrame>
      <p:cxnSp>
        <p:nvCxnSpPr>
          <p:cNvPr id="34" name="Connector 33"/>
          <p:cNvCxnSpPr/>
          <p:nvPr/>
        </p:nvCxnSpPr>
        <p:spPr>
          <a:xfrm>
            <a:off x="3844800" y="4104000"/>
            <a:ext cx="3006000" cy="0"/>
          </a:xfrm>
          <a:prstGeom prst="line">
            <a:avLst/>
          </a:prstGeom>
          <a:ln w="9525">
            <a:solidFill>
              <a:srgbClr val="1A1E25"/>
            </a:solidFill>
          </a:ln>
        </p:spPr>
      </p:cxnSp>
      <p:sp>
        <p:nvSpPr>
          <p:cNvPr id="35" name="표지 막대"/>
          <p:cNvSpPr/>
          <p:nvPr/>
        </p:nvSpPr>
        <p:spPr>
          <a:xfrm>
            <a:off x="3844800" y="4104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그림 제목"/>
          <p:cNvSpPr txBox="1"/>
          <p:nvPr/>
        </p:nvSpPr>
        <p:spPr>
          <a:xfrm>
            <a:off x="3844800" y="4204800"/>
            <a:ext cx="300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2020~2022년</a:t>
            </a:r>
          </a:p>
        </p:txBody>
      </p:sp>
      <p:sp>
        <p:nvSpPr>
          <p:cNvPr id="37" name="그림 설명"/>
          <p:cNvSpPr txBox="1"/>
          <p:nvPr/>
        </p:nvSpPr>
        <p:spPr>
          <a:xfrm>
            <a:off x="3844800" y="4392000"/>
            <a:ext cx="300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월말 평가액 · 만 원 · 구간 끝 원금 1,320만 원</a:t>
            </a:r>
          </a:p>
        </p:txBody>
      </p:sp>
      <p:graphicFrame>
        <p:nvGraphicFramePr>
          <p:cNvPr id="38" name="레버리지 2020"/>
          <p:cNvGraphicFramePr>
            <a:graphicFrameLocks noGrp="1"/>
          </p:cNvGraphicFramePr>
          <p:nvPr/>
        </p:nvGraphicFramePr>
        <p:xfrm>
          <a:off x="3844800" y="4554000"/>
          <a:ext cx="3006000" cy="2232000"/>
        </p:xfrm>
        <a:graphic>
          <a:graphicData uri="http://schemas.openxmlformats.org/drawingml/2006/chart">
            <c:chart xmlns:c="http://schemas.openxmlformats.org/drawingml/2006/chart" r:id="rId4"/>
          </a:graphicData>
        </a:graphic>
      </p:graphicFrame>
      <p:cxnSp>
        <p:nvCxnSpPr>
          <p:cNvPr id="39" name="Connector 38"/>
          <p:cNvCxnSpPr/>
          <p:nvPr/>
        </p:nvCxnSpPr>
        <p:spPr>
          <a:xfrm>
            <a:off x="7128000" y="4104000"/>
            <a:ext cx="3006000" cy="0"/>
          </a:xfrm>
          <a:prstGeom prst="line">
            <a:avLst/>
          </a:prstGeom>
          <a:ln w="9525">
            <a:solidFill>
              <a:srgbClr val="1A1E25"/>
            </a:solidFill>
          </a:ln>
        </p:spPr>
      </p:cxnSp>
      <p:sp>
        <p:nvSpPr>
          <p:cNvPr id="40" name="표지 막대"/>
          <p:cNvSpPr/>
          <p:nvPr/>
        </p:nvSpPr>
        <p:spPr>
          <a:xfrm>
            <a:off x="7128000" y="4104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그림 제목"/>
          <p:cNvSpPr txBox="1"/>
          <p:nvPr/>
        </p:nvSpPr>
        <p:spPr>
          <a:xfrm>
            <a:off x="7128000" y="4204800"/>
            <a:ext cx="300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2023~2026년 (8월까지)</a:t>
            </a:r>
          </a:p>
        </p:txBody>
      </p:sp>
      <p:sp>
        <p:nvSpPr>
          <p:cNvPr id="42" name="그림 설명"/>
          <p:cNvSpPr txBox="1"/>
          <p:nvPr/>
        </p:nvSpPr>
        <p:spPr>
          <a:xfrm>
            <a:off x="7128000" y="4392000"/>
            <a:ext cx="300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월말 평가액 · 만 원 · 구간 끝 원금 1,760만 원</a:t>
            </a:r>
          </a:p>
        </p:txBody>
      </p:sp>
      <p:graphicFrame>
        <p:nvGraphicFramePr>
          <p:cNvPr id="43" name="레버리지 2023"/>
          <p:cNvGraphicFramePr>
            <a:graphicFrameLocks noGrp="1"/>
          </p:cNvGraphicFramePr>
          <p:nvPr/>
        </p:nvGraphicFramePr>
        <p:xfrm>
          <a:off x="7128000" y="4554000"/>
          <a:ext cx="3006000" cy="2232000"/>
        </p:xfrm>
        <a:graphic>
          <a:graphicData uri="http://schemas.openxmlformats.org/drawingml/2006/chart">
            <c:chart xmlns:c="http://schemas.openxmlformats.org/drawingml/2006/chart" r:id="rId5"/>
          </a:graphicData>
        </a:graphic>
      </p:graphicFrame>
      <p:sp>
        <p:nvSpPr>
          <p:cNvPr id="44"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실제 ETF 수정 종가(QQQ · QLD · TQQQ · SCHD · SPY · IEF · GLD), 자체 계산 · 비용 0.15% · 세전 · 환율 고정 · 소수 주</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4893000" y="619200"/>
            <a:ext cx="6660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16</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5장 · Deneb와 단순 적립</a:t>
            </a:r>
          </a:p>
        </p:txBody>
      </p:sp>
      <p:sp>
        <p:nvSpPr>
          <p:cNvPr id="14"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하락 구간과 회복</a:t>
            </a:r>
          </a:p>
        </p:txBody>
      </p:sp>
      <p:sp>
        <p:nvSpPr>
          <p:cNvPr id="15" name="인용 막대"/>
          <p:cNvSpPr/>
          <p:nvPr/>
        </p:nvSpPr>
        <p:spPr>
          <a:xfrm>
            <a:off x="558000" y="1594800"/>
            <a:ext cx="32400" cy="7344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인용"/>
          <p:cNvSpPr txBox="1"/>
          <p:nvPr/>
        </p:nvSpPr>
        <p:spPr>
          <a:xfrm>
            <a:off x="737999" y="1565999"/>
            <a:ext cx="2826000" cy="792000"/>
          </a:xfrm>
          <a:prstGeom prst="rect">
            <a:avLst/>
          </a:prstGeom>
          <a:noFill/>
        </p:spPr>
        <p:txBody>
          <a:bodyPr wrap="square" lIns="0" rIns="0" tIns="0" bIns="0" anchor="t">
            <a:spAutoFit/>
          </a:bodyPr>
          <a:lstStyle/>
          <a:p>
            <a:pPr algn="l" eaLnBrk="0">
              <a:lnSpc>
                <a:spcPct val="122000"/>
              </a:lnSpc>
              <a:spcAft>
                <a:spcPts val="0"/>
              </a:spcAft>
            </a:pPr>
            <a:r>
              <a:rPr sz="1450" b="0" lang="ko-KR" altLang="en-US">
                <a:solidFill>
                  <a:srgbClr val="1A1E25"/>
                </a:solidFill>
                <a:latin typeface="Malgun Gothic Semilight"/>
                <a:ea typeface="Malgun Gothic Semilight"/>
                <a:cs typeface="Malgun Gothic Semilight"/>
              </a:rPr>
              <a:t>하락 방어가 늘 낙폭을 줄인 것은 아닙니다.</a:t>
            </a:r>
          </a:p>
        </p:txBody>
      </p:sp>
      <p:sp>
        <p:nvSpPr>
          <p:cNvPr id="17" name="TextBox 16"/>
          <p:cNvSpPr txBox="1"/>
          <p:nvPr/>
        </p:nvSpPr>
        <p:spPr>
          <a:xfrm>
            <a:off x="558000" y="2484000"/>
            <a:ext cx="3006000" cy="2700000"/>
          </a:xfrm>
          <a:prstGeom prst="rect">
            <a:avLst/>
          </a:prstGeom>
          <a:noFill/>
        </p:spPr>
        <p:txBody>
          <a:bodyPr wrap="square" lIns="0" rIns="0" tIns="0" bIns="0" anchor="t">
            <a:spAutoFit/>
          </a:bodyPr>
          <a:lstStyle/>
          <a:p>
            <a:pPr algn="l" eaLnBrk="0">
              <a:lnSpc>
                <a:spcPct val="132000"/>
              </a:lnSpc>
              <a:spcAft>
                <a:spcPts val="700"/>
              </a:spcAft>
            </a:pPr>
            <a:r>
              <a:rPr sz="950" b="0" lang="ko-KR" altLang="en-US">
                <a:solidFill>
                  <a:srgbClr val="1A1E25"/>
                </a:solidFill>
                <a:latin typeface="Noto Sans KR"/>
                <a:ea typeface="Noto Sans KR"/>
                <a:cs typeface="Noto Sans KR"/>
              </a:rPr>
              <a:t>2022년처럼 하락이 길게 이어지면 방어가 효과를 냈습니다(Deneb −27.6% vs TQQQ 60 · SCHD 40 고정 −61.2%).</a:t>
            </a:r>
          </a:p>
          <a:p>
            <a:pPr algn="l" eaLnBrk="0">
              <a:lnSpc>
                <a:spcPct val="132000"/>
              </a:lnSpc>
              <a:spcAft>
                <a:spcPts val="700"/>
              </a:spcAft>
            </a:pPr>
            <a:r>
              <a:rPr sz="950" b="0" lang="ko-KR" altLang="en-US">
                <a:solidFill>
                  <a:srgbClr val="1A1E25"/>
                </a:solidFill>
                <a:latin typeface="Noto Sans KR"/>
                <a:ea typeface="Noto Sans KR"/>
                <a:cs typeface="Noto Sans KR"/>
              </a:rPr>
              <a:t>2018년 4분기 · 2020년 3월처럼 짧고 급한 하락에서는 Deneb도 −30.7% · −31.2%로 QQQ 단독 적립(−22.7% · −28.6%)보다 더 내렸습니다. 팔기 전에 이미 많이 내렸기 때문입니다.</a:t>
            </a:r>
          </a:p>
        </p:txBody>
      </p:sp>
      <p:cxnSp>
        <p:nvCxnSpPr>
          <p:cNvPr id="18" name="Connector 17"/>
          <p:cNvCxnSpPr/>
          <p:nvPr/>
        </p:nvCxnSpPr>
        <p:spPr>
          <a:xfrm>
            <a:off x="3844800" y="990000"/>
            <a:ext cx="6289200" cy="0"/>
          </a:xfrm>
          <a:prstGeom prst="line">
            <a:avLst/>
          </a:prstGeom>
          <a:ln w="9525">
            <a:solidFill>
              <a:srgbClr val="1A1E25"/>
            </a:solidFill>
          </a:ln>
        </p:spPr>
      </p:cxnSp>
      <p:sp>
        <p:nvSpPr>
          <p:cNvPr id="19" name="표지 막대"/>
          <p:cNvSpPr/>
          <p:nvPr/>
        </p:nvSpPr>
        <p:spPr>
          <a:xfrm>
            <a:off x="3844800" y="99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그림 제목"/>
          <p:cNvSpPr txBox="1"/>
          <p:nvPr/>
        </p:nvSpPr>
        <p:spPr>
          <a:xfrm>
            <a:off x="3844800" y="1090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위기 구간 낙폭</a:t>
            </a:r>
          </a:p>
        </p:txBody>
      </p:sp>
      <p:sp>
        <p:nvSpPr>
          <p:cNvPr id="21" name="그림 설명"/>
          <p:cNvSpPr txBox="1"/>
          <p:nvPr/>
        </p:nvSpPr>
        <p:spPr>
          <a:xfrm>
            <a:off x="3844800" y="1278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구간 안 고점 → 구간 안 저점 · 1원당 가치(납입 효과 제외) · 일간 종가</a:t>
            </a:r>
          </a:p>
        </p:txBody>
      </p:sp>
      <p:graphicFrame>
        <p:nvGraphicFramePr>
          <p:cNvPr id="22" name="위기 낙폭"/>
          <p:cNvGraphicFramePr>
            <a:graphicFrameLocks noGrp="1"/>
          </p:cNvGraphicFramePr>
          <p:nvPr/>
        </p:nvGraphicFramePr>
        <p:xfrm>
          <a:off x="3844800" y="1422000"/>
          <a:ext cx="6289200" cy="2736000"/>
        </p:xfrm>
        <a:graphic>
          <a:graphicData uri="http://schemas.openxmlformats.org/drawingml/2006/chart">
            <c:chart xmlns:c="http://schemas.openxmlformats.org/drawingml/2006/chart" r:id="rId2"/>
          </a:graphicData>
        </a:graphic>
      </p:graphicFrame>
      <p:cxnSp>
        <p:nvCxnSpPr>
          <p:cNvPr id="23" name="Connector 22"/>
          <p:cNvCxnSpPr/>
          <p:nvPr/>
        </p:nvCxnSpPr>
        <p:spPr>
          <a:xfrm>
            <a:off x="558000" y="5004000"/>
            <a:ext cx="9576000" cy="0"/>
          </a:xfrm>
          <a:prstGeom prst="line">
            <a:avLst/>
          </a:prstGeom>
          <a:ln w="9525">
            <a:solidFill>
              <a:srgbClr val="1A1E25"/>
            </a:solidFill>
          </a:ln>
        </p:spPr>
      </p:cxnSp>
      <p:sp>
        <p:nvSpPr>
          <p:cNvPr id="24" name="표지 막대"/>
          <p:cNvSpPr/>
          <p:nvPr/>
        </p:nvSpPr>
        <p:spPr>
          <a:xfrm>
            <a:off x="558000" y="5004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그림 제목"/>
          <p:cNvSpPr txBox="1"/>
          <p:nvPr/>
        </p:nvSpPr>
        <p:spPr>
          <a:xfrm>
            <a:off x="558000" y="5104800"/>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가장 크게 줄었던 금액 · 다섯 납입액</a:t>
            </a:r>
          </a:p>
        </p:txBody>
      </p:sp>
      <p:sp>
        <p:nvSpPr>
          <p:cNvPr id="26" name="그림 설명"/>
          <p:cNvSpPr txBox="1"/>
          <p:nvPr/>
        </p:nvSpPr>
        <p:spPr>
          <a:xfrm>
            <a:off x="558000" y="5292000"/>
            <a:ext cx="957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일간 평가액 고점 → 이후 저점 · 그사이 넣은 돈 포함 · 단위 만 원</a:t>
            </a:r>
          </a:p>
        </p:txBody>
      </p:sp>
      <p:graphicFrame>
        <p:nvGraphicFramePr>
          <p:cNvPr id="27" name="표"/>
          <p:cNvGraphicFramePr>
            <a:graphicFrameLocks noGrp="1"/>
          </p:cNvGraphicFramePr>
          <p:nvPr/>
        </p:nvGraphicFramePr>
        <p:xfrm>
          <a:off x="558000" y="5472000"/>
          <a:ext cx="9575996" cy="1080000"/>
        </p:xfrm>
        <a:graphic>
          <a:graphicData uri="http://schemas.openxmlformats.org/drawingml/2006/table">
            <a:tbl>
              <a:tblPr firstRow="0" bandRow="0" firstCol="0" lastCol="0" bandCol="0" lastRow="0">
                <a:tableStyleId>{5940675A-B579-460E-94D1-54222C63F5DA}</a:tableStyleId>
              </a:tblPr>
              <a:tblGrid>
                <a:gridCol w="1080000"/>
                <a:gridCol w="1673999"/>
                <a:gridCol w="1673999"/>
                <a:gridCol w="1673999"/>
                <a:gridCol w="1673999"/>
                <a:gridCol w="1800000"/>
              </a:tblGrid>
              <a:tr h="1800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월 납입액</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Deneb</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QQQ 단독 적립</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TQQQ 단독</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Polaris</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Deneb 구간</a:t>
                      </a:r>
                      <a:endParaRPr sz="800"/>
                    </a:p>
                  </a:txBody>
                  <a:tcPr marL="28800" marR="43200" marT="25200" marB="25200" anchor="b">
                    <a:lnL w="0">
                      <a:noFill/>
                    </a:lnL>
                    <a:lnR w="0">
                      <a:noFill/>
                    </a:lnR>
                    <a:lnT w="9525">
                      <a:solidFill>
                        <a:srgbClr val="1A1E25"/>
                      </a:solidFill>
                    </a:lnT>
                    <a:lnB w="9525">
                      <a:solidFill>
                        <a:srgbClr val="1A1E25"/>
                      </a:solidFill>
                    </a:lnB>
                    <a:noFill/>
                  </a:tcPr>
                </a:tc>
              </a:tr>
              <a:tr h="180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4,082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1,443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23,661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494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2024-12 → 2025-04</a:t>
                      </a:r>
                      <a:endParaRPr sz="850"/>
                    </a:p>
                  </a:txBody>
                  <a:tcPr marL="28800" marR="43200" marT="25200" marB="25200" anchor="ctr">
                    <a:lnL w="0">
                      <a:noFill/>
                    </a:lnL>
                    <a:lnR w="0">
                      <a:noFill/>
                    </a:lnR>
                    <a:lnT w="0">
                      <a:noFill/>
                    </a:lnT>
                    <a:lnB w="6350">
                      <a:solidFill>
                        <a:srgbClr val="C9D0DA"/>
                      </a:solidFill>
                    </a:lnB>
                    <a:noFill/>
                  </a:tcPr>
                </a:tc>
              </a:tr>
              <a:tr h="180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20만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8,163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2,886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47,322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988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2024-12 → 2025-04</a:t>
                      </a:r>
                      <a:endParaRPr sz="850"/>
                    </a:p>
                  </a:txBody>
                  <a:tcPr marL="28800" marR="43200" marT="25200" marB="25200" anchor="ctr">
                    <a:lnL w="0">
                      <a:noFill/>
                    </a:lnL>
                    <a:lnR w="0">
                      <a:noFill/>
                    </a:lnR>
                    <a:lnT w="0">
                      <a:noFill/>
                    </a:lnT>
                    <a:lnB w="6350">
                      <a:solidFill>
                        <a:srgbClr val="C9D0DA"/>
                      </a:solidFill>
                    </a:lnB>
                    <a:noFill/>
                  </a:tcPr>
                </a:tc>
              </a:tr>
              <a:tr h="180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30만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12,245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4,330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70,984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1,482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2024-12 → 2025-04</a:t>
                      </a:r>
                      <a:endParaRPr sz="850"/>
                    </a:p>
                  </a:txBody>
                  <a:tcPr marL="28800" marR="43200" marT="25200" marB="25200" anchor="ctr">
                    <a:lnL w="0">
                      <a:noFill/>
                    </a:lnL>
                    <a:lnR w="0">
                      <a:noFill/>
                    </a:lnR>
                    <a:lnT w="0">
                      <a:noFill/>
                    </a:lnT>
                    <a:lnB w="6350">
                      <a:solidFill>
                        <a:srgbClr val="C9D0DA"/>
                      </a:solidFill>
                    </a:lnB>
                    <a:noFill/>
                  </a:tcPr>
                </a:tc>
              </a:tr>
              <a:tr h="180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50만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20,409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7,216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118,306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2,469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2024-12 → 2025-04</a:t>
                      </a:r>
                      <a:endParaRPr sz="850"/>
                    </a:p>
                  </a:txBody>
                  <a:tcPr marL="28800" marR="43200" marT="25200" marB="25200" anchor="ctr">
                    <a:lnL w="0">
                      <a:noFill/>
                    </a:lnL>
                    <a:lnR w="0">
                      <a:noFill/>
                    </a:lnR>
                    <a:lnT w="0">
                      <a:noFill/>
                    </a:lnT>
                    <a:lnB w="6350">
                      <a:solidFill>
                        <a:srgbClr val="C9D0DA"/>
                      </a:solidFill>
                    </a:lnB>
                    <a:noFill/>
                  </a:tcPr>
                </a:tc>
              </a:tr>
              <a:tr h="180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40,817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14,432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236,612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4,939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2024-12 → 2025-04</a:t>
                      </a:r>
                      <a:endParaRPr sz="85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8" name="Connector 27"/>
          <p:cNvCxnSpPr/>
          <p:nvPr/>
        </p:nvCxnSpPr>
        <p:spPr>
          <a:xfrm>
            <a:off x="558000" y="5472000"/>
            <a:ext cx="9576000" cy="0"/>
          </a:xfrm>
          <a:prstGeom prst="line">
            <a:avLst/>
          </a:prstGeom>
          <a:ln w="25400">
            <a:solidFill>
              <a:srgbClr val="1A1E25"/>
            </a:solidFill>
          </a:ln>
        </p:spPr>
      </p:cxnSp>
      <p:sp>
        <p:nvSpPr>
          <p:cNvPr id="29"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실제 ETF 수정 종가(QQQ · QLD · TQQQ · SCHD · SPY · IEF · GLD), 자체 계산 · 비용 0.15% · 세전 · 환율 고정 · 소수 주 · blue_manual/calc2.py 위기 구간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4893000" y="619200"/>
            <a:ext cx="6660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17</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6장 · Deneb 안의 SCHD 배당</a:t>
            </a:r>
          </a:p>
        </p:txBody>
      </p:sp>
      <p:sp>
        <p:nvSpPr>
          <p:cNvPr id="14"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쌓이는 SCHD와
예상 배당</a:t>
            </a:r>
          </a:p>
        </p:txBody>
      </p:sp>
      <p:sp>
        <p:nvSpPr>
          <p:cNvPr id="15" name="TextBox 14"/>
          <p:cNvSpPr txBox="1"/>
          <p:nvPr/>
        </p:nvSpPr>
        <p:spPr>
          <a:xfrm>
            <a:off x="558000" y="1944000"/>
            <a:ext cx="3006000" cy="4860000"/>
          </a:xfrm>
          <a:prstGeom prst="rect">
            <a:avLst/>
          </a:prstGeom>
          <a:noFill/>
        </p:spPr>
        <p:txBody>
          <a:bodyPr wrap="square" lIns="0" rIns="0" tIns="0" bIns="0" anchor="t">
            <a:spAutoFit/>
          </a:bodyPr>
          <a:lstStyle/>
          <a:p>
            <a:pPr algn="l" eaLnBrk="0">
              <a:lnSpc>
                <a:spcPct val="132000"/>
              </a:lnSpc>
              <a:spcAft>
                <a:spcPts val="700"/>
              </a:spcAft>
            </a:pPr>
            <a:r>
              <a:rPr sz="950" b="0" lang="ko-KR" altLang="en-US">
                <a:solidFill>
                  <a:srgbClr val="1A1E25"/>
                </a:solidFill>
                <a:latin typeface="Noto Sans KR"/>
                <a:ea typeface="Noto Sans KR"/>
                <a:cs typeface="Noto Sans KR"/>
              </a:rPr>
              <a:t>SCHD만 따로 산 경우가 아닙니다. Deneb를 매달 운용하면서 실제로 쌓이는 SCHD 몫에서 나올 배당을 계산했습니다. 하락 방어 · 매달 맞춤으로 SCHD 주수가 늘고 줄어드는 것까지 반영했습니다.</a:t>
            </a:r>
          </a:p>
          <a:p>
            <a:pPr algn="l" eaLnBrk="0">
              <a:lnSpc>
                <a:spcPct val="132000"/>
              </a:lnSpc>
              <a:spcAft>
                <a:spcPts val="700"/>
              </a:spcAft>
            </a:pPr>
            <a:r>
              <a:rPr sz="950" b="1" lang="ko-KR" altLang="en-US">
                <a:solidFill>
                  <a:srgbClr val="1A1E25"/>
                </a:solidFill>
                <a:latin typeface="Noto Sans KR"/>
                <a:ea typeface="Noto Sans KR"/>
                <a:cs typeface="Noto Sans KR"/>
              </a:rPr>
              <a:t>미래 가정 세 가지  </a:t>
            </a:r>
            <a:r>
              <a:rPr sz="950" b="0" lang="ko-KR" altLang="en-US">
                <a:solidFill>
                  <a:srgbClr val="1A1E25"/>
                </a:solidFill>
                <a:latin typeface="Noto Sans KR"/>
                <a:ea typeface="Noto Sans KR"/>
                <a:cs typeface="Noto Sans KR"/>
              </a:rPr>
              <a:t>‘가격 정체’ 나스닥 · SCHD 가격과 주당 배당이 그대로. ‘완만한 성장’ 나스닥 연 6%, SCHD 가격 · 배당 연 3%. ‘성장 중 급락’ 같은 성장 중 5년째에 나스닥 −35% · SCHD −20%, 주당 배당 20% 감소.</a:t>
            </a:r>
          </a:p>
          <a:p>
            <a:pPr algn="l" eaLnBrk="0">
              <a:lnSpc>
                <a:spcPct val="132000"/>
              </a:lnSpc>
              <a:spcAft>
                <a:spcPts val="700"/>
              </a:spcAft>
            </a:pPr>
            <a:r>
              <a:rPr sz="950" b="1" lang="ko-KR" altLang="en-US">
                <a:solidFill>
                  <a:srgbClr val="1A1E25"/>
                </a:solidFill>
                <a:latin typeface="Noto Sans KR"/>
                <a:ea typeface="Noto Sans KR"/>
                <a:cs typeface="Noto Sans KR"/>
              </a:rPr>
              <a:t>공통 가정  </a:t>
            </a:r>
            <a:r>
              <a:rPr sz="950" b="0" lang="ko-KR" altLang="en-US">
                <a:solidFill>
                  <a:srgbClr val="1A1E25"/>
                </a:solidFill>
                <a:latin typeface="Noto Sans KR"/>
                <a:ea typeface="Noto Sans KR"/>
                <a:cs typeface="Noto Sans KR"/>
              </a:rPr>
              <a:t>SCHD 시작 가격 $35 · 배당 수익률 연 3% · 환율 1,300원 · 분기 배당을 받는 즉시 SCHD로 재투자 · 세전. 2027년부터 20년.</a:t>
            </a:r>
          </a:p>
          <a:p>
            <a:pPr algn="l" eaLnBrk="0">
              <a:lnSpc>
                <a:spcPct val="132000"/>
              </a:lnSpc>
              <a:spcAft>
                <a:spcPts val="700"/>
              </a:spcAft>
            </a:pPr>
            <a:r>
              <a:rPr sz="950" b="1" lang="ko-KR" altLang="en-US">
                <a:solidFill>
                  <a:srgbClr val="1A1E25"/>
                </a:solidFill>
                <a:latin typeface="Noto Sans KR"/>
                <a:ea typeface="Noto Sans KR"/>
                <a:cs typeface="Noto Sans KR"/>
              </a:rPr>
              <a:t>읽는 법  </a:t>
            </a:r>
            <a:r>
              <a:rPr sz="950" b="0" lang="ko-KR" altLang="en-US">
                <a:solidFill>
                  <a:srgbClr val="1A1E25"/>
                </a:solidFill>
                <a:latin typeface="Noto Sans KR"/>
                <a:ea typeface="Noto Sans KR"/>
                <a:cs typeface="Noto Sans KR"/>
              </a:rPr>
              <a:t>월 환산 = 그해 배당 ÷ 12. 실제로는 분기마다 들어오므로 ‘매달 이만큼 받는다’는 뜻이 아닙니다. 배당은 이미 평가액에 들어 있어 따로 더하지 않습니다.</a:t>
            </a:r>
          </a:p>
        </p:txBody>
      </p:sp>
      <p:cxnSp>
        <p:nvCxnSpPr>
          <p:cNvPr id="16" name="Connector 15"/>
          <p:cNvCxnSpPr/>
          <p:nvPr/>
        </p:nvCxnSpPr>
        <p:spPr>
          <a:xfrm>
            <a:off x="3844800" y="990000"/>
            <a:ext cx="6289200" cy="0"/>
          </a:xfrm>
          <a:prstGeom prst="line">
            <a:avLst/>
          </a:prstGeom>
          <a:ln w="9525">
            <a:solidFill>
              <a:srgbClr val="1A1E25"/>
            </a:solidFill>
          </a:ln>
        </p:spPr>
      </p:cxnSp>
      <p:sp>
        <p:nvSpPr>
          <p:cNvPr id="17" name="표지 막대"/>
          <p:cNvSpPr/>
          <p:nvPr/>
        </p:nvSpPr>
        <p:spPr>
          <a:xfrm>
            <a:off x="3844800" y="99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그림 제목"/>
          <p:cNvSpPr txBox="1"/>
          <p:nvPr/>
        </p:nvSpPr>
        <p:spPr>
          <a:xfrm>
            <a:off x="3844800" y="1090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연간 예상 SCHD 배당 · 월 10만 원</a:t>
            </a:r>
          </a:p>
        </p:txBody>
      </p:sp>
      <p:sp>
        <p:nvSpPr>
          <p:cNvPr id="19" name="그림 설명"/>
          <p:cNvSpPr txBox="1"/>
          <p:nvPr/>
        </p:nvSpPr>
        <p:spPr>
          <a:xfrm>
            <a:off x="3844800" y="1278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세 가정 · 세전 · 배당 재투자 · 2027년 = 1년째 · 단위 만 원 (월 20만 원 계산의 절반, 비례)</a:t>
            </a:r>
          </a:p>
        </p:txBody>
      </p:sp>
      <p:graphicFrame>
        <p:nvGraphicFramePr>
          <p:cNvPr id="20" name="연간 배당"/>
          <p:cNvGraphicFramePr>
            <a:graphicFrameLocks noGrp="1"/>
          </p:cNvGraphicFramePr>
          <p:nvPr/>
        </p:nvGraphicFramePr>
        <p:xfrm>
          <a:off x="3844800" y="1440000"/>
          <a:ext cx="6289200" cy="2520000"/>
        </p:xfrm>
        <a:graphic>
          <a:graphicData uri="http://schemas.openxmlformats.org/drawingml/2006/chart">
            <c:chart xmlns:c="http://schemas.openxmlformats.org/drawingml/2006/chart" r:id="rId2"/>
          </a:graphicData>
        </a:graphic>
      </p:graphicFrame>
      <p:cxnSp>
        <p:nvCxnSpPr>
          <p:cNvPr id="21" name="Connector 20"/>
          <p:cNvCxnSpPr/>
          <p:nvPr/>
        </p:nvCxnSpPr>
        <p:spPr>
          <a:xfrm>
            <a:off x="3844800" y="4104000"/>
            <a:ext cx="324000" cy="0"/>
          </a:xfrm>
          <a:prstGeom prst="line">
            <a:avLst/>
          </a:prstGeom>
          <a:ln w="22225">
            <a:solidFill>
              <a:srgbClr val="8A94A6"/>
            </a:solidFill>
            <a:prstDash val="sysDash"/>
          </a:ln>
        </p:spPr>
      </p:cxnSp>
      <p:sp>
        <p:nvSpPr>
          <p:cNvPr id="22" name="TextBox 21"/>
          <p:cNvSpPr txBox="1"/>
          <p:nvPr/>
        </p:nvSpPr>
        <p:spPr>
          <a:xfrm>
            <a:off x="4222800" y="4014000"/>
            <a:ext cx="162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가격 정체</a:t>
            </a:r>
          </a:p>
        </p:txBody>
      </p:sp>
      <p:cxnSp>
        <p:nvCxnSpPr>
          <p:cNvPr id="23" name="Connector 22"/>
          <p:cNvCxnSpPr/>
          <p:nvPr/>
        </p:nvCxnSpPr>
        <p:spPr>
          <a:xfrm>
            <a:off x="4978800" y="4104000"/>
            <a:ext cx="324000" cy="0"/>
          </a:xfrm>
          <a:prstGeom prst="line">
            <a:avLst/>
          </a:prstGeom>
          <a:ln w="28575">
            <a:solidFill>
              <a:srgbClr val="0B3D91"/>
            </a:solidFill>
          </a:ln>
        </p:spPr>
      </p:cxnSp>
      <p:sp>
        <p:nvSpPr>
          <p:cNvPr id="24" name="TextBox 23"/>
          <p:cNvSpPr txBox="1"/>
          <p:nvPr/>
        </p:nvSpPr>
        <p:spPr>
          <a:xfrm>
            <a:off x="5356800" y="4014000"/>
            <a:ext cx="162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완만한 성장</a:t>
            </a:r>
          </a:p>
        </p:txBody>
      </p:sp>
      <p:cxnSp>
        <p:nvCxnSpPr>
          <p:cNvPr id="25" name="Connector 24"/>
          <p:cNvCxnSpPr/>
          <p:nvPr/>
        </p:nvCxnSpPr>
        <p:spPr>
          <a:xfrm>
            <a:off x="6202800" y="4104000"/>
            <a:ext cx="324000" cy="0"/>
          </a:xfrm>
          <a:prstGeom prst="line">
            <a:avLst/>
          </a:prstGeom>
          <a:ln w="22225">
            <a:solidFill>
              <a:srgbClr val="E07A1F"/>
            </a:solidFill>
            <a:prstDash val="dash"/>
          </a:ln>
        </p:spPr>
      </p:cxnSp>
      <p:sp>
        <p:nvSpPr>
          <p:cNvPr id="26" name="TextBox 25"/>
          <p:cNvSpPr txBox="1"/>
          <p:nvPr/>
        </p:nvSpPr>
        <p:spPr>
          <a:xfrm>
            <a:off x="6580800" y="4014000"/>
            <a:ext cx="162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성장 중 급락</a:t>
            </a:r>
          </a:p>
        </p:txBody>
      </p:sp>
      <p:cxnSp>
        <p:nvCxnSpPr>
          <p:cNvPr id="27" name="Connector 26"/>
          <p:cNvCxnSpPr/>
          <p:nvPr/>
        </p:nvCxnSpPr>
        <p:spPr>
          <a:xfrm>
            <a:off x="3844800" y="4320000"/>
            <a:ext cx="6289200" cy="0"/>
          </a:xfrm>
          <a:prstGeom prst="line">
            <a:avLst/>
          </a:prstGeom>
          <a:ln w="9525">
            <a:solidFill>
              <a:srgbClr val="1A1E25"/>
            </a:solidFill>
          </a:ln>
        </p:spPr>
      </p:cxnSp>
      <p:sp>
        <p:nvSpPr>
          <p:cNvPr id="28" name="표지 막대"/>
          <p:cNvSpPr/>
          <p:nvPr/>
        </p:nvSpPr>
        <p:spPr>
          <a:xfrm>
            <a:off x="3844800" y="432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그림 제목"/>
          <p:cNvSpPr txBox="1"/>
          <p:nvPr/>
        </p:nvSpPr>
        <p:spPr>
          <a:xfrm>
            <a:off x="3844800" y="4420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20년째 · 다섯 납입액 · 세 가정</a:t>
            </a:r>
          </a:p>
        </p:txBody>
      </p:sp>
      <p:sp>
        <p:nvSpPr>
          <p:cNvPr id="30" name="그림 설명"/>
          <p:cNvSpPr txBox="1"/>
          <p:nvPr/>
        </p:nvSpPr>
        <p:spPr>
          <a:xfrm>
            <a:off x="3844800" y="4608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그해 연간 배당(세전) · 괄호는 월 환산 · 단위 만 원</a:t>
            </a:r>
          </a:p>
        </p:txBody>
      </p:sp>
      <p:graphicFrame>
        <p:nvGraphicFramePr>
          <p:cNvPr id="31" name="표"/>
          <p:cNvGraphicFramePr>
            <a:graphicFrameLocks noGrp="1"/>
          </p:cNvGraphicFramePr>
          <p:nvPr/>
        </p:nvGraphicFramePr>
        <p:xfrm>
          <a:off x="3844800" y="4788000"/>
          <a:ext cx="6289200" cy="1296000"/>
        </p:xfrm>
        <a:graphic>
          <a:graphicData uri="http://schemas.openxmlformats.org/drawingml/2006/table">
            <a:tbl>
              <a:tblPr firstRow="0" bandRow="0" firstCol="0" lastCol="0" bandCol="0" lastRow="0">
                <a:tableStyleId>{5940675A-B579-460E-94D1-54222C63F5DA}</a:tableStyleId>
              </a:tblPr>
              <a:tblGrid>
                <a:gridCol w="1152000"/>
                <a:gridCol w="1712400"/>
                <a:gridCol w="1712400"/>
                <a:gridCol w="1712400"/>
              </a:tblGrid>
              <a:tr h="2160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월 납입액</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가격 정체</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완만한 성장</a:t>
                      </a:r>
                      <a:endParaRPr sz="850"/>
                    </a:p>
                  </a:txBody>
                  <a:tcPr marL="28800" marR="43200" marT="25200" marB="25200" anchor="b">
                    <a:lnL w="0">
                      <a:noFill/>
                    </a:lnL>
                    <a:lnR w="0">
                      <a:noFill/>
                    </a:lnR>
                    <a:lnT w="9525">
                      <a:solidFill>
                        <a:srgbClr val="1A1E25"/>
                      </a:solidFill>
                    </a:lnT>
                    <a:lnB w="9525">
                      <a:solidFill>
                        <a:srgbClr val="1A1E25"/>
                      </a:solidFill>
                    </a:lnB>
                    <a:solidFill>
                      <a:srgbClr val="EDF1F7"/>
                    </a:solid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성장 중 급락</a:t>
                      </a:r>
                      <a:endParaRPr sz="850"/>
                    </a:p>
                  </a:txBody>
                  <a:tcPr marL="28800" marR="43200" marT="25200" marB="25200" anchor="b">
                    <a:lnL w="0">
                      <a:noFill/>
                    </a:lnL>
                    <a:lnR w="0">
                      <a:noFill/>
                    </a:lnR>
                    <a:lnT w="9525">
                      <a:solidFill>
                        <a:srgbClr val="1A1E25"/>
                      </a:solidFill>
                    </a:lnT>
                    <a:lnB w="9525">
                      <a:solidFill>
                        <a:srgbClr val="1A1E25"/>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10만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73  (6.1)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90  (7.5)</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103  (8.6)</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20만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146  (12.2)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181  (15.0)</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206  (17.2)</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30만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219  (18.2)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271  (22.6)</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309  (25.8)</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50만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365  (30.4)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451  (37.6)</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515  (42.9)</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100만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729  (60.8)</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903  (75.2)</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1,030  (85.9)</a:t>
                      </a:r>
                      <a:endParaRPr sz="900"/>
                    </a:p>
                  </a:txBody>
                  <a:tcPr marL="28800" marR="43200" marT="25200" marB="25200" anchor="ctr">
                    <a:lnL w="0">
                      <a:noFill/>
                    </a:lnL>
                    <a:lnR w="0">
                      <a:noFill/>
                    </a:lnR>
                    <a:lnT w="0">
                      <a:noFill/>
                    </a:lnT>
                    <a:lnB w="6350">
                      <a:solidFill>
                        <a:srgbClr val="C9D0DA"/>
                      </a:solidFill>
                    </a:lnB>
                    <a:noFill/>
                  </a:tcPr>
                </a:tc>
              </a:tr>
            </a:tbl>
          </a:graphicData>
        </a:graphic>
      </p:graphicFrame>
      <p:cxnSp>
        <p:nvCxnSpPr>
          <p:cNvPr id="32" name="Connector 31"/>
          <p:cNvCxnSpPr/>
          <p:nvPr/>
        </p:nvCxnSpPr>
        <p:spPr>
          <a:xfrm>
            <a:off x="3844800" y="4788000"/>
            <a:ext cx="6289200" cy="0"/>
          </a:xfrm>
          <a:prstGeom prst="line">
            <a:avLst/>
          </a:prstGeom>
          <a:ln w="25400">
            <a:solidFill>
              <a:srgbClr val="1A1E25"/>
            </a:solidFill>
          </a:ln>
        </p:spPr>
      </p:cxnSp>
      <p:sp>
        <p:nvSpPr>
          <p:cNvPr id="33"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codex_independent/dividend_projection.json (결과 전 고정 5c68278) — 기존 Deneb 엔진을 가정 가격 경로에 재생, 승인형 배당 단계 제외</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4893000" y="619200"/>
            <a:ext cx="6660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18</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6장 · Deneb 안의 SCHD 배당</a:t>
            </a:r>
          </a:p>
        </p:txBody>
      </p:sp>
      <p:sp>
        <p:nvSpPr>
          <p:cNvPr id="14" name="제목"/>
          <p:cNvSpPr txBox="1"/>
          <p:nvPr/>
        </p:nvSpPr>
        <p:spPr>
          <a:xfrm>
            <a:off x="558000" y="990000"/>
            <a:ext cx="6120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납입액 × 기간별 배당</a:t>
            </a:r>
          </a:p>
        </p:txBody>
      </p:sp>
      <p:cxnSp>
        <p:nvCxnSpPr>
          <p:cNvPr id="15" name="Connector 14"/>
          <p:cNvCxnSpPr/>
          <p:nvPr/>
        </p:nvCxnSpPr>
        <p:spPr>
          <a:xfrm>
            <a:off x="558000" y="1638000"/>
            <a:ext cx="9576000" cy="0"/>
          </a:xfrm>
          <a:prstGeom prst="line">
            <a:avLst/>
          </a:prstGeom>
          <a:ln w="9525">
            <a:solidFill>
              <a:srgbClr val="1A1E25"/>
            </a:solidFill>
          </a:ln>
        </p:spPr>
      </p:cxnSp>
      <p:sp>
        <p:nvSpPr>
          <p:cNvPr id="16" name="표지 막대"/>
          <p:cNvSpPr/>
          <p:nvPr/>
        </p:nvSpPr>
        <p:spPr>
          <a:xfrm>
            <a:off x="558000" y="1638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그림 제목"/>
          <p:cNvSpPr txBox="1"/>
          <p:nvPr/>
        </p:nvSpPr>
        <p:spPr>
          <a:xfrm>
            <a:off x="558000" y="1738800"/>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SCHD 평가액 · 그해 연간 배당 · 월 환산 (세전과 미국 원천징수 15% 뺀 값)</a:t>
            </a:r>
          </a:p>
        </p:txBody>
      </p:sp>
      <p:sp>
        <p:nvSpPr>
          <p:cNvPr id="18" name="그림 설명"/>
          <p:cNvSpPr txBox="1"/>
          <p:nvPr/>
        </p:nvSpPr>
        <p:spPr>
          <a:xfrm>
            <a:off x="558000" y="1925999"/>
            <a:ext cx="957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완만한 성장 가정 · 배당 재투자 · 단위 만 원 · 세후는 원천징수만 뺀 단순 참고이며 국내 추가 과세 · 재투자 차이는 반영하지 않음</a:t>
            </a:r>
          </a:p>
        </p:txBody>
      </p:sp>
      <p:graphicFrame>
        <p:nvGraphicFramePr>
          <p:cNvPr id="19" name="표"/>
          <p:cNvGraphicFramePr>
            <a:graphicFrameLocks noGrp="1"/>
          </p:cNvGraphicFramePr>
          <p:nvPr/>
        </p:nvGraphicFramePr>
        <p:xfrm>
          <a:off x="558000" y="2106000"/>
          <a:ext cx="9575998" cy="4536000"/>
        </p:xfrm>
        <a:graphic>
          <a:graphicData uri="http://schemas.openxmlformats.org/drawingml/2006/table">
            <a:tbl>
              <a:tblPr firstRow="0" bandRow="0" firstCol="0" lastCol="0" bandCol="0" lastRow="0">
                <a:tableStyleId>{5940675A-B579-460E-94D1-54222C63F5DA}</a:tableStyleId>
              </a:tblPr>
              <a:tblGrid>
                <a:gridCol w="936000"/>
                <a:gridCol w="503999"/>
                <a:gridCol w="936000"/>
                <a:gridCol w="900000"/>
                <a:gridCol w="1116000"/>
                <a:gridCol w="1224000"/>
                <a:gridCol w="1224000"/>
                <a:gridCol w="1224000"/>
                <a:gridCol w="1511999"/>
              </a:tblGrid>
              <a:tr h="2160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월 납입액</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기간</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넣은 원금</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SCHD 주수</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SCHD 평가액</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연간 배당 (세전)</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월 환산 (세전)</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월 환산 (×0.85)</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누적 배당 (세전)</a:t>
                      </a:r>
                      <a:endParaRPr sz="800"/>
                    </a:p>
                  </a:txBody>
                  <a:tcPr marL="28800" marR="43200" marT="25200" marB="25200" anchor="b">
                    <a:lnL w="0">
                      <a:noFill/>
                    </a:lnL>
                    <a:lnR w="0">
                      <a:noFill/>
                    </a:lnR>
                    <a:lnT w="9525">
                      <a:solidFill>
                        <a:srgbClr val="1A1E25"/>
                      </a:solidFill>
                    </a:lnT>
                    <a:lnB w="9525">
                      <a:solidFill>
                        <a:srgbClr val="1A1E25"/>
                      </a:solidFill>
                    </a:lnB>
                    <a:no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60주</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315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0.7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0.6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22</a:t>
                      </a:r>
                      <a:endParaRPr sz="85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138주</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845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106</a:t>
                      </a:r>
                      <a:endParaRPr sz="85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15년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1,800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245주</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1,734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292</a:t>
                      </a:r>
                      <a:endParaRPr sz="85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393주</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3,228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650</a:t>
                      </a:r>
                      <a:endParaRPr sz="85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20만 원</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5년</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1,200</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120주</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631</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17</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44</a:t>
                      </a:r>
                      <a:endParaRPr sz="85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10년</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2,400</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276주</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1,690</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47</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3.9</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3.3</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211</a:t>
                      </a:r>
                      <a:endParaRPr sz="85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15년</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3,600</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489주</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3,469</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97</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8.0</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6.8</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584</a:t>
                      </a:r>
                      <a:endParaRPr sz="85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20년</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4,800</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786주</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6,457</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181</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15.0</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12.8</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1,301</a:t>
                      </a:r>
                      <a:endParaRPr sz="85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30만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1,800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179주</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946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67</a:t>
                      </a:r>
                      <a:endParaRPr sz="85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3,600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414주</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2,534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317</a:t>
                      </a:r>
                      <a:endParaRPr sz="85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15년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5,400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734주</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5,203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875</a:t>
                      </a:r>
                      <a:endParaRPr sz="85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7,200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1,179주</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9,685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271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22.6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19.2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1,951</a:t>
                      </a:r>
                      <a:endParaRPr sz="85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50만 원</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5년</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3,000</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299주</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1,577</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42</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3.5</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3.0</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111</a:t>
                      </a:r>
                      <a:endParaRPr sz="85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10년</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6,000</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691주</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4,224</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116</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9.7</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8.2</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528</a:t>
                      </a:r>
                      <a:endParaRPr sz="85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15년</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9,000</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1,223주</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8,672</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241</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20.1</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17.1</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1,459</a:t>
                      </a:r>
                      <a:endParaRPr sz="85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20년</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12,000</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1,964주</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16,142</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451</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37.6</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32.0</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3,252</a:t>
                      </a:r>
                      <a:endParaRPr sz="85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598주</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3,153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222</a:t>
                      </a:r>
                      <a:endParaRPr sz="85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1,382주</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8,448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233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19.4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16.5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1,056</a:t>
                      </a:r>
                      <a:endParaRPr sz="85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15년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18,000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2,447주</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17,344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483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40.2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34.2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2,918</a:t>
                      </a:r>
                      <a:endParaRPr sz="85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3,928주</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32,283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903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75.2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64.0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6,504</a:t>
                      </a:r>
                      <a:endParaRPr sz="85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0" name="Connector 19"/>
          <p:cNvCxnSpPr/>
          <p:nvPr/>
        </p:nvCxnSpPr>
        <p:spPr>
          <a:xfrm>
            <a:off x="558000" y="2106000"/>
            <a:ext cx="9576000" cy="0"/>
          </a:xfrm>
          <a:prstGeom prst="line">
            <a:avLst/>
          </a:prstGeom>
          <a:ln w="25400">
            <a:solidFill>
              <a:srgbClr val="1A1E25"/>
            </a:solidFill>
          </a:ln>
        </p:spPr>
      </p:cxnSp>
      <p:sp>
        <p:nvSpPr>
          <p:cNvPr id="21" name="TextBox 20"/>
          <p:cNvSpPr txBox="1"/>
          <p:nvPr/>
        </p:nvSpPr>
        <p:spPr>
          <a:xfrm>
            <a:off x="558000" y="6713999"/>
            <a:ext cx="9576000" cy="216000"/>
          </a:xfrm>
          <a:prstGeom prst="rect">
            <a:avLst/>
          </a:prstGeom>
          <a:noFill/>
        </p:spPr>
        <p:txBody>
          <a:bodyPr wrap="square" lIns="0" rIns="0" tIns="0" bIns="0" anchor="t">
            <a:spAutoFit/>
          </a:bodyPr>
          <a:lstStyle/>
          <a:p>
            <a:pPr algn="l" eaLnBrk="0">
              <a:lnSpc>
                <a:spcPct val="132000"/>
              </a:lnSpc>
              <a:spcAft>
                <a:spcPts val="0"/>
              </a:spcAft>
            </a:pPr>
            <a:r>
              <a:rPr sz="850" b="0" lang="ko-KR" altLang="en-US">
                <a:solidFill>
                  <a:srgbClr val="5C6573"/>
                </a:solidFill>
                <a:latin typeface="Noto Sans KR"/>
                <a:ea typeface="Noto Sans KR"/>
                <a:cs typeface="Noto Sans KR"/>
              </a:rPr>
              <a:t>SCHD 주수는 Deneb 규칙대로 사고판 결과라 가정마다 다릅니다. ‘성장 중 급락’에서 배당이 오히려 많은 것은 SCHD 가격이 쌀 때 더 많은 주수를 샀기 때문입니다(6장 첫 쪽 표).</a:t>
            </a:r>
          </a:p>
        </p:txBody>
      </p:sp>
      <p:sp>
        <p:nvSpPr>
          <p:cNvPr id="22"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codex_independent/dividend_projection.json · 가정은 시장 추정 기대값이 아님 · 승인형 배당 단계(TQQQ 목표 낮추기) 제외</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4893000" y="619200"/>
            <a:ext cx="6660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19</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7장 · 하락 방어와 복귀</a:t>
            </a:r>
          </a:p>
        </p:txBody>
      </p:sp>
      <p:sp>
        <p:nvSpPr>
          <p:cNvPr id="14" name="제목"/>
          <p:cNvSpPr txBox="1"/>
          <p:nvPr/>
        </p:nvSpPr>
        <p:spPr>
          <a:xfrm>
            <a:off x="558000" y="990000"/>
            <a:ext cx="6120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파는 순서와 되사는 조건</a:t>
            </a:r>
          </a:p>
        </p:txBody>
      </p:sp>
      <p:sp>
        <p:nvSpPr>
          <p:cNvPr id="15" name="TextBox 14"/>
          <p:cNvSpPr txBox="1"/>
          <p:nvPr/>
        </p:nvSpPr>
        <p:spPr>
          <a:xfrm>
            <a:off x="558000" y="1584000"/>
            <a:ext cx="6300000" cy="503999"/>
          </a:xfrm>
          <a:prstGeom prst="rect">
            <a:avLst/>
          </a:prstGeom>
          <a:noFill/>
        </p:spPr>
        <p:txBody>
          <a:bodyPr wrap="square" lIns="0" rIns="0" tIns="0" bIns="0" anchor="t">
            <a:spAutoFit/>
          </a:bodyPr>
          <a:lstStyle/>
          <a:p>
            <a:pPr algn="l" eaLnBrk="0">
              <a:lnSpc>
                <a:spcPct val="132000"/>
              </a:lnSpc>
              <a:spcAft>
                <a:spcPts val="0"/>
              </a:spcAft>
            </a:pPr>
            <a:r>
              <a:rPr sz="1050" b="0" lang="ko-KR" altLang="en-US">
                <a:solidFill>
                  <a:srgbClr val="1A1E25"/>
                </a:solidFill>
                <a:latin typeface="Noto Sans KR"/>
                <a:ea typeface="Noto Sans KR"/>
                <a:cs typeface="Noto Sans KR"/>
              </a:rPr>
              <a:t>예시: Deneb 계좌 1,000만 원 중 TQQQ 600만 원 · SCHD 400만 원. 가격은 설명용이며 실제 주문액이 아닙니다.</a:t>
            </a:r>
          </a:p>
        </p:txBody>
      </p:sp>
      <p:sp>
        <p:nvSpPr>
          <p:cNvPr id="16" name="카드"/>
          <p:cNvSpPr/>
          <p:nvPr/>
        </p:nvSpPr>
        <p:spPr>
          <a:xfrm>
            <a:off x="558000" y="2268000"/>
            <a:ext cx="1742400" cy="1944000"/>
          </a:xfrm>
          <a:prstGeom prst="roundRect">
            <a:avLst>
              <a:gd name="adj" fmla="val 8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4000" y="2394000"/>
            <a:ext cx="1490400" cy="216000"/>
          </a:xfrm>
          <a:prstGeom prst="rect">
            <a:avLst/>
          </a:prstGeom>
          <a:noFill/>
        </p:spPr>
        <p:txBody>
          <a:bodyPr wrap="square" lIns="0" rIns="0" tIns="0" bIns="0" anchor="t">
            <a:spAutoFit/>
          </a:bodyPr>
          <a:lstStyle/>
          <a:p>
            <a:pPr algn="l" eaLnBrk="0">
              <a:lnSpc>
                <a:spcPct val="100000"/>
              </a:lnSpc>
              <a:spcAft>
                <a:spcPts val="0"/>
              </a:spcAft>
            </a:pPr>
            <a:r>
              <a:rPr sz="1200" b="1" lang="ko-KR" altLang="en-US">
                <a:solidFill>
                  <a:srgbClr val="1A1E25"/>
                </a:solidFill>
                <a:latin typeface="Noto Sans KR"/>
                <a:ea typeface="Noto Sans KR"/>
                <a:cs typeface="Noto Sans KR"/>
              </a:rPr>
              <a:t>평상시</a:t>
            </a:r>
          </a:p>
        </p:txBody>
      </p:sp>
      <p:sp>
        <p:nvSpPr>
          <p:cNvPr id="18" name="TextBox 17"/>
          <p:cNvSpPr txBox="1"/>
          <p:nvPr/>
        </p:nvSpPr>
        <p:spPr>
          <a:xfrm>
            <a:off x="684000" y="2700000"/>
            <a:ext cx="1490400" cy="503999"/>
          </a:xfrm>
          <a:prstGeom prst="rect">
            <a:avLst/>
          </a:prstGeom>
          <a:noFill/>
        </p:spPr>
        <p:txBody>
          <a:bodyPr wrap="square" lIns="0" rIns="0" tIns="0" bIns="0" anchor="t">
            <a:spAutoFit/>
          </a:bodyPr>
          <a:lstStyle/>
          <a:p>
            <a:pPr algn="l" eaLnBrk="0">
              <a:lnSpc>
                <a:spcPct val="132000"/>
              </a:lnSpc>
              <a:spcAft>
                <a:spcPts val="0"/>
              </a:spcAft>
            </a:pPr>
            <a:r>
              <a:rPr sz="950" b="1" lang="ko-KR" altLang="en-US">
                <a:solidFill>
                  <a:srgbClr val="1A1E25"/>
                </a:solidFill>
                <a:latin typeface="Noto Sans KR"/>
                <a:ea typeface="Noto Sans KR"/>
                <a:cs typeface="Noto Sans KR"/>
              </a:rPr>
              <a:t>TQQQ 600만 · SCHD 400만</a:t>
            </a:r>
          </a:p>
        </p:txBody>
      </p:sp>
      <p:sp>
        <p:nvSpPr>
          <p:cNvPr id="19" name="TextBox 18"/>
          <p:cNvSpPr txBox="1"/>
          <p:nvPr/>
        </p:nvSpPr>
        <p:spPr>
          <a:xfrm>
            <a:off x="684000" y="3276000"/>
            <a:ext cx="1490400" cy="936000"/>
          </a:xfrm>
          <a:prstGeom prst="rect">
            <a:avLst/>
          </a:prstGeom>
          <a:noFill/>
        </p:spPr>
        <p:txBody>
          <a:bodyPr wrap="square" lIns="0" rIns="0" tIns="0" bIns="0" anchor="t">
            <a:spAutoFit/>
          </a:bodyPr>
          <a:lstStyle/>
          <a:p>
            <a:pPr algn="l" eaLnBrk="0">
              <a:lnSpc>
                <a:spcPct val="132000"/>
              </a:lnSpc>
              <a:spcAft>
                <a:spcPts val="0"/>
              </a:spcAft>
            </a:pPr>
            <a:r>
              <a:rPr sz="880" b="0" lang="ko-KR" altLang="en-US">
                <a:solidFill>
                  <a:srgbClr val="1A1E25"/>
                </a:solidFill>
                <a:latin typeface="Noto Sans KR"/>
                <a:ea typeface="Noto Sans KR"/>
                <a:cs typeface="Noto Sans KR"/>
              </a:rPr>
              <a:t>매일 전날 종가로 TQQQ가 최근 고점보다 얼마나 내렸는지 봄</a:t>
            </a:r>
          </a:p>
        </p:txBody>
      </p:sp>
      <p:cxnSp>
        <p:nvCxnSpPr>
          <p:cNvPr id="20" name="Connector 19"/>
          <p:cNvCxnSpPr/>
          <p:nvPr/>
        </p:nvCxnSpPr>
        <p:spPr>
          <a:xfrm>
            <a:off x="2318400" y="3240000"/>
            <a:ext cx="180000" cy="0"/>
          </a:xfrm>
          <a:prstGeom prst="line">
            <a:avLst/>
          </a:prstGeom>
          <a:ln w="15875">
            <a:solidFill>
              <a:srgbClr val="1A1E25"/>
            </a:solidFill>
            <a:tailEnd type="triangle" w="med" len="med"/>
          </a:ln>
        </p:spPr>
      </p:cxnSp>
      <p:sp>
        <p:nvSpPr>
          <p:cNvPr id="21" name="카드"/>
          <p:cNvSpPr/>
          <p:nvPr/>
        </p:nvSpPr>
        <p:spPr>
          <a:xfrm>
            <a:off x="2516399" y="2268000"/>
            <a:ext cx="1742400" cy="1944000"/>
          </a:xfrm>
          <a:prstGeom prst="roundRect">
            <a:avLst>
              <a:gd name="adj" fmla="val 8000"/>
            </a:avLst>
          </a:prstGeom>
          <a:solidFill>
            <a:srgbClr val="DCE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42399" y="2394000"/>
            <a:ext cx="1490400" cy="216000"/>
          </a:xfrm>
          <a:prstGeom prst="rect">
            <a:avLst/>
          </a:prstGeom>
          <a:noFill/>
        </p:spPr>
        <p:txBody>
          <a:bodyPr wrap="square" lIns="0" rIns="0" tIns="0" bIns="0" anchor="t">
            <a:spAutoFit/>
          </a:bodyPr>
          <a:lstStyle/>
          <a:p>
            <a:pPr algn="l" eaLnBrk="0">
              <a:lnSpc>
                <a:spcPct val="100000"/>
              </a:lnSpc>
              <a:spcAft>
                <a:spcPts val="0"/>
              </a:spcAft>
            </a:pPr>
            <a:r>
              <a:rPr sz="1200" b="1" lang="ko-KR" altLang="en-US">
                <a:solidFill>
                  <a:srgbClr val="1A1E25"/>
                </a:solidFill>
                <a:latin typeface="Noto Sans KR"/>
                <a:ea typeface="Noto Sans KR"/>
                <a:cs typeface="Noto Sans KR"/>
              </a:rPr>
              <a:t>1단계 · −15%</a:t>
            </a:r>
          </a:p>
        </p:txBody>
      </p:sp>
      <p:sp>
        <p:nvSpPr>
          <p:cNvPr id="23" name="TextBox 22"/>
          <p:cNvSpPr txBox="1"/>
          <p:nvPr/>
        </p:nvSpPr>
        <p:spPr>
          <a:xfrm>
            <a:off x="2642399" y="2700000"/>
            <a:ext cx="1490400" cy="503999"/>
          </a:xfrm>
          <a:prstGeom prst="rect">
            <a:avLst/>
          </a:prstGeom>
          <a:noFill/>
        </p:spPr>
        <p:txBody>
          <a:bodyPr wrap="square" lIns="0" rIns="0" tIns="0" bIns="0" anchor="t">
            <a:spAutoFit/>
          </a:bodyPr>
          <a:lstStyle/>
          <a:p>
            <a:pPr algn="l" eaLnBrk="0">
              <a:lnSpc>
                <a:spcPct val="132000"/>
              </a:lnSpc>
              <a:spcAft>
                <a:spcPts val="0"/>
              </a:spcAft>
            </a:pPr>
            <a:r>
              <a:rPr sz="950" b="1" lang="ko-KR" altLang="en-US">
                <a:solidFill>
                  <a:srgbClr val="1A1E25"/>
                </a:solidFill>
                <a:latin typeface="Noto Sans KR"/>
                <a:ea typeface="Noto Sans KR"/>
                <a:cs typeface="Noto Sans KR"/>
              </a:rPr>
              <a:t>TQQQ 510만 → 절반 255만 원어치 매도</a:t>
            </a:r>
          </a:p>
        </p:txBody>
      </p:sp>
      <p:sp>
        <p:nvSpPr>
          <p:cNvPr id="24" name="TextBox 23"/>
          <p:cNvSpPr txBox="1"/>
          <p:nvPr/>
        </p:nvSpPr>
        <p:spPr>
          <a:xfrm>
            <a:off x="2642399" y="3276000"/>
            <a:ext cx="1490400" cy="936000"/>
          </a:xfrm>
          <a:prstGeom prst="rect">
            <a:avLst/>
          </a:prstGeom>
          <a:noFill/>
        </p:spPr>
        <p:txBody>
          <a:bodyPr wrap="square" lIns="0" rIns="0" tIns="0" bIns="0" anchor="t">
            <a:spAutoFit/>
          </a:bodyPr>
          <a:lstStyle/>
          <a:p>
            <a:pPr algn="l" eaLnBrk="0">
              <a:lnSpc>
                <a:spcPct val="132000"/>
              </a:lnSpc>
              <a:spcAft>
                <a:spcPts val="0"/>
              </a:spcAft>
            </a:pPr>
            <a:r>
              <a:rPr sz="880" b="0" lang="ko-KR" altLang="en-US">
                <a:solidFill>
                  <a:srgbClr val="1A1E25"/>
                </a:solidFill>
                <a:latin typeface="Noto Sans KR"/>
                <a:ea typeface="Noto Sans KR"/>
                <a:cs typeface="Noto Sans KR"/>
              </a:rPr>
              <a:t>판 255만 원은 현금으로 따로 보관 · 새 돈의 TQQQ 몫도 절반으로</a:t>
            </a:r>
          </a:p>
        </p:txBody>
      </p:sp>
      <p:cxnSp>
        <p:nvCxnSpPr>
          <p:cNvPr id="25" name="Connector 24"/>
          <p:cNvCxnSpPr/>
          <p:nvPr/>
        </p:nvCxnSpPr>
        <p:spPr>
          <a:xfrm>
            <a:off x="4276800" y="3240000"/>
            <a:ext cx="180000" cy="0"/>
          </a:xfrm>
          <a:prstGeom prst="line">
            <a:avLst/>
          </a:prstGeom>
          <a:ln w="15875">
            <a:solidFill>
              <a:srgbClr val="1A1E25"/>
            </a:solidFill>
            <a:tailEnd type="triangle" w="med" len="med"/>
          </a:ln>
        </p:spPr>
      </p:cxnSp>
      <p:sp>
        <p:nvSpPr>
          <p:cNvPr id="26" name="카드"/>
          <p:cNvSpPr/>
          <p:nvPr/>
        </p:nvSpPr>
        <p:spPr>
          <a:xfrm>
            <a:off x="4474800" y="2268000"/>
            <a:ext cx="1742400" cy="1944000"/>
          </a:xfrm>
          <a:prstGeom prst="roundRect">
            <a:avLst>
              <a:gd name="adj" fmla="val 8000"/>
            </a:avLst>
          </a:prstGeom>
          <a:solidFill>
            <a:srgbClr val="B7C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00800" y="2394000"/>
            <a:ext cx="1490400" cy="216000"/>
          </a:xfrm>
          <a:prstGeom prst="rect">
            <a:avLst/>
          </a:prstGeom>
          <a:noFill/>
        </p:spPr>
        <p:txBody>
          <a:bodyPr wrap="square" lIns="0" rIns="0" tIns="0" bIns="0" anchor="t">
            <a:spAutoFit/>
          </a:bodyPr>
          <a:lstStyle/>
          <a:p>
            <a:pPr algn="l" eaLnBrk="0">
              <a:lnSpc>
                <a:spcPct val="100000"/>
              </a:lnSpc>
              <a:spcAft>
                <a:spcPts val="0"/>
              </a:spcAft>
            </a:pPr>
            <a:r>
              <a:rPr sz="1200" b="1" lang="ko-KR" altLang="en-US">
                <a:solidFill>
                  <a:srgbClr val="1A1E25"/>
                </a:solidFill>
                <a:latin typeface="Noto Sans KR"/>
                <a:ea typeface="Noto Sans KR"/>
                <a:cs typeface="Noto Sans KR"/>
              </a:rPr>
              <a:t>2단계 · −30%</a:t>
            </a:r>
          </a:p>
        </p:txBody>
      </p:sp>
      <p:sp>
        <p:nvSpPr>
          <p:cNvPr id="28" name="TextBox 27"/>
          <p:cNvSpPr txBox="1"/>
          <p:nvPr/>
        </p:nvSpPr>
        <p:spPr>
          <a:xfrm>
            <a:off x="4600800" y="2700000"/>
            <a:ext cx="1490400" cy="503999"/>
          </a:xfrm>
          <a:prstGeom prst="rect">
            <a:avLst/>
          </a:prstGeom>
          <a:noFill/>
        </p:spPr>
        <p:txBody>
          <a:bodyPr wrap="square" lIns="0" rIns="0" tIns="0" bIns="0" anchor="t">
            <a:spAutoFit/>
          </a:bodyPr>
          <a:lstStyle/>
          <a:p>
            <a:pPr algn="l" eaLnBrk="0">
              <a:lnSpc>
                <a:spcPct val="132000"/>
              </a:lnSpc>
              <a:spcAft>
                <a:spcPts val="0"/>
              </a:spcAft>
            </a:pPr>
            <a:r>
              <a:rPr sz="950" b="1" lang="ko-KR" altLang="en-US">
                <a:solidFill>
                  <a:srgbClr val="1A1E25"/>
                </a:solidFill>
                <a:latin typeface="Noto Sans KR"/>
                <a:ea typeface="Noto Sans KR"/>
                <a:cs typeface="Noto Sans KR"/>
              </a:rPr>
              <a:t>남은 TQQQ 전부 매도</a:t>
            </a:r>
          </a:p>
        </p:txBody>
      </p:sp>
      <p:sp>
        <p:nvSpPr>
          <p:cNvPr id="29" name="TextBox 28"/>
          <p:cNvSpPr txBox="1"/>
          <p:nvPr/>
        </p:nvSpPr>
        <p:spPr>
          <a:xfrm>
            <a:off x="4600800" y="3276000"/>
            <a:ext cx="1490400" cy="936000"/>
          </a:xfrm>
          <a:prstGeom prst="rect">
            <a:avLst/>
          </a:prstGeom>
          <a:noFill/>
        </p:spPr>
        <p:txBody>
          <a:bodyPr wrap="square" lIns="0" rIns="0" tIns="0" bIns="0" anchor="t">
            <a:spAutoFit/>
          </a:bodyPr>
          <a:lstStyle/>
          <a:p>
            <a:pPr algn="l" eaLnBrk="0">
              <a:lnSpc>
                <a:spcPct val="132000"/>
              </a:lnSpc>
              <a:spcAft>
                <a:spcPts val="0"/>
              </a:spcAft>
            </a:pPr>
            <a:r>
              <a:rPr sz="880" b="0" lang="ko-KR" altLang="en-US">
                <a:solidFill>
                  <a:srgbClr val="1A1E25"/>
                </a:solidFill>
                <a:latin typeface="Noto Sans KR"/>
                <a:ea typeface="Noto Sans KR"/>
                <a:cs typeface="Noto Sans KR"/>
              </a:rPr>
              <a:t>보관 현금이 늘어남 · 새 돈은 전부 SCHD로</a:t>
            </a:r>
          </a:p>
        </p:txBody>
      </p:sp>
      <p:cxnSp>
        <p:nvCxnSpPr>
          <p:cNvPr id="30" name="Connector 29"/>
          <p:cNvCxnSpPr/>
          <p:nvPr/>
        </p:nvCxnSpPr>
        <p:spPr>
          <a:xfrm>
            <a:off x="6235200" y="3240000"/>
            <a:ext cx="180000" cy="0"/>
          </a:xfrm>
          <a:prstGeom prst="line">
            <a:avLst/>
          </a:prstGeom>
          <a:ln w="15875">
            <a:solidFill>
              <a:srgbClr val="1A1E25"/>
            </a:solidFill>
            <a:tailEnd type="triangle" w="med" len="med"/>
          </a:ln>
        </p:spPr>
      </p:cxnSp>
      <p:sp>
        <p:nvSpPr>
          <p:cNvPr id="31" name="카드"/>
          <p:cNvSpPr/>
          <p:nvPr/>
        </p:nvSpPr>
        <p:spPr>
          <a:xfrm>
            <a:off x="6433200" y="2268000"/>
            <a:ext cx="1742400" cy="1944000"/>
          </a:xfrm>
          <a:prstGeom prst="roundRect">
            <a:avLst>
              <a:gd name="adj" fmla="val 8000"/>
            </a:avLst>
          </a:prstGeom>
          <a:solidFill>
            <a:srgbClr val="8FB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59200" y="2394000"/>
            <a:ext cx="1490400" cy="216000"/>
          </a:xfrm>
          <a:prstGeom prst="rect">
            <a:avLst/>
          </a:prstGeom>
          <a:noFill/>
        </p:spPr>
        <p:txBody>
          <a:bodyPr wrap="square" lIns="0" rIns="0" tIns="0" bIns="0" anchor="t">
            <a:spAutoFit/>
          </a:bodyPr>
          <a:lstStyle/>
          <a:p>
            <a:pPr algn="l" eaLnBrk="0">
              <a:lnSpc>
                <a:spcPct val="100000"/>
              </a:lnSpc>
              <a:spcAft>
                <a:spcPts val="0"/>
              </a:spcAft>
            </a:pPr>
            <a:r>
              <a:rPr sz="1200" b="1" lang="ko-KR" altLang="en-US">
                <a:solidFill>
                  <a:srgbClr val="1A1E25"/>
                </a:solidFill>
                <a:latin typeface="Noto Sans KR"/>
                <a:ea typeface="Noto Sans KR"/>
                <a:cs typeface="Noto Sans KR"/>
              </a:rPr>
              <a:t>기다림</a:t>
            </a:r>
          </a:p>
        </p:txBody>
      </p:sp>
      <p:sp>
        <p:nvSpPr>
          <p:cNvPr id="33" name="TextBox 32"/>
          <p:cNvSpPr txBox="1"/>
          <p:nvPr/>
        </p:nvSpPr>
        <p:spPr>
          <a:xfrm>
            <a:off x="6559200" y="2700000"/>
            <a:ext cx="1490400" cy="503999"/>
          </a:xfrm>
          <a:prstGeom prst="rect">
            <a:avLst/>
          </a:prstGeom>
          <a:noFill/>
        </p:spPr>
        <p:txBody>
          <a:bodyPr wrap="square" lIns="0" rIns="0" tIns="0" bIns="0" anchor="t">
            <a:spAutoFit/>
          </a:bodyPr>
          <a:lstStyle/>
          <a:p>
            <a:pPr algn="l" eaLnBrk="0">
              <a:lnSpc>
                <a:spcPct val="132000"/>
              </a:lnSpc>
              <a:spcAft>
                <a:spcPts val="0"/>
              </a:spcAft>
            </a:pPr>
            <a:r>
              <a:rPr sz="950" b="1" lang="ko-KR" altLang="en-US">
                <a:solidFill>
                  <a:srgbClr val="1A1E25"/>
                </a:solidFill>
                <a:latin typeface="Noto Sans KR"/>
                <a:ea typeface="Noto Sans KR"/>
                <a:cs typeface="Noto Sans KR"/>
              </a:rPr>
              <a:t>나스닥100 추세 신호가 꺼질 때까지</a:t>
            </a:r>
          </a:p>
        </p:txBody>
      </p:sp>
      <p:sp>
        <p:nvSpPr>
          <p:cNvPr id="34" name="TextBox 33"/>
          <p:cNvSpPr txBox="1"/>
          <p:nvPr/>
        </p:nvSpPr>
        <p:spPr>
          <a:xfrm>
            <a:off x="6559200" y="3276000"/>
            <a:ext cx="1490400" cy="936000"/>
          </a:xfrm>
          <a:prstGeom prst="rect">
            <a:avLst/>
          </a:prstGeom>
          <a:noFill/>
        </p:spPr>
        <p:txBody>
          <a:bodyPr wrap="square" lIns="0" rIns="0" tIns="0" bIns="0" anchor="t">
            <a:spAutoFit/>
          </a:bodyPr>
          <a:lstStyle/>
          <a:p>
            <a:pPr algn="l" eaLnBrk="0">
              <a:lnSpc>
                <a:spcPct val="132000"/>
              </a:lnSpc>
              <a:spcAft>
                <a:spcPts val="0"/>
              </a:spcAft>
            </a:pPr>
            <a:r>
              <a:rPr sz="880" b="0" lang="ko-KR" altLang="en-US">
                <a:solidFill>
                  <a:srgbClr val="1A1E25"/>
                </a:solidFill>
                <a:latin typeface="Noto Sans KR"/>
                <a:ea typeface="Noto Sans KR"/>
                <a:cs typeface="Noto Sans KR"/>
              </a:rPr>
              <a:t>20 · 60 · 120일 전보다 지금 가격이 높은지 셋 중 둘 이상이면 ‘켜짐’</a:t>
            </a:r>
          </a:p>
        </p:txBody>
      </p:sp>
      <p:cxnSp>
        <p:nvCxnSpPr>
          <p:cNvPr id="35" name="Connector 34"/>
          <p:cNvCxnSpPr/>
          <p:nvPr/>
        </p:nvCxnSpPr>
        <p:spPr>
          <a:xfrm>
            <a:off x="8193600" y="3240000"/>
            <a:ext cx="180000" cy="0"/>
          </a:xfrm>
          <a:prstGeom prst="line">
            <a:avLst/>
          </a:prstGeom>
          <a:ln w="15875">
            <a:solidFill>
              <a:srgbClr val="1A1E25"/>
            </a:solidFill>
            <a:tailEnd type="triangle" w="med" len="med"/>
          </a:ln>
        </p:spPr>
      </p:cxnSp>
      <p:sp>
        <p:nvSpPr>
          <p:cNvPr id="36" name="카드"/>
          <p:cNvSpPr/>
          <p:nvPr/>
        </p:nvSpPr>
        <p:spPr>
          <a:xfrm>
            <a:off x="8391600" y="2268000"/>
            <a:ext cx="1742400" cy="1944000"/>
          </a:xfrm>
          <a:prstGeom prst="roundRect">
            <a:avLst>
              <a:gd name="adj" fmla="val 8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17600" y="2394000"/>
            <a:ext cx="1490400" cy="216000"/>
          </a:xfrm>
          <a:prstGeom prst="rect">
            <a:avLst/>
          </a:prstGeom>
          <a:noFill/>
        </p:spPr>
        <p:txBody>
          <a:bodyPr wrap="square" lIns="0" rIns="0" tIns="0" bIns="0" anchor="t">
            <a:spAutoFit/>
          </a:bodyPr>
          <a:lstStyle/>
          <a:p>
            <a:pPr algn="l" eaLnBrk="0">
              <a:lnSpc>
                <a:spcPct val="100000"/>
              </a:lnSpc>
              <a:spcAft>
                <a:spcPts val="0"/>
              </a:spcAft>
            </a:pPr>
            <a:r>
              <a:rPr sz="1200" b="1" lang="ko-KR" altLang="en-US">
                <a:solidFill>
                  <a:srgbClr val="FFFFFF"/>
                </a:solidFill>
                <a:latin typeface="Noto Sans KR"/>
                <a:ea typeface="Noto Sans KR"/>
                <a:cs typeface="Noto Sans KR"/>
              </a:rPr>
              <a:t>복귀</a:t>
            </a:r>
          </a:p>
        </p:txBody>
      </p:sp>
      <p:sp>
        <p:nvSpPr>
          <p:cNvPr id="38" name="TextBox 37"/>
          <p:cNvSpPr txBox="1"/>
          <p:nvPr/>
        </p:nvSpPr>
        <p:spPr>
          <a:xfrm>
            <a:off x="8517600" y="2700000"/>
            <a:ext cx="1490400" cy="503999"/>
          </a:xfrm>
          <a:prstGeom prst="rect">
            <a:avLst/>
          </a:prstGeom>
          <a:noFill/>
        </p:spPr>
        <p:txBody>
          <a:bodyPr wrap="square" lIns="0" rIns="0" tIns="0" bIns="0" anchor="t">
            <a:spAutoFit/>
          </a:bodyPr>
          <a:lstStyle/>
          <a:p>
            <a:pPr algn="l" eaLnBrk="0">
              <a:lnSpc>
                <a:spcPct val="132000"/>
              </a:lnSpc>
              <a:spcAft>
                <a:spcPts val="0"/>
              </a:spcAft>
            </a:pPr>
            <a:r>
              <a:rPr sz="950" b="1" lang="ko-KR" altLang="en-US">
                <a:solidFill>
                  <a:srgbClr val="FFFFFF"/>
                </a:solidFill>
                <a:latin typeface="Noto Sans KR"/>
                <a:ea typeface="Noto Sans KR"/>
                <a:cs typeface="Noto Sans KR"/>
              </a:rPr>
              <a:t>꺼졌던 추세가 다시 켜진 날</a:t>
            </a:r>
          </a:p>
        </p:txBody>
      </p:sp>
      <p:sp>
        <p:nvSpPr>
          <p:cNvPr id="39" name="TextBox 38"/>
          <p:cNvSpPr txBox="1"/>
          <p:nvPr/>
        </p:nvSpPr>
        <p:spPr>
          <a:xfrm>
            <a:off x="8517600" y="3276000"/>
            <a:ext cx="1490400" cy="936000"/>
          </a:xfrm>
          <a:prstGeom prst="rect">
            <a:avLst/>
          </a:prstGeom>
          <a:noFill/>
        </p:spPr>
        <p:txBody>
          <a:bodyPr wrap="square" lIns="0" rIns="0" tIns="0" bIns="0" anchor="t">
            <a:spAutoFit/>
          </a:bodyPr>
          <a:lstStyle/>
          <a:p>
            <a:pPr algn="l" eaLnBrk="0">
              <a:lnSpc>
                <a:spcPct val="132000"/>
              </a:lnSpc>
              <a:spcAft>
                <a:spcPts val="0"/>
              </a:spcAft>
            </a:pPr>
            <a:r>
              <a:rPr sz="880" b="0" lang="ko-KR" altLang="en-US">
                <a:solidFill>
                  <a:srgbClr val="FFFFFF"/>
                </a:solidFill>
                <a:latin typeface="Noto Sans KR"/>
                <a:ea typeface="Noto Sans KR"/>
                <a:cs typeface="Noto Sans KR"/>
              </a:rPr>
              <a:t>보관한 현금 전부로 TQQQ를 다시 사고, 고점을 새로 잼</a:t>
            </a:r>
          </a:p>
        </p:txBody>
      </p:sp>
      <p:cxnSp>
        <p:nvCxnSpPr>
          <p:cNvPr id="40" name="Connector 39"/>
          <p:cNvCxnSpPr/>
          <p:nvPr/>
        </p:nvCxnSpPr>
        <p:spPr>
          <a:xfrm>
            <a:off x="558000" y="4500000"/>
            <a:ext cx="3006000" cy="0"/>
          </a:xfrm>
          <a:prstGeom prst="line">
            <a:avLst/>
          </a:prstGeom>
          <a:ln w="6350">
            <a:solidFill>
              <a:srgbClr val="C9D0DA"/>
            </a:solidFill>
          </a:ln>
        </p:spPr>
      </p:cxnSp>
      <p:sp>
        <p:nvSpPr>
          <p:cNvPr id="41" name="TextBox 40"/>
          <p:cNvSpPr txBox="1"/>
          <p:nvPr/>
        </p:nvSpPr>
        <p:spPr>
          <a:xfrm>
            <a:off x="558000" y="4572000"/>
            <a:ext cx="3006000" cy="2304000"/>
          </a:xfrm>
          <a:prstGeom prst="rect">
            <a:avLst/>
          </a:prstGeom>
          <a:noFill/>
        </p:spPr>
        <p:txBody>
          <a:bodyPr wrap="square" lIns="0" rIns="0" tIns="0" bIns="0" anchor="t">
            <a:spAutoFit/>
          </a:bodyPr>
          <a:lstStyle/>
          <a:p>
            <a:pPr algn="l" eaLnBrk="0">
              <a:lnSpc>
                <a:spcPct val="132000"/>
              </a:lnSpc>
              <a:spcAft>
                <a:spcPts val="400"/>
              </a:spcAft>
            </a:pPr>
            <a:r>
              <a:rPr sz="950" b="1" lang="ko-KR" altLang="en-US">
                <a:solidFill>
                  <a:srgbClr val="1A1E25"/>
                </a:solidFill>
                <a:latin typeface="Noto Sans KR"/>
                <a:ea typeface="Noto Sans KR"/>
                <a:cs typeface="Noto Sans KR"/>
              </a:rPr>
              <a:t>판 돈은 어디에  </a:t>
            </a:r>
            <a:r>
              <a:rPr sz="950" b="0" lang="ko-KR" altLang="en-US">
                <a:solidFill>
                  <a:srgbClr val="1A1E25"/>
                </a:solidFill>
                <a:latin typeface="Noto Sans KR"/>
                <a:ea typeface="Noto Sans KR"/>
                <a:cs typeface="Noto Sans KR"/>
              </a:rPr>
              <a:t>현금으로 보관하고 매달 비율 계산에서 뺍니다. 이자는 계산에 넣지 않았습니다. 연구에서 SCHD에 두는 방식도 비교했지만 지금 규칙은 현금입니다.</a:t>
            </a:r>
          </a:p>
        </p:txBody>
      </p:sp>
      <p:cxnSp>
        <p:nvCxnSpPr>
          <p:cNvPr id="42" name="Connector 41"/>
          <p:cNvCxnSpPr/>
          <p:nvPr/>
        </p:nvCxnSpPr>
        <p:spPr>
          <a:xfrm>
            <a:off x="3844800" y="4500000"/>
            <a:ext cx="3006000" cy="0"/>
          </a:xfrm>
          <a:prstGeom prst="line">
            <a:avLst/>
          </a:prstGeom>
          <a:ln w="6350">
            <a:solidFill>
              <a:srgbClr val="C9D0DA"/>
            </a:solidFill>
          </a:ln>
        </p:spPr>
      </p:cxnSp>
      <p:sp>
        <p:nvSpPr>
          <p:cNvPr id="43" name="TextBox 42"/>
          <p:cNvSpPr txBox="1"/>
          <p:nvPr/>
        </p:nvSpPr>
        <p:spPr>
          <a:xfrm>
            <a:off x="3844800" y="4572000"/>
            <a:ext cx="3006000" cy="2304000"/>
          </a:xfrm>
          <a:prstGeom prst="rect">
            <a:avLst/>
          </a:prstGeom>
          <a:noFill/>
        </p:spPr>
        <p:txBody>
          <a:bodyPr wrap="square" lIns="0" rIns="0" tIns="0" bIns="0" anchor="t">
            <a:spAutoFit/>
          </a:bodyPr>
          <a:lstStyle/>
          <a:p>
            <a:pPr algn="l" eaLnBrk="0">
              <a:lnSpc>
                <a:spcPct val="132000"/>
              </a:lnSpc>
              <a:spcAft>
                <a:spcPts val="400"/>
              </a:spcAft>
            </a:pPr>
            <a:r>
              <a:rPr sz="950" b="1" lang="ko-KR" altLang="en-US">
                <a:solidFill>
                  <a:srgbClr val="1A1E25"/>
                </a:solidFill>
                <a:latin typeface="Noto Sans KR"/>
                <a:ea typeface="Noto Sans KR"/>
                <a:cs typeface="Noto Sans KR"/>
              </a:rPr>
              <a:t>왜 추세로 되사나  </a:t>
            </a:r>
            <a:r>
              <a:rPr sz="950" b="0" lang="ko-KR" altLang="en-US">
                <a:solidFill>
                  <a:srgbClr val="1A1E25"/>
                </a:solidFill>
                <a:latin typeface="Noto Sans KR"/>
                <a:ea typeface="Noto Sans KR"/>
                <a:cs typeface="Noto Sans KR"/>
              </a:rPr>
              <a:t>가격이 바닥인지 미리 알 수 없어서, 하락이 멈추고 다시 오르기 시작했다는 신호를 기다립니다. 그래서 바닥보다 비싸게 되사는 일이 흔합니다.</a:t>
            </a:r>
          </a:p>
        </p:txBody>
      </p:sp>
      <p:cxnSp>
        <p:nvCxnSpPr>
          <p:cNvPr id="44" name="Connector 43"/>
          <p:cNvCxnSpPr/>
          <p:nvPr/>
        </p:nvCxnSpPr>
        <p:spPr>
          <a:xfrm>
            <a:off x="7128000" y="4500000"/>
            <a:ext cx="3006000" cy="0"/>
          </a:xfrm>
          <a:prstGeom prst="line">
            <a:avLst/>
          </a:prstGeom>
          <a:ln w="6350">
            <a:solidFill>
              <a:srgbClr val="C9D0DA"/>
            </a:solidFill>
          </a:ln>
        </p:spPr>
      </p:cxnSp>
      <p:sp>
        <p:nvSpPr>
          <p:cNvPr id="45" name="TextBox 44"/>
          <p:cNvSpPr txBox="1"/>
          <p:nvPr/>
        </p:nvSpPr>
        <p:spPr>
          <a:xfrm>
            <a:off x="7128000" y="4572000"/>
            <a:ext cx="3006000" cy="2304000"/>
          </a:xfrm>
          <a:prstGeom prst="rect">
            <a:avLst/>
          </a:prstGeom>
          <a:noFill/>
        </p:spPr>
        <p:txBody>
          <a:bodyPr wrap="square" lIns="0" rIns="0" tIns="0" bIns="0" anchor="t">
            <a:spAutoFit/>
          </a:bodyPr>
          <a:lstStyle/>
          <a:p>
            <a:pPr algn="l" eaLnBrk="0">
              <a:lnSpc>
                <a:spcPct val="132000"/>
              </a:lnSpc>
              <a:spcAft>
                <a:spcPts val="400"/>
              </a:spcAft>
            </a:pPr>
            <a:r>
              <a:rPr sz="950" b="1" lang="ko-KR" altLang="en-US">
                <a:solidFill>
                  <a:srgbClr val="1A1E25"/>
                </a:solidFill>
                <a:latin typeface="Noto Sans KR"/>
                <a:ea typeface="Noto Sans KR"/>
                <a:cs typeface="Noto Sans KR"/>
              </a:rPr>
              <a:t>2012~2026년에  </a:t>
            </a:r>
            <a:r>
              <a:rPr sz="950" b="0" lang="ko-KR" altLang="en-US">
                <a:solidFill>
                  <a:srgbClr val="1A1E25"/>
                </a:solidFill>
                <a:latin typeface="Noto Sans KR"/>
                <a:ea typeface="Noto Sans KR"/>
                <a:cs typeface="Noto Sans KR"/>
              </a:rPr>
              <a:t>49번 팔고 34번 되샀습니다. 되산 값이 판 평균값보다 비쌌던 경우가 17번, 쌌던 경우가 17번이었습니다. 비싸게 되산 만큼은 방어의 비용입니다.</a:t>
            </a:r>
          </a:p>
        </p:txBody>
      </p:sp>
      <p:sp>
        <p:nvSpPr>
          <p:cNvPr id="46"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src/auto_trading/ops/deneb_guard.py (STAGE1 0.15 · STAGE2 0.30, 기준 T) · scripts/run_brake_184.py · calc.py brake_10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4893000" y="619200"/>
            <a:ext cx="6660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20</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7장 · 하락 방어와 복귀</a:t>
            </a:r>
          </a:p>
        </p:txBody>
      </p:sp>
      <p:sp>
        <p:nvSpPr>
          <p:cNvPr id="14"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방어가 있을 때와
없을 때</a:t>
            </a:r>
          </a:p>
        </p:txBody>
      </p:sp>
      <p:graphicFrame>
        <p:nvGraphicFramePr>
          <p:cNvPr id="15" name="표"/>
          <p:cNvGraphicFramePr>
            <a:graphicFrameLocks noGrp="1"/>
          </p:cNvGraphicFramePr>
          <p:nvPr/>
        </p:nvGraphicFramePr>
        <p:xfrm>
          <a:off x="558000" y="1980000"/>
          <a:ext cx="3005999" cy="1116000"/>
        </p:xfrm>
        <a:graphic>
          <a:graphicData uri="http://schemas.openxmlformats.org/drawingml/2006/table">
            <a:tbl>
              <a:tblPr firstRow="0" bandRow="0" firstCol="0" lastCol="0" bandCol="0" lastRow="0">
                <a:tableStyleId>{5940675A-B579-460E-94D1-54222C63F5DA}</a:tableStyleId>
              </a:tblPr>
              <a:tblGrid>
                <a:gridCol w="1170000"/>
                <a:gridCol w="756000"/>
                <a:gridCol w="576000"/>
                <a:gridCol w="503999"/>
              </a:tblGrid>
              <a:tr h="2232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월 10만 원</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끝 금액</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최대 낙폭</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회복</a:t>
                      </a:r>
                      <a:endParaRPr sz="850"/>
                    </a:p>
                  </a:txBody>
                  <a:tcPr marL="28800" marR="43200" marT="25200" marB="25200" anchor="b">
                    <a:lnL w="0">
                      <a:noFill/>
                    </a:lnL>
                    <a:lnR w="0">
                      <a:noFill/>
                    </a:lnR>
                    <a:lnT w="9525">
                      <a:solidFill>
                        <a:srgbClr val="1A1E25"/>
                      </a:solidFill>
                    </a:lnT>
                    <a:lnB w="9525">
                      <a:solidFill>
                        <a:srgbClr val="1A1E25"/>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TQQQ 60 · SCHD 40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2억 6,587만</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−61.4%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29개월</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변동성 조절만</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2억 6,442만</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−52.1%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6개월</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Deneb</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3억 6,111만</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−31.7%</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19개월</a:t>
                      </a:r>
                      <a:endParaRPr sz="900"/>
                    </a:p>
                  </a:txBody>
                  <a:tcPr marL="28800" marR="43200" marT="25200" marB="25200" anchor="ctr">
                    <a:lnL w="0">
                      <a:noFill/>
                    </a:lnL>
                    <a:lnR w="0">
                      <a:noFill/>
                    </a:lnR>
                    <a:lnT w="0">
                      <a:noFill/>
                    </a:lnT>
                    <a:lnB w="6350">
                      <a:solidFill>
                        <a:srgbClr val="C9D0DA"/>
                      </a:solidFill>
                    </a:lnB>
                    <a:solidFill>
                      <a:srgbClr val="EDF1F7"/>
                    </a:solid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QQQ 단독 적립</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8,805만</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−35.1%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24개월</a:t>
                      </a:r>
                      <a:endParaRPr sz="900"/>
                    </a:p>
                  </a:txBody>
                  <a:tcPr marL="28800" marR="43200" marT="25200" marB="25200" anchor="ctr">
                    <a:lnL w="0">
                      <a:noFill/>
                    </a:lnL>
                    <a:lnR w="0">
                      <a:noFill/>
                    </a:lnR>
                    <a:lnT w="0">
                      <a:noFill/>
                    </a:lnT>
                    <a:lnB w="6350">
                      <a:solidFill>
                        <a:srgbClr val="C9D0DA"/>
                      </a:solidFill>
                    </a:lnB>
                    <a:noFill/>
                  </a:tcPr>
                </a:tc>
              </a:tr>
            </a:tbl>
          </a:graphicData>
        </a:graphic>
      </p:graphicFrame>
      <p:cxnSp>
        <p:nvCxnSpPr>
          <p:cNvPr id="16" name="Connector 15"/>
          <p:cNvCxnSpPr/>
          <p:nvPr/>
        </p:nvCxnSpPr>
        <p:spPr>
          <a:xfrm>
            <a:off x="558000" y="1980000"/>
            <a:ext cx="3006000" cy="0"/>
          </a:xfrm>
          <a:prstGeom prst="line">
            <a:avLst/>
          </a:prstGeom>
          <a:ln w="25400">
            <a:solidFill>
              <a:srgbClr val="1A1E25"/>
            </a:solidFill>
          </a:ln>
        </p:spPr>
      </p:cxnSp>
      <p:sp>
        <p:nvSpPr>
          <p:cNvPr id="17" name="TextBox 16"/>
          <p:cNvSpPr txBox="1"/>
          <p:nvPr/>
        </p:nvSpPr>
        <p:spPr>
          <a:xfrm>
            <a:off x="558000" y="3204000"/>
            <a:ext cx="3006000" cy="3600000"/>
          </a:xfrm>
          <a:prstGeom prst="rect">
            <a:avLst/>
          </a:prstGeom>
          <a:noFill/>
        </p:spPr>
        <p:txBody>
          <a:bodyPr wrap="square" lIns="0" rIns="0" tIns="0" bIns="0" anchor="t">
            <a:spAutoFit/>
          </a:bodyPr>
          <a:lstStyle/>
          <a:p>
            <a:pPr algn="l" eaLnBrk="0">
              <a:lnSpc>
                <a:spcPct val="132000"/>
              </a:lnSpc>
              <a:spcAft>
                <a:spcPts val="700"/>
              </a:spcAft>
            </a:pPr>
            <a:r>
              <a:rPr sz="950" b="1" lang="ko-KR" altLang="en-US">
                <a:solidFill>
                  <a:srgbClr val="1A1E25"/>
                </a:solidFill>
                <a:latin typeface="Noto Sans KR"/>
                <a:ea typeface="Noto Sans KR"/>
                <a:cs typeface="Noto Sans KR"/>
              </a:rPr>
              <a:t>변동성 조절의 몫  </a:t>
            </a:r>
            <a:r>
              <a:rPr sz="950" b="0" lang="ko-KR" altLang="en-US">
                <a:solidFill>
                  <a:srgbClr val="1A1E25"/>
                </a:solidFill>
                <a:latin typeface="Noto Sans KR"/>
                <a:ea typeface="Noto Sans KR"/>
                <a:cs typeface="Noto Sans KR"/>
              </a:rPr>
              <a:t>고정 60 : 40에서 변동성 조절만 더하면 끝 금액은 비슷했고(2억 6,442만 원) 낙폭은 −61% → −52%로 줄었습니다.</a:t>
            </a:r>
          </a:p>
          <a:p>
            <a:pPr algn="l" eaLnBrk="0">
              <a:lnSpc>
                <a:spcPct val="132000"/>
              </a:lnSpc>
              <a:spcAft>
                <a:spcPts val="700"/>
              </a:spcAft>
            </a:pPr>
            <a:r>
              <a:rPr sz="950" b="1" lang="ko-KR" altLang="en-US">
                <a:solidFill>
                  <a:srgbClr val="1A1E25"/>
                </a:solidFill>
                <a:latin typeface="Noto Sans KR"/>
                <a:ea typeface="Noto Sans KR"/>
                <a:cs typeface="Noto Sans KR"/>
              </a:rPr>
              <a:t>하락 방어의 몫  </a:t>
            </a:r>
            <a:r>
              <a:rPr sz="950" b="0" lang="ko-KR" altLang="en-US">
                <a:solidFill>
                  <a:srgbClr val="1A1E25"/>
                </a:solidFill>
                <a:latin typeface="Noto Sans KR"/>
                <a:ea typeface="Noto Sans KR"/>
                <a:cs typeface="Noto Sans KR"/>
              </a:rPr>
              <a:t>여기에 방어를 더한 Deneb는 끝 금액이 9,669만 원 늘고 낙폭은 −32%로 줄었습니다. 2022년의 긴 하락에서 TQQQ를 일찍 판 효과가 컸습니다.</a:t>
            </a:r>
          </a:p>
          <a:p>
            <a:pPr algn="l" eaLnBrk="0">
              <a:lnSpc>
                <a:spcPct val="132000"/>
              </a:lnSpc>
              <a:spcAft>
                <a:spcPts val="700"/>
              </a:spcAft>
            </a:pPr>
            <a:r>
              <a:rPr sz="950" b="1" lang="ko-KR" altLang="en-US">
                <a:solidFill>
                  <a:srgbClr val="1A1E25"/>
                </a:solidFill>
                <a:latin typeface="Noto Sans KR"/>
                <a:ea typeface="Noto Sans KR"/>
                <a:cs typeface="Noto Sans KR"/>
              </a:rPr>
              <a:t>겹쳐 세지 않기  </a:t>
            </a:r>
            <a:r>
              <a:rPr sz="950" b="0" lang="ko-KR" altLang="en-US">
                <a:solidFill>
                  <a:srgbClr val="1A1E25"/>
                </a:solidFill>
                <a:latin typeface="Noto Sans KR"/>
                <a:ea typeface="Noto Sans KR"/>
                <a:cs typeface="Noto Sans KR"/>
              </a:rPr>
              <a:t>세 줄은 같은 기간 · 같은 돈입니다. 고정 섞기 → 변동성 조절 → 방어 순으로 하나씩 더한 차이이므로 각 효과를 따로 더하면 안 됩니다.</a:t>
            </a:r>
          </a:p>
        </p:txBody>
      </p:sp>
      <p:cxnSp>
        <p:nvCxnSpPr>
          <p:cNvPr id="18" name="Connector 17"/>
          <p:cNvCxnSpPr/>
          <p:nvPr/>
        </p:nvCxnSpPr>
        <p:spPr>
          <a:xfrm>
            <a:off x="3844800" y="990000"/>
            <a:ext cx="6289200" cy="0"/>
          </a:xfrm>
          <a:prstGeom prst="line">
            <a:avLst/>
          </a:prstGeom>
          <a:ln w="9525">
            <a:solidFill>
              <a:srgbClr val="1A1E25"/>
            </a:solidFill>
          </a:ln>
        </p:spPr>
      </p:cxnSp>
      <p:sp>
        <p:nvSpPr>
          <p:cNvPr id="19" name="표지 막대"/>
          <p:cNvSpPr/>
          <p:nvPr/>
        </p:nvSpPr>
        <p:spPr>
          <a:xfrm>
            <a:off x="3844800" y="99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그림 제목"/>
          <p:cNvSpPr txBox="1"/>
          <p:nvPr/>
        </p:nvSpPr>
        <p:spPr>
          <a:xfrm>
            <a:off x="3844800" y="1090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2020년 코로나 전후 · 월말 평가액 확대</a:t>
            </a:r>
          </a:p>
        </p:txBody>
      </p:sp>
      <p:sp>
        <p:nvSpPr>
          <p:cNvPr id="21" name="그림 설명"/>
          <p:cNvSpPr txBox="1"/>
          <p:nvPr/>
        </p:nvSpPr>
        <p:spPr>
          <a:xfrm>
            <a:off x="3844800" y="1278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2019-10 ~ 2020-12 · 월 10만 원 · 만 원 · 이 구간만의 세로축</a:t>
            </a:r>
          </a:p>
        </p:txBody>
      </p:sp>
      <p:graphicFrame>
        <p:nvGraphicFramePr>
          <p:cNvPr id="22" name="2020년 코로나 전후"/>
          <p:cNvGraphicFramePr>
            <a:graphicFrameLocks noGrp="1"/>
          </p:cNvGraphicFramePr>
          <p:nvPr/>
        </p:nvGraphicFramePr>
        <p:xfrm>
          <a:off x="3844800" y="1422000"/>
          <a:ext cx="4417200" cy="2304000"/>
        </p:xfrm>
        <a:graphic>
          <a:graphicData uri="http://schemas.openxmlformats.org/drawingml/2006/chart">
            <c:chart xmlns:c="http://schemas.openxmlformats.org/drawingml/2006/chart" r:id="rId2"/>
          </a:graphicData>
        </a:graphic>
      </p:graphicFrame>
      <p:cxnSp>
        <p:nvCxnSpPr>
          <p:cNvPr id="23" name="Connector 22"/>
          <p:cNvCxnSpPr/>
          <p:nvPr/>
        </p:nvCxnSpPr>
        <p:spPr>
          <a:xfrm>
            <a:off x="8370000" y="1565999"/>
            <a:ext cx="288000" cy="0"/>
          </a:xfrm>
          <a:prstGeom prst="line">
            <a:avLst/>
          </a:prstGeom>
          <a:ln w="28575">
            <a:solidFill>
              <a:srgbClr val="0B3D91"/>
            </a:solidFill>
          </a:ln>
        </p:spPr>
      </p:cxnSp>
      <p:sp>
        <p:nvSpPr>
          <p:cNvPr id="24" name="TextBox 23"/>
          <p:cNvSpPr txBox="1"/>
          <p:nvPr/>
        </p:nvSpPr>
        <p:spPr>
          <a:xfrm>
            <a:off x="8712000" y="1475999"/>
            <a:ext cx="144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Deneb</a:t>
            </a:r>
          </a:p>
        </p:txBody>
      </p:sp>
      <p:cxnSp>
        <p:nvCxnSpPr>
          <p:cNvPr id="25" name="Connector 24"/>
          <p:cNvCxnSpPr/>
          <p:nvPr/>
        </p:nvCxnSpPr>
        <p:spPr>
          <a:xfrm>
            <a:off x="8370000" y="1818000"/>
            <a:ext cx="288000" cy="0"/>
          </a:xfrm>
          <a:prstGeom prst="line">
            <a:avLst/>
          </a:prstGeom>
          <a:ln w="22225">
            <a:solidFill>
              <a:srgbClr val="C8506A"/>
            </a:solidFill>
            <a:prstDash val="dash"/>
          </a:ln>
        </p:spPr>
      </p:cxnSp>
      <p:sp>
        <p:nvSpPr>
          <p:cNvPr id="26" name="TextBox 25"/>
          <p:cNvSpPr txBox="1"/>
          <p:nvPr/>
        </p:nvSpPr>
        <p:spPr>
          <a:xfrm>
            <a:off x="8712000" y="1728000"/>
            <a:ext cx="144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변동성 조절만</a:t>
            </a:r>
          </a:p>
        </p:txBody>
      </p:sp>
      <p:cxnSp>
        <p:nvCxnSpPr>
          <p:cNvPr id="27" name="Connector 26"/>
          <p:cNvCxnSpPr/>
          <p:nvPr/>
        </p:nvCxnSpPr>
        <p:spPr>
          <a:xfrm>
            <a:off x="8370000" y="2070000"/>
            <a:ext cx="288000" cy="0"/>
          </a:xfrm>
          <a:prstGeom prst="line">
            <a:avLst/>
          </a:prstGeom>
          <a:ln w="22225">
            <a:solidFill>
              <a:srgbClr val="BBA3DB"/>
            </a:solidFill>
          </a:ln>
        </p:spPr>
      </p:cxnSp>
      <p:sp>
        <p:nvSpPr>
          <p:cNvPr id="28" name="TextBox 27"/>
          <p:cNvSpPr txBox="1"/>
          <p:nvPr/>
        </p:nvSpPr>
        <p:spPr>
          <a:xfrm>
            <a:off x="8712000" y="1980000"/>
            <a:ext cx="144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TQQQ 60 · SCHD 40 고정</a:t>
            </a:r>
          </a:p>
        </p:txBody>
      </p:sp>
      <p:cxnSp>
        <p:nvCxnSpPr>
          <p:cNvPr id="29" name="Connector 28"/>
          <p:cNvCxnSpPr/>
          <p:nvPr/>
        </p:nvCxnSpPr>
        <p:spPr>
          <a:xfrm>
            <a:off x="3844800" y="3924000"/>
            <a:ext cx="6289200" cy="0"/>
          </a:xfrm>
          <a:prstGeom prst="line">
            <a:avLst/>
          </a:prstGeom>
          <a:ln w="9525">
            <a:solidFill>
              <a:srgbClr val="1A1E25"/>
            </a:solidFill>
          </a:ln>
        </p:spPr>
      </p:cxnSp>
      <p:sp>
        <p:nvSpPr>
          <p:cNvPr id="30" name="표지 막대"/>
          <p:cNvSpPr/>
          <p:nvPr/>
        </p:nvSpPr>
        <p:spPr>
          <a:xfrm>
            <a:off x="3844800" y="3924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그림 제목"/>
          <p:cNvSpPr txBox="1"/>
          <p:nvPr/>
        </p:nvSpPr>
        <p:spPr>
          <a:xfrm>
            <a:off x="3844800" y="4024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2022년 하락 전후 · 월말 평가액 확대</a:t>
            </a:r>
          </a:p>
        </p:txBody>
      </p:sp>
      <p:sp>
        <p:nvSpPr>
          <p:cNvPr id="32" name="그림 설명"/>
          <p:cNvSpPr txBox="1"/>
          <p:nvPr/>
        </p:nvSpPr>
        <p:spPr>
          <a:xfrm>
            <a:off x="3844800" y="4212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2021-06 ~ 2023-12 · 월 10만 원 · 만 원 · 이 구간만의 세로축</a:t>
            </a:r>
          </a:p>
        </p:txBody>
      </p:sp>
      <p:graphicFrame>
        <p:nvGraphicFramePr>
          <p:cNvPr id="33" name="2022년 하락 전후"/>
          <p:cNvGraphicFramePr>
            <a:graphicFrameLocks noGrp="1"/>
          </p:cNvGraphicFramePr>
          <p:nvPr/>
        </p:nvGraphicFramePr>
        <p:xfrm>
          <a:off x="3844800" y="4356000"/>
          <a:ext cx="4417200" cy="2304000"/>
        </p:xfrm>
        <a:graphic>
          <a:graphicData uri="http://schemas.openxmlformats.org/drawingml/2006/chart">
            <c:chart xmlns:c="http://schemas.openxmlformats.org/drawingml/2006/chart" r:id="rId3"/>
          </a:graphicData>
        </a:graphic>
      </p:graphicFrame>
      <p:cxnSp>
        <p:nvCxnSpPr>
          <p:cNvPr id="34" name="Connector 33"/>
          <p:cNvCxnSpPr/>
          <p:nvPr/>
        </p:nvCxnSpPr>
        <p:spPr>
          <a:xfrm>
            <a:off x="8370000" y="4500000"/>
            <a:ext cx="288000" cy="0"/>
          </a:xfrm>
          <a:prstGeom prst="line">
            <a:avLst/>
          </a:prstGeom>
          <a:ln w="28575">
            <a:solidFill>
              <a:srgbClr val="0B3D91"/>
            </a:solidFill>
          </a:ln>
        </p:spPr>
      </p:cxnSp>
      <p:sp>
        <p:nvSpPr>
          <p:cNvPr id="35" name="TextBox 34"/>
          <p:cNvSpPr txBox="1"/>
          <p:nvPr/>
        </p:nvSpPr>
        <p:spPr>
          <a:xfrm>
            <a:off x="8712000" y="4410000"/>
            <a:ext cx="144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Deneb</a:t>
            </a:r>
          </a:p>
        </p:txBody>
      </p:sp>
      <p:cxnSp>
        <p:nvCxnSpPr>
          <p:cNvPr id="36" name="Connector 35"/>
          <p:cNvCxnSpPr/>
          <p:nvPr/>
        </p:nvCxnSpPr>
        <p:spPr>
          <a:xfrm>
            <a:off x="8370000" y="4752000"/>
            <a:ext cx="288000" cy="0"/>
          </a:xfrm>
          <a:prstGeom prst="line">
            <a:avLst/>
          </a:prstGeom>
          <a:ln w="22225">
            <a:solidFill>
              <a:srgbClr val="C8506A"/>
            </a:solidFill>
            <a:prstDash val="dash"/>
          </a:ln>
        </p:spPr>
      </p:cxnSp>
      <p:sp>
        <p:nvSpPr>
          <p:cNvPr id="37" name="TextBox 36"/>
          <p:cNvSpPr txBox="1"/>
          <p:nvPr/>
        </p:nvSpPr>
        <p:spPr>
          <a:xfrm>
            <a:off x="8712000" y="4662000"/>
            <a:ext cx="144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변동성 조절만</a:t>
            </a:r>
          </a:p>
        </p:txBody>
      </p:sp>
      <p:cxnSp>
        <p:nvCxnSpPr>
          <p:cNvPr id="38" name="Connector 37"/>
          <p:cNvCxnSpPr/>
          <p:nvPr/>
        </p:nvCxnSpPr>
        <p:spPr>
          <a:xfrm>
            <a:off x="8370000" y="5004000"/>
            <a:ext cx="288000" cy="0"/>
          </a:xfrm>
          <a:prstGeom prst="line">
            <a:avLst/>
          </a:prstGeom>
          <a:ln w="22225">
            <a:solidFill>
              <a:srgbClr val="BBA3DB"/>
            </a:solidFill>
          </a:ln>
        </p:spPr>
      </p:cxnSp>
      <p:sp>
        <p:nvSpPr>
          <p:cNvPr id="39" name="TextBox 38"/>
          <p:cNvSpPr txBox="1"/>
          <p:nvPr/>
        </p:nvSpPr>
        <p:spPr>
          <a:xfrm>
            <a:off x="8712000" y="4914000"/>
            <a:ext cx="144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TQQQ 60 · SCHD 40 고정</a:t>
            </a:r>
          </a:p>
        </p:txBody>
      </p:sp>
      <p:sp>
        <p:nvSpPr>
          <p:cNvPr id="40"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실제 ETF 수정 종가(QQQ · QLD · TQQQ · SCHD · SPY · IEF · GLD), 자체 계산 · 비용 0.15% · 세전 · 환율 고정 · 소수 주</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4893000" y="619200"/>
            <a:ext cx="6660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21</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7장 · 하락 방어와 복귀</a:t>
            </a:r>
          </a:p>
        </p:txBody>
      </p:sp>
      <p:sp>
        <p:nvSpPr>
          <p:cNvPr id="14"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방어의 대가</a:t>
            </a:r>
          </a:p>
        </p:txBody>
      </p:sp>
      <p:sp>
        <p:nvSpPr>
          <p:cNvPr id="15" name="인용 막대"/>
          <p:cNvSpPr/>
          <p:nvPr/>
        </p:nvSpPr>
        <p:spPr>
          <a:xfrm>
            <a:off x="558000" y="1594800"/>
            <a:ext cx="32400" cy="8784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인용"/>
          <p:cNvSpPr txBox="1"/>
          <p:nvPr/>
        </p:nvSpPr>
        <p:spPr>
          <a:xfrm>
            <a:off x="737999" y="1565999"/>
            <a:ext cx="2826000" cy="936000"/>
          </a:xfrm>
          <a:prstGeom prst="rect">
            <a:avLst/>
          </a:prstGeom>
          <a:noFill/>
        </p:spPr>
        <p:txBody>
          <a:bodyPr wrap="square" lIns="0" rIns="0" tIns="0" bIns="0" anchor="t">
            <a:spAutoFit/>
          </a:bodyPr>
          <a:lstStyle/>
          <a:p>
            <a:pPr algn="l" eaLnBrk="0">
              <a:lnSpc>
                <a:spcPct val="122000"/>
              </a:lnSpc>
              <a:spcAft>
                <a:spcPts val="0"/>
              </a:spcAft>
            </a:pPr>
            <a:r>
              <a:rPr sz="1450" b="0" lang="ko-KR" altLang="en-US">
                <a:solidFill>
                  <a:srgbClr val="1A1E25"/>
                </a:solidFill>
                <a:latin typeface="Malgun Gothic Semilight"/>
                <a:ea typeface="Malgun Gothic Semilight"/>
                <a:cs typeface="Malgun Gothic Semilight"/>
              </a:rPr>
              <a:t>판 값보다 비싸게 되산 만큼이 하락 방어의 비용입니다.</a:t>
            </a:r>
          </a:p>
        </p:txBody>
      </p:sp>
      <p:sp>
        <p:nvSpPr>
          <p:cNvPr id="17" name="TextBox 16"/>
          <p:cNvSpPr txBox="1"/>
          <p:nvPr/>
        </p:nvSpPr>
        <p:spPr>
          <a:xfrm>
            <a:off x="558000" y="2628000"/>
            <a:ext cx="3006000" cy="4140000"/>
          </a:xfrm>
          <a:prstGeom prst="rect">
            <a:avLst/>
          </a:prstGeom>
          <a:noFill/>
        </p:spPr>
        <p:txBody>
          <a:bodyPr wrap="square" lIns="0" rIns="0" tIns="0" bIns="0" anchor="t">
            <a:spAutoFit/>
          </a:bodyPr>
          <a:lstStyle/>
          <a:p>
            <a:pPr algn="l" eaLnBrk="0">
              <a:lnSpc>
                <a:spcPct val="132000"/>
              </a:lnSpc>
              <a:spcAft>
                <a:spcPts val="700"/>
              </a:spcAft>
            </a:pPr>
            <a:r>
              <a:rPr sz="950" b="0" lang="ko-KR" altLang="en-US">
                <a:solidFill>
                  <a:srgbClr val="1A1E25"/>
                </a:solidFill>
                <a:latin typeface="Noto Sans KR"/>
                <a:ea typeface="Noto Sans KR"/>
                <a:cs typeface="Noto Sans KR"/>
              </a:rPr>
              <a:t>34번의 매도 · 되사기를 하나씩 봤습니다. 오른쪽 막대가 0보다 위면 판 평균값보다 비싸게 되산 것(놓친 상승), 아래면 싸게 되산 것(피한 하락)입니다.</a:t>
            </a:r>
          </a:p>
          <a:p>
            <a:pPr algn="l" eaLnBrk="0">
              <a:lnSpc>
                <a:spcPct val="132000"/>
              </a:lnSpc>
              <a:spcAft>
                <a:spcPts val="700"/>
              </a:spcAft>
            </a:pPr>
            <a:r>
              <a:rPr sz="950" b="0" lang="ko-KR" altLang="en-US">
                <a:solidFill>
                  <a:srgbClr val="1A1E25"/>
                </a:solidFill>
                <a:latin typeface="Noto Sans KR"/>
                <a:ea typeface="Noto Sans KR"/>
                <a:cs typeface="Noto Sans KR"/>
              </a:rPr>
              <a:t>가장 비싸게 되산 경우는 +103%, 가장 싸게 되산 경우는 −38%였습니다. ±10% 안이었던 경우는 34번 중 18번입니다.</a:t>
            </a:r>
          </a:p>
          <a:p>
            <a:pPr algn="l" eaLnBrk="0">
              <a:lnSpc>
                <a:spcPct val="132000"/>
              </a:lnSpc>
              <a:spcAft>
                <a:spcPts val="700"/>
              </a:spcAft>
            </a:pPr>
            <a:r>
              <a:rPr sz="950" b="1" lang="ko-KR" altLang="en-US">
                <a:solidFill>
                  <a:srgbClr val="1A1E25"/>
                </a:solidFill>
                <a:latin typeface="Noto Sans KR"/>
                <a:ea typeface="Noto Sans KR"/>
                <a:cs typeface="Noto Sans KR"/>
              </a:rPr>
              <a:t>사고팔 때 비용  </a:t>
            </a:r>
            <a:r>
              <a:rPr sz="950" b="0" lang="ko-KR" altLang="en-US">
                <a:solidFill>
                  <a:srgbClr val="1A1E25"/>
                </a:solidFill>
                <a:latin typeface="Noto Sans KR"/>
                <a:ea typeface="Noto Sans KR"/>
                <a:cs typeface="Noto Sans KR"/>
              </a:rPr>
              <a:t>매도와 되사기마다 0.15%씩 비용이 들고, 실제 계좌에서는 이익을 내고 판 경우 양도세도 생깁니다(이 계산은 세전).</a:t>
            </a:r>
          </a:p>
          <a:p>
            <a:pPr algn="l" eaLnBrk="0">
              <a:lnSpc>
                <a:spcPct val="132000"/>
              </a:lnSpc>
              <a:spcAft>
                <a:spcPts val="700"/>
              </a:spcAft>
            </a:pPr>
            <a:r>
              <a:rPr sz="950" b="1" lang="ko-KR" altLang="en-US">
                <a:solidFill>
                  <a:srgbClr val="1A1E25"/>
                </a:solidFill>
                <a:latin typeface="Noto Sans KR"/>
                <a:ea typeface="Noto Sans KR"/>
                <a:cs typeface="Noto Sans KR"/>
              </a:rPr>
              <a:t>배당 단계는 별개  </a:t>
            </a:r>
            <a:r>
              <a:rPr sz="950" b="0" lang="ko-KR" altLang="en-US">
                <a:solidFill>
                  <a:srgbClr val="1A1E25"/>
                </a:solidFill>
                <a:latin typeface="Noto Sans KR"/>
                <a:ea typeface="Noto Sans KR"/>
                <a:cs typeface="Noto Sans KR"/>
              </a:rPr>
              <a:t>Deneb에는 SCHD 세후 배당이 월 10 · 30 · 50 · 100만 원을 넘을 때마다 TQQQ 목표를 10%p씩 낮추자고 ‘묻는’ 규칙이 있습니다. 사용자가 승인해야 바뀌며, 이 설명서의 모든 계산에는 넣지 않았습니다.</a:t>
            </a:r>
          </a:p>
        </p:txBody>
      </p:sp>
      <p:cxnSp>
        <p:nvCxnSpPr>
          <p:cNvPr id="18" name="Connector 17"/>
          <p:cNvCxnSpPr/>
          <p:nvPr/>
        </p:nvCxnSpPr>
        <p:spPr>
          <a:xfrm>
            <a:off x="3844800" y="990000"/>
            <a:ext cx="6289200" cy="0"/>
          </a:xfrm>
          <a:prstGeom prst="line">
            <a:avLst/>
          </a:prstGeom>
          <a:ln w="9525">
            <a:solidFill>
              <a:srgbClr val="1A1E25"/>
            </a:solidFill>
          </a:ln>
        </p:spPr>
      </p:cxnSp>
      <p:sp>
        <p:nvSpPr>
          <p:cNvPr id="19" name="표지 막대"/>
          <p:cNvSpPr/>
          <p:nvPr/>
        </p:nvSpPr>
        <p:spPr>
          <a:xfrm>
            <a:off x="3844800" y="99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그림 제목"/>
          <p:cNvSpPr txBox="1"/>
          <p:nvPr/>
        </p:nvSpPr>
        <p:spPr>
          <a:xfrm>
            <a:off x="3844800" y="1090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되산 값 ÷ 판 평균값 − 1 · 34번</a:t>
            </a:r>
          </a:p>
        </p:txBody>
      </p:sp>
      <p:sp>
        <p:nvSpPr>
          <p:cNvPr id="21" name="그림 설명"/>
          <p:cNvSpPr txBox="1"/>
          <p:nvPr/>
        </p:nvSpPr>
        <p:spPr>
          <a:xfrm>
            <a:off x="3844800" y="1278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2012~2026 · 위 = 비싸게 되삼(놓친 상승) · 아래 = 싸게 되삼(피한 하락) · 막대 아래 숫자는 매도 시작 연 · 월</a:t>
            </a:r>
          </a:p>
        </p:txBody>
      </p:sp>
      <p:graphicFrame>
        <p:nvGraphicFramePr>
          <p:cNvPr id="22" name="되사기 차이"/>
          <p:cNvGraphicFramePr>
            <a:graphicFrameLocks noGrp="1"/>
          </p:cNvGraphicFramePr>
          <p:nvPr/>
        </p:nvGraphicFramePr>
        <p:xfrm>
          <a:off x="3844800" y="1440000"/>
          <a:ext cx="6289200" cy="5328000"/>
        </p:xfrm>
        <a:graphic>
          <a:graphicData uri="http://schemas.openxmlformats.org/drawingml/2006/chart">
            <c:chart xmlns:c="http://schemas.openxmlformats.org/drawingml/2006/chart" r:id="rId2"/>
          </a:graphicData>
        </a:graphic>
      </p:graphicFrame>
      <p:sp>
        <p:nvSpPr>
          <p:cNvPr id="23"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blue_manual/calc_result.json brake_10.episodes (월 10만 원 실행, avg_sale = 그 보관 기간 매도 평균가, rebuy = 되산 날 가격)</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5941200" y="619200"/>
            <a:ext cx="7524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22</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3부 · Polaris</a:t>
            </a:r>
          </a:p>
        </p:txBody>
      </p:sp>
      <p:sp>
        <p:nvSpPr>
          <p:cNvPr id="14" name="제목"/>
          <p:cNvSpPr txBox="1"/>
          <p:nvPr/>
        </p:nvSpPr>
        <p:spPr>
          <a:xfrm>
            <a:off x="558000" y="990000"/>
            <a:ext cx="6120000" cy="864000"/>
          </a:xfrm>
          <a:prstGeom prst="rect">
            <a:avLst/>
          </a:prstGeom>
          <a:noFill/>
        </p:spPr>
        <p:txBody>
          <a:bodyPr wrap="square" lIns="0" rIns="0" tIns="0" bIns="0" anchor="t">
            <a:spAutoFit/>
          </a:bodyPr>
          <a:lstStyle/>
          <a:p>
            <a:pPr algn="l" eaLnBrk="0">
              <a:lnSpc>
                <a:spcPct val="108000"/>
              </a:lnSpc>
              <a:spcAft>
                <a:spcPts val="0"/>
              </a:spcAft>
            </a:pPr>
            <a:r>
              <a:rPr sz="3200" b="0" lang="ko-KR" altLang="en-US">
                <a:solidFill>
                  <a:srgbClr val="1A1E25"/>
                </a:solidFill>
                <a:latin typeface="Malgun Gothic Semilight"/>
                <a:ea typeface="Malgun Gothic Semilight"/>
                <a:cs typeface="Malgun Gothic Semilight"/>
              </a:rPr>
              <a:t>Polaris</a:t>
            </a:r>
          </a:p>
        </p:txBody>
      </p:sp>
      <p:sp>
        <p:nvSpPr>
          <p:cNvPr id="15" name="TextBox 14"/>
          <p:cNvSpPr txBox="1"/>
          <p:nvPr/>
        </p:nvSpPr>
        <p:spPr>
          <a:xfrm>
            <a:off x="558000" y="1710000"/>
            <a:ext cx="6300000" cy="792000"/>
          </a:xfrm>
          <a:prstGeom prst="rect">
            <a:avLst/>
          </a:prstGeom>
          <a:noFill/>
        </p:spPr>
        <p:txBody>
          <a:bodyPr wrap="square" lIns="0" rIns="0" tIns="0" bIns="0" anchor="t">
            <a:spAutoFit/>
          </a:bodyPr>
          <a:lstStyle/>
          <a:p>
            <a:pPr algn="l" eaLnBrk="0">
              <a:lnSpc>
                <a:spcPct val="130000"/>
              </a:lnSpc>
              <a:spcAft>
                <a:spcPts val="0"/>
              </a:spcAft>
            </a:pPr>
            <a:r>
              <a:rPr sz="1300" b="0" lang="ko-KR" altLang="en-US">
                <a:solidFill>
                  <a:srgbClr val="1A1E25"/>
                </a:solidFill>
                <a:latin typeface="Malgun Gothic Semilight"/>
                <a:ea typeface="Malgun Gothic Semilight"/>
                <a:cs typeface="Malgun Gothic Semilight"/>
              </a:rPr>
              <a:t>주식 60%에 국채 20%와 금 20%를 섞으면, 하락은 줄었지만 상승장에서 덜 올랐습니다. 월 10만 원, 14년 8개월 적립 후입니다.</a:t>
            </a:r>
          </a:p>
        </p:txBody>
      </p:sp>
      <p:sp>
        <p:nvSpPr>
          <p:cNvPr id="16" name="카드"/>
          <p:cNvSpPr/>
          <p:nvPr/>
        </p:nvSpPr>
        <p:spPr>
          <a:xfrm>
            <a:off x="558000" y="2736000"/>
            <a:ext cx="3011999" cy="2592000"/>
          </a:xfrm>
          <a:prstGeom prst="roundRect">
            <a:avLst>
              <a:gd name="adj" fmla="val 6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4000" y="2916000"/>
            <a:ext cx="2579999"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Polaris</a:t>
            </a:r>
          </a:p>
        </p:txBody>
      </p:sp>
      <p:sp>
        <p:nvSpPr>
          <p:cNvPr id="18" name="TextBox 17"/>
          <p:cNvSpPr txBox="1"/>
          <p:nvPr/>
        </p:nvSpPr>
        <p:spPr>
          <a:xfrm>
            <a:off x="774000" y="3131999"/>
            <a:ext cx="2579999" cy="468000"/>
          </a:xfrm>
          <a:prstGeom prst="rect">
            <a:avLst/>
          </a:prstGeom>
          <a:noFill/>
        </p:spPr>
        <p:txBody>
          <a:bodyPr wrap="square" lIns="0" rIns="0" tIns="0" bIns="0" anchor="t">
            <a:spAutoFit/>
          </a:bodyPr>
          <a:lstStyle/>
          <a:p>
            <a:pPr algn="l" eaLnBrk="0">
              <a:lnSpc>
                <a:spcPct val="100000"/>
              </a:lnSpc>
              <a:spcAft>
                <a:spcPts val="0"/>
              </a:spcAft>
            </a:pPr>
            <a:r>
              <a:rPr sz="2700" b="1" lang="ko-KR" altLang="en-US">
                <a:solidFill>
                  <a:srgbClr val="1E9A84"/>
                </a:solidFill>
                <a:latin typeface="Noto Sans KR"/>
                <a:ea typeface="Noto Sans KR"/>
                <a:cs typeface="Noto Sans KR"/>
              </a:rPr>
              <a:t>5,077만 원</a:t>
            </a:r>
          </a:p>
        </p:txBody>
      </p:sp>
      <p:cxnSp>
        <p:nvCxnSpPr>
          <p:cNvPr id="19" name="Connector 18"/>
          <p:cNvCxnSpPr/>
          <p:nvPr/>
        </p:nvCxnSpPr>
        <p:spPr>
          <a:xfrm>
            <a:off x="774000" y="3654000"/>
            <a:ext cx="2580000" cy="0"/>
          </a:xfrm>
          <a:prstGeom prst="line">
            <a:avLst/>
          </a:prstGeom>
          <a:ln w="9525">
            <a:solidFill>
              <a:srgbClr val="D5DCE6"/>
            </a:solidFill>
          </a:ln>
        </p:spPr>
      </p:cxnSp>
      <p:sp>
        <p:nvSpPr>
          <p:cNvPr id="20" name="TextBox 19"/>
          <p:cNvSpPr txBox="1"/>
          <p:nvPr/>
        </p:nvSpPr>
        <p:spPr>
          <a:xfrm>
            <a:off x="774000" y="36900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최대 낙폭</a:t>
            </a:r>
          </a:p>
        </p:txBody>
      </p:sp>
      <p:sp>
        <p:nvSpPr>
          <p:cNvPr id="21" name="TextBox 20"/>
          <p:cNvSpPr txBox="1"/>
          <p:nvPr/>
        </p:nvSpPr>
        <p:spPr>
          <a:xfrm>
            <a:off x="1913399" y="36900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−23.4%</a:t>
            </a:r>
          </a:p>
        </p:txBody>
      </p:sp>
      <p:cxnSp>
        <p:nvCxnSpPr>
          <p:cNvPr id="22" name="Connector 21"/>
          <p:cNvCxnSpPr/>
          <p:nvPr/>
        </p:nvCxnSpPr>
        <p:spPr>
          <a:xfrm>
            <a:off x="774000" y="3934800"/>
            <a:ext cx="2580000" cy="0"/>
          </a:xfrm>
          <a:prstGeom prst="line">
            <a:avLst/>
          </a:prstGeom>
          <a:ln w="9525">
            <a:solidFill>
              <a:srgbClr val="D5DCE6"/>
            </a:solidFill>
          </a:ln>
        </p:spPr>
      </p:cxnSp>
      <p:sp>
        <p:nvSpPr>
          <p:cNvPr id="23" name="TextBox 22"/>
          <p:cNvSpPr txBox="1"/>
          <p:nvPr/>
        </p:nvSpPr>
        <p:spPr>
          <a:xfrm>
            <a:off x="774000" y="39708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2022년 한 해 낙폭</a:t>
            </a:r>
          </a:p>
        </p:txBody>
      </p:sp>
      <p:sp>
        <p:nvSpPr>
          <p:cNvPr id="24" name="TextBox 23"/>
          <p:cNvSpPr txBox="1"/>
          <p:nvPr/>
        </p:nvSpPr>
        <p:spPr>
          <a:xfrm>
            <a:off x="1913399" y="39708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−23.0%</a:t>
            </a:r>
          </a:p>
        </p:txBody>
      </p:sp>
      <p:sp>
        <p:nvSpPr>
          <p:cNvPr id="25" name="TextBox 24"/>
          <p:cNvSpPr txBox="1"/>
          <p:nvPr/>
        </p:nvSpPr>
        <p:spPr>
          <a:xfrm>
            <a:off x="774000" y="5022000"/>
            <a:ext cx="2579999" cy="216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주식 60 · 국채 20 · 금 20</a:t>
            </a:r>
          </a:p>
        </p:txBody>
      </p:sp>
      <p:sp>
        <p:nvSpPr>
          <p:cNvPr id="26" name="카드"/>
          <p:cNvSpPr/>
          <p:nvPr/>
        </p:nvSpPr>
        <p:spPr>
          <a:xfrm>
            <a:off x="3840000" y="2736000"/>
            <a:ext cx="3011999" cy="2592000"/>
          </a:xfrm>
          <a:prstGeom prst="roundRect">
            <a:avLst>
              <a:gd name="adj" fmla="val 6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55999" y="2916000"/>
            <a:ext cx="2579999"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S&amp;P500 단독 적립</a:t>
            </a:r>
          </a:p>
        </p:txBody>
      </p:sp>
      <p:sp>
        <p:nvSpPr>
          <p:cNvPr id="28" name="TextBox 27"/>
          <p:cNvSpPr txBox="1"/>
          <p:nvPr/>
        </p:nvSpPr>
        <p:spPr>
          <a:xfrm>
            <a:off x="4055999" y="3131999"/>
            <a:ext cx="2579999" cy="468000"/>
          </a:xfrm>
          <a:prstGeom prst="rect">
            <a:avLst/>
          </a:prstGeom>
          <a:noFill/>
        </p:spPr>
        <p:txBody>
          <a:bodyPr wrap="square" lIns="0" rIns="0" tIns="0" bIns="0" anchor="t">
            <a:spAutoFit/>
          </a:bodyPr>
          <a:lstStyle/>
          <a:p>
            <a:pPr algn="l" eaLnBrk="0">
              <a:lnSpc>
                <a:spcPct val="100000"/>
              </a:lnSpc>
              <a:spcAft>
                <a:spcPts val="0"/>
              </a:spcAft>
            </a:pPr>
            <a:r>
              <a:rPr sz="2700" b="1" lang="ko-KR" altLang="en-US">
                <a:solidFill>
                  <a:srgbClr val="B0862A"/>
                </a:solidFill>
                <a:latin typeface="Noto Sans KR"/>
                <a:ea typeface="Noto Sans KR"/>
                <a:cs typeface="Noto Sans KR"/>
              </a:rPr>
              <a:t>5,810만 원</a:t>
            </a:r>
          </a:p>
        </p:txBody>
      </p:sp>
      <p:cxnSp>
        <p:nvCxnSpPr>
          <p:cNvPr id="29" name="Connector 28"/>
          <p:cNvCxnSpPr/>
          <p:nvPr/>
        </p:nvCxnSpPr>
        <p:spPr>
          <a:xfrm>
            <a:off x="4055999" y="3654000"/>
            <a:ext cx="2580000" cy="0"/>
          </a:xfrm>
          <a:prstGeom prst="line">
            <a:avLst/>
          </a:prstGeom>
          <a:ln w="9525">
            <a:solidFill>
              <a:srgbClr val="D5DCE6"/>
            </a:solidFill>
          </a:ln>
        </p:spPr>
      </p:cxnSp>
      <p:sp>
        <p:nvSpPr>
          <p:cNvPr id="30" name="TextBox 29"/>
          <p:cNvSpPr txBox="1"/>
          <p:nvPr/>
        </p:nvSpPr>
        <p:spPr>
          <a:xfrm>
            <a:off x="4055999" y="36900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최대 낙폭</a:t>
            </a:r>
          </a:p>
        </p:txBody>
      </p:sp>
      <p:sp>
        <p:nvSpPr>
          <p:cNvPr id="31" name="TextBox 30"/>
          <p:cNvSpPr txBox="1"/>
          <p:nvPr/>
        </p:nvSpPr>
        <p:spPr>
          <a:xfrm>
            <a:off x="5195399" y="36900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−33.7%</a:t>
            </a:r>
          </a:p>
        </p:txBody>
      </p:sp>
      <p:cxnSp>
        <p:nvCxnSpPr>
          <p:cNvPr id="32" name="Connector 31"/>
          <p:cNvCxnSpPr/>
          <p:nvPr/>
        </p:nvCxnSpPr>
        <p:spPr>
          <a:xfrm>
            <a:off x="4055999" y="3934800"/>
            <a:ext cx="2580000" cy="0"/>
          </a:xfrm>
          <a:prstGeom prst="line">
            <a:avLst/>
          </a:prstGeom>
          <a:ln w="9525">
            <a:solidFill>
              <a:srgbClr val="D5DCE6"/>
            </a:solidFill>
          </a:ln>
        </p:spPr>
      </p:cxnSp>
      <p:sp>
        <p:nvSpPr>
          <p:cNvPr id="33" name="TextBox 32"/>
          <p:cNvSpPr txBox="1"/>
          <p:nvPr/>
        </p:nvSpPr>
        <p:spPr>
          <a:xfrm>
            <a:off x="4055999" y="39708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2022년 한 해 낙폭</a:t>
            </a:r>
          </a:p>
        </p:txBody>
      </p:sp>
      <p:sp>
        <p:nvSpPr>
          <p:cNvPr id="34" name="TextBox 33"/>
          <p:cNvSpPr txBox="1"/>
          <p:nvPr/>
        </p:nvSpPr>
        <p:spPr>
          <a:xfrm>
            <a:off x="5195399" y="39708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−24.5%</a:t>
            </a:r>
          </a:p>
        </p:txBody>
      </p:sp>
      <p:sp>
        <p:nvSpPr>
          <p:cNvPr id="35" name="TextBox 34"/>
          <p:cNvSpPr txBox="1"/>
          <p:nvPr/>
        </p:nvSpPr>
        <p:spPr>
          <a:xfrm>
            <a:off x="4055999" y="5022000"/>
            <a:ext cx="2579999" cy="216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미국 대형주 500곳</a:t>
            </a:r>
          </a:p>
        </p:txBody>
      </p:sp>
      <p:sp>
        <p:nvSpPr>
          <p:cNvPr id="36" name="카드"/>
          <p:cNvSpPr/>
          <p:nvPr/>
        </p:nvSpPr>
        <p:spPr>
          <a:xfrm>
            <a:off x="7121999" y="2736000"/>
            <a:ext cx="3011999" cy="2592000"/>
          </a:xfrm>
          <a:prstGeom prst="roundRect">
            <a:avLst>
              <a:gd name="adj" fmla="val 6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38000" y="2916000"/>
            <a:ext cx="2579999"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QQQ 단독 적립</a:t>
            </a:r>
          </a:p>
        </p:txBody>
      </p:sp>
      <p:sp>
        <p:nvSpPr>
          <p:cNvPr id="38" name="TextBox 37"/>
          <p:cNvSpPr txBox="1"/>
          <p:nvPr/>
        </p:nvSpPr>
        <p:spPr>
          <a:xfrm>
            <a:off x="7338000" y="3131999"/>
            <a:ext cx="2579999" cy="468000"/>
          </a:xfrm>
          <a:prstGeom prst="rect">
            <a:avLst/>
          </a:prstGeom>
          <a:noFill/>
        </p:spPr>
        <p:txBody>
          <a:bodyPr wrap="square" lIns="0" rIns="0" tIns="0" bIns="0" anchor="t">
            <a:spAutoFit/>
          </a:bodyPr>
          <a:lstStyle/>
          <a:p>
            <a:pPr algn="l" eaLnBrk="0">
              <a:lnSpc>
                <a:spcPct val="100000"/>
              </a:lnSpc>
              <a:spcAft>
                <a:spcPts val="0"/>
              </a:spcAft>
            </a:pPr>
            <a:r>
              <a:rPr sz="2700" b="1" lang="ko-KR" altLang="en-US">
                <a:solidFill>
                  <a:srgbClr val="E07A1F"/>
                </a:solidFill>
                <a:latin typeface="Noto Sans KR"/>
                <a:ea typeface="Noto Sans KR"/>
                <a:cs typeface="Noto Sans KR"/>
              </a:rPr>
              <a:t>8,805만 원</a:t>
            </a:r>
          </a:p>
        </p:txBody>
      </p:sp>
      <p:cxnSp>
        <p:nvCxnSpPr>
          <p:cNvPr id="39" name="Connector 38"/>
          <p:cNvCxnSpPr/>
          <p:nvPr/>
        </p:nvCxnSpPr>
        <p:spPr>
          <a:xfrm>
            <a:off x="7338000" y="3654000"/>
            <a:ext cx="2579999" cy="0"/>
          </a:xfrm>
          <a:prstGeom prst="line">
            <a:avLst/>
          </a:prstGeom>
          <a:ln w="9525">
            <a:solidFill>
              <a:srgbClr val="D5DCE6"/>
            </a:solidFill>
          </a:ln>
        </p:spPr>
      </p:cxnSp>
      <p:sp>
        <p:nvSpPr>
          <p:cNvPr id="40" name="TextBox 39"/>
          <p:cNvSpPr txBox="1"/>
          <p:nvPr/>
        </p:nvSpPr>
        <p:spPr>
          <a:xfrm>
            <a:off x="7338000" y="36900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최대 낙폭</a:t>
            </a:r>
          </a:p>
        </p:txBody>
      </p:sp>
      <p:sp>
        <p:nvSpPr>
          <p:cNvPr id="41" name="TextBox 40"/>
          <p:cNvSpPr txBox="1"/>
          <p:nvPr/>
        </p:nvSpPr>
        <p:spPr>
          <a:xfrm>
            <a:off x="8477400" y="36900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−35.1%</a:t>
            </a:r>
          </a:p>
        </p:txBody>
      </p:sp>
      <p:cxnSp>
        <p:nvCxnSpPr>
          <p:cNvPr id="42" name="Connector 41"/>
          <p:cNvCxnSpPr/>
          <p:nvPr/>
        </p:nvCxnSpPr>
        <p:spPr>
          <a:xfrm>
            <a:off x="7338000" y="3934800"/>
            <a:ext cx="2579999" cy="0"/>
          </a:xfrm>
          <a:prstGeom prst="line">
            <a:avLst/>
          </a:prstGeom>
          <a:ln w="9525">
            <a:solidFill>
              <a:srgbClr val="D5DCE6"/>
            </a:solidFill>
          </a:ln>
        </p:spPr>
      </p:cxnSp>
      <p:sp>
        <p:nvSpPr>
          <p:cNvPr id="43" name="TextBox 42"/>
          <p:cNvSpPr txBox="1"/>
          <p:nvPr/>
        </p:nvSpPr>
        <p:spPr>
          <a:xfrm>
            <a:off x="7338000" y="39708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2022년 한 해 낙폭</a:t>
            </a:r>
          </a:p>
        </p:txBody>
      </p:sp>
      <p:sp>
        <p:nvSpPr>
          <p:cNvPr id="44" name="TextBox 43"/>
          <p:cNvSpPr txBox="1"/>
          <p:nvPr/>
        </p:nvSpPr>
        <p:spPr>
          <a:xfrm>
            <a:off x="8477400" y="39708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−34.8%</a:t>
            </a:r>
          </a:p>
        </p:txBody>
      </p:sp>
      <p:sp>
        <p:nvSpPr>
          <p:cNvPr id="45" name="TextBox 44"/>
          <p:cNvSpPr txBox="1"/>
          <p:nvPr/>
        </p:nvSpPr>
        <p:spPr>
          <a:xfrm>
            <a:off x="7338000" y="5022000"/>
            <a:ext cx="2579999" cy="216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나스닥100</a:t>
            </a:r>
          </a:p>
        </p:txBody>
      </p:sp>
      <p:sp>
        <p:nvSpPr>
          <p:cNvPr id="46" name="TextBox 45"/>
          <p:cNvSpPr txBox="1"/>
          <p:nvPr/>
        </p:nvSpPr>
        <p:spPr>
          <a:xfrm>
            <a:off x="558000" y="5562000"/>
            <a:ext cx="9576000" cy="576000"/>
          </a:xfrm>
          <a:prstGeom prst="rect">
            <a:avLst/>
          </a:prstGeom>
          <a:noFill/>
        </p:spPr>
        <p:txBody>
          <a:bodyPr wrap="square" lIns="0" rIns="0" tIns="0" bIns="0" anchor="t">
            <a:spAutoFit/>
          </a:bodyPr>
          <a:lstStyle/>
          <a:p>
            <a:pPr algn="l" eaLnBrk="0">
              <a:lnSpc>
                <a:spcPct val="132000"/>
              </a:lnSpc>
              <a:spcAft>
                <a:spcPts val="0"/>
              </a:spcAft>
            </a:pPr>
            <a:r>
              <a:rPr sz="1000" b="0" lang="ko-KR" altLang="en-US">
                <a:solidFill>
                  <a:srgbClr val="1A1E25"/>
                </a:solidFill>
                <a:latin typeface="Noto Sans KR"/>
                <a:ea typeface="Noto Sans KR"/>
                <a:cs typeface="Noto Sans KR"/>
              </a:rPr>
              <a:t>Polaris는 QQQ 단독 적립보다 3,728만 원 적게 남았고, 낙폭은 −35.1% → −23.4%로 줄었습니다. 덜 흔들린 대가로 덜 벌었습니다.</a:t>
            </a:r>
          </a:p>
        </p:txBody>
      </p:sp>
      <p:sp>
        <p:nvSpPr>
          <p:cNvPr id="47"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실제 ETF 수정 종가(QQQ · QLD · TQQQ · SCHD · SPY · IEF · GLD), 자체 계산 · 비용 0.15% · 세전 · 환율 고정 · 소수 주</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판넬"/>
          <p:cNvSpPr/>
          <p:nvPr/>
        </p:nvSpPr>
        <p:spPr>
          <a:xfrm>
            <a:off x="0" y="0"/>
            <a:ext cx="3708000" cy="7560000"/>
          </a:xfrm>
          <a:prstGeom prst="rect">
            <a:avLst/>
          </a:prstGeom>
          <a:solidFill>
            <a:srgbClr val="0A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표지 원"/>
          <p:cNvSpPr/>
          <p:nvPr/>
        </p:nvSpPr>
        <p:spPr>
          <a:xfrm>
            <a:off x="558000" y="270000"/>
            <a:ext cx="450000" cy="450000"/>
          </a:xfrm>
          <a:prstGeom prst="ellipse">
            <a:avLst/>
          </a:prstGeom>
          <a:noFill/>
          <a:ln w="762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FFFFFF"/>
                </a:solidFill>
                <a:latin typeface="Noto Sans KR"/>
                <a:ea typeface="Noto Sans KR"/>
                <a:cs typeface="Noto Sans KR"/>
              </a:rPr>
              <a:t>D·P</a:t>
            </a:r>
          </a:p>
        </p:txBody>
      </p:sp>
      <p:sp>
        <p:nvSpPr>
          <p:cNvPr id="4"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5"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6"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Polaris</a:t>
            </a:r>
          </a:p>
        </p:txBody>
      </p:sp>
      <p:sp>
        <p:nvSpPr>
          <p:cNvPr id="7"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8"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9"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10" name="Connector 9"/>
          <p:cNvCxnSpPr/>
          <p:nvPr/>
        </p:nvCxnSpPr>
        <p:spPr>
          <a:xfrm>
            <a:off x="3844800" y="619200"/>
            <a:ext cx="6289200" cy="0"/>
          </a:xfrm>
          <a:prstGeom prst="line">
            <a:avLst/>
          </a:prstGeom>
          <a:ln w="6350">
            <a:solidFill>
              <a:srgbClr val="C9D0DA"/>
            </a:solidFill>
          </a:ln>
        </p:spPr>
      </p:cxnSp>
      <p:cxnSp>
        <p:nvCxnSpPr>
          <p:cNvPr id="11" name="Connector 10"/>
          <p:cNvCxnSpPr/>
          <p:nvPr/>
        </p:nvCxnSpPr>
        <p:spPr>
          <a:xfrm>
            <a:off x="5941200" y="619200"/>
            <a:ext cx="752400" cy="0"/>
          </a:xfrm>
          <a:prstGeom prst="line">
            <a:avLst/>
          </a:prstGeom>
          <a:ln w="25400">
            <a:solidFill>
              <a:srgbClr val="0B3D91"/>
            </a:solidFill>
          </a:ln>
        </p:spPr>
      </p:cxnSp>
      <p:sp>
        <p:nvSpPr>
          <p:cNvPr id="12"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FFFFFF"/>
                </a:solidFill>
                <a:latin typeface="Noto Sans KR"/>
                <a:ea typeface="Noto Sans KR"/>
                <a:cs typeface="Noto Sans KR"/>
              </a:rPr>
              <a:t>Deneb · Polaris 투자 전략 설명서</a:t>
            </a:r>
          </a:p>
        </p:txBody>
      </p:sp>
      <p:sp>
        <p:nvSpPr>
          <p:cNvPr id="13"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23</a:t>
            </a:r>
          </a:p>
        </p:txBody>
      </p:sp>
      <p:sp>
        <p:nvSpPr>
          <p:cNvPr id="14"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9FC0EC"/>
                </a:solidFill>
                <a:latin typeface="Noto Sans KR"/>
                <a:ea typeface="Noto Sans KR"/>
                <a:cs typeface="Noto Sans KR"/>
              </a:rPr>
              <a:t>8장 · Polaris의 자산 배분</a:t>
            </a:r>
          </a:p>
        </p:txBody>
      </p:sp>
      <p:sp>
        <p:nvSpPr>
          <p:cNvPr id="15" name="제목"/>
          <p:cNvSpPr txBox="1"/>
          <p:nvPr/>
        </p:nvSpPr>
        <p:spPr>
          <a:xfrm>
            <a:off x="558000" y="990000"/>
            <a:ext cx="2934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FFFFFF"/>
                </a:solidFill>
                <a:latin typeface="Malgun Gothic Semilight"/>
                <a:ea typeface="Malgun Gothic Semilight"/>
                <a:cs typeface="Malgun Gothic Semilight"/>
              </a:rPr>
              <a:t>네 가지 자산</a:t>
            </a:r>
          </a:p>
        </p:txBody>
      </p:sp>
      <p:sp>
        <p:nvSpPr>
          <p:cNvPr id="16" name="TextBox 15"/>
          <p:cNvSpPr txBox="1"/>
          <p:nvPr/>
        </p:nvSpPr>
        <p:spPr>
          <a:xfrm>
            <a:off x="558000" y="1584000"/>
            <a:ext cx="2897999" cy="936000"/>
          </a:xfrm>
          <a:prstGeom prst="rect">
            <a:avLst/>
          </a:prstGeom>
          <a:noFill/>
        </p:spPr>
        <p:txBody>
          <a:bodyPr wrap="square" lIns="0" rIns="0" tIns="0" bIns="0" anchor="t">
            <a:spAutoFit/>
          </a:bodyPr>
          <a:lstStyle/>
          <a:p>
            <a:pPr algn="l" eaLnBrk="0">
              <a:lnSpc>
                <a:spcPct val="132000"/>
              </a:lnSpc>
              <a:spcAft>
                <a:spcPts val="0"/>
              </a:spcAft>
            </a:pPr>
            <a:r>
              <a:rPr sz="1050" b="0" lang="ko-KR" altLang="en-US">
                <a:solidFill>
                  <a:srgbClr val="FFFFFF"/>
                </a:solidFill>
                <a:latin typeface="Noto Sans KR"/>
                <a:ea typeface="Noto Sans KR"/>
                <a:cs typeface="Noto Sans KR"/>
              </a:rPr>
              <a:t>미국 주식 60%에 미국 국채 20%와 금 20%를 섞어, 주식만 들고 있을 때보다 흔들림을 줄이려는 적립식 배분입니다.</a:t>
            </a:r>
          </a:p>
        </p:txBody>
      </p:sp>
      <p:graphicFrame>
        <p:nvGraphicFramePr>
          <p:cNvPr id="17" name="Polaris 구성"/>
          <p:cNvGraphicFramePr>
            <a:graphicFrameLocks noGrp="1"/>
          </p:cNvGraphicFramePr>
          <p:nvPr/>
        </p:nvGraphicFramePr>
        <p:xfrm>
          <a:off x="486000" y="2520000"/>
          <a:ext cx="1584000" cy="1584000"/>
        </p:xfrm>
        <a:graphic>
          <a:graphicData uri="http://schemas.openxmlformats.org/drawingml/2006/chart">
            <c:chart xmlns:c="http://schemas.openxmlformats.org/drawingml/2006/chart" r:id="rId2"/>
          </a:graphicData>
        </a:graphic>
      </p:graphicFrame>
      <p:sp>
        <p:nvSpPr>
          <p:cNvPr id="18" name="TextBox 17"/>
          <p:cNvSpPr txBox="1"/>
          <p:nvPr/>
        </p:nvSpPr>
        <p:spPr>
          <a:xfrm>
            <a:off x="2178000" y="2574000"/>
            <a:ext cx="1313999" cy="1548000"/>
          </a:xfrm>
          <a:prstGeom prst="rect">
            <a:avLst/>
          </a:prstGeom>
          <a:noFill/>
        </p:spPr>
        <p:txBody>
          <a:bodyPr wrap="square" lIns="0" rIns="0" tIns="0" bIns="0" anchor="t">
            <a:spAutoFit/>
          </a:bodyPr>
          <a:lstStyle/>
          <a:p>
            <a:pPr algn="l" eaLnBrk="0">
              <a:lnSpc>
                <a:spcPct val="115000"/>
              </a:lnSpc>
              <a:spcAft>
                <a:spcPts val="100"/>
              </a:spcAft>
            </a:pPr>
            <a:r>
              <a:rPr sz="850" b="1" lang="ko-KR" altLang="en-US">
                <a:solidFill>
                  <a:srgbClr val="FFFFFF"/>
                </a:solidFill>
                <a:latin typeface="Noto Sans KR"/>
                <a:ea typeface="Noto Sans KR"/>
                <a:cs typeface="Noto Sans KR"/>
              </a:rPr>
              <a:t>30%  SPYM</a:t>
            </a:r>
          </a:p>
          <a:p>
            <a:pPr algn="l" eaLnBrk="0">
              <a:lnSpc>
                <a:spcPct val="115000"/>
              </a:lnSpc>
              <a:spcAft>
                <a:spcPts val="100"/>
              </a:spcAft>
            </a:pPr>
            <a:r>
              <a:rPr sz="850" b="0" lang="ko-KR" altLang="en-US">
                <a:solidFill>
                  <a:srgbClr val="FFFFFF"/>
                </a:solidFill>
                <a:latin typeface="Noto Sans KR"/>
                <a:ea typeface="Noto Sans KR"/>
                <a:cs typeface="Noto Sans KR"/>
              </a:rPr>
              <a:t>S&amp;P500 미국 대형주 500곳</a:t>
            </a:r>
          </a:p>
          <a:p>
            <a:pPr algn="l" eaLnBrk="0">
              <a:lnSpc>
                <a:spcPct val="115000"/>
              </a:lnSpc>
              <a:spcAft>
                <a:spcPts val="100"/>
              </a:spcAft>
            </a:pPr>
            <a:r>
              <a:rPr sz="850" b="1" lang="ko-KR" altLang="en-US">
                <a:solidFill>
                  <a:srgbClr val="FFFFFF"/>
                </a:solidFill>
                <a:latin typeface="Noto Sans KR"/>
                <a:ea typeface="Noto Sans KR"/>
                <a:cs typeface="Noto Sans KR"/>
              </a:rPr>
              <a:t>30%  QQQM</a:t>
            </a:r>
          </a:p>
          <a:p>
            <a:pPr algn="l" eaLnBrk="0">
              <a:lnSpc>
                <a:spcPct val="115000"/>
              </a:lnSpc>
              <a:spcAft>
                <a:spcPts val="100"/>
              </a:spcAft>
            </a:pPr>
            <a:r>
              <a:rPr sz="850" b="0" lang="ko-KR" altLang="en-US">
                <a:solidFill>
                  <a:srgbClr val="FFFFFF"/>
                </a:solidFill>
                <a:latin typeface="Noto Sans KR"/>
                <a:ea typeface="Noto Sans KR"/>
                <a:cs typeface="Noto Sans KR"/>
              </a:rPr>
              <a:t>나스닥100</a:t>
            </a:r>
          </a:p>
          <a:p>
            <a:pPr algn="l" eaLnBrk="0">
              <a:lnSpc>
                <a:spcPct val="115000"/>
              </a:lnSpc>
              <a:spcAft>
                <a:spcPts val="100"/>
              </a:spcAft>
            </a:pPr>
            <a:r>
              <a:rPr sz="850" b="1" lang="ko-KR" altLang="en-US">
                <a:solidFill>
                  <a:srgbClr val="FFFFFF"/>
                </a:solidFill>
                <a:latin typeface="Noto Sans KR"/>
                <a:ea typeface="Noto Sans KR"/>
                <a:cs typeface="Noto Sans KR"/>
              </a:rPr>
              <a:t>20%  IEF</a:t>
            </a:r>
          </a:p>
          <a:p>
            <a:pPr algn="l" eaLnBrk="0">
              <a:lnSpc>
                <a:spcPct val="115000"/>
              </a:lnSpc>
              <a:spcAft>
                <a:spcPts val="100"/>
              </a:spcAft>
            </a:pPr>
            <a:r>
              <a:rPr sz="850" b="0" lang="ko-KR" altLang="en-US">
                <a:solidFill>
                  <a:srgbClr val="FFFFFF"/>
                </a:solidFill>
                <a:latin typeface="Noto Sans KR"/>
                <a:ea typeface="Noto Sans KR"/>
                <a:cs typeface="Noto Sans KR"/>
              </a:rPr>
              <a:t>미국 국채 7~10년</a:t>
            </a:r>
          </a:p>
          <a:p>
            <a:pPr algn="l" eaLnBrk="0">
              <a:lnSpc>
                <a:spcPct val="115000"/>
              </a:lnSpc>
              <a:spcAft>
                <a:spcPts val="100"/>
              </a:spcAft>
            </a:pPr>
            <a:r>
              <a:rPr sz="850" b="1" lang="ko-KR" altLang="en-US">
                <a:solidFill>
                  <a:srgbClr val="FFFFFF"/>
                </a:solidFill>
                <a:latin typeface="Noto Sans KR"/>
                <a:ea typeface="Noto Sans KR"/>
                <a:cs typeface="Noto Sans KR"/>
              </a:rPr>
              <a:t>20%  GLDM</a:t>
            </a:r>
          </a:p>
          <a:p>
            <a:pPr algn="l" eaLnBrk="0">
              <a:lnSpc>
                <a:spcPct val="115000"/>
              </a:lnSpc>
              <a:spcAft>
                <a:spcPts val="100"/>
              </a:spcAft>
            </a:pPr>
            <a:r>
              <a:rPr sz="850" b="0" lang="ko-KR" altLang="en-US">
                <a:solidFill>
                  <a:srgbClr val="FFFFFF"/>
                </a:solidFill>
                <a:latin typeface="Noto Sans KR"/>
                <a:ea typeface="Noto Sans KR"/>
                <a:cs typeface="Noto Sans KR"/>
              </a:rPr>
              <a:t>금</a:t>
            </a:r>
          </a:p>
        </p:txBody>
      </p:sp>
      <p:sp>
        <p:nvSpPr>
          <p:cNvPr id="19" name="TextBox 18"/>
          <p:cNvSpPr txBox="1"/>
          <p:nvPr/>
        </p:nvSpPr>
        <p:spPr>
          <a:xfrm>
            <a:off x="558000" y="4320000"/>
            <a:ext cx="2897999" cy="2520000"/>
          </a:xfrm>
          <a:prstGeom prst="rect">
            <a:avLst/>
          </a:prstGeom>
          <a:noFill/>
        </p:spPr>
        <p:txBody>
          <a:bodyPr wrap="square" lIns="0" rIns="0" tIns="0" bIns="0" anchor="t">
            <a:spAutoFit/>
          </a:bodyPr>
          <a:lstStyle/>
          <a:p>
            <a:pPr algn="l" eaLnBrk="0">
              <a:lnSpc>
                <a:spcPct val="132000"/>
              </a:lnSpc>
              <a:spcAft>
                <a:spcPts val="600"/>
              </a:spcAft>
            </a:pPr>
            <a:r>
              <a:rPr sz="900" b="1" lang="ko-KR" altLang="en-US">
                <a:solidFill>
                  <a:srgbClr val="FFFFFF"/>
                </a:solidFill>
                <a:latin typeface="Noto Sans KR"/>
                <a:ea typeface="Noto Sans KR"/>
                <a:cs typeface="Noto Sans KR"/>
              </a:rPr>
              <a:t>왜 S&amp;P500과 나스닥을 나누나  </a:t>
            </a:r>
            <a:r>
              <a:rPr sz="900" b="0" lang="ko-KR" altLang="en-US">
                <a:solidFill>
                  <a:srgbClr val="DCE6F5"/>
                </a:solidFill>
                <a:latin typeface="Noto Sans KR"/>
                <a:ea typeface="Noto Sans KR"/>
                <a:cs typeface="Noto Sans KR"/>
              </a:rPr>
              <a:t>나스닥100은 기술주 비중이 크고 더 크게 오르내립니다. S&amp;P500을 함께 두면 금융 · 헬스케어 · 소비재 같은 업종이 섞여 한쪽 업종에 덜 몰립니다.</a:t>
            </a:r>
          </a:p>
          <a:p>
            <a:pPr algn="l" eaLnBrk="0">
              <a:lnSpc>
                <a:spcPct val="132000"/>
              </a:lnSpc>
              <a:spcAft>
                <a:spcPts val="600"/>
              </a:spcAft>
            </a:pPr>
            <a:r>
              <a:rPr sz="900" b="1" lang="ko-KR" altLang="en-US">
                <a:solidFill>
                  <a:srgbClr val="FFFFFF"/>
                </a:solidFill>
                <a:latin typeface="Noto Sans KR"/>
                <a:ea typeface="Noto Sans KR"/>
                <a:cs typeface="Noto Sans KR"/>
              </a:rPr>
              <a:t>겹치는 부분  </a:t>
            </a:r>
            <a:r>
              <a:rPr sz="900" b="0" lang="ko-KR" altLang="en-US">
                <a:solidFill>
                  <a:srgbClr val="DCE6F5"/>
                </a:solidFill>
                <a:latin typeface="Noto Sans KR"/>
                <a:ea typeface="Noto Sans KR"/>
                <a:cs typeface="Noto Sans KR"/>
              </a:rPr>
              <a:t>애플 · 마이크로소프트 · 엔비디아 같은 대형 기술주는 두 ETF에 모두 들어 있어, 주식 60% 안의 실제 기술주 비중은 30%보다 큽니다.</a:t>
            </a:r>
          </a:p>
        </p:txBody>
      </p:sp>
      <p:cxnSp>
        <p:nvCxnSpPr>
          <p:cNvPr id="20" name="Connector 19"/>
          <p:cNvCxnSpPr/>
          <p:nvPr/>
        </p:nvCxnSpPr>
        <p:spPr>
          <a:xfrm>
            <a:off x="3844800" y="990000"/>
            <a:ext cx="6289200" cy="0"/>
          </a:xfrm>
          <a:prstGeom prst="line">
            <a:avLst/>
          </a:prstGeom>
          <a:ln w="9525">
            <a:solidFill>
              <a:srgbClr val="1A1E25"/>
            </a:solidFill>
          </a:ln>
        </p:spPr>
      </p:cxnSp>
      <p:sp>
        <p:nvSpPr>
          <p:cNvPr id="21" name="표지 막대"/>
          <p:cNvSpPr/>
          <p:nvPr/>
        </p:nvSpPr>
        <p:spPr>
          <a:xfrm>
            <a:off x="3844800" y="99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그림 제목"/>
          <p:cNvSpPr txBox="1"/>
          <p:nvPr/>
        </p:nvSpPr>
        <p:spPr>
          <a:xfrm>
            <a:off x="3844800" y="1090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비율의 근거 — 같은 조건에서 비교한 배분</a:t>
            </a:r>
          </a:p>
        </p:txBody>
      </p:sp>
      <p:sp>
        <p:nvSpPr>
          <p:cNvPr id="23" name="그림 설명"/>
          <p:cNvSpPr txBox="1"/>
          <p:nvPr/>
        </p:nvSpPr>
        <p:spPr>
          <a:xfrm>
            <a:off x="3844800" y="1278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2005~2026 · 월 적립 · 참고 계산(연구 판정 아님) · 나무 안정 계좌 비교 기록</a:t>
            </a:r>
          </a:p>
        </p:txBody>
      </p:sp>
      <p:graphicFrame>
        <p:nvGraphicFramePr>
          <p:cNvPr id="24" name="표"/>
          <p:cNvGraphicFramePr>
            <a:graphicFrameLocks noGrp="1"/>
          </p:cNvGraphicFramePr>
          <p:nvPr/>
        </p:nvGraphicFramePr>
        <p:xfrm>
          <a:off x="3844800" y="1458000"/>
          <a:ext cx="6289199" cy="1339200"/>
        </p:xfrm>
        <a:graphic>
          <a:graphicData uri="http://schemas.openxmlformats.org/drawingml/2006/table">
            <a:tbl>
              <a:tblPr firstRow="0" bandRow="0" firstCol="0" lastCol="0" bandCol="0" lastRow="0">
                <a:tableStyleId>{5940675A-B579-460E-94D1-54222C63F5DA}</a:tableStyleId>
              </a:tblPr>
              <a:tblGrid>
                <a:gridCol w="2232000"/>
                <a:gridCol w="792000"/>
                <a:gridCol w="864000"/>
                <a:gridCol w="2401199"/>
              </a:tblGrid>
              <a:tr h="2232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구성</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연 수익</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최대 낙폭</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메모</a:t>
                      </a:r>
                      <a:endParaRPr sz="850"/>
                    </a:p>
                  </a:txBody>
                  <a:tcPr marL="28800" marR="43200" marT="25200" marB="25200" anchor="b">
                    <a:lnL w="0">
                      <a:noFill/>
                    </a:lnL>
                    <a:lnR w="0">
                      <a:noFill/>
                    </a:lnR>
                    <a:lnT w="9525">
                      <a:solidFill>
                        <a:srgbClr val="1A1E25"/>
                      </a:solidFill>
                    </a:lnT>
                    <a:lnB w="9525">
                      <a:solidFill>
                        <a:srgbClr val="1A1E25"/>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S&amp;P500 60 · 국채 20 · 금 20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9.8%</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−32.4%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S&amp;P500 중심</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나스닥 60 · 국채 20 · 금 20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12.6%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−34.1%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나스닥 중심</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S&amp;P 30 · 나스닥 30 · 국채 20 · 금 20</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11.2%</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−32.7%</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지금 Polaris</a:t>
                      </a:r>
                      <a:endParaRPr sz="900"/>
                    </a:p>
                  </a:txBody>
                  <a:tcPr marL="28800" marR="43200" marT="25200" marB="25200" anchor="ctr">
                    <a:lnL w="0">
                      <a:noFill/>
                    </a:lnL>
                    <a:lnR w="0">
                      <a:noFill/>
                    </a:lnR>
                    <a:lnT w="0">
                      <a:noFill/>
                    </a:lnT>
                    <a:lnB w="6350">
                      <a:solidFill>
                        <a:srgbClr val="C9D0DA"/>
                      </a:solidFill>
                    </a:lnB>
                    <a:solidFill>
                      <a:srgbClr val="EDF1F7"/>
                    </a:solid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S&amp;P500 2배 60 · 국채 20 · 금 20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레버리지 섞기</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S&amp;P500 3배 60 · 국채 20 · 금 20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레버리지 섞기</a:t>
                      </a:r>
                      <a:endParaRPr sz="90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5" name="Connector 24"/>
          <p:cNvCxnSpPr/>
          <p:nvPr/>
        </p:nvCxnSpPr>
        <p:spPr>
          <a:xfrm>
            <a:off x="3844800" y="1458000"/>
            <a:ext cx="6289200" cy="0"/>
          </a:xfrm>
          <a:prstGeom prst="line">
            <a:avLst/>
          </a:prstGeom>
          <a:ln w="25400">
            <a:solidFill>
              <a:srgbClr val="1A1E25"/>
            </a:solidFill>
          </a:ln>
        </p:spPr>
      </p:cxnSp>
      <p:sp>
        <p:nvSpPr>
          <p:cNvPr id="26" name="TextBox 25"/>
          <p:cNvSpPr txBox="1"/>
          <p:nvPr/>
        </p:nvSpPr>
        <p:spPr>
          <a:xfrm>
            <a:off x="3844800" y="2988000"/>
            <a:ext cx="6289200" cy="1152000"/>
          </a:xfrm>
          <a:prstGeom prst="rect">
            <a:avLst/>
          </a:prstGeom>
          <a:noFill/>
        </p:spPr>
        <p:txBody>
          <a:bodyPr wrap="square" lIns="0" rIns="0" tIns="0" bIns="0" anchor="t">
            <a:spAutoFit/>
          </a:bodyPr>
          <a:lstStyle/>
          <a:p>
            <a:pPr algn="l" eaLnBrk="0">
              <a:lnSpc>
                <a:spcPct val="132000"/>
              </a:lnSpc>
              <a:spcAft>
                <a:spcPts val="0"/>
              </a:spcAft>
            </a:pPr>
            <a:r>
              <a:rPr sz="950" b="0" lang="ko-KR" altLang="en-US">
                <a:solidFill>
                  <a:srgbClr val="1A1E25"/>
                </a:solidFill>
                <a:latin typeface="Noto Sans KR"/>
                <a:ea typeface="Noto Sans KR"/>
                <a:cs typeface="Noto Sans KR"/>
              </a:rPr>
              <a:t>30 · 30 · 20 · 20은 S&amp;P500 중심(낙폭 작음)과 나스닥 중심(수익 큼)의 중간을 고른 것입니다. 낙폭 차이는 1~2%p로 작았고, 수익 차이는 연 1.4%p였습니다. 최적이라고 증명된 비율이 아니라, 안정적인 계좌를 원한 사용자의 선택입니다.</a:t>
            </a:r>
          </a:p>
        </p:txBody>
      </p:sp>
      <p:cxnSp>
        <p:nvCxnSpPr>
          <p:cNvPr id="27" name="Connector 26"/>
          <p:cNvCxnSpPr/>
          <p:nvPr/>
        </p:nvCxnSpPr>
        <p:spPr>
          <a:xfrm>
            <a:off x="3844800" y="4176000"/>
            <a:ext cx="6289200" cy="0"/>
          </a:xfrm>
          <a:prstGeom prst="line">
            <a:avLst/>
          </a:prstGeom>
          <a:ln w="9525">
            <a:solidFill>
              <a:srgbClr val="1A1E25"/>
            </a:solidFill>
          </a:ln>
        </p:spPr>
      </p:cxnSp>
      <p:sp>
        <p:nvSpPr>
          <p:cNvPr id="28" name="표지 막대"/>
          <p:cNvSpPr/>
          <p:nvPr/>
        </p:nvSpPr>
        <p:spPr>
          <a:xfrm>
            <a:off x="3844800" y="4176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그림 제목"/>
          <p:cNvSpPr txBox="1"/>
          <p:nvPr/>
        </p:nvSpPr>
        <p:spPr>
          <a:xfrm>
            <a:off x="3844800" y="4276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국채와 금이 도움이 된 해, 안 된 해</a:t>
            </a:r>
          </a:p>
        </p:txBody>
      </p:sp>
      <p:sp>
        <p:nvSpPr>
          <p:cNvPr id="30" name="그림 설명"/>
          <p:cNvSpPr txBox="1"/>
          <p:nvPr/>
        </p:nvSpPr>
        <p:spPr>
          <a:xfrm>
            <a:off x="3844800" y="4464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실제 ETF 연간 수익률 · 달러 기준</a:t>
            </a:r>
          </a:p>
        </p:txBody>
      </p:sp>
      <p:graphicFrame>
        <p:nvGraphicFramePr>
          <p:cNvPr id="31" name="자산 연간"/>
          <p:cNvGraphicFramePr>
            <a:graphicFrameLocks noGrp="1"/>
          </p:cNvGraphicFramePr>
          <p:nvPr/>
        </p:nvGraphicFramePr>
        <p:xfrm>
          <a:off x="3844800" y="4608000"/>
          <a:ext cx="6289200" cy="2232000"/>
        </p:xfrm>
        <a:graphic>
          <a:graphicData uri="http://schemas.openxmlformats.org/drawingml/2006/chart">
            <c:chart xmlns:c="http://schemas.openxmlformats.org/drawingml/2006/chart" r:id="rId3"/>
          </a:graphicData>
        </a:graphic>
      </p:graphicFrame>
      <p:sp>
        <p:nvSpPr>
          <p:cNvPr id="32" name="출처"/>
          <p:cNvSpPr txBox="1"/>
          <p:nvPr/>
        </p:nvSpPr>
        <p:spPr>
          <a:xfrm>
            <a:off x="3844800" y="6955200"/>
            <a:ext cx="62892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docs/research · reports/namu_core_compare (2005~2026 참고 계산, 커밋 adfa870 · 19c767e · b90e73f) · 실제 ETF 수정 종가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판넬"/>
          <p:cNvSpPr/>
          <p:nvPr/>
        </p:nvSpPr>
        <p:spPr>
          <a:xfrm>
            <a:off x="0" y="0"/>
            <a:ext cx="3708000" cy="7560000"/>
          </a:xfrm>
          <a:prstGeom prst="rect">
            <a:avLst/>
          </a:prstGeom>
          <a:solidFill>
            <a:srgbClr val="0A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표지 원"/>
          <p:cNvSpPr/>
          <p:nvPr/>
        </p:nvSpPr>
        <p:spPr>
          <a:xfrm>
            <a:off x="558000" y="270000"/>
            <a:ext cx="450000" cy="450000"/>
          </a:xfrm>
          <a:prstGeom prst="ellipse">
            <a:avLst/>
          </a:prstGeom>
          <a:noFill/>
          <a:ln w="762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FFFFFF"/>
                </a:solidFill>
                <a:latin typeface="Noto Sans KR"/>
                <a:ea typeface="Noto Sans KR"/>
                <a:cs typeface="Noto Sans KR"/>
              </a:rPr>
              <a:t>D·P</a:t>
            </a:r>
          </a:p>
        </p:txBody>
      </p:sp>
      <p:sp>
        <p:nvSpPr>
          <p:cNvPr id="4"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5"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6"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Polaris</a:t>
            </a:r>
          </a:p>
        </p:txBody>
      </p:sp>
      <p:sp>
        <p:nvSpPr>
          <p:cNvPr id="7"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8"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9"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10" name="Connector 9"/>
          <p:cNvCxnSpPr/>
          <p:nvPr/>
        </p:nvCxnSpPr>
        <p:spPr>
          <a:xfrm>
            <a:off x="3844800" y="619200"/>
            <a:ext cx="6289200" cy="0"/>
          </a:xfrm>
          <a:prstGeom prst="line">
            <a:avLst/>
          </a:prstGeom>
          <a:ln w="6350">
            <a:solidFill>
              <a:srgbClr val="C9D0DA"/>
            </a:solidFill>
          </a:ln>
        </p:spPr>
      </p:cxnSp>
      <p:cxnSp>
        <p:nvCxnSpPr>
          <p:cNvPr id="11" name="Connector 10"/>
          <p:cNvCxnSpPr/>
          <p:nvPr/>
        </p:nvCxnSpPr>
        <p:spPr>
          <a:xfrm>
            <a:off x="5941200" y="619200"/>
            <a:ext cx="752400" cy="0"/>
          </a:xfrm>
          <a:prstGeom prst="line">
            <a:avLst/>
          </a:prstGeom>
          <a:ln w="25400">
            <a:solidFill>
              <a:srgbClr val="0B3D91"/>
            </a:solidFill>
          </a:ln>
        </p:spPr>
      </p:cxnSp>
      <p:sp>
        <p:nvSpPr>
          <p:cNvPr id="12"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FFFFFF"/>
                </a:solidFill>
                <a:latin typeface="Noto Sans KR"/>
                <a:ea typeface="Noto Sans KR"/>
                <a:cs typeface="Noto Sans KR"/>
              </a:rPr>
              <a:t>Deneb · Polaris 투자 전략 설명서</a:t>
            </a:r>
          </a:p>
        </p:txBody>
      </p:sp>
      <p:sp>
        <p:nvSpPr>
          <p:cNvPr id="13"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24</a:t>
            </a:r>
          </a:p>
        </p:txBody>
      </p:sp>
      <p:sp>
        <p:nvSpPr>
          <p:cNvPr id="14" name="제목"/>
          <p:cNvSpPr txBox="1"/>
          <p:nvPr/>
        </p:nvSpPr>
        <p:spPr>
          <a:xfrm>
            <a:off x="558000" y="990000"/>
            <a:ext cx="2934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FFFFFF"/>
                </a:solidFill>
                <a:latin typeface="Malgun Gothic Semilight"/>
                <a:ea typeface="Malgun Gothic Semilight"/>
                <a:cs typeface="Malgun Gothic Semilight"/>
              </a:rPr>
              <a:t>Polaris의
채권과 금</a:t>
            </a:r>
          </a:p>
        </p:txBody>
      </p:sp>
      <p:sp>
        <p:nvSpPr>
          <p:cNvPr id="15" name="TextBox 14"/>
          <p:cNvSpPr txBox="1"/>
          <p:nvPr/>
        </p:nvSpPr>
        <p:spPr>
          <a:xfrm>
            <a:off x="558000" y="1925999"/>
            <a:ext cx="2897999" cy="864000"/>
          </a:xfrm>
          <a:prstGeom prst="rect">
            <a:avLst/>
          </a:prstGeom>
          <a:noFill/>
        </p:spPr>
        <p:txBody>
          <a:bodyPr wrap="square" lIns="0" rIns="0" tIns="0" bIns="0" anchor="t">
            <a:spAutoFit/>
          </a:bodyPr>
          <a:lstStyle/>
          <a:p>
            <a:pPr algn="l" eaLnBrk="0">
              <a:lnSpc>
                <a:spcPct val="132000"/>
              </a:lnSpc>
              <a:spcAft>
                <a:spcPts val="0"/>
              </a:spcAft>
            </a:pPr>
            <a:r>
              <a:rPr sz="1050" b="0" lang="ko-KR" altLang="en-US">
                <a:solidFill>
                  <a:srgbClr val="FFFFFF"/>
                </a:solidFill>
                <a:latin typeface="Noto Sans KR"/>
                <a:ea typeface="Noto Sans KR"/>
                <a:cs typeface="Noto Sans KR"/>
              </a:rPr>
              <a:t>미국 주식 60%에 미국 국채 20%와 금 20%를 섞어, 주식만 들고 있을 때보다 흔들림을 줄이려는 적립식 배분입니다.</a:t>
            </a:r>
          </a:p>
        </p:txBody>
      </p:sp>
      <p:graphicFrame>
        <p:nvGraphicFramePr>
          <p:cNvPr id="16" name="Polaris 구성"/>
          <p:cNvGraphicFramePr>
            <a:graphicFrameLocks noGrp="1"/>
          </p:cNvGraphicFramePr>
          <p:nvPr/>
        </p:nvGraphicFramePr>
        <p:xfrm>
          <a:off x="486000" y="2736000"/>
          <a:ext cx="1584000" cy="1584000"/>
        </p:xfrm>
        <a:graphic>
          <a:graphicData uri="http://schemas.openxmlformats.org/drawingml/2006/chart">
            <c:chart xmlns:c="http://schemas.openxmlformats.org/drawingml/2006/chart" r:id="rId2"/>
          </a:graphicData>
        </a:graphic>
      </p:graphicFrame>
      <p:sp>
        <p:nvSpPr>
          <p:cNvPr id="17" name="TextBox 16"/>
          <p:cNvSpPr txBox="1"/>
          <p:nvPr/>
        </p:nvSpPr>
        <p:spPr>
          <a:xfrm>
            <a:off x="2178000" y="2790000"/>
            <a:ext cx="1313999" cy="1548000"/>
          </a:xfrm>
          <a:prstGeom prst="rect">
            <a:avLst/>
          </a:prstGeom>
          <a:noFill/>
        </p:spPr>
        <p:txBody>
          <a:bodyPr wrap="square" lIns="0" rIns="0" tIns="0" bIns="0" anchor="t">
            <a:spAutoFit/>
          </a:bodyPr>
          <a:lstStyle/>
          <a:p>
            <a:pPr algn="l" eaLnBrk="0">
              <a:lnSpc>
                <a:spcPct val="115000"/>
              </a:lnSpc>
              <a:spcAft>
                <a:spcPts val="100"/>
              </a:spcAft>
            </a:pPr>
            <a:r>
              <a:rPr sz="850" b="1" lang="ko-KR" altLang="en-US">
                <a:solidFill>
                  <a:srgbClr val="FFFFFF"/>
                </a:solidFill>
                <a:latin typeface="Noto Sans KR"/>
                <a:ea typeface="Noto Sans KR"/>
                <a:cs typeface="Noto Sans KR"/>
              </a:rPr>
              <a:t>30%  SPYM</a:t>
            </a:r>
          </a:p>
          <a:p>
            <a:pPr algn="l" eaLnBrk="0">
              <a:lnSpc>
                <a:spcPct val="115000"/>
              </a:lnSpc>
              <a:spcAft>
                <a:spcPts val="100"/>
              </a:spcAft>
            </a:pPr>
            <a:r>
              <a:rPr sz="850" b="0" lang="ko-KR" altLang="en-US">
                <a:solidFill>
                  <a:srgbClr val="FFFFFF"/>
                </a:solidFill>
                <a:latin typeface="Noto Sans KR"/>
                <a:ea typeface="Noto Sans KR"/>
                <a:cs typeface="Noto Sans KR"/>
              </a:rPr>
              <a:t>S&amp;P500 미국 대형주 500곳</a:t>
            </a:r>
          </a:p>
          <a:p>
            <a:pPr algn="l" eaLnBrk="0">
              <a:lnSpc>
                <a:spcPct val="115000"/>
              </a:lnSpc>
              <a:spcAft>
                <a:spcPts val="100"/>
              </a:spcAft>
            </a:pPr>
            <a:r>
              <a:rPr sz="850" b="1" lang="ko-KR" altLang="en-US">
                <a:solidFill>
                  <a:srgbClr val="FFFFFF"/>
                </a:solidFill>
                <a:latin typeface="Noto Sans KR"/>
                <a:ea typeface="Noto Sans KR"/>
                <a:cs typeface="Noto Sans KR"/>
              </a:rPr>
              <a:t>30%  QQQM</a:t>
            </a:r>
          </a:p>
          <a:p>
            <a:pPr algn="l" eaLnBrk="0">
              <a:lnSpc>
                <a:spcPct val="115000"/>
              </a:lnSpc>
              <a:spcAft>
                <a:spcPts val="100"/>
              </a:spcAft>
            </a:pPr>
            <a:r>
              <a:rPr sz="850" b="0" lang="ko-KR" altLang="en-US">
                <a:solidFill>
                  <a:srgbClr val="FFFFFF"/>
                </a:solidFill>
                <a:latin typeface="Noto Sans KR"/>
                <a:ea typeface="Noto Sans KR"/>
                <a:cs typeface="Noto Sans KR"/>
              </a:rPr>
              <a:t>나스닥100 (QQQ와 같은 지수)</a:t>
            </a:r>
          </a:p>
          <a:p>
            <a:pPr algn="l" eaLnBrk="0">
              <a:lnSpc>
                <a:spcPct val="115000"/>
              </a:lnSpc>
              <a:spcAft>
                <a:spcPts val="100"/>
              </a:spcAft>
            </a:pPr>
            <a:r>
              <a:rPr sz="850" b="1" lang="ko-KR" altLang="en-US">
                <a:solidFill>
                  <a:srgbClr val="FFFFFF"/>
                </a:solidFill>
                <a:latin typeface="Noto Sans KR"/>
                <a:ea typeface="Noto Sans KR"/>
                <a:cs typeface="Noto Sans KR"/>
              </a:rPr>
              <a:t>20%  IEF</a:t>
            </a:r>
          </a:p>
          <a:p>
            <a:pPr algn="l" eaLnBrk="0">
              <a:lnSpc>
                <a:spcPct val="115000"/>
              </a:lnSpc>
              <a:spcAft>
                <a:spcPts val="100"/>
              </a:spcAft>
            </a:pPr>
            <a:r>
              <a:rPr sz="850" b="0" lang="ko-KR" altLang="en-US">
                <a:solidFill>
                  <a:srgbClr val="FFFFFF"/>
                </a:solidFill>
                <a:latin typeface="Noto Sans KR"/>
                <a:ea typeface="Noto Sans KR"/>
                <a:cs typeface="Noto Sans KR"/>
              </a:rPr>
              <a:t>미국 국채 7~10년</a:t>
            </a:r>
          </a:p>
          <a:p>
            <a:pPr algn="l" eaLnBrk="0">
              <a:lnSpc>
                <a:spcPct val="115000"/>
              </a:lnSpc>
              <a:spcAft>
                <a:spcPts val="100"/>
              </a:spcAft>
            </a:pPr>
            <a:r>
              <a:rPr sz="850" b="1" lang="ko-KR" altLang="en-US">
                <a:solidFill>
                  <a:srgbClr val="FFFFFF"/>
                </a:solidFill>
                <a:latin typeface="Noto Sans KR"/>
                <a:ea typeface="Noto Sans KR"/>
                <a:cs typeface="Noto Sans KR"/>
              </a:rPr>
              <a:t>20%  GLDM</a:t>
            </a:r>
          </a:p>
          <a:p>
            <a:pPr algn="l" eaLnBrk="0">
              <a:lnSpc>
                <a:spcPct val="115000"/>
              </a:lnSpc>
              <a:spcAft>
                <a:spcPts val="100"/>
              </a:spcAft>
            </a:pPr>
            <a:r>
              <a:rPr sz="850" b="0" lang="ko-KR" altLang="en-US">
                <a:solidFill>
                  <a:srgbClr val="FFFFFF"/>
                </a:solidFill>
                <a:latin typeface="Noto Sans KR"/>
                <a:ea typeface="Noto Sans KR"/>
                <a:cs typeface="Noto Sans KR"/>
              </a:rPr>
              <a:t>금</a:t>
            </a:r>
          </a:p>
        </p:txBody>
      </p:sp>
      <p:sp>
        <p:nvSpPr>
          <p:cNvPr id="18" name="TextBox 17"/>
          <p:cNvSpPr txBox="1"/>
          <p:nvPr/>
        </p:nvSpPr>
        <p:spPr>
          <a:xfrm>
            <a:off x="558000" y="4482000"/>
            <a:ext cx="2897999" cy="2520000"/>
          </a:xfrm>
          <a:prstGeom prst="rect">
            <a:avLst/>
          </a:prstGeom>
          <a:noFill/>
        </p:spPr>
        <p:txBody>
          <a:bodyPr wrap="square" lIns="0" rIns="0" tIns="0" bIns="0" anchor="t">
            <a:spAutoFit/>
          </a:bodyPr>
          <a:lstStyle/>
          <a:p>
            <a:pPr algn="l" eaLnBrk="0">
              <a:lnSpc>
                <a:spcPct val="132000"/>
              </a:lnSpc>
              <a:spcAft>
                <a:spcPts val="600"/>
              </a:spcAft>
            </a:pPr>
            <a:r>
              <a:rPr sz="900" b="1" lang="ko-KR" altLang="en-US">
                <a:solidFill>
                  <a:srgbClr val="FFFFFF"/>
                </a:solidFill>
                <a:latin typeface="Noto Sans KR"/>
                <a:ea typeface="Noto Sans KR"/>
                <a:cs typeface="Noto Sans KR"/>
              </a:rPr>
              <a:t>주식 60% 안의 겹침  </a:t>
            </a:r>
            <a:r>
              <a:rPr sz="900" b="0" lang="ko-KR" altLang="en-US">
                <a:solidFill>
                  <a:srgbClr val="DCE6F5"/>
                </a:solidFill>
                <a:latin typeface="Noto Sans KR"/>
                <a:ea typeface="Noto Sans KR"/>
                <a:cs typeface="Noto Sans KR"/>
              </a:rPr>
              <a:t>SPYM과 QQQM에는 애플 · 마이크로소프트 · 엔비디아 같은 대형 기술주가 함께 들어 있습니다. 그래서 주식 60%의 실제 기술주 비중은 30%보다 큽니다.</a:t>
            </a:r>
          </a:p>
          <a:p>
            <a:pPr algn="l" eaLnBrk="0">
              <a:lnSpc>
                <a:spcPct val="132000"/>
              </a:lnSpc>
              <a:spcAft>
                <a:spcPts val="600"/>
              </a:spcAft>
            </a:pPr>
            <a:r>
              <a:rPr sz="900" b="1" lang="ko-KR" altLang="en-US">
                <a:solidFill>
                  <a:srgbClr val="FFFFFF"/>
                </a:solidFill>
                <a:latin typeface="Noto Sans KR"/>
                <a:ea typeface="Noto Sans KR"/>
                <a:cs typeface="Noto Sans KR"/>
              </a:rPr>
              <a:t>왜 채권과 금인가  </a:t>
            </a:r>
            <a:r>
              <a:rPr sz="900" b="0" lang="ko-KR" altLang="en-US">
                <a:solidFill>
                  <a:srgbClr val="DCE6F5"/>
                </a:solidFill>
                <a:latin typeface="Noto Sans KR"/>
                <a:ea typeface="Noto Sans KR"/>
                <a:cs typeface="Noto Sans KR"/>
              </a:rPr>
              <a:t>2020년처럼 주식이 급락할 때 국채나 금이 덜 내리거나 오른 적이 많았습니다. 하지만 2022년처럼 주식과 국채가 함께 내린 해도 있어 항상 막아 주지는 않습니다.</a:t>
            </a:r>
          </a:p>
        </p:txBody>
      </p:sp>
      <p:cxnSp>
        <p:nvCxnSpPr>
          <p:cNvPr id="19" name="Connector 18"/>
          <p:cNvCxnSpPr/>
          <p:nvPr/>
        </p:nvCxnSpPr>
        <p:spPr>
          <a:xfrm>
            <a:off x="3844800" y="990000"/>
            <a:ext cx="6289200" cy="0"/>
          </a:xfrm>
          <a:prstGeom prst="line">
            <a:avLst/>
          </a:prstGeom>
          <a:ln w="9525">
            <a:solidFill>
              <a:srgbClr val="1A1E25"/>
            </a:solidFill>
          </a:ln>
        </p:spPr>
      </p:cxnSp>
      <p:sp>
        <p:nvSpPr>
          <p:cNvPr id="20" name="표지 막대"/>
          <p:cNvSpPr/>
          <p:nvPr/>
        </p:nvSpPr>
        <p:spPr>
          <a:xfrm>
            <a:off x="3844800" y="99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그림 제목"/>
          <p:cNvSpPr txBox="1"/>
          <p:nvPr/>
        </p:nvSpPr>
        <p:spPr>
          <a:xfrm>
            <a:off x="3844800" y="1090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상황별 관리 — 현재 프로그램에 있는 규칙만</a:t>
            </a:r>
          </a:p>
        </p:txBody>
      </p:sp>
      <p:sp>
        <p:nvSpPr>
          <p:cNvPr id="22" name="그림 설명"/>
          <p:cNvSpPr txBox="1"/>
          <p:nvPr/>
        </p:nvSpPr>
        <p:spPr>
          <a:xfrm>
            <a:off x="3844800" y="1278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실제 운영: 나무증권 원화 주문 · 정수 주 · 매달 버튼을 눌러야 그달 매수 · 12월 맞춤도 버튼 승인</a:t>
            </a:r>
          </a:p>
        </p:txBody>
      </p:sp>
      <p:graphicFrame>
        <p:nvGraphicFramePr>
          <p:cNvPr id="23" name="표"/>
          <p:cNvGraphicFramePr>
            <a:graphicFrameLocks noGrp="1"/>
          </p:cNvGraphicFramePr>
          <p:nvPr/>
        </p:nvGraphicFramePr>
        <p:xfrm>
          <a:off x="3844800" y="1458000"/>
          <a:ext cx="6289198" cy="1965600"/>
        </p:xfrm>
        <a:graphic>
          <a:graphicData uri="http://schemas.openxmlformats.org/drawingml/2006/table">
            <a:tbl>
              <a:tblPr firstRow="0" bandRow="0" firstCol="0" lastCol="0" bandCol="0" lastRow="0">
                <a:tableStyleId>{5940675A-B579-460E-94D1-54222C63F5DA}</a:tableStyleId>
              </a:tblPr>
              <a:tblGrid>
                <a:gridCol w="1188000"/>
                <a:gridCol w="1655999"/>
                <a:gridCol w="1800000"/>
                <a:gridCol w="1645199"/>
              </a:tblGrid>
              <a:tr h="2808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상황</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정해진 규칙</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실제로 하는 일</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주의할 점</a:t>
                      </a:r>
                      <a:endParaRPr sz="800"/>
                    </a:p>
                  </a:txBody>
                  <a:tcPr marL="28800" marR="43200" marT="25200" marB="25200" anchor="b">
                    <a:lnL w="0">
                      <a:noFill/>
                    </a:lnL>
                    <a:lnR w="0">
                      <a:noFill/>
                    </a:lnR>
                    <a:lnT w="9525">
                      <a:solidFill>
                        <a:srgbClr val="1A1E25"/>
                      </a:solidFill>
                    </a:lnT>
                    <a:lnB w="9525">
                      <a:solidFill>
                        <a:srgbClr val="1A1E25"/>
                      </a:solidFill>
                    </a:lnB>
                    <a:noFill/>
                  </a:tcPr>
                </a:tc>
              </a:tr>
              <a:tr h="280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매달 새 돈이 들어올 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목표 비율보다 모자란 종목부터 산다 (사기만)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주식이 올라 비중이 커졌으면 그달 돈은 채권 · 금 쪽으로 간다</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팔지 않으므로 비율이 한쪽으로 쏠릴 수 있다</a:t>
                      </a:r>
                      <a:endParaRPr sz="850"/>
                    </a:p>
                  </a:txBody>
                  <a:tcPr marL="28800" marR="43200" marT="25200" marB="25200" anchor="ctr">
                    <a:lnL w="0">
                      <a:noFill/>
                    </a:lnL>
                    <a:lnR w="0">
                      <a:noFill/>
                    </a:lnR>
                    <a:lnT w="0">
                      <a:noFill/>
                    </a:lnT>
                    <a:lnB w="6350">
                      <a:solidFill>
                        <a:srgbClr val="C9D0DA"/>
                      </a:solidFill>
                    </a:lnB>
                    <a:noFill/>
                  </a:tcPr>
                </a:tc>
              </a:tr>
              <a:tr h="280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매년 12월 첫 평일</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목표보다 1주 넘게 많은 종목을 팔고 모자란 종목을 산다</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많이 오른 자산 일부를 팔아 덜 오른 자산을 산다</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판 값이 평균 단가보다 낮으면 손실을 확정하는 매도다</a:t>
                      </a:r>
                      <a:endParaRPr sz="850"/>
                    </a:p>
                  </a:txBody>
                  <a:tcPr marL="28800" marR="43200" marT="25200" marB="25200" anchor="ctr">
                    <a:lnL w="0">
                      <a:noFill/>
                    </a:lnL>
                    <a:lnR w="0">
                      <a:noFill/>
                    </a:lnR>
                    <a:lnT w="0">
                      <a:noFill/>
                    </a:lnT>
                    <a:lnB w="6350">
                      <a:solidFill>
                        <a:srgbClr val="C9D0DA"/>
                      </a:solidFill>
                    </a:lnB>
                    <a:noFill/>
                  </a:tcPr>
                </a:tc>
              </a:tr>
              <a:tr h="280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채권 · 금이 크게 올랐을 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별도 익절 규칙 없음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12월 맞춤 때 넘친 몫만 판다</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‘오르면 바로 판다’가 아니다</a:t>
                      </a:r>
                      <a:endParaRPr sz="850"/>
                    </a:p>
                  </a:txBody>
                  <a:tcPr marL="28800" marR="43200" marT="25200" marB="25200" anchor="ctr">
                    <a:lnL w="0">
                      <a:noFill/>
                    </a:lnL>
                    <a:lnR w="0">
                      <a:noFill/>
                    </a:lnR>
                    <a:lnT w="0">
                      <a:noFill/>
                    </a:lnT>
                    <a:lnB w="6350">
                      <a:solidFill>
                        <a:srgbClr val="C9D0DA"/>
                      </a:solidFill>
                    </a:lnB>
                    <a:noFill/>
                  </a:tcPr>
                </a:tc>
              </a:tr>
              <a:tr h="280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채권 · 금이 내렸을 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별도 손절 규칙 없음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비중이 모자라면 새 돈과 12월 맞춤으로 더 산다</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주식 · 채권이 같이 내릴 수 있다 (2022년)</a:t>
                      </a:r>
                      <a:endParaRPr sz="850"/>
                    </a:p>
                  </a:txBody>
                  <a:tcPr marL="28800" marR="43200" marT="25200" marB="25200" anchor="ctr">
                    <a:lnL w="0">
                      <a:noFill/>
                    </a:lnL>
                    <a:lnR w="0">
                      <a:noFill/>
                    </a:lnR>
                    <a:lnT w="0">
                      <a:noFill/>
                    </a:lnT>
                    <a:lnB w="6350">
                      <a:solidFill>
                        <a:srgbClr val="C9D0DA"/>
                      </a:solidFill>
                    </a:lnB>
                    <a:noFill/>
                  </a:tcPr>
                </a:tc>
              </a:tr>
              <a:tr h="280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주식이 폭락했을 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별도 규칙 없음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채권 · 금 비중이 커지면 12월에 그 몫을 팔아 주식을 산다</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12월 전에는 새 돈으로만 주식을 채운다</a:t>
                      </a:r>
                      <a:endParaRPr sz="850"/>
                    </a:p>
                  </a:txBody>
                  <a:tcPr marL="28800" marR="43200" marT="25200" marB="25200" anchor="ctr">
                    <a:lnL w="0">
                      <a:noFill/>
                    </a:lnL>
                    <a:lnR w="0">
                      <a:noFill/>
                    </a:lnR>
                    <a:lnT w="0">
                      <a:noFill/>
                    </a:lnT>
                    <a:lnB w="6350">
                      <a:solidFill>
                        <a:srgbClr val="C9D0DA"/>
                      </a:solidFill>
                    </a:lnB>
                    <a:noFill/>
                  </a:tcPr>
                </a:tc>
              </a:tr>
              <a:tr h="2808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채권 분배금</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전용 규칙 없음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계좌에 달러 현금으로 들어온다</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계산은 재투자로 가정해 실제와 차이가 난다</a:t>
                      </a:r>
                      <a:endParaRPr sz="85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4" name="Connector 23"/>
          <p:cNvCxnSpPr/>
          <p:nvPr/>
        </p:nvCxnSpPr>
        <p:spPr>
          <a:xfrm>
            <a:off x="3844800" y="1458000"/>
            <a:ext cx="6289200" cy="0"/>
          </a:xfrm>
          <a:prstGeom prst="line">
            <a:avLst/>
          </a:prstGeom>
          <a:ln w="25400">
            <a:solidFill>
              <a:srgbClr val="1A1E25"/>
            </a:solidFill>
          </a:ln>
        </p:spPr>
      </p:cxnSp>
      <p:cxnSp>
        <p:nvCxnSpPr>
          <p:cNvPr id="25" name="Connector 24"/>
          <p:cNvCxnSpPr/>
          <p:nvPr/>
        </p:nvCxnSpPr>
        <p:spPr>
          <a:xfrm>
            <a:off x="3844800" y="4014000"/>
            <a:ext cx="3006000" cy="0"/>
          </a:xfrm>
          <a:prstGeom prst="line">
            <a:avLst/>
          </a:prstGeom>
          <a:ln w="9525">
            <a:solidFill>
              <a:srgbClr val="1A1E25"/>
            </a:solidFill>
          </a:ln>
        </p:spPr>
      </p:cxnSp>
      <p:sp>
        <p:nvSpPr>
          <p:cNvPr id="26" name="표지 막대"/>
          <p:cNvSpPr/>
          <p:nvPr/>
        </p:nvSpPr>
        <p:spPr>
          <a:xfrm>
            <a:off x="3844800" y="4014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그림 제목"/>
          <p:cNvSpPr txBox="1"/>
          <p:nvPr/>
        </p:nvSpPr>
        <p:spPr>
          <a:xfrm>
            <a:off x="3844800" y="4114800"/>
            <a:ext cx="300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자산별 연간 수익률 — 네 해 골라 보기</a:t>
            </a:r>
          </a:p>
        </p:txBody>
      </p:sp>
      <p:sp>
        <p:nvSpPr>
          <p:cNvPr id="28" name="그림 설명"/>
          <p:cNvSpPr txBox="1"/>
          <p:nvPr/>
        </p:nvSpPr>
        <p:spPr>
          <a:xfrm>
            <a:off x="3844800" y="4302000"/>
            <a:ext cx="300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실제 ETF 수정 종가 · 금은 GLD, 국채는 IEF · 달러 기준</a:t>
            </a:r>
          </a:p>
        </p:txBody>
      </p:sp>
      <p:graphicFrame>
        <p:nvGraphicFramePr>
          <p:cNvPr id="29" name="연간 수익률"/>
          <p:cNvGraphicFramePr>
            <a:graphicFrameLocks noGrp="1"/>
          </p:cNvGraphicFramePr>
          <p:nvPr/>
        </p:nvGraphicFramePr>
        <p:xfrm>
          <a:off x="3844800" y="4482000"/>
          <a:ext cx="3006000" cy="2412000"/>
        </p:xfrm>
        <a:graphic>
          <a:graphicData uri="http://schemas.openxmlformats.org/drawingml/2006/chart">
            <c:chart xmlns:c="http://schemas.openxmlformats.org/drawingml/2006/chart" r:id="rId3"/>
          </a:graphicData>
        </a:graphic>
      </p:graphicFrame>
      <p:cxnSp>
        <p:nvCxnSpPr>
          <p:cNvPr id="30" name="Connector 29"/>
          <p:cNvCxnSpPr/>
          <p:nvPr/>
        </p:nvCxnSpPr>
        <p:spPr>
          <a:xfrm>
            <a:off x="7128000" y="4014000"/>
            <a:ext cx="3006000" cy="0"/>
          </a:xfrm>
          <a:prstGeom prst="line">
            <a:avLst/>
          </a:prstGeom>
          <a:ln w="7620">
            <a:solidFill>
              <a:srgbClr val="1A1E25"/>
            </a:solidFill>
          </a:ln>
        </p:spPr>
      </p:cxnSp>
      <p:sp>
        <p:nvSpPr>
          <p:cNvPr id="31" name="TextBox 30"/>
          <p:cNvSpPr txBox="1"/>
          <p:nvPr/>
        </p:nvSpPr>
        <p:spPr>
          <a:xfrm>
            <a:off x="7128000" y="4078800"/>
            <a:ext cx="3006000" cy="180000"/>
          </a:xfrm>
          <a:prstGeom prst="rect">
            <a:avLst/>
          </a:prstGeom>
          <a:noFill/>
        </p:spPr>
        <p:txBody>
          <a:bodyPr wrap="square" lIns="0" rIns="0" tIns="0" bIns="0" anchor="t">
            <a:spAutoFit/>
          </a:bodyPr>
          <a:lstStyle/>
          <a:p>
            <a:pPr algn="l" eaLnBrk="0">
              <a:lnSpc>
                <a:spcPct val="100000"/>
              </a:lnSpc>
              <a:spcAft>
                <a:spcPts val="0"/>
              </a:spcAft>
            </a:pPr>
            <a:r>
              <a:rPr sz="950" b="1" lang="ko-KR" altLang="en-US">
                <a:solidFill>
                  <a:srgbClr val="1A1E25"/>
                </a:solidFill>
                <a:latin typeface="Noto Sans KR"/>
                <a:ea typeface="Noto Sans KR"/>
                <a:cs typeface="Noto Sans KR"/>
              </a:rPr>
              <a:t>14년 8개월 적립 후 · 월 10만 원</a:t>
            </a:r>
          </a:p>
        </p:txBody>
      </p:sp>
      <p:sp>
        <p:nvSpPr>
          <p:cNvPr id="32" name="TextBox 31"/>
          <p:cNvSpPr txBox="1"/>
          <p:nvPr/>
        </p:nvSpPr>
        <p:spPr>
          <a:xfrm>
            <a:off x="7128000" y="4258800"/>
            <a:ext cx="3006000" cy="180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QQQ 단독 적립과 비교 · 2012-01 ~ 2026-08 · 원금 1,760만 원 · 세전</a:t>
            </a:r>
          </a:p>
        </p:txBody>
      </p:sp>
      <p:graphicFrame>
        <p:nvGraphicFramePr>
          <p:cNvPr id="33" name="표"/>
          <p:cNvGraphicFramePr>
            <a:graphicFrameLocks noGrp="1"/>
          </p:cNvGraphicFramePr>
          <p:nvPr/>
        </p:nvGraphicFramePr>
        <p:xfrm>
          <a:off x="7128000" y="4500000"/>
          <a:ext cx="3006000" cy="990000"/>
        </p:xfrm>
        <a:graphic>
          <a:graphicData uri="http://schemas.openxmlformats.org/drawingml/2006/table">
            <a:tbl>
              <a:tblPr firstRow="0" bandRow="0" firstCol="0" lastCol="0" bandCol="0" lastRow="0">
                <a:tableStyleId>{5940675A-B579-460E-94D1-54222C63F5DA}</a:tableStyleId>
              </a:tblPr>
              <a:tblGrid>
                <a:gridCol w="846000"/>
                <a:gridCol w="720000"/>
                <a:gridCol w="720000"/>
                <a:gridCol w="720000"/>
              </a:tblGrid>
              <a:tr h="1980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Polaris</a:t>
                      </a:r>
                      <a:endParaRPr sz="800"/>
                    </a:p>
                  </a:txBody>
                  <a:tcPr marL="28800" marR="43200" marT="25200" marB="25200" anchor="b">
                    <a:lnL w="0">
                      <a:noFill/>
                    </a:lnL>
                    <a:lnR w="0">
                      <a:noFill/>
                    </a:lnR>
                    <a:lnT w="9525">
                      <a:solidFill>
                        <a:srgbClr val="1A1E25"/>
                      </a:solidFill>
                    </a:lnT>
                    <a:lnB w="9525">
                      <a:solidFill>
                        <a:srgbClr val="1A1E25"/>
                      </a:solidFill>
                    </a:lnB>
                    <a:solidFill>
                      <a:srgbClr val="EDF1F7"/>
                    </a:solid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QQQ 단독</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S&amp;P500 단독</a:t>
                      </a:r>
                      <a:endParaRPr sz="800"/>
                    </a:p>
                  </a:txBody>
                  <a:tcPr marL="28800" marR="43200" marT="25200" marB="25200" anchor="b">
                    <a:lnL w="0">
                      <a:noFill/>
                    </a:lnL>
                    <a:lnR w="0">
                      <a:noFill/>
                    </a:lnR>
                    <a:lnT w="9525">
                      <a:solidFill>
                        <a:srgbClr val="1A1E25"/>
                      </a:solidFill>
                    </a:lnT>
                    <a:lnB w="9525">
                      <a:solidFill>
                        <a:srgbClr val="1A1E25"/>
                      </a:solidFill>
                    </a:lnB>
                    <a:noFill/>
                  </a:tcPr>
                </a:tc>
              </a:tr>
              <a:tr h="198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최종 평가액</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5,077만</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8,805만</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5,810만</a:t>
                      </a:r>
                      <a:endParaRPr sz="850"/>
                    </a:p>
                  </a:txBody>
                  <a:tcPr marL="28800" marR="43200" marT="25200" marB="25200" anchor="ctr">
                    <a:lnL w="0">
                      <a:noFill/>
                    </a:lnL>
                    <a:lnR w="0">
                      <a:noFill/>
                    </a:lnR>
                    <a:lnT w="0">
                      <a:noFill/>
                    </a:lnT>
                    <a:lnB w="6350">
                      <a:solidFill>
                        <a:srgbClr val="C9D0DA"/>
                      </a:solidFill>
                    </a:lnB>
                    <a:noFill/>
                  </a:tcPr>
                </a:tc>
              </a:tr>
              <a:tr h="198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연복리</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12.3%</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19.8%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14.9%</a:t>
                      </a:r>
                      <a:endParaRPr sz="850"/>
                    </a:p>
                  </a:txBody>
                  <a:tcPr marL="28800" marR="43200" marT="25200" marB="25200" anchor="ctr">
                    <a:lnL w="0">
                      <a:noFill/>
                    </a:lnL>
                    <a:lnR w="0">
                      <a:noFill/>
                    </a:lnR>
                    <a:lnT w="0">
                      <a:noFill/>
                    </a:lnT>
                    <a:lnB w="6350">
                      <a:solidFill>
                        <a:srgbClr val="C9D0DA"/>
                      </a:solidFill>
                    </a:lnB>
                    <a:noFill/>
                  </a:tcPr>
                </a:tc>
              </a:tr>
              <a:tr h="198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최대 낙폭</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−23.4%</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−35.1%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−33.7%</a:t>
                      </a:r>
                      <a:endParaRPr sz="850"/>
                    </a:p>
                  </a:txBody>
                  <a:tcPr marL="28800" marR="43200" marT="25200" marB="25200" anchor="ctr">
                    <a:lnL w="0">
                      <a:noFill/>
                    </a:lnL>
                    <a:lnR w="0">
                      <a:noFill/>
                    </a:lnR>
                    <a:lnT w="0">
                      <a:noFill/>
                    </a:lnT>
                    <a:lnB w="6350">
                      <a:solidFill>
                        <a:srgbClr val="C9D0DA"/>
                      </a:solidFill>
                    </a:lnB>
                    <a:noFill/>
                  </a:tcPr>
                </a:tc>
              </a:tr>
              <a:tr h="1980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회복 기간</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24개월</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24개월</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6개월</a:t>
                      </a:r>
                      <a:endParaRPr sz="850"/>
                    </a:p>
                  </a:txBody>
                  <a:tcPr marL="28800" marR="43200" marT="25200" marB="25200" anchor="ctr">
                    <a:lnL w="0">
                      <a:noFill/>
                    </a:lnL>
                    <a:lnR w="0">
                      <a:noFill/>
                    </a:lnR>
                    <a:lnT w="0">
                      <a:noFill/>
                    </a:lnT>
                    <a:lnB w="6350">
                      <a:solidFill>
                        <a:srgbClr val="C9D0DA"/>
                      </a:solidFill>
                    </a:lnB>
                    <a:noFill/>
                  </a:tcPr>
                </a:tc>
              </a:tr>
            </a:tbl>
          </a:graphicData>
        </a:graphic>
      </p:graphicFrame>
      <p:cxnSp>
        <p:nvCxnSpPr>
          <p:cNvPr id="34" name="Connector 33"/>
          <p:cNvCxnSpPr/>
          <p:nvPr/>
        </p:nvCxnSpPr>
        <p:spPr>
          <a:xfrm>
            <a:off x="7128000" y="4500000"/>
            <a:ext cx="3006000" cy="0"/>
          </a:xfrm>
          <a:prstGeom prst="line">
            <a:avLst/>
          </a:prstGeom>
          <a:ln w="25400">
            <a:solidFill>
              <a:srgbClr val="1A1E25"/>
            </a:solidFill>
          </a:ln>
        </p:spPr>
      </p:cxnSp>
      <p:sp>
        <p:nvSpPr>
          <p:cNvPr id="35" name="TextBox 34"/>
          <p:cNvSpPr txBox="1"/>
          <p:nvPr/>
        </p:nvSpPr>
        <p:spPr>
          <a:xfrm>
            <a:off x="7128000" y="5724000"/>
            <a:ext cx="3006000" cy="1296000"/>
          </a:xfrm>
          <a:prstGeom prst="rect">
            <a:avLst/>
          </a:prstGeom>
          <a:noFill/>
        </p:spPr>
        <p:txBody>
          <a:bodyPr wrap="square" lIns="0" rIns="0" tIns="0" bIns="0" anchor="t">
            <a:spAutoFit/>
          </a:bodyPr>
          <a:lstStyle/>
          <a:p>
            <a:pPr algn="l" eaLnBrk="0">
              <a:lnSpc>
                <a:spcPct val="132000"/>
              </a:lnSpc>
              <a:spcAft>
                <a:spcPts val="500"/>
              </a:spcAft>
            </a:pPr>
            <a:r>
              <a:rPr sz="850" b="0" lang="ko-KR" altLang="en-US">
                <a:solidFill>
                  <a:srgbClr val="1A1E25"/>
                </a:solidFill>
                <a:latin typeface="Noto Sans KR"/>
                <a:ea typeface="Noto Sans KR"/>
                <a:cs typeface="Noto Sans KR"/>
              </a:rPr>
              <a:t>낙폭은 −35.1% → −23.4%로 줄었지만, 끝 금액은 QQQ 단독 적립보다 3,728만 원 적었습니다. 2022년 하락에서 다시 고점을 넘기까지는 QQQ와 같은 24개월이 걸렸습니다.</a:t>
            </a:r>
          </a:p>
          <a:p>
            <a:pPr algn="l" eaLnBrk="0">
              <a:lnSpc>
                <a:spcPct val="132000"/>
              </a:lnSpc>
              <a:spcAft>
                <a:spcPts val="500"/>
              </a:spcAft>
            </a:pPr>
            <a:r>
              <a:rPr sz="850" b="1" lang="ko-KR" altLang="en-US">
                <a:solidFill>
                  <a:srgbClr val="1A1E25"/>
                </a:solidFill>
                <a:latin typeface="Noto Sans KR"/>
                <a:ea typeface="Noto Sans KR"/>
                <a:cs typeface="Noto Sans KR"/>
              </a:rPr>
              <a:t>12월 맞춤 예: </a:t>
            </a:r>
            <a:r>
              <a:rPr sz="850" b="0" lang="ko-KR" altLang="en-US">
                <a:solidFill>
                  <a:srgbClr val="1A1E25"/>
                </a:solidFill>
                <a:latin typeface="Noto Sans KR"/>
                <a:ea typeface="Noto Sans KR"/>
                <a:cs typeface="Noto Sans KR"/>
              </a:rPr>
              <a:t>계좌 1,000만 원이 주식 680만 · 국채 160만 · 금 160만이면 목표는 600 · 200 · 200만 원입니다. 주식 80만 원어치를 팔아 국채와 금을 40만 원어치씩 삽니다.</a:t>
            </a:r>
          </a:p>
        </p:txBody>
      </p:sp>
      <p:sp>
        <p:nvSpPr>
          <p:cNvPr id="36"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9FC0EC"/>
                </a:solidFill>
                <a:latin typeface="Noto Sans KR"/>
                <a:ea typeface="Noto Sans KR"/>
                <a:cs typeface="Noto Sans KR"/>
              </a:rPr>
              <a:t>9장 · 채권과 금 관리</a:t>
            </a:r>
          </a:p>
        </p:txBody>
      </p:sp>
      <p:sp>
        <p:nvSpPr>
          <p:cNvPr id="37" name="출처"/>
          <p:cNvSpPr txBox="1"/>
          <p:nvPr/>
        </p:nvSpPr>
        <p:spPr>
          <a:xfrm>
            <a:off x="3844800" y="6955200"/>
            <a:ext cx="62892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src/auto_trading/ops/polaris.py (plan_buys · plan_rebalance) · run_namu_core_compare.run_policy YEAR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5941200" y="619200"/>
            <a:ext cx="7524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25</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9장 · 채권과 금 관리</a:t>
            </a:r>
          </a:p>
        </p:txBody>
      </p:sp>
      <p:sp>
        <p:nvSpPr>
          <p:cNvPr id="14"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비중 변화와
12월 맞춤</a:t>
            </a:r>
          </a:p>
        </p:txBody>
      </p:sp>
      <p:sp>
        <p:nvSpPr>
          <p:cNvPr id="15" name="TextBox 14"/>
          <p:cNvSpPr txBox="1"/>
          <p:nvPr/>
        </p:nvSpPr>
        <p:spPr>
          <a:xfrm>
            <a:off x="558000" y="1944000"/>
            <a:ext cx="3006000" cy="2340000"/>
          </a:xfrm>
          <a:prstGeom prst="rect">
            <a:avLst/>
          </a:prstGeom>
          <a:noFill/>
        </p:spPr>
        <p:txBody>
          <a:bodyPr wrap="square" lIns="0" rIns="0" tIns="0" bIns="0" anchor="t">
            <a:spAutoFit/>
          </a:bodyPr>
          <a:lstStyle/>
          <a:p>
            <a:pPr algn="l" eaLnBrk="0">
              <a:lnSpc>
                <a:spcPct val="132000"/>
              </a:lnSpc>
              <a:spcAft>
                <a:spcPts val="700"/>
              </a:spcAft>
            </a:pPr>
            <a:r>
              <a:rPr sz="950" b="0" lang="ko-KR" altLang="en-US">
                <a:solidFill>
                  <a:srgbClr val="1A1E25"/>
                </a:solidFill>
                <a:latin typeface="Noto Sans KR"/>
                <a:ea typeface="Noto Sans KR"/>
                <a:cs typeface="Noto Sans KR"/>
              </a:rPr>
              <a:t>매달 새 돈으로 모자란 종목을 사기 때문에, 계속 넣는 동안에는 비율이 크게 쏠리지 않았습니다. 12월 맞춤 없이 사기만 해도 주식 비중은 55% ~ 67% 사이였습니다(2012~2026, 달말).</a:t>
            </a:r>
          </a:p>
          <a:p>
            <a:pPr algn="l" eaLnBrk="0">
              <a:lnSpc>
                <a:spcPct val="132000"/>
              </a:lnSpc>
              <a:spcAft>
                <a:spcPts val="700"/>
              </a:spcAft>
            </a:pPr>
            <a:r>
              <a:rPr sz="950" b="0" lang="ko-KR" altLang="en-US">
                <a:solidFill>
                  <a:srgbClr val="1A1E25"/>
                </a:solidFill>
                <a:latin typeface="Noto Sans KR"/>
                <a:ea typeface="Noto Sans KR"/>
                <a:cs typeface="Noto Sans KR"/>
              </a:rPr>
              <a:t>넣는 돈에 비해 계좌가 커지면 새 돈의 힘이 약해져 쏠림이 커집니다. 앞선 연구에서 4회만 넣고 사기만 했을 때 주식이 82~90%까지 쏠렸습니다. 12월 맞춤은 그때를 위한 장치입니다.</a:t>
            </a:r>
          </a:p>
        </p:txBody>
      </p:sp>
      <p:cxnSp>
        <p:nvCxnSpPr>
          <p:cNvPr id="16" name="Connector 15"/>
          <p:cNvCxnSpPr/>
          <p:nvPr/>
        </p:nvCxnSpPr>
        <p:spPr>
          <a:xfrm>
            <a:off x="558000" y="4320000"/>
            <a:ext cx="3006000" cy="0"/>
          </a:xfrm>
          <a:prstGeom prst="line">
            <a:avLst/>
          </a:prstGeom>
          <a:ln w="9525">
            <a:solidFill>
              <a:srgbClr val="1A1E25"/>
            </a:solidFill>
          </a:ln>
        </p:spPr>
      </p:cxnSp>
      <p:sp>
        <p:nvSpPr>
          <p:cNvPr id="17" name="표지 막대"/>
          <p:cNvSpPr/>
          <p:nvPr/>
        </p:nvSpPr>
        <p:spPr>
          <a:xfrm>
            <a:off x="558000" y="432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그림 제목"/>
          <p:cNvSpPr txBox="1"/>
          <p:nvPr/>
        </p:nvSpPr>
        <p:spPr>
          <a:xfrm>
            <a:off x="558000" y="4420800"/>
            <a:ext cx="300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12월 맞춤 예 · 계좌 1,000만 원</a:t>
            </a:r>
          </a:p>
        </p:txBody>
      </p:sp>
      <p:sp>
        <p:nvSpPr>
          <p:cNvPr id="19" name="그림 설명"/>
          <p:cNvSpPr txBox="1"/>
          <p:nvPr/>
        </p:nvSpPr>
        <p:spPr>
          <a:xfrm>
            <a:off x="558000" y="4608000"/>
            <a:ext cx="300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주식이 올라 68%가 된 경우 · 세전 · 비용 전 · 만 원</a:t>
            </a:r>
          </a:p>
        </p:txBody>
      </p:sp>
      <p:graphicFrame>
        <p:nvGraphicFramePr>
          <p:cNvPr id="20" name="12월 맞춤 예"/>
          <p:cNvGraphicFramePr>
            <a:graphicFrameLocks noGrp="1"/>
          </p:cNvGraphicFramePr>
          <p:nvPr/>
        </p:nvGraphicFramePr>
        <p:xfrm>
          <a:off x="558000" y="4752000"/>
          <a:ext cx="3006000" cy="2124000"/>
        </p:xfrm>
        <a:graphic>
          <a:graphicData uri="http://schemas.openxmlformats.org/drawingml/2006/chart">
            <c:chart xmlns:c="http://schemas.openxmlformats.org/drawingml/2006/chart" r:id="rId2"/>
          </a:graphicData>
        </a:graphic>
      </p:graphicFrame>
      <p:cxnSp>
        <p:nvCxnSpPr>
          <p:cNvPr id="21" name="Connector 20"/>
          <p:cNvCxnSpPr/>
          <p:nvPr/>
        </p:nvCxnSpPr>
        <p:spPr>
          <a:xfrm>
            <a:off x="3844800" y="990000"/>
            <a:ext cx="6289200" cy="0"/>
          </a:xfrm>
          <a:prstGeom prst="line">
            <a:avLst/>
          </a:prstGeom>
          <a:ln w="9525">
            <a:solidFill>
              <a:srgbClr val="1A1E25"/>
            </a:solidFill>
          </a:ln>
        </p:spPr>
      </p:cxnSp>
      <p:sp>
        <p:nvSpPr>
          <p:cNvPr id="22" name="표지 막대"/>
          <p:cNvSpPr/>
          <p:nvPr/>
        </p:nvSpPr>
        <p:spPr>
          <a:xfrm>
            <a:off x="3844800" y="99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그림 제목"/>
          <p:cNvSpPr txBox="1"/>
          <p:nvPr/>
        </p:nvSpPr>
        <p:spPr>
          <a:xfrm>
            <a:off x="3844800" y="1090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주식(SPY + QQQ) 비중 · 달말</a:t>
            </a:r>
          </a:p>
        </p:txBody>
      </p:sp>
      <p:sp>
        <p:nvSpPr>
          <p:cNvPr id="24" name="그림 설명"/>
          <p:cNvSpPr txBox="1"/>
          <p:nvPr/>
        </p:nvSpPr>
        <p:spPr>
          <a:xfrm>
            <a:off x="3844800" y="1278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2012~2026 · 월 10만 원 · 12월 맞춤(지금 규칙)과 사기만 비교 · 목표 60%</a:t>
            </a:r>
          </a:p>
        </p:txBody>
      </p:sp>
      <p:graphicFrame>
        <p:nvGraphicFramePr>
          <p:cNvPr id="25" name="주식 비중"/>
          <p:cNvGraphicFramePr>
            <a:graphicFrameLocks noGrp="1"/>
          </p:cNvGraphicFramePr>
          <p:nvPr/>
        </p:nvGraphicFramePr>
        <p:xfrm>
          <a:off x="3844800" y="1440000"/>
          <a:ext cx="6289200" cy="2592000"/>
        </p:xfrm>
        <a:graphic>
          <a:graphicData uri="http://schemas.openxmlformats.org/drawingml/2006/chart">
            <c:chart xmlns:c="http://schemas.openxmlformats.org/drawingml/2006/chart" r:id="rId3"/>
          </a:graphicData>
        </a:graphic>
      </p:graphicFrame>
      <p:cxnSp>
        <p:nvCxnSpPr>
          <p:cNvPr id="26" name="Connector 25"/>
          <p:cNvCxnSpPr/>
          <p:nvPr/>
        </p:nvCxnSpPr>
        <p:spPr>
          <a:xfrm>
            <a:off x="3844800" y="4176000"/>
            <a:ext cx="324000" cy="0"/>
          </a:xfrm>
          <a:prstGeom prst="line">
            <a:avLst/>
          </a:prstGeom>
          <a:ln w="28575">
            <a:solidFill>
              <a:srgbClr val="1E9A84"/>
            </a:solidFill>
          </a:ln>
        </p:spPr>
      </p:cxnSp>
      <p:sp>
        <p:nvSpPr>
          <p:cNvPr id="27" name="TextBox 26"/>
          <p:cNvSpPr txBox="1"/>
          <p:nvPr/>
        </p:nvSpPr>
        <p:spPr>
          <a:xfrm>
            <a:off x="4222800" y="4086000"/>
            <a:ext cx="162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12월 맞춤</a:t>
            </a:r>
          </a:p>
        </p:txBody>
      </p:sp>
      <p:cxnSp>
        <p:nvCxnSpPr>
          <p:cNvPr id="28" name="Connector 27"/>
          <p:cNvCxnSpPr/>
          <p:nvPr/>
        </p:nvCxnSpPr>
        <p:spPr>
          <a:xfrm>
            <a:off x="5068800" y="4176000"/>
            <a:ext cx="324000" cy="0"/>
          </a:xfrm>
          <a:prstGeom prst="line">
            <a:avLst/>
          </a:prstGeom>
          <a:ln w="22225">
            <a:solidFill>
              <a:srgbClr val="E07A1F"/>
            </a:solidFill>
            <a:prstDash val="dash"/>
          </a:ln>
        </p:spPr>
      </p:cxnSp>
      <p:sp>
        <p:nvSpPr>
          <p:cNvPr id="29" name="TextBox 28"/>
          <p:cNvSpPr txBox="1"/>
          <p:nvPr/>
        </p:nvSpPr>
        <p:spPr>
          <a:xfrm>
            <a:off x="5446800" y="4086000"/>
            <a:ext cx="162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사기만</a:t>
            </a:r>
          </a:p>
        </p:txBody>
      </p:sp>
      <p:cxnSp>
        <p:nvCxnSpPr>
          <p:cNvPr id="30" name="Connector 29"/>
          <p:cNvCxnSpPr/>
          <p:nvPr/>
        </p:nvCxnSpPr>
        <p:spPr>
          <a:xfrm>
            <a:off x="6022800" y="4176000"/>
            <a:ext cx="324000" cy="0"/>
          </a:xfrm>
          <a:prstGeom prst="line">
            <a:avLst/>
          </a:prstGeom>
          <a:ln w="12700">
            <a:solidFill>
              <a:srgbClr val="1A1E25"/>
            </a:solidFill>
            <a:prstDash val="sysDash"/>
          </a:ln>
        </p:spPr>
      </p:cxnSp>
      <p:sp>
        <p:nvSpPr>
          <p:cNvPr id="31" name="TextBox 30"/>
          <p:cNvSpPr txBox="1"/>
          <p:nvPr/>
        </p:nvSpPr>
        <p:spPr>
          <a:xfrm>
            <a:off x="6400800" y="4086000"/>
            <a:ext cx="1620000" cy="180000"/>
          </a:xfrm>
          <a:prstGeom prst="rect">
            <a:avLst/>
          </a:prstGeom>
          <a:noFill/>
        </p:spPr>
        <p:txBody>
          <a:bodyPr wrap="square" lIns="0" rIns="0" tIns="0" bIns="0" anchor="t">
            <a:spAutoFit/>
          </a:bodyPr>
          <a:lstStyle/>
          <a:p>
            <a:pPr algn="l" eaLnBrk="0">
              <a:lnSpc>
                <a:spcPct val="100000"/>
              </a:lnSpc>
              <a:spcAft>
                <a:spcPts val="0"/>
              </a:spcAft>
            </a:pPr>
            <a:r>
              <a:rPr sz="850" b="0" lang="ko-KR" altLang="en-US">
                <a:solidFill>
                  <a:srgbClr val="1A1E25"/>
                </a:solidFill>
                <a:latin typeface="Noto Sans KR"/>
                <a:ea typeface="Noto Sans KR"/>
                <a:cs typeface="Noto Sans KR"/>
              </a:rPr>
              <a:t>목표 60%</a:t>
            </a:r>
          </a:p>
        </p:txBody>
      </p:sp>
      <p:cxnSp>
        <p:nvCxnSpPr>
          <p:cNvPr id="32" name="Connector 31"/>
          <p:cNvCxnSpPr/>
          <p:nvPr/>
        </p:nvCxnSpPr>
        <p:spPr>
          <a:xfrm>
            <a:off x="3844800" y="4392000"/>
            <a:ext cx="6289200" cy="0"/>
          </a:xfrm>
          <a:prstGeom prst="line">
            <a:avLst/>
          </a:prstGeom>
          <a:ln w="9525">
            <a:solidFill>
              <a:srgbClr val="1A1E25"/>
            </a:solidFill>
          </a:ln>
        </p:spPr>
      </p:cxnSp>
      <p:sp>
        <p:nvSpPr>
          <p:cNvPr id="33" name="표지 막대"/>
          <p:cNvSpPr/>
          <p:nvPr/>
        </p:nvSpPr>
        <p:spPr>
          <a:xfrm>
            <a:off x="3844800" y="4392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그림 제목"/>
          <p:cNvSpPr txBox="1"/>
          <p:nvPr/>
        </p:nvSpPr>
        <p:spPr>
          <a:xfrm>
            <a:off x="3844800" y="4492799"/>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국채 · 금 비중 · 12월 맞춤</a:t>
            </a:r>
          </a:p>
        </p:txBody>
      </p:sp>
      <p:sp>
        <p:nvSpPr>
          <p:cNvPr id="35" name="그림 설명"/>
          <p:cNvSpPr txBox="1"/>
          <p:nvPr/>
        </p:nvSpPr>
        <p:spPr>
          <a:xfrm>
            <a:off x="3844800" y="4680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달말 · 각 목표 20%</a:t>
            </a:r>
          </a:p>
        </p:txBody>
      </p:sp>
      <p:graphicFrame>
        <p:nvGraphicFramePr>
          <p:cNvPr id="36" name="국채 금 비중"/>
          <p:cNvGraphicFramePr>
            <a:graphicFrameLocks noGrp="1"/>
          </p:cNvGraphicFramePr>
          <p:nvPr/>
        </p:nvGraphicFramePr>
        <p:xfrm>
          <a:off x="3844800" y="4824000"/>
          <a:ext cx="6289200" cy="2015999"/>
        </p:xfrm>
        <a:graphic>
          <a:graphicData uri="http://schemas.openxmlformats.org/drawingml/2006/chart">
            <c:chart xmlns:c="http://schemas.openxmlformats.org/drawingml/2006/chart" r:id="rId4"/>
          </a:graphicData>
        </a:graphic>
      </p:graphicFrame>
      <p:sp>
        <p:nvSpPr>
          <p:cNvPr id="37"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blue_manual/calc2.py polaris_weights (run_policy 날마다 끝 보유 수량 × 가격) · 사기만 82~90%: 연구 커밋 fef3cf9 (4회차 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5941200" y="619200"/>
            <a:ext cx="7524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26</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10장 · Polaris와 주식 단독 적립</a:t>
            </a:r>
          </a:p>
        </p:txBody>
      </p:sp>
      <p:sp>
        <p:nvSpPr>
          <p:cNvPr id="14" name="제목"/>
          <p:cNvSpPr txBox="1"/>
          <p:nvPr/>
        </p:nvSpPr>
        <p:spPr>
          <a:xfrm>
            <a:off x="558000" y="990000"/>
            <a:ext cx="6120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Polaris와 주식 단독 적립</a:t>
            </a:r>
          </a:p>
        </p:txBody>
      </p:sp>
      <p:cxnSp>
        <p:nvCxnSpPr>
          <p:cNvPr id="15" name="Connector 14"/>
          <p:cNvCxnSpPr/>
          <p:nvPr/>
        </p:nvCxnSpPr>
        <p:spPr>
          <a:xfrm>
            <a:off x="558000" y="1638000"/>
            <a:ext cx="9576000" cy="0"/>
          </a:xfrm>
          <a:prstGeom prst="line">
            <a:avLst/>
          </a:prstGeom>
          <a:ln w="9525">
            <a:solidFill>
              <a:srgbClr val="1A1E25"/>
            </a:solidFill>
          </a:ln>
        </p:spPr>
      </p:cxnSp>
      <p:sp>
        <p:nvSpPr>
          <p:cNvPr id="16" name="표지 막대"/>
          <p:cNvSpPr/>
          <p:nvPr/>
        </p:nvSpPr>
        <p:spPr>
          <a:xfrm>
            <a:off x="558000" y="1638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그림 제목"/>
          <p:cNvSpPr txBox="1"/>
          <p:nvPr/>
        </p:nvSpPr>
        <p:spPr>
          <a:xfrm>
            <a:off x="558000" y="1738800"/>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14년 8개월 적립 후 최종 평가액 · 다섯 납입액</a:t>
            </a:r>
          </a:p>
        </p:txBody>
      </p:sp>
      <p:sp>
        <p:nvSpPr>
          <p:cNvPr id="18" name="그림 설명"/>
          <p:cNvSpPr txBox="1"/>
          <p:nvPr/>
        </p:nvSpPr>
        <p:spPr>
          <a:xfrm>
            <a:off x="558000" y="1925999"/>
            <a:ext cx="957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2012-01 ~ 2026-08 · 176회 · 단위 만 원 · 세전</a:t>
            </a:r>
          </a:p>
        </p:txBody>
      </p:sp>
      <p:graphicFrame>
        <p:nvGraphicFramePr>
          <p:cNvPr id="19" name="표"/>
          <p:cNvGraphicFramePr>
            <a:graphicFrameLocks noGrp="1"/>
          </p:cNvGraphicFramePr>
          <p:nvPr/>
        </p:nvGraphicFramePr>
        <p:xfrm>
          <a:off x="558000" y="2106000"/>
          <a:ext cx="9575995" cy="1296000"/>
        </p:xfrm>
        <a:graphic>
          <a:graphicData uri="http://schemas.openxmlformats.org/drawingml/2006/table">
            <a:tbl>
              <a:tblPr firstRow="0" bandRow="0" firstCol="0" lastCol="0" bandCol="0" lastRow="0">
                <a:tableStyleId>{5940675A-B579-460E-94D1-54222C63F5DA}</a:tableStyleId>
              </a:tblPr>
              <a:tblGrid>
                <a:gridCol w="972000"/>
                <a:gridCol w="827999"/>
                <a:gridCol w="1367999"/>
                <a:gridCol w="1367999"/>
                <a:gridCol w="1367999"/>
                <a:gridCol w="1367999"/>
                <a:gridCol w="1152000"/>
                <a:gridCol w="1152000"/>
              </a:tblGrid>
              <a:tr h="2160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월 납입액</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원금</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Polaris</a:t>
                      </a:r>
                      <a:endParaRPr sz="850"/>
                    </a:p>
                  </a:txBody>
                  <a:tcPr marL="28800" marR="43200" marT="25200" marB="25200" anchor="b">
                    <a:lnL w="0">
                      <a:noFill/>
                    </a:lnL>
                    <a:lnR w="0">
                      <a:noFill/>
                    </a:lnR>
                    <a:lnT w="9525">
                      <a:solidFill>
                        <a:srgbClr val="1A1E25"/>
                      </a:solidFill>
                    </a:lnT>
                    <a:lnB w="9525">
                      <a:solidFill>
                        <a:srgbClr val="1A1E25"/>
                      </a:solidFill>
                    </a:lnB>
                    <a:solidFill>
                      <a:srgbClr val="EDF1F7"/>
                    </a:solid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S&amp;P500 단독</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QQQ 단독 적립</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Deneb</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Polaris − QQQ</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Polaris − S&amp;P500</a:t>
                      </a:r>
                      <a:endParaRPr sz="850"/>
                    </a:p>
                  </a:txBody>
                  <a:tcPr marL="28800" marR="43200" marT="25200" marB="25200" anchor="b">
                    <a:lnL w="0">
                      <a:noFill/>
                    </a:lnL>
                    <a:lnR w="0">
                      <a:noFill/>
                    </a:lnR>
                    <a:lnT w="9525">
                      <a:solidFill>
                        <a:srgbClr val="1A1E25"/>
                      </a:solidFill>
                    </a:lnT>
                    <a:lnB w="9525">
                      <a:solidFill>
                        <a:srgbClr val="1A1E25"/>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10만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5,077</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5,810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36,111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−3,728</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−733</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20만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3,520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10,153</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11,620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72,222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−7,456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−1,467</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30만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5,280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15,230</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17,430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26,414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108,334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−11,183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−2,200</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50만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25,384</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29,050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44,023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180,556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−18,639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−3,666</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100만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50,767</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58,100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88,045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361,112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−37,278</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−7,333</a:t>
                      </a:r>
                      <a:endParaRPr sz="90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0" name="Connector 19"/>
          <p:cNvCxnSpPr/>
          <p:nvPr/>
        </p:nvCxnSpPr>
        <p:spPr>
          <a:xfrm>
            <a:off x="558000" y="2106000"/>
            <a:ext cx="9576000" cy="0"/>
          </a:xfrm>
          <a:prstGeom prst="line">
            <a:avLst/>
          </a:prstGeom>
          <a:ln w="25400">
            <a:solidFill>
              <a:srgbClr val="1A1E25"/>
            </a:solidFill>
          </a:ln>
        </p:spPr>
      </p:cxnSp>
      <p:cxnSp>
        <p:nvCxnSpPr>
          <p:cNvPr id="21" name="Connector 20"/>
          <p:cNvCxnSpPr/>
          <p:nvPr/>
        </p:nvCxnSpPr>
        <p:spPr>
          <a:xfrm>
            <a:off x="558000" y="3671999"/>
            <a:ext cx="4626000" cy="0"/>
          </a:xfrm>
          <a:prstGeom prst="line">
            <a:avLst/>
          </a:prstGeom>
          <a:ln w="9525">
            <a:solidFill>
              <a:srgbClr val="1A1E25"/>
            </a:solidFill>
          </a:ln>
        </p:spPr>
      </p:cxnSp>
      <p:sp>
        <p:nvSpPr>
          <p:cNvPr id="22" name="표지 막대"/>
          <p:cNvSpPr/>
          <p:nvPr/>
        </p:nvSpPr>
        <p:spPr>
          <a:xfrm>
            <a:off x="558000" y="3671999"/>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그림 제목"/>
          <p:cNvSpPr txBox="1"/>
          <p:nvPr/>
        </p:nvSpPr>
        <p:spPr>
          <a:xfrm>
            <a:off x="558000" y="3772799"/>
            <a:ext cx="462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위기 구간 낙폭</a:t>
            </a:r>
          </a:p>
        </p:txBody>
      </p:sp>
      <p:sp>
        <p:nvSpPr>
          <p:cNvPr id="24" name="그림 설명"/>
          <p:cNvSpPr txBox="1"/>
          <p:nvPr/>
        </p:nvSpPr>
        <p:spPr>
          <a:xfrm>
            <a:off x="558000" y="3960000"/>
            <a:ext cx="462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구간 안 고점 → 저점 · 1원당 가치</a:t>
            </a:r>
          </a:p>
        </p:txBody>
      </p:sp>
      <p:graphicFrame>
        <p:nvGraphicFramePr>
          <p:cNvPr id="25" name="Polaris 위기"/>
          <p:cNvGraphicFramePr>
            <a:graphicFrameLocks noGrp="1"/>
          </p:cNvGraphicFramePr>
          <p:nvPr/>
        </p:nvGraphicFramePr>
        <p:xfrm>
          <a:off x="558000" y="4104000"/>
          <a:ext cx="4626000" cy="2736000"/>
        </p:xfrm>
        <a:graphic>
          <a:graphicData uri="http://schemas.openxmlformats.org/drawingml/2006/chart">
            <c:chart xmlns:c="http://schemas.openxmlformats.org/drawingml/2006/chart" r:id="rId2"/>
          </a:graphicData>
        </a:graphic>
      </p:graphicFrame>
      <p:sp>
        <p:nvSpPr>
          <p:cNvPr id="26" name="TextBox 25"/>
          <p:cNvSpPr txBox="1"/>
          <p:nvPr/>
        </p:nvSpPr>
        <p:spPr>
          <a:xfrm>
            <a:off x="5436000" y="3671999"/>
            <a:ext cx="4698000" cy="3240000"/>
          </a:xfrm>
          <a:prstGeom prst="rect">
            <a:avLst/>
          </a:prstGeom>
          <a:noFill/>
        </p:spPr>
        <p:txBody>
          <a:bodyPr wrap="square" lIns="0" rIns="0" tIns="0" bIns="0" anchor="t">
            <a:spAutoFit/>
          </a:bodyPr>
          <a:lstStyle/>
          <a:p>
            <a:pPr algn="l" eaLnBrk="0">
              <a:lnSpc>
                <a:spcPct val="132000"/>
              </a:lnSpc>
              <a:spcAft>
                <a:spcPts val="700"/>
              </a:spcAft>
            </a:pPr>
            <a:r>
              <a:rPr sz="950" b="1" lang="ko-KR" altLang="en-US">
                <a:solidFill>
                  <a:srgbClr val="1A1E25"/>
                </a:solidFill>
                <a:latin typeface="Noto Sans KR"/>
                <a:ea typeface="Noto Sans KR"/>
                <a:cs typeface="Noto Sans KR"/>
              </a:rPr>
              <a:t>줄인 위험  </a:t>
            </a:r>
            <a:r>
              <a:rPr sz="950" b="0" lang="ko-KR" altLang="en-US">
                <a:solidFill>
                  <a:srgbClr val="1A1E25"/>
                </a:solidFill>
                <a:latin typeface="Noto Sans KR"/>
                <a:ea typeface="Noto Sans KR"/>
                <a:cs typeface="Noto Sans KR"/>
              </a:rPr>
              <a:t>네 번의 위기 구간 모두 Polaris가 가장 덜 내렸습니다. 2022년에는 −23.0%로 QQQ(−34.8%)보다 덜 내렸지만, 국채도 −15% 내려 기대만큼 막아 주지는 못했습니다.</a:t>
            </a:r>
          </a:p>
          <a:p>
            <a:pPr algn="l" eaLnBrk="0">
              <a:lnSpc>
                <a:spcPct val="132000"/>
              </a:lnSpc>
              <a:spcAft>
                <a:spcPts val="700"/>
              </a:spcAft>
            </a:pPr>
            <a:r>
              <a:rPr sz="950" b="1" lang="ko-KR" altLang="en-US">
                <a:solidFill>
                  <a:srgbClr val="1A1E25"/>
                </a:solidFill>
                <a:latin typeface="Noto Sans KR"/>
                <a:ea typeface="Noto Sans KR"/>
                <a:cs typeface="Noto Sans KR"/>
              </a:rPr>
              <a:t>포기한 수익  </a:t>
            </a:r>
            <a:r>
              <a:rPr sz="950" b="0" lang="ko-KR" altLang="en-US">
                <a:solidFill>
                  <a:srgbClr val="1A1E25"/>
                </a:solidFill>
                <a:latin typeface="Noto Sans KR"/>
                <a:ea typeface="Noto Sans KR"/>
                <a:cs typeface="Noto Sans KR"/>
              </a:rPr>
              <a:t>2012~2025년 14해 중 11해는 QQQ 단독 적립보다 덜 올랐습니다. 특히 2020 · 2023년처럼 주식이 크게 오른 해에 차이가 컸습니다.</a:t>
            </a:r>
          </a:p>
          <a:p>
            <a:pPr algn="l" eaLnBrk="0">
              <a:lnSpc>
                <a:spcPct val="132000"/>
              </a:lnSpc>
              <a:spcAft>
                <a:spcPts val="700"/>
              </a:spcAft>
            </a:pPr>
            <a:r>
              <a:rPr sz="950" b="1" lang="ko-KR" altLang="en-US">
                <a:solidFill>
                  <a:srgbClr val="1A1E25"/>
                </a:solidFill>
                <a:latin typeface="Noto Sans KR"/>
                <a:ea typeface="Noto Sans KR"/>
                <a:cs typeface="Noto Sans KR"/>
              </a:rPr>
              <a:t>회복은 비슷  </a:t>
            </a:r>
            <a:r>
              <a:rPr sz="950" b="0" lang="ko-KR" altLang="en-US">
                <a:solidFill>
                  <a:srgbClr val="1A1E25"/>
                </a:solidFill>
                <a:latin typeface="Noto Sans KR"/>
                <a:ea typeface="Noto Sans KR"/>
                <a:cs typeface="Noto Sans KR"/>
              </a:rPr>
              <a:t>2022년 하락에서 고점을 되찾는 데 Polaris와 QQQ 모두 24개월이 걸렸습니다. 덜 내렸지만 회복도 느렸습니다.</a:t>
            </a:r>
          </a:p>
        </p:txBody>
      </p:sp>
      <p:sp>
        <p:nvSpPr>
          <p:cNvPr id="27"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실제 ETF 수정 종가(QQQ · QLD · TQQQ · SCHD · SPY · IEF · GLD), 자체 계산 · 비용 0.15% · 세전 · 환율 고정 · 소수 주 · calc2.py 위기 구간 · 연도별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6989400" y="619200"/>
            <a:ext cx="536399"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27</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4부 · 적금과 비교</a:t>
            </a:r>
          </a:p>
        </p:txBody>
      </p:sp>
      <p:sp>
        <p:nvSpPr>
          <p:cNvPr id="14" name="제목"/>
          <p:cNvSpPr txBox="1"/>
          <p:nvPr/>
        </p:nvSpPr>
        <p:spPr>
          <a:xfrm>
            <a:off x="558000" y="990000"/>
            <a:ext cx="6120000" cy="864000"/>
          </a:xfrm>
          <a:prstGeom prst="rect">
            <a:avLst/>
          </a:prstGeom>
          <a:noFill/>
        </p:spPr>
        <p:txBody>
          <a:bodyPr wrap="square" lIns="0" rIns="0" tIns="0" bIns="0" anchor="t">
            <a:spAutoFit/>
          </a:bodyPr>
          <a:lstStyle/>
          <a:p>
            <a:pPr algn="l" eaLnBrk="0">
              <a:lnSpc>
                <a:spcPct val="108000"/>
              </a:lnSpc>
              <a:spcAft>
                <a:spcPts val="0"/>
              </a:spcAft>
            </a:pPr>
            <a:r>
              <a:rPr sz="3200" b="0" lang="ko-KR" altLang="en-US">
                <a:solidFill>
                  <a:srgbClr val="1A1E25"/>
                </a:solidFill>
                <a:latin typeface="Malgun Gothic Semilight"/>
                <a:ea typeface="Malgun Gothic Semilight"/>
                <a:cs typeface="Malgun Gothic Semilight"/>
              </a:rPr>
              <a:t>적금과 투자 전략</a:t>
            </a:r>
          </a:p>
        </p:txBody>
      </p:sp>
      <p:sp>
        <p:nvSpPr>
          <p:cNvPr id="15" name="TextBox 14"/>
          <p:cNvSpPr txBox="1"/>
          <p:nvPr/>
        </p:nvSpPr>
        <p:spPr>
          <a:xfrm>
            <a:off x="558000" y="1710000"/>
            <a:ext cx="6300000" cy="792000"/>
          </a:xfrm>
          <a:prstGeom prst="rect">
            <a:avLst/>
          </a:prstGeom>
          <a:noFill/>
        </p:spPr>
        <p:txBody>
          <a:bodyPr wrap="square" lIns="0" rIns="0" tIns="0" bIns="0" anchor="t">
            <a:spAutoFit/>
          </a:bodyPr>
          <a:lstStyle/>
          <a:p>
            <a:pPr algn="l" eaLnBrk="0">
              <a:lnSpc>
                <a:spcPct val="130000"/>
              </a:lnSpc>
              <a:spcAft>
                <a:spcPts val="0"/>
              </a:spcAft>
            </a:pPr>
            <a:r>
              <a:rPr sz="1300" b="0" lang="ko-KR" altLang="en-US">
                <a:solidFill>
                  <a:srgbClr val="1A1E25"/>
                </a:solidFill>
                <a:latin typeface="Malgun Gothic Semilight"/>
                <a:ea typeface="Malgun Gothic Semilight"/>
                <a:cs typeface="Malgun Gothic Semilight"/>
              </a:rPr>
              <a:t>적금은 약속된 이자를 받고, 투자는 지나간 기간의 결과를 보여 줍니다. 같은 날 같은 돈, 14년 8개월입니다.</a:t>
            </a:r>
          </a:p>
        </p:txBody>
      </p:sp>
      <p:sp>
        <p:nvSpPr>
          <p:cNvPr id="16" name="카드"/>
          <p:cNvSpPr/>
          <p:nvPr/>
        </p:nvSpPr>
        <p:spPr>
          <a:xfrm>
            <a:off x="558000" y="2736000"/>
            <a:ext cx="3011999" cy="2592000"/>
          </a:xfrm>
          <a:prstGeom prst="roundRect">
            <a:avLst>
              <a:gd name="adj" fmla="val 6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4000" y="2916000"/>
            <a:ext cx="2579999"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적금 4% · 월 10만 원</a:t>
            </a:r>
          </a:p>
        </p:txBody>
      </p:sp>
      <p:sp>
        <p:nvSpPr>
          <p:cNvPr id="18" name="TextBox 17"/>
          <p:cNvSpPr txBox="1"/>
          <p:nvPr/>
        </p:nvSpPr>
        <p:spPr>
          <a:xfrm>
            <a:off x="774000" y="3131999"/>
            <a:ext cx="2579999" cy="468000"/>
          </a:xfrm>
          <a:prstGeom prst="rect">
            <a:avLst/>
          </a:prstGeom>
          <a:noFill/>
        </p:spPr>
        <p:txBody>
          <a:bodyPr wrap="square" lIns="0" rIns="0" tIns="0" bIns="0" anchor="t">
            <a:spAutoFit/>
          </a:bodyPr>
          <a:lstStyle/>
          <a:p>
            <a:pPr algn="l" eaLnBrk="0">
              <a:lnSpc>
                <a:spcPct val="100000"/>
              </a:lnSpc>
              <a:spcAft>
                <a:spcPts val="0"/>
              </a:spcAft>
            </a:pPr>
            <a:r>
              <a:rPr sz="2700" b="1" lang="ko-KR" altLang="en-US">
                <a:solidFill>
                  <a:srgbClr val="4C6A8C"/>
                </a:solidFill>
                <a:latin typeface="Noto Sans KR"/>
                <a:ea typeface="Noto Sans KR"/>
                <a:cs typeface="Noto Sans KR"/>
              </a:rPr>
              <a:t>2,384만 원</a:t>
            </a:r>
          </a:p>
        </p:txBody>
      </p:sp>
      <p:cxnSp>
        <p:nvCxnSpPr>
          <p:cNvPr id="19" name="Connector 18"/>
          <p:cNvCxnSpPr/>
          <p:nvPr/>
        </p:nvCxnSpPr>
        <p:spPr>
          <a:xfrm>
            <a:off x="774000" y="3654000"/>
            <a:ext cx="2580000" cy="0"/>
          </a:xfrm>
          <a:prstGeom prst="line">
            <a:avLst/>
          </a:prstGeom>
          <a:ln w="9525">
            <a:solidFill>
              <a:srgbClr val="D5DCE6"/>
            </a:solidFill>
          </a:ln>
        </p:spPr>
      </p:cxnSp>
      <p:sp>
        <p:nvSpPr>
          <p:cNvPr id="20" name="TextBox 19"/>
          <p:cNvSpPr txBox="1"/>
          <p:nvPr/>
        </p:nvSpPr>
        <p:spPr>
          <a:xfrm>
            <a:off x="774000" y="36900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투자이익(이자)</a:t>
            </a:r>
          </a:p>
        </p:txBody>
      </p:sp>
      <p:sp>
        <p:nvSpPr>
          <p:cNvPr id="21" name="TextBox 20"/>
          <p:cNvSpPr txBox="1"/>
          <p:nvPr/>
        </p:nvSpPr>
        <p:spPr>
          <a:xfrm>
            <a:off x="1913399" y="36900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624만 원</a:t>
            </a:r>
          </a:p>
        </p:txBody>
      </p:sp>
      <p:cxnSp>
        <p:nvCxnSpPr>
          <p:cNvPr id="22" name="Connector 21"/>
          <p:cNvCxnSpPr/>
          <p:nvPr/>
        </p:nvCxnSpPr>
        <p:spPr>
          <a:xfrm>
            <a:off x="774000" y="3934800"/>
            <a:ext cx="2580000" cy="0"/>
          </a:xfrm>
          <a:prstGeom prst="line">
            <a:avLst/>
          </a:prstGeom>
          <a:ln w="9525">
            <a:solidFill>
              <a:srgbClr val="D5DCE6"/>
            </a:solidFill>
          </a:ln>
        </p:spPr>
      </p:cxnSp>
      <p:sp>
        <p:nvSpPr>
          <p:cNvPr id="23" name="TextBox 22"/>
          <p:cNvSpPr txBox="1"/>
          <p:nvPr/>
        </p:nvSpPr>
        <p:spPr>
          <a:xfrm>
            <a:off x="774000" y="39708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최대 낙폭</a:t>
            </a:r>
          </a:p>
        </p:txBody>
      </p:sp>
      <p:sp>
        <p:nvSpPr>
          <p:cNvPr id="24" name="TextBox 23"/>
          <p:cNvSpPr txBox="1"/>
          <p:nvPr/>
        </p:nvSpPr>
        <p:spPr>
          <a:xfrm>
            <a:off x="1913399" y="39708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0%</a:t>
            </a:r>
          </a:p>
        </p:txBody>
      </p:sp>
      <p:sp>
        <p:nvSpPr>
          <p:cNvPr id="25" name="TextBox 24"/>
          <p:cNvSpPr txBox="1"/>
          <p:nvPr/>
        </p:nvSpPr>
        <p:spPr>
          <a:xfrm>
            <a:off x="774000" y="5022000"/>
            <a:ext cx="2579999" cy="216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원금과 약정 이자가 정해져 있음 · 세전</a:t>
            </a:r>
          </a:p>
        </p:txBody>
      </p:sp>
      <p:sp>
        <p:nvSpPr>
          <p:cNvPr id="26" name="카드"/>
          <p:cNvSpPr/>
          <p:nvPr/>
        </p:nvSpPr>
        <p:spPr>
          <a:xfrm>
            <a:off x="3840000" y="2736000"/>
            <a:ext cx="3011999" cy="2592000"/>
          </a:xfrm>
          <a:prstGeom prst="roundRect">
            <a:avLst>
              <a:gd name="adj" fmla="val 6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55999" y="2916000"/>
            <a:ext cx="2579999"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Polaris · 월 10만 원</a:t>
            </a:r>
          </a:p>
        </p:txBody>
      </p:sp>
      <p:sp>
        <p:nvSpPr>
          <p:cNvPr id="28" name="TextBox 27"/>
          <p:cNvSpPr txBox="1"/>
          <p:nvPr/>
        </p:nvSpPr>
        <p:spPr>
          <a:xfrm>
            <a:off x="4055999" y="3131999"/>
            <a:ext cx="2579999" cy="468000"/>
          </a:xfrm>
          <a:prstGeom prst="rect">
            <a:avLst/>
          </a:prstGeom>
          <a:noFill/>
        </p:spPr>
        <p:txBody>
          <a:bodyPr wrap="square" lIns="0" rIns="0" tIns="0" bIns="0" anchor="t">
            <a:spAutoFit/>
          </a:bodyPr>
          <a:lstStyle/>
          <a:p>
            <a:pPr algn="l" eaLnBrk="0">
              <a:lnSpc>
                <a:spcPct val="100000"/>
              </a:lnSpc>
              <a:spcAft>
                <a:spcPts val="0"/>
              </a:spcAft>
            </a:pPr>
            <a:r>
              <a:rPr sz="2700" b="1" lang="ko-KR" altLang="en-US">
                <a:solidFill>
                  <a:srgbClr val="1E9A84"/>
                </a:solidFill>
                <a:latin typeface="Noto Sans KR"/>
                <a:ea typeface="Noto Sans KR"/>
                <a:cs typeface="Noto Sans KR"/>
              </a:rPr>
              <a:t>5,077만 원</a:t>
            </a:r>
          </a:p>
        </p:txBody>
      </p:sp>
      <p:cxnSp>
        <p:nvCxnSpPr>
          <p:cNvPr id="29" name="Connector 28"/>
          <p:cNvCxnSpPr/>
          <p:nvPr/>
        </p:nvCxnSpPr>
        <p:spPr>
          <a:xfrm>
            <a:off x="4055999" y="3654000"/>
            <a:ext cx="2580000" cy="0"/>
          </a:xfrm>
          <a:prstGeom prst="line">
            <a:avLst/>
          </a:prstGeom>
          <a:ln w="9525">
            <a:solidFill>
              <a:srgbClr val="D5DCE6"/>
            </a:solidFill>
          </a:ln>
        </p:spPr>
      </p:cxnSp>
      <p:sp>
        <p:nvSpPr>
          <p:cNvPr id="30" name="TextBox 29"/>
          <p:cNvSpPr txBox="1"/>
          <p:nvPr/>
        </p:nvSpPr>
        <p:spPr>
          <a:xfrm>
            <a:off x="4055999" y="36900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적금 4%보다</a:t>
            </a:r>
          </a:p>
        </p:txBody>
      </p:sp>
      <p:sp>
        <p:nvSpPr>
          <p:cNvPr id="31" name="TextBox 30"/>
          <p:cNvSpPr txBox="1"/>
          <p:nvPr/>
        </p:nvSpPr>
        <p:spPr>
          <a:xfrm>
            <a:off x="5195399" y="36900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+2,693만 원</a:t>
            </a:r>
          </a:p>
        </p:txBody>
      </p:sp>
      <p:cxnSp>
        <p:nvCxnSpPr>
          <p:cNvPr id="32" name="Connector 31"/>
          <p:cNvCxnSpPr/>
          <p:nvPr/>
        </p:nvCxnSpPr>
        <p:spPr>
          <a:xfrm>
            <a:off x="4055999" y="3934800"/>
            <a:ext cx="2580000" cy="0"/>
          </a:xfrm>
          <a:prstGeom prst="line">
            <a:avLst/>
          </a:prstGeom>
          <a:ln w="9525">
            <a:solidFill>
              <a:srgbClr val="D5DCE6"/>
            </a:solidFill>
          </a:ln>
        </p:spPr>
      </p:cxnSp>
      <p:sp>
        <p:nvSpPr>
          <p:cNvPr id="33" name="TextBox 32"/>
          <p:cNvSpPr txBox="1"/>
          <p:nvPr/>
        </p:nvSpPr>
        <p:spPr>
          <a:xfrm>
            <a:off x="4055999" y="39708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최대 낙폭</a:t>
            </a:r>
          </a:p>
        </p:txBody>
      </p:sp>
      <p:sp>
        <p:nvSpPr>
          <p:cNvPr id="34" name="TextBox 33"/>
          <p:cNvSpPr txBox="1"/>
          <p:nvPr/>
        </p:nvSpPr>
        <p:spPr>
          <a:xfrm>
            <a:off x="5195399" y="39708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−23.4%</a:t>
            </a:r>
          </a:p>
        </p:txBody>
      </p:sp>
      <p:sp>
        <p:nvSpPr>
          <p:cNvPr id="35" name="TextBox 34"/>
          <p:cNvSpPr txBox="1"/>
          <p:nvPr/>
        </p:nvSpPr>
        <p:spPr>
          <a:xfrm>
            <a:off x="4055999" y="5022000"/>
            <a:ext cx="2579999" cy="216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덜 흔들리는 투자</a:t>
            </a:r>
          </a:p>
        </p:txBody>
      </p:sp>
      <p:sp>
        <p:nvSpPr>
          <p:cNvPr id="36" name="카드"/>
          <p:cNvSpPr/>
          <p:nvPr/>
        </p:nvSpPr>
        <p:spPr>
          <a:xfrm>
            <a:off x="7121999" y="2736000"/>
            <a:ext cx="3011999" cy="2592000"/>
          </a:xfrm>
          <a:prstGeom prst="roundRect">
            <a:avLst>
              <a:gd name="adj" fmla="val 6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38000" y="2916000"/>
            <a:ext cx="2579999"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Deneb · 월 10만 원</a:t>
            </a:r>
          </a:p>
        </p:txBody>
      </p:sp>
      <p:sp>
        <p:nvSpPr>
          <p:cNvPr id="38" name="TextBox 37"/>
          <p:cNvSpPr txBox="1"/>
          <p:nvPr/>
        </p:nvSpPr>
        <p:spPr>
          <a:xfrm>
            <a:off x="7338000" y="3131999"/>
            <a:ext cx="2579999" cy="468000"/>
          </a:xfrm>
          <a:prstGeom prst="rect">
            <a:avLst/>
          </a:prstGeom>
          <a:noFill/>
        </p:spPr>
        <p:txBody>
          <a:bodyPr wrap="square" lIns="0" rIns="0" tIns="0" bIns="0" anchor="t">
            <a:spAutoFit/>
          </a:bodyPr>
          <a:lstStyle/>
          <a:p>
            <a:pPr algn="l" eaLnBrk="0">
              <a:lnSpc>
                <a:spcPct val="100000"/>
              </a:lnSpc>
              <a:spcAft>
                <a:spcPts val="0"/>
              </a:spcAft>
            </a:pPr>
            <a:r>
              <a:rPr sz="2700" b="1" lang="ko-KR" altLang="en-US">
                <a:solidFill>
                  <a:srgbClr val="0B3D91"/>
                </a:solidFill>
                <a:latin typeface="Noto Sans KR"/>
                <a:ea typeface="Noto Sans KR"/>
                <a:cs typeface="Noto Sans KR"/>
              </a:rPr>
              <a:t>3억 6,111만 원</a:t>
            </a:r>
          </a:p>
        </p:txBody>
      </p:sp>
      <p:cxnSp>
        <p:nvCxnSpPr>
          <p:cNvPr id="39" name="Connector 38"/>
          <p:cNvCxnSpPr/>
          <p:nvPr/>
        </p:nvCxnSpPr>
        <p:spPr>
          <a:xfrm>
            <a:off x="7338000" y="3654000"/>
            <a:ext cx="2579999" cy="0"/>
          </a:xfrm>
          <a:prstGeom prst="line">
            <a:avLst/>
          </a:prstGeom>
          <a:ln w="9525">
            <a:solidFill>
              <a:srgbClr val="D5DCE6"/>
            </a:solidFill>
          </a:ln>
        </p:spPr>
      </p:cxnSp>
      <p:sp>
        <p:nvSpPr>
          <p:cNvPr id="40" name="TextBox 39"/>
          <p:cNvSpPr txBox="1"/>
          <p:nvPr/>
        </p:nvSpPr>
        <p:spPr>
          <a:xfrm>
            <a:off x="7338000" y="36900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적금 4%보다</a:t>
            </a:r>
          </a:p>
        </p:txBody>
      </p:sp>
      <p:sp>
        <p:nvSpPr>
          <p:cNvPr id="41" name="TextBox 40"/>
          <p:cNvSpPr txBox="1"/>
          <p:nvPr/>
        </p:nvSpPr>
        <p:spPr>
          <a:xfrm>
            <a:off x="8477400" y="36900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+3억 3,728만 원</a:t>
            </a:r>
          </a:p>
        </p:txBody>
      </p:sp>
      <p:cxnSp>
        <p:nvCxnSpPr>
          <p:cNvPr id="42" name="Connector 41"/>
          <p:cNvCxnSpPr/>
          <p:nvPr/>
        </p:nvCxnSpPr>
        <p:spPr>
          <a:xfrm>
            <a:off x="7338000" y="3934800"/>
            <a:ext cx="2579999" cy="0"/>
          </a:xfrm>
          <a:prstGeom prst="line">
            <a:avLst/>
          </a:prstGeom>
          <a:ln w="9525">
            <a:solidFill>
              <a:srgbClr val="D5DCE6"/>
            </a:solidFill>
          </a:ln>
        </p:spPr>
      </p:cxnSp>
      <p:sp>
        <p:nvSpPr>
          <p:cNvPr id="43" name="TextBox 42"/>
          <p:cNvSpPr txBox="1"/>
          <p:nvPr/>
        </p:nvSpPr>
        <p:spPr>
          <a:xfrm>
            <a:off x="7338000" y="39708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최대 낙폭</a:t>
            </a:r>
          </a:p>
        </p:txBody>
      </p:sp>
      <p:sp>
        <p:nvSpPr>
          <p:cNvPr id="44" name="TextBox 43"/>
          <p:cNvSpPr txBox="1"/>
          <p:nvPr/>
        </p:nvSpPr>
        <p:spPr>
          <a:xfrm>
            <a:off x="8477400" y="39708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−31.7%</a:t>
            </a:r>
          </a:p>
        </p:txBody>
      </p:sp>
      <p:sp>
        <p:nvSpPr>
          <p:cNvPr id="45" name="TextBox 44"/>
          <p:cNvSpPr txBox="1"/>
          <p:nvPr/>
        </p:nvSpPr>
        <p:spPr>
          <a:xfrm>
            <a:off x="7338000" y="5022000"/>
            <a:ext cx="2579999" cy="216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크게 노리는 투자</a:t>
            </a:r>
          </a:p>
        </p:txBody>
      </p:sp>
      <p:sp>
        <p:nvSpPr>
          <p:cNvPr id="46" name="TextBox 45"/>
          <p:cNvSpPr txBox="1"/>
          <p:nvPr/>
        </p:nvSpPr>
        <p:spPr>
          <a:xfrm>
            <a:off x="558000" y="5562000"/>
            <a:ext cx="9576000" cy="576000"/>
          </a:xfrm>
          <a:prstGeom prst="rect">
            <a:avLst/>
          </a:prstGeom>
          <a:noFill/>
        </p:spPr>
        <p:txBody>
          <a:bodyPr wrap="square" lIns="0" rIns="0" tIns="0" bIns="0" anchor="t">
            <a:spAutoFit/>
          </a:bodyPr>
          <a:lstStyle/>
          <a:p>
            <a:pPr algn="l" eaLnBrk="0">
              <a:lnSpc>
                <a:spcPct val="132000"/>
              </a:lnSpc>
              <a:spcAft>
                <a:spcPts val="0"/>
              </a:spcAft>
            </a:pPr>
            <a:r>
              <a:rPr sz="1000" b="0" lang="ko-KR" altLang="en-US">
                <a:solidFill>
                  <a:srgbClr val="1A1E25"/>
                </a:solidFill>
                <a:latin typeface="Noto Sans KR"/>
                <a:ea typeface="Noto Sans KR"/>
                <a:cs typeface="Noto Sans KR"/>
              </a:rPr>
              <a:t>적금 3%는 2,206만 원입니다. 투자 쪽 차이를 ‘더 받은 이자’로 보면 안 됩니다. 같은 기간에도 언제 끝내느냐에 따라 결과가 크게 달라지고, 원금보다 적어질 수도 있습니다.</a:t>
            </a:r>
          </a:p>
        </p:txBody>
      </p:sp>
      <p:sp>
        <p:nvSpPr>
          <p:cNvPr id="47"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적금: 12개월 만기 단리 → 같은 금리 1년 예금 재예치, 세전 · 투자: 실제 ETF 수정 종가(QQQ · QLD · TQQQ · SCHD · SPY · IEF · GLD), 자체 계산 · 비용 0.15% · 세전 · 환율 고정 · 소수 주</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6989400" y="619200"/>
            <a:ext cx="536399"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28</a:t>
            </a:r>
          </a:p>
        </p:txBody>
      </p:sp>
      <p:sp>
        <p:nvSpPr>
          <p:cNvPr id="13"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적금과 비교</a:t>
            </a:r>
          </a:p>
        </p:txBody>
      </p:sp>
      <p:sp>
        <p:nvSpPr>
          <p:cNvPr id="14" name="인용 막대"/>
          <p:cNvSpPr/>
          <p:nvPr/>
        </p:nvSpPr>
        <p:spPr>
          <a:xfrm>
            <a:off x="558000" y="1576800"/>
            <a:ext cx="32400" cy="7344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인용"/>
          <p:cNvSpPr txBox="1"/>
          <p:nvPr/>
        </p:nvSpPr>
        <p:spPr>
          <a:xfrm>
            <a:off x="737999" y="1548000"/>
            <a:ext cx="2826000" cy="792000"/>
          </a:xfrm>
          <a:prstGeom prst="rect">
            <a:avLst/>
          </a:prstGeom>
          <a:noFill/>
        </p:spPr>
        <p:txBody>
          <a:bodyPr wrap="square" lIns="0" rIns="0" tIns="0" bIns="0" anchor="t">
            <a:spAutoFit/>
          </a:bodyPr>
          <a:lstStyle/>
          <a:p>
            <a:pPr algn="l" eaLnBrk="0">
              <a:lnSpc>
                <a:spcPct val="122000"/>
              </a:lnSpc>
              <a:spcAft>
                <a:spcPts val="0"/>
              </a:spcAft>
            </a:pPr>
            <a:r>
              <a:rPr sz="1450" b="0" lang="ko-KR" altLang="en-US">
                <a:solidFill>
                  <a:srgbClr val="1A1E25"/>
                </a:solidFill>
                <a:latin typeface="Malgun Gothic Semilight"/>
                <a:ea typeface="Malgun Gothic Semilight"/>
                <a:cs typeface="Malgun Gothic Semilight"/>
              </a:rPr>
              <a:t>적금의 이자는 약속된 돈이고, 투자 결과는 지나간 기간의 기록입니다.</a:t>
            </a:r>
          </a:p>
        </p:txBody>
      </p:sp>
      <p:sp>
        <p:nvSpPr>
          <p:cNvPr id="16" name="TextBox 15"/>
          <p:cNvSpPr txBox="1"/>
          <p:nvPr/>
        </p:nvSpPr>
        <p:spPr>
          <a:xfrm>
            <a:off x="558000" y="2466000"/>
            <a:ext cx="3006000" cy="1080000"/>
          </a:xfrm>
          <a:prstGeom prst="rect">
            <a:avLst/>
          </a:prstGeom>
          <a:noFill/>
        </p:spPr>
        <p:txBody>
          <a:bodyPr wrap="square" lIns="0" rIns="0" tIns="0" bIns="0" anchor="t">
            <a:spAutoFit/>
          </a:bodyPr>
          <a:lstStyle/>
          <a:p>
            <a:pPr algn="l" eaLnBrk="0">
              <a:lnSpc>
                <a:spcPct val="132000"/>
              </a:lnSpc>
              <a:spcAft>
                <a:spcPts val="0"/>
              </a:spcAft>
            </a:pPr>
            <a:r>
              <a:rPr sz="950" b="0" lang="ko-KR" altLang="en-US">
                <a:solidFill>
                  <a:srgbClr val="1A1E25"/>
                </a:solidFill>
                <a:latin typeface="Noto Sans KR"/>
                <a:ea typeface="Noto Sans KR"/>
                <a:cs typeface="Noto Sans KR"/>
              </a:rPr>
              <a:t>같은 날 같은 돈을 연 3% · 4% 적금에 넣은 경우와 비교합니다. 적금은 1년 만기마다 원리금을 같은 금리 예금으로 다시 맡긴다고 가정했습니다(세전).</a:t>
            </a:r>
          </a:p>
        </p:txBody>
      </p:sp>
      <p:cxnSp>
        <p:nvCxnSpPr>
          <p:cNvPr id="17" name="Connector 16"/>
          <p:cNvCxnSpPr/>
          <p:nvPr/>
        </p:nvCxnSpPr>
        <p:spPr>
          <a:xfrm>
            <a:off x="3844800" y="990000"/>
            <a:ext cx="3006000" cy="0"/>
          </a:xfrm>
          <a:prstGeom prst="line">
            <a:avLst/>
          </a:prstGeom>
          <a:ln w="9525">
            <a:solidFill>
              <a:srgbClr val="1A1E25"/>
            </a:solidFill>
          </a:ln>
        </p:spPr>
      </p:cxnSp>
      <p:sp>
        <p:nvSpPr>
          <p:cNvPr id="18" name="표지 막대"/>
          <p:cNvSpPr/>
          <p:nvPr/>
        </p:nvSpPr>
        <p:spPr>
          <a:xfrm>
            <a:off x="3844800" y="99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그림 제목"/>
          <p:cNvSpPr txBox="1"/>
          <p:nvPr/>
        </p:nvSpPr>
        <p:spPr>
          <a:xfrm>
            <a:off x="3844800" y="1090800"/>
            <a:ext cx="300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14년 8개월 적립 후 원금 대비 최종 금액</a:t>
            </a:r>
          </a:p>
        </p:txBody>
      </p:sp>
      <p:sp>
        <p:nvSpPr>
          <p:cNvPr id="20" name="그림 설명"/>
          <p:cNvSpPr txBox="1"/>
          <p:nvPr/>
        </p:nvSpPr>
        <p:spPr>
          <a:xfrm>
            <a:off x="3844800" y="1278000"/>
            <a:ext cx="300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2012-01 ~ 2026-08-31 · 몇 배가 됐나 · 금액과 무관 · 세전</a:t>
            </a:r>
          </a:p>
        </p:txBody>
      </p:sp>
      <p:graphicFrame>
        <p:nvGraphicFramePr>
          <p:cNvPr id="21" name="원금 대비 배수"/>
          <p:cNvGraphicFramePr>
            <a:graphicFrameLocks noGrp="1"/>
          </p:cNvGraphicFramePr>
          <p:nvPr/>
        </p:nvGraphicFramePr>
        <p:xfrm>
          <a:off x="3844800" y="1422000"/>
          <a:ext cx="3006000" cy="1944000"/>
        </p:xfrm>
        <a:graphic>
          <a:graphicData uri="http://schemas.openxmlformats.org/drawingml/2006/chart">
            <c:chart xmlns:c="http://schemas.openxmlformats.org/drawingml/2006/chart" r:id="rId2"/>
          </a:graphicData>
        </a:graphic>
      </p:graphicFrame>
      <p:cxnSp>
        <p:nvCxnSpPr>
          <p:cNvPr id="22" name="Connector 21"/>
          <p:cNvCxnSpPr/>
          <p:nvPr/>
        </p:nvCxnSpPr>
        <p:spPr>
          <a:xfrm>
            <a:off x="7128000" y="990000"/>
            <a:ext cx="3006000" cy="0"/>
          </a:xfrm>
          <a:prstGeom prst="line">
            <a:avLst/>
          </a:prstGeom>
          <a:ln w="9525">
            <a:solidFill>
              <a:srgbClr val="1A1E25"/>
            </a:solidFill>
          </a:ln>
        </p:spPr>
      </p:cxnSp>
      <p:sp>
        <p:nvSpPr>
          <p:cNvPr id="23" name="표지 막대"/>
          <p:cNvSpPr/>
          <p:nvPr/>
        </p:nvSpPr>
        <p:spPr>
          <a:xfrm>
            <a:off x="7128000" y="99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그림 제목"/>
          <p:cNvSpPr txBox="1"/>
          <p:nvPr/>
        </p:nvSpPr>
        <p:spPr>
          <a:xfrm>
            <a:off x="7128000" y="1090800"/>
            <a:ext cx="300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그동안 견뎌야 했던 최대 낙폭</a:t>
            </a:r>
          </a:p>
        </p:txBody>
      </p:sp>
      <p:sp>
        <p:nvSpPr>
          <p:cNvPr id="25" name="그림 설명"/>
          <p:cNvSpPr txBox="1"/>
          <p:nvPr/>
        </p:nvSpPr>
        <p:spPr>
          <a:xfrm>
            <a:off x="7128000" y="1278000"/>
            <a:ext cx="300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적금은 0% · 투자는 단위 가격의 일간 고점 대비 · 2012-01 ~ 2026-08</a:t>
            </a:r>
          </a:p>
        </p:txBody>
      </p:sp>
      <p:graphicFrame>
        <p:nvGraphicFramePr>
          <p:cNvPr id="26" name="최대 낙폭 비교"/>
          <p:cNvGraphicFramePr>
            <a:graphicFrameLocks noGrp="1"/>
          </p:cNvGraphicFramePr>
          <p:nvPr/>
        </p:nvGraphicFramePr>
        <p:xfrm>
          <a:off x="7128000" y="1422000"/>
          <a:ext cx="3006000" cy="1944000"/>
        </p:xfrm>
        <a:graphic>
          <a:graphicData uri="http://schemas.openxmlformats.org/drawingml/2006/chart">
            <c:chart xmlns:c="http://schemas.openxmlformats.org/drawingml/2006/chart" r:id="rId3"/>
          </a:graphicData>
        </a:graphic>
      </p:graphicFrame>
      <p:cxnSp>
        <p:nvCxnSpPr>
          <p:cNvPr id="27" name="Connector 26"/>
          <p:cNvCxnSpPr/>
          <p:nvPr/>
        </p:nvCxnSpPr>
        <p:spPr>
          <a:xfrm>
            <a:off x="558000" y="3618000"/>
            <a:ext cx="9576000" cy="0"/>
          </a:xfrm>
          <a:prstGeom prst="line">
            <a:avLst/>
          </a:prstGeom>
          <a:ln w="9525">
            <a:solidFill>
              <a:srgbClr val="1A1E25"/>
            </a:solidFill>
          </a:ln>
        </p:spPr>
      </p:cxnSp>
      <p:sp>
        <p:nvSpPr>
          <p:cNvPr id="28" name="표지 막대"/>
          <p:cNvSpPr/>
          <p:nvPr/>
        </p:nvSpPr>
        <p:spPr>
          <a:xfrm>
            <a:off x="558000" y="3618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그림 제목"/>
          <p:cNvSpPr txBox="1"/>
          <p:nvPr/>
        </p:nvSpPr>
        <p:spPr>
          <a:xfrm>
            <a:off x="558000" y="3718800"/>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14년 8개월 적립 후 납입액별 최종 금액 — Deneb · Polaris · QQQ 단독 적립 · 적금 3% · 적금 4%</a:t>
            </a:r>
          </a:p>
        </p:txBody>
      </p:sp>
      <p:sp>
        <p:nvSpPr>
          <p:cNvPr id="30" name="그림 설명"/>
          <p:cNvSpPr txBox="1"/>
          <p:nvPr/>
        </p:nvSpPr>
        <p:spPr>
          <a:xfrm>
            <a:off x="558000" y="3906000"/>
            <a:ext cx="957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2012-01 ~ 2026-08 매달 납입 176회 · 단위 만 원 · 모두 세전</a:t>
            </a:r>
          </a:p>
        </p:txBody>
      </p:sp>
      <p:graphicFrame>
        <p:nvGraphicFramePr>
          <p:cNvPr id="31" name="표"/>
          <p:cNvGraphicFramePr>
            <a:graphicFrameLocks noGrp="1"/>
          </p:cNvGraphicFramePr>
          <p:nvPr/>
        </p:nvGraphicFramePr>
        <p:xfrm>
          <a:off x="558000" y="4104000"/>
          <a:ext cx="9575991" cy="1512000"/>
        </p:xfrm>
        <a:graphic>
          <a:graphicData uri="http://schemas.openxmlformats.org/drawingml/2006/table">
            <a:tbl>
              <a:tblPr firstRow="0" bandRow="0" firstCol="0" lastCol="0" bandCol="0" lastRow="0">
                <a:tableStyleId>{5940675A-B579-460E-94D1-54222C63F5DA}</a:tableStyleId>
              </a:tblPr>
              <a:tblGrid>
                <a:gridCol w="936000"/>
                <a:gridCol w="959999"/>
                <a:gridCol w="959999"/>
                <a:gridCol w="959999"/>
                <a:gridCol w="959999"/>
                <a:gridCol w="959999"/>
                <a:gridCol w="959999"/>
                <a:gridCol w="959999"/>
                <a:gridCol w="959999"/>
                <a:gridCol w="959999"/>
              </a:tblGrid>
              <a:tr h="2160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원금</a:t>
                      </a:r>
                      <a:endParaRPr sz="850"/>
                    </a:p>
                  </a:txBody>
                  <a:tcPr marL="28800" marR="43200" marT="25200" marB="25200" anchor="b">
                    <a:lnL w="0">
                      <a:noFill/>
                    </a:lnL>
                    <a:lnR w="0">
                      <a:noFill/>
                    </a:lnR>
                    <a:lnT w="9525">
                      <a:solidFill>
                        <a:srgbClr val="1A1E25"/>
                      </a:solidFill>
                    </a:lnT>
                    <a:lnB w="0">
                      <a:noFill/>
                    </a:lnB>
                    <a:noFill/>
                  </a:tcPr>
                </a:tc>
                <a:tc gridSpan="5">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최종 금액</a:t>
                      </a:r>
                      <a:endParaRPr sz="850"/>
                    </a:p>
                  </a:txBody>
                  <a:tcPr marL="28800" marR="43200" marT="25200" marB="25200" anchor="b">
                    <a:lnL w="0">
                      <a:noFill/>
                    </a:lnL>
                    <a:lnR w="0">
                      <a:noFill/>
                    </a:lnR>
                    <a:lnT w="9525">
                      <a:solidFill>
                        <a:srgbClr val="1A1E25"/>
                      </a:solidFill>
                    </a:lnT>
                    <a:lnB w="0">
                      <a:noFill/>
                    </a:lnB>
                    <a:noFill/>
                  </a:tcPr>
                </a:tc>
                <a:tc hMerge="1">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c hMerge="1">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c hMerge="1">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c hMerge="1">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c gridSpan="3">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적금 4%보다 더 남은 금액</a:t>
                      </a:r>
                      <a:endParaRPr sz="850"/>
                    </a:p>
                  </a:txBody>
                  <a:tcPr marL="28800" marR="43200" marT="25200" marB="25200" anchor="b">
                    <a:lnL w="0">
                      <a:noFill/>
                    </a:lnL>
                    <a:lnR w="0">
                      <a:noFill/>
                    </a:lnR>
                    <a:lnT w="9525">
                      <a:solidFill>
                        <a:srgbClr val="1A1E25"/>
                      </a:solidFill>
                    </a:lnT>
                    <a:lnB w="0">
                      <a:noFill/>
                    </a:lnB>
                    <a:noFill/>
                  </a:tcPr>
                </a:tc>
                <a:tc hMerge="1">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c hMerge="1">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0">
                      <a:noFill/>
                    </a:lnB>
                    <a:noFill/>
                  </a:tcPr>
                </a:tc>
              </a:tr>
              <a:tr h="2160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월 납입액</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적금 3%</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적금 4%</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Polaris</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QQQ 단독</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Deneb</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Polaris</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QQQ 단독</a:t>
                      </a:r>
                      <a:endParaRPr sz="850"/>
                    </a:p>
                  </a:txBody>
                  <a:tcPr marL="28800" marR="43200" marT="25200" marB="25200" anchor="b">
                    <a:lnL w="0">
                      <a:noFill/>
                    </a:lnL>
                    <a:lnR w="0">
                      <a:noFill/>
                    </a:lnR>
                    <a:lnT w="0">
                      <a:no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Deneb</a:t>
                      </a:r>
                      <a:endParaRPr sz="850"/>
                    </a:p>
                  </a:txBody>
                  <a:tcPr marL="28800" marR="43200" marT="25200" marB="25200" anchor="b">
                    <a:lnL w="0">
                      <a:noFill/>
                    </a:lnL>
                    <a:lnR w="0">
                      <a:noFill/>
                    </a:lnR>
                    <a:lnT w="0">
                      <a:noFill/>
                    </a:lnT>
                    <a:lnB w="9525">
                      <a:solidFill>
                        <a:srgbClr val="1A1E25"/>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10만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2,206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2,384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5,077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36,111</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+2,693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+6,421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+33,728</a:t>
                      </a:r>
                      <a:endParaRPr sz="90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20만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3,520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4,413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4,767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10,153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72,222</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+5,386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+12,842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+67,455</a:t>
                      </a:r>
                      <a:endParaRPr sz="90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30만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5,280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6,619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7,151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15,230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26,414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108,334</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+8,079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+19,263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+101,183</a:t>
                      </a:r>
                      <a:endParaRPr sz="90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50만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11,031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11,918</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25,384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44,023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180,556</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+13,466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+32,105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+168,638</a:t>
                      </a:r>
                      <a:endParaRPr sz="90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월 100만 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22,063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23,836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50,767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88,045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361,112</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+26,931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+64,209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+337,276</a:t>
                      </a:r>
                      <a:endParaRPr sz="900"/>
                    </a:p>
                  </a:txBody>
                  <a:tcPr marL="28800" marR="43200" marT="25200" marB="25200" anchor="ctr">
                    <a:lnL w="0">
                      <a:noFill/>
                    </a:lnL>
                    <a:lnR w="0">
                      <a:noFill/>
                    </a:lnR>
                    <a:lnT w="0">
                      <a:noFill/>
                    </a:lnT>
                    <a:lnB w="6350">
                      <a:solidFill>
                        <a:srgbClr val="C9D0DA"/>
                      </a:solidFill>
                    </a:lnB>
                    <a:solidFill>
                      <a:srgbClr val="EDF1F7"/>
                    </a:solidFill>
                  </a:tcPr>
                </a:tc>
              </a:tr>
            </a:tbl>
          </a:graphicData>
        </a:graphic>
      </p:graphicFrame>
      <p:cxnSp>
        <p:nvCxnSpPr>
          <p:cNvPr id="32" name="Connector 31"/>
          <p:cNvCxnSpPr/>
          <p:nvPr/>
        </p:nvCxnSpPr>
        <p:spPr>
          <a:xfrm>
            <a:off x="558000" y="4104000"/>
            <a:ext cx="9575999" cy="0"/>
          </a:xfrm>
          <a:prstGeom prst="line">
            <a:avLst/>
          </a:prstGeom>
          <a:ln w="25400">
            <a:solidFill>
              <a:srgbClr val="1A1E25"/>
            </a:solidFill>
          </a:ln>
        </p:spPr>
      </p:cxnSp>
      <p:cxnSp>
        <p:nvCxnSpPr>
          <p:cNvPr id="33" name="Connector 32"/>
          <p:cNvCxnSpPr/>
          <p:nvPr/>
        </p:nvCxnSpPr>
        <p:spPr>
          <a:xfrm>
            <a:off x="558000" y="5886000"/>
            <a:ext cx="3006000" cy="0"/>
          </a:xfrm>
          <a:prstGeom prst="line">
            <a:avLst/>
          </a:prstGeom>
          <a:ln w="6350">
            <a:solidFill>
              <a:srgbClr val="C9D0DA"/>
            </a:solidFill>
          </a:ln>
        </p:spPr>
      </p:cxnSp>
      <p:sp>
        <p:nvSpPr>
          <p:cNvPr id="34" name="TextBox 33"/>
          <p:cNvSpPr txBox="1"/>
          <p:nvPr/>
        </p:nvSpPr>
        <p:spPr>
          <a:xfrm>
            <a:off x="558000" y="5958000"/>
            <a:ext cx="3006000" cy="1296000"/>
          </a:xfrm>
          <a:prstGeom prst="rect">
            <a:avLst/>
          </a:prstGeom>
          <a:noFill/>
        </p:spPr>
        <p:txBody>
          <a:bodyPr wrap="square" lIns="0" rIns="0" tIns="0" bIns="0" anchor="t">
            <a:spAutoFit/>
          </a:bodyPr>
          <a:lstStyle/>
          <a:p>
            <a:pPr algn="l" eaLnBrk="0">
              <a:lnSpc>
                <a:spcPct val="132000"/>
              </a:lnSpc>
              <a:spcAft>
                <a:spcPts val="0"/>
              </a:spcAft>
            </a:pPr>
            <a:r>
              <a:rPr sz="900" b="1" lang="ko-KR" altLang="en-US">
                <a:solidFill>
                  <a:srgbClr val="1A1E25"/>
                </a:solidFill>
                <a:latin typeface="Noto Sans KR"/>
                <a:ea typeface="Noto Sans KR"/>
                <a:cs typeface="Noto Sans KR"/>
              </a:rPr>
              <a:t>원금 위험  </a:t>
            </a:r>
            <a:r>
              <a:rPr sz="900" b="0" lang="ko-KR" altLang="en-US">
                <a:solidFill>
                  <a:srgbClr val="1A1E25"/>
                </a:solidFill>
                <a:latin typeface="Noto Sans KR"/>
                <a:ea typeface="Noto Sans KR"/>
                <a:cs typeface="Noto Sans KR"/>
              </a:rPr>
              <a:t>적금은 예금자 보호 한도 안에서 원금과 약정 이자가 정해져 있습니다. 투자 계좌는 넣은 돈보다 적어질 수 있고, 언제 끝내느냐에 따라 결과가 크게 달라집니다.</a:t>
            </a:r>
          </a:p>
        </p:txBody>
      </p:sp>
      <p:cxnSp>
        <p:nvCxnSpPr>
          <p:cNvPr id="35" name="Connector 34"/>
          <p:cNvCxnSpPr/>
          <p:nvPr/>
        </p:nvCxnSpPr>
        <p:spPr>
          <a:xfrm>
            <a:off x="3844800" y="5886000"/>
            <a:ext cx="3006000" cy="0"/>
          </a:xfrm>
          <a:prstGeom prst="line">
            <a:avLst/>
          </a:prstGeom>
          <a:ln w="6350">
            <a:solidFill>
              <a:srgbClr val="C9D0DA"/>
            </a:solidFill>
          </a:ln>
        </p:spPr>
      </p:cxnSp>
      <p:sp>
        <p:nvSpPr>
          <p:cNvPr id="36" name="TextBox 35"/>
          <p:cNvSpPr txBox="1"/>
          <p:nvPr/>
        </p:nvSpPr>
        <p:spPr>
          <a:xfrm>
            <a:off x="3844800" y="5958000"/>
            <a:ext cx="3006000" cy="1296000"/>
          </a:xfrm>
          <a:prstGeom prst="rect">
            <a:avLst/>
          </a:prstGeom>
          <a:noFill/>
        </p:spPr>
        <p:txBody>
          <a:bodyPr wrap="square" lIns="0" rIns="0" tIns="0" bIns="0" anchor="t">
            <a:spAutoFit/>
          </a:bodyPr>
          <a:lstStyle/>
          <a:p>
            <a:pPr algn="l" eaLnBrk="0">
              <a:lnSpc>
                <a:spcPct val="132000"/>
              </a:lnSpc>
              <a:spcAft>
                <a:spcPts val="0"/>
              </a:spcAft>
            </a:pPr>
            <a:r>
              <a:rPr sz="900" b="1" lang="ko-KR" altLang="en-US">
                <a:solidFill>
                  <a:srgbClr val="1A1E25"/>
                </a:solidFill>
                <a:latin typeface="Noto Sans KR"/>
                <a:ea typeface="Noto Sans KR"/>
                <a:cs typeface="Noto Sans KR"/>
              </a:rPr>
              <a:t>기간의 운  </a:t>
            </a:r>
            <a:r>
              <a:rPr sz="900" b="0" lang="ko-KR" altLang="en-US">
                <a:solidFill>
                  <a:srgbClr val="1A1E25"/>
                </a:solidFill>
                <a:latin typeface="Noto Sans KR"/>
                <a:ea typeface="Noto Sans KR"/>
                <a:cs typeface="Noto Sans KR"/>
              </a:rPr>
              <a:t>2012~2026년은 미국 성장주가 매우 강했던 기간입니다. 이 기간에는 원금 아래로 내려간 달이 거의 없었지만, 닷컴 붕괴 · 2008년 위기가 들어간 긴 합성 연구에서는 레버리지 섞기의 낙폭이 −98%까지 나왔습니다.</a:t>
            </a:r>
          </a:p>
        </p:txBody>
      </p:sp>
      <p:cxnSp>
        <p:nvCxnSpPr>
          <p:cNvPr id="37" name="Connector 36"/>
          <p:cNvCxnSpPr/>
          <p:nvPr/>
        </p:nvCxnSpPr>
        <p:spPr>
          <a:xfrm>
            <a:off x="7128000" y="5886000"/>
            <a:ext cx="3006000" cy="0"/>
          </a:xfrm>
          <a:prstGeom prst="line">
            <a:avLst/>
          </a:prstGeom>
          <a:ln w="6350">
            <a:solidFill>
              <a:srgbClr val="C9D0DA"/>
            </a:solidFill>
          </a:ln>
        </p:spPr>
      </p:cxnSp>
      <p:sp>
        <p:nvSpPr>
          <p:cNvPr id="38" name="TextBox 37"/>
          <p:cNvSpPr txBox="1"/>
          <p:nvPr/>
        </p:nvSpPr>
        <p:spPr>
          <a:xfrm>
            <a:off x="7128000" y="5958000"/>
            <a:ext cx="3006000" cy="1296000"/>
          </a:xfrm>
          <a:prstGeom prst="rect">
            <a:avLst/>
          </a:prstGeom>
          <a:noFill/>
        </p:spPr>
        <p:txBody>
          <a:bodyPr wrap="square" lIns="0" rIns="0" tIns="0" bIns="0" anchor="t">
            <a:spAutoFit/>
          </a:bodyPr>
          <a:lstStyle/>
          <a:p>
            <a:pPr algn="l" eaLnBrk="0">
              <a:lnSpc>
                <a:spcPct val="132000"/>
              </a:lnSpc>
              <a:spcAft>
                <a:spcPts val="0"/>
              </a:spcAft>
            </a:pPr>
            <a:r>
              <a:rPr sz="900" b="1" lang="ko-KR" altLang="en-US">
                <a:solidFill>
                  <a:srgbClr val="1A1E25"/>
                </a:solidFill>
                <a:latin typeface="Noto Sans KR"/>
                <a:ea typeface="Noto Sans KR"/>
                <a:cs typeface="Noto Sans KR"/>
              </a:rPr>
              <a:t>세금 가정  </a:t>
            </a:r>
            <a:r>
              <a:rPr sz="900" b="0" lang="ko-KR" altLang="en-US">
                <a:solidFill>
                  <a:srgbClr val="1A1E25"/>
                </a:solidFill>
                <a:latin typeface="Noto Sans KR"/>
                <a:ea typeface="Noto Sans KR"/>
                <a:cs typeface="Noto Sans KR"/>
              </a:rPr>
              <a:t>이 표는 모두 세전입니다. 적금 이자에 15.4%를 떼면 월 10만 원 적금 4%는 2,272만 원입니다. 해외 ETF는 매도 이익에서 연 250만 원을 뺀 뒤 22% 양도세가 붙습니다.</a:t>
            </a:r>
          </a:p>
        </p:txBody>
      </p:sp>
      <p:sp>
        <p:nvSpPr>
          <p:cNvPr id="39"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11장 · 적금과 비교</a:t>
            </a:r>
          </a:p>
        </p:txBody>
      </p:sp>
      <p:sp>
        <p:nvSpPr>
          <p:cNvPr id="40"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적금: 12개월 단리 → 같은 금리 예금 재예치 · 세전, 세후 참고는 이자 15.4% 차감 · 투자: 실제 ETF 수정 종가(QQQ · QLD · TQQQ · SCHD · SPY · IEF · GLD), 자체 계산 · 비용 0.15% · 세전 · 환율 고정 · 소수 주</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8037600" y="619200"/>
            <a:ext cx="5364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29</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5부 · 장기 시나리오</a:t>
            </a:r>
          </a:p>
        </p:txBody>
      </p:sp>
      <p:sp>
        <p:nvSpPr>
          <p:cNvPr id="14" name="제목"/>
          <p:cNvSpPr txBox="1"/>
          <p:nvPr/>
        </p:nvSpPr>
        <p:spPr>
          <a:xfrm>
            <a:off x="558000" y="990000"/>
            <a:ext cx="6120000" cy="864000"/>
          </a:xfrm>
          <a:prstGeom prst="rect">
            <a:avLst/>
          </a:prstGeom>
          <a:noFill/>
        </p:spPr>
        <p:txBody>
          <a:bodyPr wrap="square" lIns="0" rIns="0" tIns="0" bIns="0" anchor="t">
            <a:spAutoFit/>
          </a:bodyPr>
          <a:lstStyle/>
          <a:p>
            <a:pPr algn="l" eaLnBrk="0">
              <a:lnSpc>
                <a:spcPct val="108000"/>
              </a:lnSpc>
              <a:spcAft>
                <a:spcPts val="0"/>
              </a:spcAft>
            </a:pPr>
            <a:r>
              <a:rPr sz="3200" b="0" lang="ko-KR" altLang="en-US">
                <a:solidFill>
                  <a:srgbClr val="1A1E25"/>
                </a:solidFill>
                <a:latin typeface="Malgun Gothic Semilight"/>
                <a:ea typeface="Malgun Gothic Semilight"/>
                <a:cs typeface="Malgun Gothic Semilight"/>
              </a:rPr>
              <a:t>20년 뒤의 범위</a:t>
            </a:r>
          </a:p>
        </p:txBody>
      </p:sp>
      <p:sp>
        <p:nvSpPr>
          <p:cNvPr id="15" name="TextBox 14"/>
          <p:cNvSpPr txBox="1"/>
          <p:nvPr/>
        </p:nvSpPr>
        <p:spPr>
          <a:xfrm>
            <a:off x="558000" y="1710000"/>
            <a:ext cx="6300000" cy="792000"/>
          </a:xfrm>
          <a:prstGeom prst="rect">
            <a:avLst/>
          </a:prstGeom>
          <a:noFill/>
        </p:spPr>
        <p:txBody>
          <a:bodyPr wrap="square" lIns="0" rIns="0" tIns="0" bIns="0" anchor="t">
            <a:spAutoFit/>
          </a:bodyPr>
          <a:lstStyle/>
          <a:p>
            <a:pPr algn="l" eaLnBrk="0">
              <a:lnSpc>
                <a:spcPct val="130000"/>
              </a:lnSpc>
              <a:spcAft>
                <a:spcPts val="0"/>
              </a:spcAft>
            </a:pPr>
            <a:r>
              <a:rPr sz="1300" b="0" lang="ko-KR" altLang="en-US">
                <a:solidFill>
                  <a:srgbClr val="1A1E25"/>
                </a:solidFill>
                <a:latin typeface="Malgun Gothic Semilight"/>
                <a:ea typeface="Malgun Gothic Semilight"/>
                <a:cs typeface="Malgun Gothic Semilight"/>
              </a:rPr>
              <a:t>2012~2026년의 실제 움직임을 1년씩 뒤섞어 만든 1,000개의 20년 경로입니다. 월 10만 원, 원금 2,400만 원. 미래 예측이 아니라 결과가 얼마나 넓게 퍼질 수 있는지를 봅니다.</a:t>
            </a:r>
          </a:p>
        </p:txBody>
      </p:sp>
      <p:sp>
        <p:nvSpPr>
          <p:cNvPr id="16" name="카드"/>
          <p:cNvSpPr/>
          <p:nvPr/>
        </p:nvSpPr>
        <p:spPr>
          <a:xfrm>
            <a:off x="558000" y="2736000"/>
            <a:ext cx="3011999" cy="2592000"/>
          </a:xfrm>
          <a:prstGeom prst="roundRect">
            <a:avLst>
              <a:gd name="adj" fmla="val 6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4000" y="2916000"/>
            <a:ext cx="2579999"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Deneb · 20년 · 중간값</a:t>
            </a:r>
          </a:p>
        </p:txBody>
      </p:sp>
      <p:sp>
        <p:nvSpPr>
          <p:cNvPr id="18" name="TextBox 17"/>
          <p:cNvSpPr txBox="1"/>
          <p:nvPr/>
        </p:nvSpPr>
        <p:spPr>
          <a:xfrm>
            <a:off x="774000" y="3131999"/>
            <a:ext cx="2579999" cy="468000"/>
          </a:xfrm>
          <a:prstGeom prst="rect">
            <a:avLst/>
          </a:prstGeom>
          <a:noFill/>
        </p:spPr>
        <p:txBody>
          <a:bodyPr wrap="square" lIns="0" rIns="0" tIns="0" bIns="0" anchor="t">
            <a:spAutoFit/>
          </a:bodyPr>
          <a:lstStyle/>
          <a:p>
            <a:pPr algn="l" eaLnBrk="0">
              <a:lnSpc>
                <a:spcPct val="100000"/>
              </a:lnSpc>
              <a:spcAft>
                <a:spcPts val="0"/>
              </a:spcAft>
            </a:pPr>
            <a:r>
              <a:rPr sz="2700" b="1" lang="ko-KR" altLang="en-US">
                <a:solidFill>
                  <a:srgbClr val="0B3D91"/>
                </a:solidFill>
                <a:latin typeface="Noto Sans KR"/>
                <a:ea typeface="Noto Sans KR"/>
                <a:cs typeface="Noto Sans KR"/>
              </a:rPr>
              <a:t>11억 9,417만 원</a:t>
            </a:r>
          </a:p>
        </p:txBody>
      </p:sp>
      <p:cxnSp>
        <p:nvCxnSpPr>
          <p:cNvPr id="19" name="Connector 18"/>
          <p:cNvCxnSpPr/>
          <p:nvPr/>
        </p:nvCxnSpPr>
        <p:spPr>
          <a:xfrm>
            <a:off x="774000" y="3654000"/>
            <a:ext cx="2580000" cy="0"/>
          </a:xfrm>
          <a:prstGeom prst="line">
            <a:avLst/>
          </a:prstGeom>
          <a:ln w="9525">
            <a:solidFill>
              <a:srgbClr val="D5DCE6"/>
            </a:solidFill>
          </a:ln>
        </p:spPr>
      </p:cxnSp>
      <p:sp>
        <p:nvSpPr>
          <p:cNvPr id="20" name="TextBox 19"/>
          <p:cNvSpPr txBox="1"/>
          <p:nvPr/>
        </p:nvSpPr>
        <p:spPr>
          <a:xfrm>
            <a:off x="774000" y="36900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하위 10%</a:t>
            </a:r>
          </a:p>
        </p:txBody>
      </p:sp>
      <p:sp>
        <p:nvSpPr>
          <p:cNvPr id="21" name="TextBox 20"/>
          <p:cNvSpPr txBox="1"/>
          <p:nvPr/>
        </p:nvSpPr>
        <p:spPr>
          <a:xfrm>
            <a:off x="1913399" y="36900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3억 3,621만 원</a:t>
            </a:r>
          </a:p>
        </p:txBody>
      </p:sp>
      <p:cxnSp>
        <p:nvCxnSpPr>
          <p:cNvPr id="22" name="Connector 21"/>
          <p:cNvCxnSpPr/>
          <p:nvPr/>
        </p:nvCxnSpPr>
        <p:spPr>
          <a:xfrm>
            <a:off x="774000" y="3934800"/>
            <a:ext cx="2580000" cy="0"/>
          </a:xfrm>
          <a:prstGeom prst="line">
            <a:avLst/>
          </a:prstGeom>
          <a:ln w="9525">
            <a:solidFill>
              <a:srgbClr val="D5DCE6"/>
            </a:solidFill>
          </a:ln>
        </p:spPr>
      </p:cxnSp>
      <p:sp>
        <p:nvSpPr>
          <p:cNvPr id="23" name="TextBox 22"/>
          <p:cNvSpPr txBox="1"/>
          <p:nvPr/>
        </p:nvSpPr>
        <p:spPr>
          <a:xfrm>
            <a:off x="774000" y="39708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모의 최저</a:t>
            </a:r>
          </a:p>
        </p:txBody>
      </p:sp>
      <p:sp>
        <p:nvSpPr>
          <p:cNvPr id="24" name="TextBox 23"/>
          <p:cNvSpPr txBox="1"/>
          <p:nvPr/>
        </p:nvSpPr>
        <p:spPr>
          <a:xfrm>
            <a:off x="1913399" y="39708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5,469만 원</a:t>
            </a:r>
          </a:p>
        </p:txBody>
      </p:sp>
      <p:sp>
        <p:nvSpPr>
          <p:cNvPr id="25" name="카드"/>
          <p:cNvSpPr/>
          <p:nvPr/>
        </p:nvSpPr>
        <p:spPr>
          <a:xfrm>
            <a:off x="3840000" y="2736000"/>
            <a:ext cx="3011999" cy="2592000"/>
          </a:xfrm>
          <a:prstGeom prst="roundRect">
            <a:avLst>
              <a:gd name="adj" fmla="val 6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55999" y="2916000"/>
            <a:ext cx="2579999"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QQQ 단독 적립 · 20년 · 중간값</a:t>
            </a:r>
          </a:p>
        </p:txBody>
      </p:sp>
      <p:sp>
        <p:nvSpPr>
          <p:cNvPr id="27" name="TextBox 26"/>
          <p:cNvSpPr txBox="1"/>
          <p:nvPr/>
        </p:nvSpPr>
        <p:spPr>
          <a:xfrm>
            <a:off x="4055999" y="3131999"/>
            <a:ext cx="2579999" cy="468000"/>
          </a:xfrm>
          <a:prstGeom prst="rect">
            <a:avLst/>
          </a:prstGeom>
          <a:noFill/>
        </p:spPr>
        <p:txBody>
          <a:bodyPr wrap="square" lIns="0" rIns="0" tIns="0" bIns="0" anchor="t">
            <a:spAutoFit/>
          </a:bodyPr>
          <a:lstStyle/>
          <a:p>
            <a:pPr algn="l" eaLnBrk="0">
              <a:lnSpc>
                <a:spcPct val="100000"/>
              </a:lnSpc>
              <a:spcAft>
                <a:spcPts val="0"/>
              </a:spcAft>
            </a:pPr>
            <a:r>
              <a:rPr sz="2700" b="1" lang="ko-KR" altLang="en-US">
                <a:solidFill>
                  <a:srgbClr val="E07A1F"/>
                </a:solidFill>
                <a:latin typeface="Noto Sans KR"/>
                <a:ea typeface="Noto Sans KR"/>
                <a:cs typeface="Noto Sans KR"/>
              </a:rPr>
              <a:t>2억 5,810만 원</a:t>
            </a:r>
          </a:p>
        </p:txBody>
      </p:sp>
      <p:cxnSp>
        <p:nvCxnSpPr>
          <p:cNvPr id="28" name="Connector 27"/>
          <p:cNvCxnSpPr/>
          <p:nvPr/>
        </p:nvCxnSpPr>
        <p:spPr>
          <a:xfrm>
            <a:off x="4055999" y="3654000"/>
            <a:ext cx="2580000" cy="0"/>
          </a:xfrm>
          <a:prstGeom prst="line">
            <a:avLst/>
          </a:prstGeom>
          <a:ln w="9525">
            <a:solidFill>
              <a:srgbClr val="D5DCE6"/>
            </a:solidFill>
          </a:ln>
        </p:spPr>
      </p:cxnSp>
      <p:sp>
        <p:nvSpPr>
          <p:cNvPr id="29" name="TextBox 28"/>
          <p:cNvSpPr txBox="1"/>
          <p:nvPr/>
        </p:nvSpPr>
        <p:spPr>
          <a:xfrm>
            <a:off x="4055999" y="36900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하위 10%</a:t>
            </a:r>
          </a:p>
        </p:txBody>
      </p:sp>
      <p:sp>
        <p:nvSpPr>
          <p:cNvPr id="30" name="TextBox 29"/>
          <p:cNvSpPr txBox="1"/>
          <p:nvPr/>
        </p:nvSpPr>
        <p:spPr>
          <a:xfrm>
            <a:off x="5195399" y="36900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1억 2,582만 원</a:t>
            </a:r>
          </a:p>
        </p:txBody>
      </p:sp>
      <p:cxnSp>
        <p:nvCxnSpPr>
          <p:cNvPr id="31" name="Connector 30"/>
          <p:cNvCxnSpPr/>
          <p:nvPr/>
        </p:nvCxnSpPr>
        <p:spPr>
          <a:xfrm>
            <a:off x="4055999" y="3934800"/>
            <a:ext cx="2580000" cy="0"/>
          </a:xfrm>
          <a:prstGeom prst="line">
            <a:avLst/>
          </a:prstGeom>
          <a:ln w="9525">
            <a:solidFill>
              <a:srgbClr val="D5DCE6"/>
            </a:solidFill>
          </a:ln>
        </p:spPr>
      </p:cxnSp>
      <p:sp>
        <p:nvSpPr>
          <p:cNvPr id="32" name="TextBox 31"/>
          <p:cNvSpPr txBox="1"/>
          <p:nvPr/>
        </p:nvSpPr>
        <p:spPr>
          <a:xfrm>
            <a:off x="4055999" y="39708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모의 최저</a:t>
            </a:r>
          </a:p>
        </p:txBody>
      </p:sp>
      <p:sp>
        <p:nvSpPr>
          <p:cNvPr id="33" name="TextBox 32"/>
          <p:cNvSpPr txBox="1"/>
          <p:nvPr/>
        </p:nvSpPr>
        <p:spPr>
          <a:xfrm>
            <a:off x="5195399" y="39708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4,252만 원</a:t>
            </a:r>
          </a:p>
        </p:txBody>
      </p:sp>
      <p:sp>
        <p:nvSpPr>
          <p:cNvPr id="34" name="카드"/>
          <p:cNvSpPr/>
          <p:nvPr/>
        </p:nvSpPr>
        <p:spPr>
          <a:xfrm>
            <a:off x="7121999" y="2736000"/>
            <a:ext cx="3011999" cy="2592000"/>
          </a:xfrm>
          <a:prstGeom prst="roundRect">
            <a:avLst>
              <a:gd name="adj" fmla="val 6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38000" y="2916000"/>
            <a:ext cx="2579999"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Polaris · 20년 · 중간값</a:t>
            </a:r>
          </a:p>
        </p:txBody>
      </p:sp>
      <p:sp>
        <p:nvSpPr>
          <p:cNvPr id="36" name="TextBox 35"/>
          <p:cNvSpPr txBox="1"/>
          <p:nvPr/>
        </p:nvSpPr>
        <p:spPr>
          <a:xfrm>
            <a:off x="7338000" y="3131999"/>
            <a:ext cx="2579999" cy="468000"/>
          </a:xfrm>
          <a:prstGeom prst="rect">
            <a:avLst/>
          </a:prstGeom>
          <a:noFill/>
        </p:spPr>
        <p:txBody>
          <a:bodyPr wrap="square" lIns="0" rIns="0" tIns="0" bIns="0" anchor="t">
            <a:spAutoFit/>
          </a:bodyPr>
          <a:lstStyle/>
          <a:p>
            <a:pPr algn="l" eaLnBrk="0">
              <a:lnSpc>
                <a:spcPct val="100000"/>
              </a:lnSpc>
              <a:spcAft>
                <a:spcPts val="0"/>
              </a:spcAft>
            </a:pPr>
            <a:r>
              <a:rPr sz="2700" b="1" lang="ko-KR" altLang="en-US">
                <a:solidFill>
                  <a:srgbClr val="1E9A84"/>
                </a:solidFill>
                <a:latin typeface="Noto Sans KR"/>
                <a:ea typeface="Noto Sans KR"/>
                <a:cs typeface="Noto Sans KR"/>
              </a:rPr>
              <a:t>1억 61만 원</a:t>
            </a:r>
          </a:p>
        </p:txBody>
      </p:sp>
      <p:cxnSp>
        <p:nvCxnSpPr>
          <p:cNvPr id="37" name="Connector 36"/>
          <p:cNvCxnSpPr/>
          <p:nvPr/>
        </p:nvCxnSpPr>
        <p:spPr>
          <a:xfrm>
            <a:off x="7338000" y="3654000"/>
            <a:ext cx="2579999" cy="0"/>
          </a:xfrm>
          <a:prstGeom prst="line">
            <a:avLst/>
          </a:prstGeom>
          <a:ln w="9525">
            <a:solidFill>
              <a:srgbClr val="D5DCE6"/>
            </a:solidFill>
          </a:ln>
        </p:spPr>
      </p:cxnSp>
      <p:sp>
        <p:nvSpPr>
          <p:cNvPr id="38" name="TextBox 37"/>
          <p:cNvSpPr txBox="1"/>
          <p:nvPr/>
        </p:nvSpPr>
        <p:spPr>
          <a:xfrm>
            <a:off x="7338000" y="36900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하위 10%</a:t>
            </a:r>
          </a:p>
        </p:txBody>
      </p:sp>
      <p:sp>
        <p:nvSpPr>
          <p:cNvPr id="39" name="TextBox 38"/>
          <p:cNvSpPr txBox="1"/>
          <p:nvPr/>
        </p:nvSpPr>
        <p:spPr>
          <a:xfrm>
            <a:off x="8477400" y="36900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6,610만 원</a:t>
            </a:r>
          </a:p>
        </p:txBody>
      </p:sp>
      <p:cxnSp>
        <p:nvCxnSpPr>
          <p:cNvPr id="40" name="Connector 39"/>
          <p:cNvCxnSpPr/>
          <p:nvPr/>
        </p:nvCxnSpPr>
        <p:spPr>
          <a:xfrm>
            <a:off x="7338000" y="3934800"/>
            <a:ext cx="2579999" cy="0"/>
          </a:xfrm>
          <a:prstGeom prst="line">
            <a:avLst/>
          </a:prstGeom>
          <a:ln w="9525">
            <a:solidFill>
              <a:srgbClr val="D5DCE6"/>
            </a:solidFill>
          </a:ln>
        </p:spPr>
      </p:cxnSp>
      <p:sp>
        <p:nvSpPr>
          <p:cNvPr id="41" name="TextBox 40"/>
          <p:cNvSpPr txBox="1"/>
          <p:nvPr/>
        </p:nvSpPr>
        <p:spPr>
          <a:xfrm>
            <a:off x="7338000" y="3970800"/>
            <a:ext cx="1656600" cy="180000"/>
          </a:xfrm>
          <a:prstGeom prst="rect">
            <a:avLst/>
          </a:prstGeom>
          <a:noFill/>
        </p:spPr>
        <p:txBody>
          <a:bodyPr wrap="square" lIns="0" rIns="0" tIns="0" bIns="0" anchor="t">
            <a:spAutoFit/>
          </a:bodyPr>
          <a:lstStyle/>
          <a:p>
            <a:pPr algn="l" eaLnBrk="0">
              <a:lnSpc>
                <a:spcPct val="100000"/>
              </a:lnSpc>
              <a:spcAft>
                <a:spcPts val="0"/>
              </a:spcAft>
            </a:pPr>
            <a:r>
              <a:rPr sz="1000" b="0" lang="ko-KR" altLang="en-US">
                <a:solidFill>
                  <a:srgbClr val="5C6573"/>
                </a:solidFill>
                <a:latin typeface="Noto Sans KR"/>
                <a:ea typeface="Noto Sans KR"/>
                <a:cs typeface="Noto Sans KR"/>
              </a:rPr>
              <a:t>모의 최저</a:t>
            </a:r>
          </a:p>
        </p:txBody>
      </p:sp>
      <p:sp>
        <p:nvSpPr>
          <p:cNvPr id="42" name="TextBox 41"/>
          <p:cNvSpPr txBox="1"/>
          <p:nvPr/>
        </p:nvSpPr>
        <p:spPr>
          <a:xfrm>
            <a:off x="8477400" y="3970800"/>
            <a:ext cx="1440600" cy="180000"/>
          </a:xfrm>
          <a:prstGeom prst="rect">
            <a:avLst/>
          </a:prstGeom>
          <a:noFill/>
        </p:spPr>
        <p:txBody>
          <a:bodyPr wrap="square" lIns="0" rIns="0" tIns="0" bIns="0" anchor="t">
            <a:spAutoFit/>
          </a:bodyPr>
          <a:lstStyle/>
          <a:p>
            <a:pPr algn="r" eaLnBrk="0">
              <a:lnSpc>
                <a:spcPct val="100000"/>
              </a:lnSpc>
              <a:spcAft>
                <a:spcPts val="0"/>
              </a:spcAft>
            </a:pPr>
            <a:r>
              <a:rPr sz="1100" b="1" lang="ko-KR" altLang="en-US">
                <a:solidFill>
                  <a:srgbClr val="1A1E25"/>
                </a:solidFill>
                <a:latin typeface="Noto Sans KR"/>
                <a:ea typeface="Noto Sans KR"/>
                <a:cs typeface="Noto Sans KR"/>
              </a:rPr>
              <a:t>3,518만 원</a:t>
            </a:r>
          </a:p>
        </p:txBody>
      </p:sp>
      <p:sp>
        <p:nvSpPr>
          <p:cNvPr id="43" name="TextBox 42"/>
          <p:cNvSpPr txBox="1"/>
          <p:nvPr/>
        </p:nvSpPr>
        <p:spPr>
          <a:xfrm>
            <a:off x="558000" y="5562000"/>
            <a:ext cx="9576000" cy="576000"/>
          </a:xfrm>
          <a:prstGeom prst="rect">
            <a:avLst/>
          </a:prstGeom>
          <a:noFill/>
        </p:spPr>
        <p:txBody>
          <a:bodyPr wrap="square" lIns="0" rIns="0" tIns="0" bIns="0" anchor="t">
            <a:spAutoFit/>
          </a:bodyPr>
          <a:lstStyle/>
          <a:p>
            <a:pPr algn="l" eaLnBrk="0">
              <a:lnSpc>
                <a:spcPct val="132000"/>
              </a:lnSpc>
              <a:spcAft>
                <a:spcPts val="0"/>
              </a:spcAft>
            </a:pPr>
            <a:r>
              <a:rPr sz="1000" b="0" lang="ko-KR" altLang="en-US">
                <a:solidFill>
                  <a:srgbClr val="1A1E25"/>
                </a:solidFill>
                <a:latin typeface="Noto Sans KR"/>
                <a:ea typeface="Noto Sans KR"/>
                <a:cs typeface="Noto Sans KR"/>
              </a:rPr>
              <a:t>같은 조건의 적금 4%는 3,651만 원입니다. 재료가 미국 성장주가 강했던 2012~2026년뿐이라 숫자가 크게 나옵니다. 닷컴 붕괴나 2008년 같은 하락은 재료에 없습니다.</a:t>
            </a:r>
          </a:p>
        </p:txBody>
      </p:sp>
      <p:sp>
        <p:nvSpPr>
          <p:cNvPr id="44"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full_report/calculation.py 재표본(씨앗 20261018 · 1,000 경로) + blue_manual/calc2.py QQQ 단독 적립 추가 · 세전 · 비례 환산</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8037600" y="619200"/>
            <a:ext cx="5364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30</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12장 · 장기 적립 시나리오</a:t>
            </a:r>
          </a:p>
        </p:txBody>
      </p:sp>
      <p:sp>
        <p:nvSpPr>
          <p:cNvPr id="14"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만드는 방법과
퍼짐</a:t>
            </a:r>
          </a:p>
        </p:txBody>
      </p:sp>
      <p:sp>
        <p:nvSpPr>
          <p:cNvPr id="15" name="TextBox 14"/>
          <p:cNvSpPr txBox="1"/>
          <p:nvPr/>
        </p:nvSpPr>
        <p:spPr>
          <a:xfrm>
            <a:off x="558000" y="1944000"/>
            <a:ext cx="3006000" cy="4680000"/>
          </a:xfrm>
          <a:prstGeom prst="rect">
            <a:avLst/>
          </a:prstGeom>
          <a:noFill/>
        </p:spPr>
        <p:txBody>
          <a:bodyPr wrap="square" lIns="0" rIns="0" tIns="0" bIns="0" anchor="t">
            <a:spAutoFit/>
          </a:bodyPr>
          <a:lstStyle/>
          <a:p>
            <a:pPr algn="l" eaLnBrk="0">
              <a:lnSpc>
                <a:spcPct val="132000"/>
              </a:lnSpc>
              <a:spcAft>
                <a:spcPts val="700"/>
              </a:spcAft>
            </a:pPr>
            <a:r>
              <a:rPr sz="950" b="1" lang="ko-KR" altLang="en-US">
                <a:solidFill>
                  <a:srgbClr val="1A1E25"/>
                </a:solidFill>
                <a:latin typeface="Noto Sans KR"/>
                <a:ea typeface="Noto Sans KR"/>
                <a:cs typeface="Noto Sans KR"/>
              </a:rPr>
              <a:t>1  </a:t>
            </a:r>
            <a:r>
              <a:rPr sz="950" b="0" lang="ko-KR" altLang="en-US">
                <a:solidFill>
                  <a:srgbClr val="1A1E25"/>
                </a:solidFill>
                <a:latin typeface="Noto Sans KR"/>
                <a:ea typeface="Noto Sans KR"/>
                <a:cs typeface="Noto Sans KR"/>
              </a:rPr>
              <a:t>2012~2026년 매일의 QQQ · TQQQ · SCHD · SPY · IEF · GLD 수익률을 같은 날끼리 묶어 둡니다.</a:t>
            </a:r>
          </a:p>
          <a:p>
            <a:pPr algn="l" eaLnBrk="0">
              <a:lnSpc>
                <a:spcPct val="132000"/>
              </a:lnSpc>
              <a:spcAft>
                <a:spcPts val="700"/>
              </a:spcAft>
            </a:pPr>
            <a:r>
              <a:rPr sz="950" b="1" lang="ko-KR" altLang="en-US">
                <a:solidFill>
                  <a:srgbClr val="1A1E25"/>
                </a:solidFill>
                <a:latin typeface="Noto Sans KR"/>
                <a:ea typeface="Noto Sans KR"/>
                <a:cs typeface="Noto Sans KR"/>
              </a:rPr>
              <a:t>2  </a:t>
            </a:r>
            <a:r>
              <a:rPr sz="950" b="0" lang="ko-KR" altLang="en-US">
                <a:solidFill>
                  <a:srgbClr val="1A1E25"/>
                </a:solidFill>
                <a:latin typeface="Noto Sans KR"/>
                <a:ea typeface="Noto Sans KR"/>
                <a:cs typeface="Noto Sans KR"/>
              </a:rPr>
              <a:t>그중 1년(252거래일)짜리 덩어리를 무작위로 골라 20년이 될 때까지 이어 붙입니다. 이렇게 1,000번.</a:t>
            </a:r>
          </a:p>
          <a:p>
            <a:pPr algn="l" eaLnBrk="0">
              <a:lnSpc>
                <a:spcPct val="132000"/>
              </a:lnSpc>
              <a:spcAft>
                <a:spcPts val="700"/>
              </a:spcAft>
            </a:pPr>
            <a:r>
              <a:rPr sz="950" b="1" lang="ko-KR" altLang="en-US">
                <a:solidFill>
                  <a:srgbClr val="1A1E25"/>
                </a:solidFill>
                <a:latin typeface="Noto Sans KR"/>
                <a:ea typeface="Noto Sans KR"/>
                <a:cs typeface="Noto Sans KR"/>
              </a:rPr>
              <a:t>3  </a:t>
            </a:r>
            <a:r>
              <a:rPr sz="950" b="0" lang="ko-KR" altLang="en-US">
                <a:solidFill>
                  <a:srgbClr val="1A1E25"/>
                </a:solidFill>
                <a:latin typeface="Noto Sans KR"/>
                <a:ea typeface="Noto Sans KR"/>
                <a:cs typeface="Noto Sans KR"/>
              </a:rPr>
              <a:t>경로마다 Deneb · Polaris · QQQ 단독 적립을 같은 규칙 그대로(하락 방어 · 12월 맞춤 포함) 처음부터 돌립니다. 세 전략은 같은 1,000개 경로를 씁니다.</a:t>
            </a:r>
          </a:p>
          <a:p>
            <a:pPr algn="l" eaLnBrk="0">
              <a:lnSpc>
                <a:spcPct val="132000"/>
              </a:lnSpc>
              <a:spcAft>
                <a:spcPts val="700"/>
              </a:spcAft>
            </a:pPr>
            <a:r>
              <a:rPr sz="950" b="1" lang="ko-KR" altLang="en-US">
                <a:solidFill>
                  <a:srgbClr val="1A1E25"/>
                </a:solidFill>
                <a:latin typeface="Noto Sans KR"/>
                <a:ea typeface="Noto Sans KR"/>
                <a:cs typeface="Noto Sans KR"/>
              </a:rPr>
              <a:t>4  </a:t>
            </a:r>
            <a:r>
              <a:rPr sz="950" b="0" lang="ko-KR" altLang="en-US">
                <a:solidFill>
                  <a:srgbClr val="1A1E25"/>
                </a:solidFill>
                <a:latin typeface="Noto Sans KR"/>
                <a:ea typeface="Noto Sans KR"/>
                <a:cs typeface="Noto Sans KR"/>
              </a:rPr>
              <a:t>5 · 10 · 15 · 20년째 금액을 줄 세워 가장 낮은 값(모의 최저), 아래에서 10% · 50%(중간) · 90% 지점을 읽습니다.</a:t>
            </a:r>
          </a:p>
          <a:p>
            <a:pPr algn="l" eaLnBrk="0">
              <a:lnSpc>
                <a:spcPct val="132000"/>
              </a:lnSpc>
              <a:spcAft>
                <a:spcPts val="700"/>
              </a:spcAft>
            </a:pPr>
            <a:r>
              <a:rPr sz="950" b="1" lang="ko-KR" altLang="en-US">
                <a:solidFill>
                  <a:srgbClr val="1A1E25"/>
                </a:solidFill>
                <a:latin typeface="Noto Sans KR"/>
                <a:ea typeface="Noto Sans KR"/>
                <a:cs typeface="Noto Sans KR"/>
              </a:rPr>
              <a:t>주의  </a:t>
            </a:r>
            <a:r>
              <a:rPr sz="950" b="0" lang="ko-KR" altLang="en-US">
                <a:solidFill>
                  <a:srgbClr val="1A1E25"/>
                </a:solidFill>
                <a:latin typeface="Noto Sans KR"/>
                <a:ea typeface="Noto Sans KR"/>
                <a:cs typeface="Noto Sans KR"/>
              </a:rPr>
              <a:t>모의 최저는 1,000개 중 가장 나빴던 값일 뿐, 실제로 그보다 나빠지지 않는다는 보장선이 아닙니다. 재료 기간이 강세장이라 모든 값이 낙관적으로 기울어 있습니다.</a:t>
            </a:r>
          </a:p>
        </p:txBody>
      </p:sp>
      <p:cxnSp>
        <p:nvCxnSpPr>
          <p:cNvPr id="16" name="Connector 15"/>
          <p:cNvCxnSpPr/>
          <p:nvPr/>
        </p:nvCxnSpPr>
        <p:spPr>
          <a:xfrm>
            <a:off x="3844800" y="990000"/>
            <a:ext cx="6289200" cy="0"/>
          </a:xfrm>
          <a:prstGeom prst="line">
            <a:avLst/>
          </a:prstGeom>
          <a:ln w="9525">
            <a:solidFill>
              <a:srgbClr val="1A1E25"/>
            </a:solidFill>
          </a:ln>
        </p:spPr>
      </p:cxnSp>
      <p:sp>
        <p:nvSpPr>
          <p:cNvPr id="17" name="표지 막대"/>
          <p:cNvSpPr/>
          <p:nvPr/>
        </p:nvSpPr>
        <p:spPr>
          <a:xfrm>
            <a:off x="3844800" y="99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그림 제목"/>
          <p:cNvSpPr txBox="1"/>
          <p:nvPr/>
        </p:nvSpPr>
        <p:spPr>
          <a:xfrm>
            <a:off x="3844800" y="1090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Deneb · 월 10만 원 · 20년</a:t>
            </a:r>
          </a:p>
        </p:txBody>
      </p:sp>
      <p:sp>
        <p:nvSpPr>
          <p:cNvPr id="19" name="그림 설명"/>
          <p:cNvSpPr txBox="1"/>
          <p:nvPr/>
        </p:nvSpPr>
        <p:spPr>
          <a:xfrm>
            <a:off x="3844800" y="1278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하위 10 · 중간 · 상위 10% 선과 넣은 원금 · 만 원 · 세로축은 칸마다 다름</a:t>
            </a:r>
          </a:p>
        </p:txBody>
      </p:sp>
      <p:graphicFrame>
        <p:nvGraphicFramePr>
          <p:cNvPr id="20" name="부채꼴 Deneb"/>
          <p:cNvGraphicFramePr>
            <a:graphicFrameLocks noGrp="1"/>
          </p:cNvGraphicFramePr>
          <p:nvPr/>
        </p:nvGraphicFramePr>
        <p:xfrm>
          <a:off x="3844800" y="1404000"/>
          <a:ext cx="6289200" cy="1512000"/>
        </p:xfrm>
        <a:graphic>
          <a:graphicData uri="http://schemas.openxmlformats.org/drawingml/2006/chart">
            <c:chart xmlns:c="http://schemas.openxmlformats.org/drawingml/2006/chart" r:id="rId2"/>
          </a:graphicData>
        </a:graphic>
      </p:graphicFrame>
      <p:cxnSp>
        <p:nvCxnSpPr>
          <p:cNvPr id="21" name="Connector 20"/>
          <p:cNvCxnSpPr/>
          <p:nvPr/>
        </p:nvCxnSpPr>
        <p:spPr>
          <a:xfrm>
            <a:off x="3844800" y="2988000"/>
            <a:ext cx="6289200" cy="0"/>
          </a:xfrm>
          <a:prstGeom prst="line">
            <a:avLst/>
          </a:prstGeom>
          <a:ln w="9525">
            <a:solidFill>
              <a:srgbClr val="1A1E25"/>
            </a:solidFill>
          </a:ln>
        </p:spPr>
      </p:cxnSp>
      <p:sp>
        <p:nvSpPr>
          <p:cNvPr id="22" name="표지 막대"/>
          <p:cNvSpPr/>
          <p:nvPr/>
        </p:nvSpPr>
        <p:spPr>
          <a:xfrm>
            <a:off x="3844800" y="2988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그림 제목"/>
          <p:cNvSpPr txBox="1"/>
          <p:nvPr/>
        </p:nvSpPr>
        <p:spPr>
          <a:xfrm>
            <a:off x="3844800" y="3088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QQQ 단독 적립 · 월 10만 원 · 20년</a:t>
            </a:r>
          </a:p>
        </p:txBody>
      </p:sp>
      <p:sp>
        <p:nvSpPr>
          <p:cNvPr id="24" name="그림 설명"/>
          <p:cNvSpPr txBox="1"/>
          <p:nvPr/>
        </p:nvSpPr>
        <p:spPr>
          <a:xfrm>
            <a:off x="3844800" y="3276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하위 10 · 중간 · 상위 10% 선과 넣은 원금 · 만 원 · 세로축은 칸마다 다름</a:t>
            </a:r>
          </a:p>
        </p:txBody>
      </p:sp>
      <p:graphicFrame>
        <p:nvGraphicFramePr>
          <p:cNvPr id="25" name="부채꼴 QQQ 단독 적립"/>
          <p:cNvGraphicFramePr>
            <a:graphicFrameLocks noGrp="1"/>
          </p:cNvGraphicFramePr>
          <p:nvPr/>
        </p:nvGraphicFramePr>
        <p:xfrm>
          <a:off x="3844800" y="3402000"/>
          <a:ext cx="6289200" cy="1512000"/>
        </p:xfrm>
        <a:graphic>
          <a:graphicData uri="http://schemas.openxmlformats.org/drawingml/2006/chart">
            <c:chart xmlns:c="http://schemas.openxmlformats.org/drawingml/2006/chart" r:id="rId3"/>
          </a:graphicData>
        </a:graphic>
      </p:graphicFrame>
      <p:cxnSp>
        <p:nvCxnSpPr>
          <p:cNvPr id="26" name="Connector 25"/>
          <p:cNvCxnSpPr/>
          <p:nvPr/>
        </p:nvCxnSpPr>
        <p:spPr>
          <a:xfrm>
            <a:off x="3844800" y="4986000"/>
            <a:ext cx="6289200" cy="0"/>
          </a:xfrm>
          <a:prstGeom prst="line">
            <a:avLst/>
          </a:prstGeom>
          <a:ln w="9525">
            <a:solidFill>
              <a:srgbClr val="1A1E25"/>
            </a:solidFill>
          </a:ln>
        </p:spPr>
      </p:cxnSp>
      <p:sp>
        <p:nvSpPr>
          <p:cNvPr id="27" name="표지 막대"/>
          <p:cNvSpPr/>
          <p:nvPr/>
        </p:nvSpPr>
        <p:spPr>
          <a:xfrm>
            <a:off x="3844800" y="4986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그림 제목"/>
          <p:cNvSpPr txBox="1"/>
          <p:nvPr/>
        </p:nvSpPr>
        <p:spPr>
          <a:xfrm>
            <a:off x="3844800" y="5086800"/>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Polaris · 월 10만 원 · 20년</a:t>
            </a:r>
          </a:p>
        </p:txBody>
      </p:sp>
      <p:sp>
        <p:nvSpPr>
          <p:cNvPr id="29" name="그림 설명"/>
          <p:cNvSpPr txBox="1"/>
          <p:nvPr/>
        </p:nvSpPr>
        <p:spPr>
          <a:xfrm>
            <a:off x="3844800" y="5274000"/>
            <a:ext cx="62892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하위 10 · 중간 · 상위 10% 선과 넣은 원금 · 만 원 · 세로축은 칸마다 다름</a:t>
            </a:r>
          </a:p>
        </p:txBody>
      </p:sp>
      <p:graphicFrame>
        <p:nvGraphicFramePr>
          <p:cNvPr id="30" name="부채꼴 Polaris"/>
          <p:cNvGraphicFramePr>
            <a:graphicFrameLocks noGrp="1"/>
          </p:cNvGraphicFramePr>
          <p:nvPr/>
        </p:nvGraphicFramePr>
        <p:xfrm>
          <a:off x="3844800" y="5400000"/>
          <a:ext cx="6289200" cy="1512000"/>
        </p:xfrm>
        <a:graphic>
          <a:graphicData uri="http://schemas.openxmlformats.org/drawingml/2006/chart">
            <c:chart xmlns:c="http://schemas.openxmlformats.org/drawingml/2006/chart" r:id="rId4"/>
          </a:graphicData>
        </a:graphic>
      </p:graphicFrame>
      <p:sp>
        <p:nvSpPr>
          <p:cNvPr id="31"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full_report/calculation.py state_replay · blue_manual/calc2.py (Deneb · Polaris 분위가 기존 원장과 같음을 확인)</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8037600" y="619200"/>
            <a:ext cx="5364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31</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12장 · 장기 적립 시나리오</a:t>
            </a:r>
          </a:p>
        </p:txBody>
      </p:sp>
      <p:sp>
        <p:nvSpPr>
          <p:cNvPr id="14" name="제목"/>
          <p:cNvSpPr txBox="1"/>
          <p:nvPr/>
        </p:nvSpPr>
        <p:spPr>
          <a:xfrm>
            <a:off x="558000" y="990000"/>
            <a:ext cx="4320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5년 적립</a:t>
            </a:r>
          </a:p>
        </p:txBody>
      </p:sp>
      <p:sp>
        <p:nvSpPr>
          <p:cNvPr id="15" name="TextBox 14"/>
          <p:cNvSpPr txBox="1"/>
          <p:nvPr/>
        </p:nvSpPr>
        <p:spPr>
          <a:xfrm>
            <a:off x="3258000" y="1080000"/>
            <a:ext cx="6875999" cy="576000"/>
          </a:xfrm>
          <a:prstGeom prst="rect">
            <a:avLst/>
          </a:prstGeom>
          <a:noFill/>
        </p:spPr>
        <p:txBody>
          <a:bodyPr wrap="square" lIns="0" rIns="0" tIns="0" bIns="0" anchor="t">
            <a:spAutoFit/>
          </a:bodyPr>
          <a:lstStyle/>
          <a:p>
            <a:pPr algn="l" eaLnBrk="0">
              <a:lnSpc>
                <a:spcPct val="132000"/>
              </a:lnSpc>
              <a:spcAft>
                <a:spcPts val="0"/>
              </a:spcAft>
            </a:pPr>
            <a:r>
              <a:rPr sz="1000" b="0" lang="ko-KR" altLang="en-US">
                <a:solidFill>
                  <a:srgbClr val="1A1E25"/>
                </a:solidFill>
                <a:latin typeface="Noto Sans KR"/>
                <a:ea typeface="Noto Sans KR"/>
                <a:cs typeface="Noto Sans KR"/>
              </a:rPr>
              <a:t>월 납입액마다 60번 넣은 뒤의 금액입니다. 같은 1,000개 경로 · 세전 · 단위 만 원. 적금은 같은 기간 같은 돈의 세전 금액입니다.</a:t>
            </a:r>
          </a:p>
        </p:txBody>
      </p:sp>
      <p:cxnSp>
        <p:nvCxnSpPr>
          <p:cNvPr id="16" name="Connector 15"/>
          <p:cNvCxnSpPr/>
          <p:nvPr/>
        </p:nvCxnSpPr>
        <p:spPr>
          <a:xfrm>
            <a:off x="558000" y="1710000"/>
            <a:ext cx="9576000" cy="0"/>
          </a:xfrm>
          <a:prstGeom prst="line">
            <a:avLst/>
          </a:prstGeom>
          <a:ln w="9525">
            <a:solidFill>
              <a:srgbClr val="1A1E25"/>
            </a:solidFill>
          </a:ln>
        </p:spPr>
      </p:cxnSp>
      <p:sp>
        <p:nvSpPr>
          <p:cNvPr id="17" name="표지 막대"/>
          <p:cNvSpPr/>
          <p:nvPr/>
        </p:nvSpPr>
        <p:spPr>
          <a:xfrm>
            <a:off x="558000" y="171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그림 제목"/>
          <p:cNvSpPr txBox="1"/>
          <p:nvPr/>
        </p:nvSpPr>
        <p:spPr>
          <a:xfrm>
            <a:off x="558000" y="1810800"/>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Deneb · 5년 뒤</a:t>
            </a:r>
          </a:p>
        </p:txBody>
      </p:sp>
      <p:graphicFrame>
        <p:nvGraphicFramePr>
          <p:cNvPr id="19" name="표"/>
          <p:cNvGraphicFramePr>
            <a:graphicFrameLocks noGrp="1"/>
          </p:cNvGraphicFramePr>
          <p:nvPr/>
        </p:nvGraphicFramePr>
        <p:xfrm>
          <a:off x="558000" y="1980000"/>
          <a:ext cx="9575996" cy="907200"/>
        </p:xfrm>
        <a:graphic>
          <a:graphicData uri="http://schemas.openxmlformats.org/drawingml/2006/table">
            <a:tbl>
              <a:tblPr firstRow="0" bandRow="0" firstCol="0" lastCol="0" bandCol="0" lastRow="0">
                <a:tableStyleId>{5940675A-B579-460E-94D1-54222C63F5DA}</a:tableStyleId>
              </a:tblPr>
              <a:tblGrid>
                <a:gridCol w="1044000"/>
                <a:gridCol w="1044000"/>
                <a:gridCol w="1385999"/>
                <a:gridCol w="1385999"/>
                <a:gridCol w="1385999"/>
                <a:gridCol w="1385999"/>
                <a:gridCol w="972000"/>
                <a:gridCol w="972000"/>
              </a:tblGrid>
              <a:tr h="1512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월 납입액</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넣은 원금</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모의 최저</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하위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중간</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상위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3%</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4%</a:t>
                      </a:r>
                      <a:endParaRPr sz="800"/>
                    </a:p>
                  </a:txBody>
                  <a:tcPr marL="28800" marR="43200" marT="25200" marB="25200" anchor="b">
                    <a:lnL w="0">
                      <a:noFill/>
                    </a:lnL>
                    <a:lnR w="0">
                      <a:noFill/>
                    </a:lnR>
                    <a:lnT w="9525">
                      <a:solidFill>
                        <a:srgbClr val="1A1E25"/>
                      </a:solidFill>
                    </a:lnT>
                    <a:lnB w="9525">
                      <a:solidFill>
                        <a:srgbClr val="1A1E25"/>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428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830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1,383</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2,241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647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664</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20만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855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1,660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2,765</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4,482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1,295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1,328</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30만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1,800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1,283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2,490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4,148</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6,722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1,942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1,992</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50만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2,139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4,150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6,913</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11,204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3,237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3,320</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4,277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8,300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13,826</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22,408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6,474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6,640</a:t>
                      </a:r>
                      <a:endParaRPr sz="85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0" name="Connector 19"/>
          <p:cNvCxnSpPr/>
          <p:nvPr/>
        </p:nvCxnSpPr>
        <p:spPr>
          <a:xfrm>
            <a:off x="558000" y="1980000"/>
            <a:ext cx="9576000" cy="0"/>
          </a:xfrm>
          <a:prstGeom prst="line">
            <a:avLst/>
          </a:prstGeom>
          <a:ln w="25400">
            <a:solidFill>
              <a:srgbClr val="1A1E25"/>
            </a:solidFill>
          </a:ln>
        </p:spPr>
      </p:cxnSp>
      <p:cxnSp>
        <p:nvCxnSpPr>
          <p:cNvPr id="21" name="Connector 20"/>
          <p:cNvCxnSpPr/>
          <p:nvPr/>
        </p:nvCxnSpPr>
        <p:spPr>
          <a:xfrm>
            <a:off x="558000" y="3456000"/>
            <a:ext cx="9576000" cy="0"/>
          </a:xfrm>
          <a:prstGeom prst="line">
            <a:avLst/>
          </a:prstGeom>
          <a:ln w="9525">
            <a:solidFill>
              <a:srgbClr val="1A1E25"/>
            </a:solidFill>
          </a:ln>
        </p:spPr>
      </p:cxnSp>
      <p:sp>
        <p:nvSpPr>
          <p:cNvPr id="22" name="표지 막대"/>
          <p:cNvSpPr/>
          <p:nvPr/>
        </p:nvSpPr>
        <p:spPr>
          <a:xfrm>
            <a:off x="558000" y="3456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그림 제목"/>
          <p:cNvSpPr txBox="1"/>
          <p:nvPr/>
        </p:nvSpPr>
        <p:spPr>
          <a:xfrm>
            <a:off x="558000" y="3556799"/>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QQQ 단독 적립 · 5년 뒤</a:t>
            </a:r>
          </a:p>
        </p:txBody>
      </p:sp>
      <p:graphicFrame>
        <p:nvGraphicFramePr>
          <p:cNvPr id="24" name="표"/>
          <p:cNvGraphicFramePr>
            <a:graphicFrameLocks noGrp="1"/>
          </p:cNvGraphicFramePr>
          <p:nvPr/>
        </p:nvGraphicFramePr>
        <p:xfrm>
          <a:off x="558000" y="3726000"/>
          <a:ext cx="9575996" cy="907200"/>
        </p:xfrm>
        <a:graphic>
          <a:graphicData uri="http://schemas.openxmlformats.org/drawingml/2006/table">
            <a:tbl>
              <a:tblPr firstRow="0" bandRow="0" firstCol="0" lastCol="0" bandCol="0" lastRow="0">
                <a:tableStyleId>{5940675A-B579-460E-94D1-54222C63F5DA}</a:tableStyleId>
              </a:tblPr>
              <a:tblGrid>
                <a:gridCol w="1044000"/>
                <a:gridCol w="1044000"/>
                <a:gridCol w="1385999"/>
                <a:gridCol w="1385999"/>
                <a:gridCol w="1385999"/>
                <a:gridCol w="1385999"/>
                <a:gridCol w="972000"/>
                <a:gridCol w="972000"/>
              </a:tblGrid>
              <a:tr h="1512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월 납입액</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넣은 원금</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모의 최저</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하위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중간</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상위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3%</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4%</a:t>
                      </a:r>
                      <a:endParaRPr sz="800"/>
                    </a:p>
                  </a:txBody>
                  <a:tcPr marL="28800" marR="43200" marT="25200" marB="25200" anchor="b">
                    <a:lnL w="0">
                      <a:noFill/>
                    </a:lnL>
                    <a:lnR w="0">
                      <a:noFill/>
                    </a:lnR>
                    <a:lnT w="9525">
                      <a:solidFill>
                        <a:srgbClr val="1A1E25"/>
                      </a:solidFill>
                    </a:lnT>
                    <a:lnB w="9525">
                      <a:solidFill>
                        <a:srgbClr val="1A1E25"/>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435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758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1,033</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1,335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647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664</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20만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871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1,516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2,067</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2,671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1,295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1,328</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30만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1,800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1,306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2,273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3,100</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4,006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1,942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1,992</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50만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2,177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3,789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5,167</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6,677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3,237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3,320</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4,354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7,578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10,334</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13,353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6,474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6,640</a:t>
                      </a:r>
                      <a:endParaRPr sz="85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5" name="Connector 24"/>
          <p:cNvCxnSpPr/>
          <p:nvPr/>
        </p:nvCxnSpPr>
        <p:spPr>
          <a:xfrm>
            <a:off x="558000" y="3726000"/>
            <a:ext cx="9576000" cy="0"/>
          </a:xfrm>
          <a:prstGeom prst="line">
            <a:avLst/>
          </a:prstGeom>
          <a:ln w="25400">
            <a:solidFill>
              <a:srgbClr val="1A1E25"/>
            </a:solidFill>
          </a:ln>
        </p:spPr>
      </p:cxnSp>
      <p:cxnSp>
        <p:nvCxnSpPr>
          <p:cNvPr id="26" name="Connector 25"/>
          <p:cNvCxnSpPr/>
          <p:nvPr/>
        </p:nvCxnSpPr>
        <p:spPr>
          <a:xfrm>
            <a:off x="558000" y="5202000"/>
            <a:ext cx="9576000" cy="0"/>
          </a:xfrm>
          <a:prstGeom prst="line">
            <a:avLst/>
          </a:prstGeom>
          <a:ln w="9525">
            <a:solidFill>
              <a:srgbClr val="1A1E25"/>
            </a:solidFill>
          </a:ln>
        </p:spPr>
      </p:cxnSp>
      <p:sp>
        <p:nvSpPr>
          <p:cNvPr id="27" name="표지 막대"/>
          <p:cNvSpPr/>
          <p:nvPr/>
        </p:nvSpPr>
        <p:spPr>
          <a:xfrm>
            <a:off x="558000" y="5202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그림 제목"/>
          <p:cNvSpPr txBox="1"/>
          <p:nvPr/>
        </p:nvSpPr>
        <p:spPr>
          <a:xfrm>
            <a:off x="558000" y="5302799"/>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Polaris · 5년 뒤</a:t>
            </a:r>
          </a:p>
        </p:txBody>
      </p:sp>
      <p:graphicFrame>
        <p:nvGraphicFramePr>
          <p:cNvPr id="29" name="표"/>
          <p:cNvGraphicFramePr>
            <a:graphicFrameLocks noGrp="1"/>
          </p:cNvGraphicFramePr>
          <p:nvPr/>
        </p:nvGraphicFramePr>
        <p:xfrm>
          <a:off x="558000" y="5472000"/>
          <a:ext cx="9575996" cy="907200"/>
        </p:xfrm>
        <a:graphic>
          <a:graphicData uri="http://schemas.openxmlformats.org/drawingml/2006/table">
            <a:tbl>
              <a:tblPr firstRow="0" bandRow="0" firstCol="0" lastCol="0" bandCol="0" lastRow="0">
                <a:tableStyleId>{5940675A-B579-460E-94D1-54222C63F5DA}</a:tableStyleId>
              </a:tblPr>
              <a:tblGrid>
                <a:gridCol w="1044000"/>
                <a:gridCol w="1044000"/>
                <a:gridCol w="1385999"/>
                <a:gridCol w="1385999"/>
                <a:gridCol w="1385999"/>
                <a:gridCol w="1385999"/>
                <a:gridCol w="972000"/>
                <a:gridCol w="972000"/>
              </a:tblGrid>
              <a:tr h="1512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월 납입액</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넣은 원금</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모의 최저</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하위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중간</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상위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3%</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4%</a:t>
                      </a:r>
                      <a:endParaRPr sz="800"/>
                    </a:p>
                  </a:txBody>
                  <a:tcPr marL="28800" marR="43200" marT="25200" marB="25200" anchor="b">
                    <a:lnL w="0">
                      <a:noFill/>
                    </a:lnL>
                    <a:lnR w="0">
                      <a:noFill/>
                    </a:lnR>
                    <a:lnT w="9525">
                      <a:solidFill>
                        <a:srgbClr val="1A1E25"/>
                      </a:solidFill>
                    </a:lnT>
                    <a:lnB w="9525">
                      <a:solidFill>
                        <a:srgbClr val="1A1E25"/>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515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702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842</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982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647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664</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20만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1,031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1,403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1,684</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1,964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1,295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1,328</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30만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1,800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1,546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2,105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2,525</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2,946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1,942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1,992</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50만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2,577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3,508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4,209</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4,910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3,237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3,320</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5,154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7,016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8,418</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9,820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6,474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6,640</a:t>
                      </a:r>
                      <a:endParaRPr sz="850"/>
                    </a:p>
                  </a:txBody>
                  <a:tcPr marL="28800" marR="43200" marT="25200" marB="25200" anchor="ctr">
                    <a:lnL w="0">
                      <a:noFill/>
                    </a:lnL>
                    <a:lnR w="0">
                      <a:noFill/>
                    </a:lnR>
                    <a:lnT w="0">
                      <a:noFill/>
                    </a:lnT>
                    <a:lnB w="6350">
                      <a:solidFill>
                        <a:srgbClr val="C9D0DA"/>
                      </a:solidFill>
                    </a:lnB>
                    <a:noFill/>
                  </a:tcPr>
                </a:tc>
              </a:tr>
            </a:tbl>
          </a:graphicData>
        </a:graphic>
      </p:graphicFrame>
      <p:cxnSp>
        <p:nvCxnSpPr>
          <p:cNvPr id="30" name="Connector 29"/>
          <p:cNvCxnSpPr/>
          <p:nvPr/>
        </p:nvCxnSpPr>
        <p:spPr>
          <a:xfrm>
            <a:off x="558000" y="5472000"/>
            <a:ext cx="9576000" cy="0"/>
          </a:xfrm>
          <a:prstGeom prst="line">
            <a:avLst/>
          </a:prstGeom>
          <a:ln w="25400">
            <a:solidFill>
              <a:srgbClr val="1A1E25"/>
            </a:solidFill>
          </a:ln>
        </p:spPr>
      </p:cxnSp>
      <p:sp>
        <p:nvSpPr>
          <p:cNvPr id="31"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같은 1,000 경로(2012~2026 1년 블록 재조합) · 세전 · 소수 주 · 비용 0.15% · 월 20만 원 계산을 납입액에 비례 환산 · 적금 12개월 단리 재예치</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8037600" y="619200"/>
            <a:ext cx="5364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32</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12장 · 장기 적립 시나리오</a:t>
            </a:r>
          </a:p>
        </p:txBody>
      </p:sp>
      <p:sp>
        <p:nvSpPr>
          <p:cNvPr id="14" name="제목"/>
          <p:cNvSpPr txBox="1"/>
          <p:nvPr/>
        </p:nvSpPr>
        <p:spPr>
          <a:xfrm>
            <a:off x="558000" y="990000"/>
            <a:ext cx="4320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10년 적립</a:t>
            </a:r>
          </a:p>
        </p:txBody>
      </p:sp>
      <p:sp>
        <p:nvSpPr>
          <p:cNvPr id="15" name="TextBox 14"/>
          <p:cNvSpPr txBox="1"/>
          <p:nvPr/>
        </p:nvSpPr>
        <p:spPr>
          <a:xfrm>
            <a:off x="3258000" y="1080000"/>
            <a:ext cx="6875999" cy="576000"/>
          </a:xfrm>
          <a:prstGeom prst="rect">
            <a:avLst/>
          </a:prstGeom>
          <a:noFill/>
        </p:spPr>
        <p:txBody>
          <a:bodyPr wrap="square" lIns="0" rIns="0" tIns="0" bIns="0" anchor="t">
            <a:spAutoFit/>
          </a:bodyPr>
          <a:lstStyle/>
          <a:p>
            <a:pPr algn="l" eaLnBrk="0">
              <a:lnSpc>
                <a:spcPct val="132000"/>
              </a:lnSpc>
              <a:spcAft>
                <a:spcPts val="0"/>
              </a:spcAft>
            </a:pPr>
            <a:r>
              <a:rPr sz="1000" b="0" lang="ko-KR" altLang="en-US">
                <a:solidFill>
                  <a:srgbClr val="1A1E25"/>
                </a:solidFill>
                <a:latin typeface="Noto Sans KR"/>
                <a:ea typeface="Noto Sans KR"/>
                <a:cs typeface="Noto Sans KR"/>
              </a:rPr>
              <a:t>월 납입액마다 120번 넣은 뒤의 금액입니다. 같은 1,000개 경로 · 세전 · 단위 만 원. 적금은 같은 기간 같은 돈의 세전 금액입니다.</a:t>
            </a:r>
          </a:p>
        </p:txBody>
      </p:sp>
      <p:cxnSp>
        <p:nvCxnSpPr>
          <p:cNvPr id="16" name="Connector 15"/>
          <p:cNvCxnSpPr/>
          <p:nvPr/>
        </p:nvCxnSpPr>
        <p:spPr>
          <a:xfrm>
            <a:off x="558000" y="1710000"/>
            <a:ext cx="9576000" cy="0"/>
          </a:xfrm>
          <a:prstGeom prst="line">
            <a:avLst/>
          </a:prstGeom>
          <a:ln w="9525">
            <a:solidFill>
              <a:srgbClr val="1A1E25"/>
            </a:solidFill>
          </a:ln>
        </p:spPr>
      </p:cxnSp>
      <p:sp>
        <p:nvSpPr>
          <p:cNvPr id="17" name="표지 막대"/>
          <p:cNvSpPr/>
          <p:nvPr/>
        </p:nvSpPr>
        <p:spPr>
          <a:xfrm>
            <a:off x="558000" y="171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그림 제목"/>
          <p:cNvSpPr txBox="1"/>
          <p:nvPr/>
        </p:nvSpPr>
        <p:spPr>
          <a:xfrm>
            <a:off x="558000" y="1810800"/>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Deneb · 10년 뒤</a:t>
            </a:r>
          </a:p>
        </p:txBody>
      </p:sp>
      <p:graphicFrame>
        <p:nvGraphicFramePr>
          <p:cNvPr id="19" name="표"/>
          <p:cNvGraphicFramePr>
            <a:graphicFrameLocks noGrp="1"/>
          </p:cNvGraphicFramePr>
          <p:nvPr/>
        </p:nvGraphicFramePr>
        <p:xfrm>
          <a:off x="558000" y="1980000"/>
          <a:ext cx="9575996" cy="907200"/>
        </p:xfrm>
        <a:graphic>
          <a:graphicData uri="http://schemas.openxmlformats.org/drawingml/2006/table">
            <a:tbl>
              <a:tblPr firstRow="0" bandRow="0" firstCol="0" lastCol="0" bandCol="0" lastRow="0">
                <a:tableStyleId>{5940675A-B579-460E-94D1-54222C63F5DA}</a:tableStyleId>
              </a:tblPr>
              <a:tblGrid>
                <a:gridCol w="1044000"/>
                <a:gridCol w="1044000"/>
                <a:gridCol w="1385999"/>
                <a:gridCol w="1385999"/>
                <a:gridCol w="1385999"/>
                <a:gridCol w="1385999"/>
                <a:gridCol w="972000"/>
                <a:gridCol w="972000"/>
              </a:tblGrid>
              <a:tr h="1512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월 납입액</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넣은 원금</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모의 최저</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하위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중간</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상위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3%</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4%</a:t>
                      </a:r>
                      <a:endParaRPr sz="800"/>
                    </a:p>
                  </a:txBody>
                  <a:tcPr marL="28800" marR="43200" marT="25200" marB="25200" anchor="b">
                    <a:lnL w="0">
                      <a:noFill/>
                    </a:lnL>
                    <a:lnR w="0">
                      <a:noFill/>
                    </a:lnR>
                    <a:lnT w="9525">
                      <a:solidFill>
                        <a:srgbClr val="1A1E25"/>
                      </a:solidFill>
                    </a:lnT>
                    <a:lnB w="9525">
                      <a:solidFill>
                        <a:srgbClr val="1A1E25"/>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1,002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3,171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7,189</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15,050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1,398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1,472</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20만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2,004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6,341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14,378</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30,100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2,796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2,944</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30만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3,600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3,006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9,512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21,567</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45,150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4,194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4,416</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50만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5,009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15,853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35,944</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75,251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6,990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7,360</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10,019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31,706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71,888</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150,501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13,980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14,719</a:t>
                      </a:r>
                      <a:endParaRPr sz="85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0" name="Connector 19"/>
          <p:cNvCxnSpPr/>
          <p:nvPr/>
        </p:nvCxnSpPr>
        <p:spPr>
          <a:xfrm>
            <a:off x="558000" y="1980000"/>
            <a:ext cx="9576000" cy="0"/>
          </a:xfrm>
          <a:prstGeom prst="line">
            <a:avLst/>
          </a:prstGeom>
          <a:ln w="25400">
            <a:solidFill>
              <a:srgbClr val="1A1E25"/>
            </a:solidFill>
          </a:ln>
        </p:spPr>
      </p:cxnSp>
      <p:cxnSp>
        <p:nvCxnSpPr>
          <p:cNvPr id="21" name="Connector 20"/>
          <p:cNvCxnSpPr/>
          <p:nvPr/>
        </p:nvCxnSpPr>
        <p:spPr>
          <a:xfrm>
            <a:off x="558000" y="3456000"/>
            <a:ext cx="9576000" cy="0"/>
          </a:xfrm>
          <a:prstGeom prst="line">
            <a:avLst/>
          </a:prstGeom>
          <a:ln w="9525">
            <a:solidFill>
              <a:srgbClr val="1A1E25"/>
            </a:solidFill>
          </a:ln>
        </p:spPr>
      </p:cxnSp>
      <p:sp>
        <p:nvSpPr>
          <p:cNvPr id="22" name="표지 막대"/>
          <p:cNvSpPr/>
          <p:nvPr/>
        </p:nvSpPr>
        <p:spPr>
          <a:xfrm>
            <a:off x="558000" y="3456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그림 제목"/>
          <p:cNvSpPr txBox="1"/>
          <p:nvPr/>
        </p:nvSpPr>
        <p:spPr>
          <a:xfrm>
            <a:off x="558000" y="3556799"/>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QQQ 단독 적립 · 10년 뒤</a:t>
            </a:r>
          </a:p>
        </p:txBody>
      </p:sp>
      <p:graphicFrame>
        <p:nvGraphicFramePr>
          <p:cNvPr id="24" name="표"/>
          <p:cNvGraphicFramePr>
            <a:graphicFrameLocks noGrp="1"/>
          </p:cNvGraphicFramePr>
          <p:nvPr/>
        </p:nvGraphicFramePr>
        <p:xfrm>
          <a:off x="558000" y="3726000"/>
          <a:ext cx="9575996" cy="907200"/>
        </p:xfrm>
        <a:graphic>
          <a:graphicData uri="http://schemas.openxmlformats.org/drawingml/2006/table">
            <a:tbl>
              <a:tblPr firstRow="0" bandRow="0" firstCol="0" lastCol="0" bandCol="0" lastRow="0">
                <a:tableStyleId>{5940675A-B579-460E-94D1-54222C63F5DA}</a:tableStyleId>
              </a:tblPr>
              <a:tblGrid>
                <a:gridCol w="1044000"/>
                <a:gridCol w="1044000"/>
                <a:gridCol w="1385999"/>
                <a:gridCol w="1385999"/>
                <a:gridCol w="1385999"/>
                <a:gridCol w="1385999"/>
                <a:gridCol w="972000"/>
                <a:gridCol w="972000"/>
              </a:tblGrid>
              <a:tr h="1512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월 납입액</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넣은 원금</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모의 최저</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하위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중간</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상위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3%</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4%</a:t>
                      </a:r>
                      <a:endParaRPr sz="800"/>
                    </a:p>
                  </a:txBody>
                  <a:tcPr marL="28800" marR="43200" marT="25200" marB="25200" anchor="b">
                    <a:lnL w="0">
                      <a:noFill/>
                    </a:lnL>
                    <a:lnR w="0">
                      <a:noFill/>
                    </a:lnR>
                    <a:lnT w="9525">
                      <a:solidFill>
                        <a:srgbClr val="1A1E25"/>
                      </a:solidFill>
                    </a:lnT>
                    <a:lnB w="9525">
                      <a:solidFill>
                        <a:srgbClr val="1A1E25"/>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796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2,263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3,658</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5,501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1,398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1,472</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20만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1,593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4,525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7,315</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11,003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2,796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2,944</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30만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3,600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2,389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6,788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10,973</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16,504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4,194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4,416</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50만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3,981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11,313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18,288</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27,507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6,990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7,360</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7,963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22,627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36,576</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55,014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13,980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14,719</a:t>
                      </a:r>
                      <a:endParaRPr sz="85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5" name="Connector 24"/>
          <p:cNvCxnSpPr/>
          <p:nvPr/>
        </p:nvCxnSpPr>
        <p:spPr>
          <a:xfrm>
            <a:off x="558000" y="3726000"/>
            <a:ext cx="9576000" cy="0"/>
          </a:xfrm>
          <a:prstGeom prst="line">
            <a:avLst/>
          </a:prstGeom>
          <a:ln w="25400">
            <a:solidFill>
              <a:srgbClr val="1A1E25"/>
            </a:solidFill>
          </a:ln>
        </p:spPr>
      </p:cxnSp>
      <p:cxnSp>
        <p:nvCxnSpPr>
          <p:cNvPr id="26" name="Connector 25"/>
          <p:cNvCxnSpPr/>
          <p:nvPr/>
        </p:nvCxnSpPr>
        <p:spPr>
          <a:xfrm>
            <a:off x="558000" y="5202000"/>
            <a:ext cx="9576000" cy="0"/>
          </a:xfrm>
          <a:prstGeom prst="line">
            <a:avLst/>
          </a:prstGeom>
          <a:ln w="9525">
            <a:solidFill>
              <a:srgbClr val="1A1E25"/>
            </a:solidFill>
          </a:ln>
        </p:spPr>
      </p:cxnSp>
      <p:sp>
        <p:nvSpPr>
          <p:cNvPr id="27" name="표지 막대"/>
          <p:cNvSpPr/>
          <p:nvPr/>
        </p:nvSpPr>
        <p:spPr>
          <a:xfrm>
            <a:off x="558000" y="5202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그림 제목"/>
          <p:cNvSpPr txBox="1"/>
          <p:nvPr/>
        </p:nvSpPr>
        <p:spPr>
          <a:xfrm>
            <a:off x="558000" y="5302799"/>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Polaris · 10년 뒤</a:t>
            </a:r>
          </a:p>
        </p:txBody>
      </p:sp>
      <p:graphicFrame>
        <p:nvGraphicFramePr>
          <p:cNvPr id="29" name="표"/>
          <p:cNvGraphicFramePr>
            <a:graphicFrameLocks noGrp="1"/>
          </p:cNvGraphicFramePr>
          <p:nvPr/>
        </p:nvGraphicFramePr>
        <p:xfrm>
          <a:off x="558000" y="5472000"/>
          <a:ext cx="9575996" cy="907200"/>
        </p:xfrm>
        <a:graphic>
          <a:graphicData uri="http://schemas.openxmlformats.org/drawingml/2006/table">
            <a:tbl>
              <a:tblPr firstRow="0" bandRow="0" firstCol="0" lastCol="0" bandCol="0" lastRow="0">
                <a:tableStyleId>{5940675A-B579-460E-94D1-54222C63F5DA}</a:tableStyleId>
              </a:tblPr>
              <a:tblGrid>
                <a:gridCol w="1044000"/>
                <a:gridCol w="1044000"/>
                <a:gridCol w="1385999"/>
                <a:gridCol w="1385999"/>
                <a:gridCol w="1385999"/>
                <a:gridCol w="1385999"/>
                <a:gridCol w="972000"/>
                <a:gridCol w="972000"/>
              </a:tblGrid>
              <a:tr h="1512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월 납입액</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넣은 원금</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모의 최저</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하위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중간</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상위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3%</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4%</a:t>
                      </a:r>
                      <a:endParaRPr sz="800"/>
                    </a:p>
                  </a:txBody>
                  <a:tcPr marL="28800" marR="43200" marT="25200" marB="25200" anchor="b">
                    <a:lnL w="0">
                      <a:noFill/>
                    </a:lnL>
                    <a:lnR w="0">
                      <a:noFill/>
                    </a:lnR>
                    <a:lnT w="9525">
                      <a:solidFill>
                        <a:srgbClr val="1A1E25"/>
                      </a:solidFill>
                    </a:lnT>
                    <a:lnB w="9525">
                      <a:solidFill>
                        <a:srgbClr val="1A1E25"/>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1,082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1,783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2,379</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3,016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1,398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1,472</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20만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2,164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3,566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4,758</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6,032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2,796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2,944</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30만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3,600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3,246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5,349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7,137</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9,047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4,194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4,416</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50만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5,411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8,915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11,895</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15,079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6,990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7,360</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10,821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17,831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23,790</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30,158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13,980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14,719</a:t>
                      </a:r>
                      <a:endParaRPr sz="850"/>
                    </a:p>
                  </a:txBody>
                  <a:tcPr marL="28800" marR="43200" marT="25200" marB="25200" anchor="ctr">
                    <a:lnL w="0">
                      <a:noFill/>
                    </a:lnL>
                    <a:lnR w="0">
                      <a:noFill/>
                    </a:lnR>
                    <a:lnT w="0">
                      <a:noFill/>
                    </a:lnT>
                    <a:lnB w="6350">
                      <a:solidFill>
                        <a:srgbClr val="C9D0DA"/>
                      </a:solidFill>
                    </a:lnB>
                    <a:noFill/>
                  </a:tcPr>
                </a:tc>
              </a:tr>
            </a:tbl>
          </a:graphicData>
        </a:graphic>
      </p:graphicFrame>
      <p:cxnSp>
        <p:nvCxnSpPr>
          <p:cNvPr id="30" name="Connector 29"/>
          <p:cNvCxnSpPr/>
          <p:nvPr/>
        </p:nvCxnSpPr>
        <p:spPr>
          <a:xfrm>
            <a:off x="558000" y="5472000"/>
            <a:ext cx="9576000" cy="0"/>
          </a:xfrm>
          <a:prstGeom prst="line">
            <a:avLst/>
          </a:prstGeom>
          <a:ln w="25400">
            <a:solidFill>
              <a:srgbClr val="1A1E25"/>
            </a:solidFill>
          </a:ln>
        </p:spPr>
      </p:cxnSp>
      <p:sp>
        <p:nvSpPr>
          <p:cNvPr id="31"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같은 1,000 경로(2012~2026 1년 블록 재조합) · 세전 · 소수 주 · 비용 0.15% · 월 20만 원 계산을 납입액에 비례 환산 · 적금 12개월 단리 재예치</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8037600" y="619200"/>
            <a:ext cx="5364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33</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12장 · 장기 적립 시나리오</a:t>
            </a:r>
          </a:p>
        </p:txBody>
      </p:sp>
      <p:sp>
        <p:nvSpPr>
          <p:cNvPr id="14" name="제목"/>
          <p:cNvSpPr txBox="1"/>
          <p:nvPr/>
        </p:nvSpPr>
        <p:spPr>
          <a:xfrm>
            <a:off x="558000" y="990000"/>
            <a:ext cx="4320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15년 적립</a:t>
            </a:r>
          </a:p>
        </p:txBody>
      </p:sp>
      <p:sp>
        <p:nvSpPr>
          <p:cNvPr id="15" name="TextBox 14"/>
          <p:cNvSpPr txBox="1"/>
          <p:nvPr/>
        </p:nvSpPr>
        <p:spPr>
          <a:xfrm>
            <a:off x="3258000" y="1080000"/>
            <a:ext cx="6875999" cy="576000"/>
          </a:xfrm>
          <a:prstGeom prst="rect">
            <a:avLst/>
          </a:prstGeom>
          <a:noFill/>
        </p:spPr>
        <p:txBody>
          <a:bodyPr wrap="square" lIns="0" rIns="0" tIns="0" bIns="0" anchor="t">
            <a:spAutoFit/>
          </a:bodyPr>
          <a:lstStyle/>
          <a:p>
            <a:pPr algn="l" eaLnBrk="0">
              <a:lnSpc>
                <a:spcPct val="132000"/>
              </a:lnSpc>
              <a:spcAft>
                <a:spcPts val="0"/>
              </a:spcAft>
            </a:pPr>
            <a:r>
              <a:rPr sz="1000" b="0" lang="ko-KR" altLang="en-US">
                <a:solidFill>
                  <a:srgbClr val="1A1E25"/>
                </a:solidFill>
                <a:latin typeface="Noto Sans KR"/>
                <a:ea typeface="Noto Sans KR"/>
                <a:cs typeface="Noto Sans KR"/>
              </a:rPr>
              <a:t>월 납입액마다 180번 넣은 뒤의 금액입니다. 같은 1,000개 경로 · 세전 · 단위 만 원. 적금은 같은 기간 같은 돈의 세전 금액입니다.</a:t>
            </a:r>
          </a:p>
        </p:txBody>
      </p:sp>
      <p:cxnSp>
        <p:nvCxnSpPr>
          <p:cNvPr id="16" name="Connector 15"/>
          <p:cNvCxnSpPr/>
          <p:nvPr/>
        </p:nvCxnSpPr>
        <p:spPr>
          <a:xfrm>
            <a:off x="558000" y="1710000"/>
            <a:ext cx="9576000" cy="0"/>
          </a:xfrm>
          <a:prstGeom prst="line">
            <a:avLst/>
          </a:prstGeom>
          <a:ln w="9525">
            <a:solidFill>
              <a:srgbClr val="1A1E25"/>
            </a:solidFill>
          </a:ln>
        </p:spPr>
      </p:cxnSp>
      <p:sp>
        <p:nvSpPr>
          <p:cNvPr id="17" name="표지 막대"/>
          <p:cNvSpPr/>
          <p:nvPr/>
        </p:nvSpPr>
        <p:spPr>
          <a:xfrm>
            <a:off x="558000" y="171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그림 제목"/>
          <p:cNvSpPr txBox="1"/>
          <p:nvPr/>
        </p:nvSpPr>
        <p:spPr>
          <a:xfrm>
            <a:off x="558000" y="1810800"/>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Deneb · 15년 뒤</a:t>
            </a:r>
          </a:p>
        </p:txBody>
      </p:sp>
      <p:graphicFrame>
        <p:nvGraphicFramePr>
          <p:cNvPr id="19" name="표"/>
          <p:cNvGraphicFramePr>
            <a:graphicFrameLocks noGrp="1"/>
          </p:cNvGraphicFramePr>
          <p:nvPr/>
        </p:nvGraphicFramePr>
        <p:xfrm>
          <a:off x="558000" y="1980000"/>
          <a:ext cx="9575996" cy="907200"/>
        </p:xfrm>
        <a:graphic>
          <a:graphicData uri="http://schemas.openxmlformats.org/drawingml/2006/table">
            <a:tbl>
              <a:tblPr firstRow="0" bandRow="0" firstCol="0" lastCol="0" bandCol="0" lastRow="0">
                <a:tableStyleId>{5940675A-B579-460E-94D1-54222C63F5DA}</a:tableStyleId>
              </a:tblPr>
              <a:tblGrid>
                <a:gridCol w="1044000"/>
                <a:gridCol w="1044000"/>
                <a:gridCol w="1385999"/>
                <a:gridCol w="1385999"/>
                <a:gridCol w="1385999"/>
                <a:gridCol w="1385999"/>
                <a:gridCol w="972000"/>
                <a:gridCol w="972000"/>
              </a:tblGrid>
              <a:tr h="1512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월 납입액</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넣은 원금</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모의 최저</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하위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중간</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상위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3%</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4%</a:t>
                      </a:r>
                      <a:endParaRPr sz="800"/>
                    </a:p>
                  </a:txBody>
                  <a:tcPr marL="28800" marR="43200" marT="25200" marB="25200" anchor="b">
                    <a:lnL w="0">
                      <a:noFill/>
                    </a:lnL>
                    <a:lnR w="0">
                      <a:noFill/>
                    </a:lnR>
                    <a:lnT w="9525">
                      <a:solidFill>
                        <a:srgbClr val="1A1E25"/>
                      </a:solidFill>
                    </a:lnT>
                    <a:lnB w="9525">
                      <a:solidFill>
                        <a:srgbClr val="1A1E25"/>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1,800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2,052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9,583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30,423</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88,840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2,268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2,455</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20만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3,600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4,105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19,165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60,847</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177,679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4,536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4,910</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30만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5,400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6,157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28,748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91,270</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266,519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6,804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7,365</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50만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10,262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47,914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152,117</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444,198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11,341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12,274</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18,000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20,524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95,827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304,234</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888,396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22,681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24,549</a:t>
                      </a:r>
                      <a:endParaRPr sz="85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0" name="Connector 19"/>
          <p:cNvCxnSpPr/>
          <p:nvPr/>
        </p:nvCxnSpPr>
        <p:spPr>
          <a:xfrm>
            <a:off x="558000" y="1980000"/>
            <a:ext cx="9576000" cy="0"/>
          </a:xfrm>
          <a:prstGeom prst="line">
            <a:avLst/>
          </a:prstGeom>
          <a:ln w="25400">
            <a:solidFill>
              <a:srgbClr val="1A1E25"/>
            </a:solidFill>
          </a:ln>
        </p:spPr>
      </p:cxnSp>
      <p:cxnSp>
        <p:nvCxnSpPr>
          <p:cNvPr id="21" name="Connector 20"/>
          <p:cNvCxnSpPr/>
          <p:nvPr/>
        </p:nvCxnSpPr>
        <p:spPr>
          <a:xfrm>
            <a:off x="558000" y="3456000"/>
            <a:ext cx="9576000" cy="0"/>
          </a:xfrm>
          <a:prstGeom prst="line">
            <a:avLst/>
          </a:prstGeom>
          <a:ln w="9525">
            <a:solidFill>
              <a:srgbClr val="1A1E25"/>
            </a:solidFill>
          </a:ln>
        </p:spPr>
      </p:cxnSp>
      <p:sp>
        <p:nvSpPr>
          <p:cNvPr id="22" name="표지 막대"/>
          <p:cNvSpPr/>
          <p:nvPr/>
        </p:nvSpPr>
        <p:spPr>
          <a:xfrm>
            <a:off x="558000" y="3456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그림 제목"/>
          <p:cNvSpPr txBox="1"/>
          <p:nvPr/>
        </p:nvSpPr>
        <p:spPr>
          <a:xfrm>
            <a:off x="558000" y="3556799"/>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QQQ 단독 적립 · 15년 뒤</a:t>
            </a:r>
          </a:p>
        </p:txBody>
      </p:sp>
      <p:graphicFrame>
        <p:nvGraphicFramePr>
          <p:cNvPr id="24" name="표"/>
          <p:cNvGraphicFramePr>
            <a:graphicFrameLocks noGrp="1"/>
          </p:cNvGraphicFramePr>
          <p:nvPr/>
        </p:nvGraphicFramePr>
        <p:xfrm>
          <a:off x="558000" y="3726000"/>
          <a:ext cx="9575996" cy="907200"/>
        </p:xfrm>
        <a:graphic>
          <a:graphicData uri="http://schemas.openxmlformats.org/drawingml/2006/table">
            <a:tbl>
              <a:tblPr firstRow="0" bandRow="0" firstCol="0" lastCol="0" bandCol="0" lastRow="0">
                <a:tableStyleId>{5940675A-B579-460E-94D1-54222C63F5DA}</a:tableStyleId>
              </a:tblPr>
              <a:tblGrid>
                <a:gridCol w="1044000"/>
                <a:gridCol w="1044000"/>
                <a:gridCol w="1385999"/>
                <a:gridCol w="1385999"/>
                <a:gridCol w="1385999"/>
                <a:gridCol w="1385999"/>
                <a:gridCol w="972000"/>
                <a:gridCol w="972000"/>
              </a:tblGrid>
              <a:tr h="1512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월 납입액</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넣은 원금</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모의 최저</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하위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중간</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상위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3%</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4%</a:t>
                      </a:r>
                      <a:endParaRPr sz="800"/>
                    </a:p>
                  </a:txBody>
                  <a:tcPr marL="28800" marR="43200" marT="25200" marB="25200" anchor="b">
                    <a:lnL w="0">
                      <a:noFill/>
                    </a:lnL>
                    <a:lnR w="0">
                      <a:noFill/>
                    </a:lnR>
                    <a:lnT w="9525">
                      <a:solidFill>
                        <a:srgbClr val="1A1E25"/>
                      </a:solidFill>
                    </a:lnT>
                    <a:lnB w="9525">
                      <a:solidFill>
                        <a:srgbClr val="1A1E25"/>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1,800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1,646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5,518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10,153</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18,036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2,268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2,455</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20만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3,600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3,292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11,036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20,305</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36,071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4,536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4,910</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30만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5,400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4,938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16,553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30,458</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54,107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6,804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7,365</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50만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8,230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27,589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50,763</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90,178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11,341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12,274</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18,000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16,460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55,178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101,526</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180,356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22,681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24,549</a:t>
                      </a:r>
                      <a:endParaRPr sz="85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5" name="Connector 24"/>
          <p:cNvCxnSpPr/>
          <p:nvPr/>
        </p:nvCxnSpPr>
        <p:spPr>
          <a:xfrm>
            <a:off x="558000" y="3726000"/>
            <a:ext cx="9576000" cy="0"/>
          </a:xfrm>
          <a:prstGeom prst="line">
            <a:avLst/>
          </a:prstGeom>
          <a:ln w="25400">
            <a:solidFill>
              <a:srgbClr val="1A1E25"/>
            </a:solidFill>
          </a:ln>
        </p:spPr>
      </p:cxnSp>
      <p:cxnSp>
        <p:nvCxnSpPr>
          <p:cNvPr id="26" name="Connector 25"/>
          <p:cNvCxnSpPr/>
          <p:nvPr/>
        </p:nvCxnSpPr>
        <p:spPr>
          <a:xfrm>
            <a:off x="558000" y="5202000"/>
            <a:ext cx="9576000" cy="0"/>
          </a:xfrm>
          <a:prstGeom prst="line">
            <a:avLst/>
          </a:prstGeom>
          <a:ln w="9525">
            <a:solidFill>
              <a:srgbClr val="1A1E25"/>
            </a:solidFill>
          </a:ln>
        </p:spPr>
      </p:cxnSp>
      <p:sp>
        <p:nvSpPr>
          <p:cNvPr id="27" name="표지 막대"/>
          <p:cNvSpPr/>
          <p:nvPr/>
        </p:nvSpPr>
        <p:spPr>
          <a:xfrm>
            <a:off x="558000" y="5202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그림 제목"/>
          <p:cNvSpPr txBox="1"/>
          <p:nvPr/>
        </p:nvSpPr>
        <p:spPr>
          <a:xfrm>
            <a:off x="558000" y="5302799"/>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Polaris · 15년 뒤</a:t>
            </a:r>
          </a:p>
        </p:txBody>
      </p:sp>
      <p:graphicFrame>
        <p:nvGraphicFramePr>
          <p:cNvPr id="29" name="표"/>
          <p:cNvGraphicFramePr>
            <a:graphicFrameLocks noGrp="1"/>
          </p:cNvGraphicFramePr>
          <p:nvPr/>
        </p:nvGraphicFramePr>
        <p:xfrm>
          <a:off x="558000" y="5472000"/>
          <a:ext cx="9575996" cy="907200"/>
        </p:xfrm>
        <a:graphic>
          <a:graphicData uri="http://schemas.openxmlformats.org/drawingml/2006/table">
            <a:tbl>
              <a:tblPr firstRow="0" bandRow="0" firstCol="0" lastCol="0" bandCol="0" lastRow="0">
                <a:tableStyleId>{5940675A-B579-460E-94D1-54222C63F5DA}</a:tableStyleId>
              </a:tblPr>
              <a:tblGrid>
                <a:gridCol w="1044000"/>
                <a:gridCol w="1044000"/>
                <a:gridCol w="1385999"/>
                <a:gridCol w="1385999"/>
                <a:gridCol w="1385999"/>
                <a:gridCol w="1385999"/>
                <a:gridCol w="972000"/>
                <a:gridCol w="972000"/>
              </a:tblGrid>
              <a:tr h="1512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월 납입액</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넣은 원금</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모의 최저</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하위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중간</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상위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3%</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4%</a:t>
                      </a:r>
                      <a:endParaRPr sz="800"/>
                    </a:p>
                  </a:txBody>
                  <a:tcPr marL="28800" marR="43200" marT="25200" marB="25200" anchor="b">
                    <a:lnL w="0">
                      <a:noFill/>
                    </a:lnL>
                    <a:lnR w="0">
                      <a:noFill/>
                    </a:lnR>
                    <a:lnT w="9525">
                      <a:solidFill>
                        <a:srgbClr val="1A1E25"/>
                      </a:solidFill>
                    </a:lnT>
                    <a:lnB w="9525">
                      <a:solidFill>
                        <a:srgbClr val="1A1E25"/>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1,800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2,002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3,583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5,152</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7,191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2,268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2,455</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20만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3,600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4,004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7,165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10,304</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14,382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4,536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4,910</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30만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5,400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6,006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10,748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15,456</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21,573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6,804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7,365</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50만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10,011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17,913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25,759</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35,956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11,341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12,274</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18,000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20,021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35,826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51,519</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71,911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22,681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24,549</a:t>
                      </a:r>
                      <a:endParaRPr sz="850"/>
                    </a:p>
                  </a:txBody>
                  <a:tcPr marL="28800" marR="43200" marT="25200" marB="25200" anchor="ctr">
                    <a:lnL w="0">
                      <a:noFill/>
                    </a:lnL>
                    <a:lnR w="0">
                      <a:noFill/>
                    </a:lnR>
                    <a:lnT w="0">
                      <a:noFill/>
                    </a:lnT>
                    <a:lnB w="6350">
                      <a:solidFill>
                        <a:srgbClr val="C9D0DA"/>
                      </a:solidFill>
                    </a:lnB>
                    <a:noFill/>
                  </a:tcPr>
                </a:tc>
              </a:tr>
            </a:tbl>
          </a:graphicData>
        </a:graphic>
      </p:graphicFrame>
      <p:cxnSp>
        <p:nvCxnSpPr>
          <p:cNvPr id="30" name="Connector 29"/>
          <p:cNvCxnSpPr/>
          <p:nvPr/>
        </p:nvCxnSpPr>
        <p:spPr>
          <a:xfrm>
            <a:off x="558000" y="5472000"/>
            <a:ext cx="9576000" cy="0"/>
          </a:xfrm>
          <a:prstGeom prst="line">
            <a:avLst/>
          </a:prstGeom>
          <a:ln w="25400">
            <a:solidFill>
              <a:srgbClr val="1A1E25"/>
            </a:solidFill>
          </a:ln>
        </p:spPr>
      </p:cxnSp>
      <p:sp>
        <p:nvSpPr>
          <p:cNvPr id="31"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같은 1,000 경로(2012~2026 1년 블록 재조합) · 세전 · 소수 주 · 비용 0.15% · 월 20만 원 계산을 납입액에 비례 환산 · 적금 12개월 단리 재예치</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8037600" y="619200"/>
            <a:ext cx="5364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34</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12장 · 장기 적립 시나리오</a:t>
            </a:r>
          </a:p>
        </p:txBody>
      </p:sp>
      <p:sp>
        <p:nvSpPr>
          <p:cNvPr id="14" name="제목"/>
          <p:cNvSpPr txBox="1"/>
          <p:nvPr/>
        </p:nvSpPr>
        <p:spPr>
          <a:xfrm>
            <a:off x="558000" y="990000"/>
            <a:ext cx="4320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20년 적립</a:t>
            </a:r>
          </a:p>
        </p:txBody>
      </p:sp>
      <p:sp>
        <p:nvSpPr>
          <p:cNvPr id="15" name="TextBox 14"/>
          <p:cNvSpPr txBox="1"/>
          <p:nvPr/>
        </p:nvSpPr>
        <p:spPr>
          <a:xfrm>
            <a:off x="3258000" y="1080000"/>
            <a:ext cx="6875999" cy="576000"/>
          </a:xfrm>
          <a:prstGeom prst="rect">
            <a:avLst/>
          </a:prstGeom>
          <a:noFill/>
        </p:spPr>
        <p:txBody>
          <a:bodyPr wrap="square" lIns="0" rIns="0" tIns="0" bIns="0" anchor="t">
            <a:spAutoFit/>
          </a:bodyPr>
          <a:lstStyle/>
          <a:p>
            <a:pPr algn="l" eaLnBrk="0">
              <a:lnSpc>
                <a:spcPct val="132000"/>
              </a:lnSpc>
              <a:spcAft>
                <a:spcPts val="0"/>
              </a:spcAft>
            </a:pPr>
            <a:r>
              <a:rPr sz="1000" b="0" lang="ko-KR" altLang="en-US">
                <a:solidFill>
                  <a:srgbClr val="1A1E25"/>
                </a:solidFill>
                <a:latin typeface="Noto Sans KR"/>
                <a:ea typeface="Noto Sans KR"/>
                <a:cs typeface="Noto Sans KR"/>
              </a:rPr>
              <a:t>월 납입액마다 240번 넣은 뒤의 금액입니다. 같은 1,000개 경로 · 세전 · 단위 만 원. 적금은 같은 기간 같은 돈의 세전 금액입니다.</a:t>
            </a:r>
          </a:p>
        </p:txBody>
      </p:sp>
      <p:cxnSp>
        <p:nvCxnSpPr>
          <p:cNvPr id="16" name="Connector 15"/>
          <p:cNvCxnSpPr/>
          <p:nvPr/>
        </p:nvCxnSpPr>
        <p:spPr>
          <a:xfrm>
            <a:off x="558000" y="1710000"/>
            <a:ext cx="9576000" cy="0"/>
          </a:xfrm>
          <a:prstGeom prst="line">
            <a:avLst/>
          </a:prstGeom>
          <a:ln w="9525">
            <a:solidFill>
              <a:srgbClr val="1A1E25"/>
            </a:solidFill>
          </a:ln>
        </p:spPr>
      </p:cxnSp>
      <p:sp>
        <p:nvSpPr>
          <p:cNvPr id="17" name="표지 막대"/>
          <p:cNvSpPr/>
          <p:nvPr/>
        </p:nvSpPr>
        <p:spPr>
          <a:xfrm>
            <a:off x="558000" y="1710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그림 제목"/>
          <p:cNvSpPr txBox="1"/>
          <p:nvPr/>
        </p:nvSpPr>
        <p:spPr>
          <a:xfrm>
            <a:off x="558000" y="1810800"/>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Deneb · 20년 뒤</a:t>
            </a:r>
          </a:p>
        </p:txBody>
      </p:sp>
      <p:graphicFrame>
        <p:nvGraphicFramePr>
          <p:cNvPr id="19" name="표"/>
          <p:cNvGraphicFramePr>
            <a:graphicFrameLocks noGrp="1"/>
          </p:cNvGraphicFramePr>
          <p:nvPr/>
        </p:nvGraphicFramePr>
        <p:xfrm>
          <a:off x="558000" y="1980000"/>
          <a:ext cx="9575996" cy="907200"/>
        </p:xfrm>
        <a:graphic>
          <a:graphicData uri="http://schemas.openxmlformats.org/drawingml/2006/table">
            <a:tbl>
              <a:tblPr firstRow="0" bandRow="0" firstCol="0" lastCol="0" bandCol="0" lastRow="0">
                <a:tableStyleId>{5940675A-B579-460E-94D1-54222C63F5DA}</a:tableStyleId>
              </a:tblPr>
              <a:tblGrid>
                <a:gridCol w="1044000"/>
                <a:gridCol w="1044000"/>
                <a:gridCol w="1385999"/>
                <a:gridCol w="1385999"/>
                <a:gridCol w="1385999"/>
                <a:gridCol w="1385999"/>
                <a:gridCol w="972000"/>
                <a:gridCol w="972000"/>
              </a:tblGrid>
              <a:tr h="1512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월 납입액</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넣은 원금</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모의 최저</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하위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중간</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상위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3%</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4%</a:t>
                      </a:r>
                      <a:endParaRPr sz="800"/>
                    </a:p>
                  </a:txBody>
                  <a:tcPr marL="28800" marR="43200" marT="25200" marB="25200" anchor="b">
                    <a:lnL w="0">
                      <a:noFill/>
                    </a:lnL>
                    <a:lnR w="0">
                      <a:noFill/>
                    </a:lnR>
                    <a:lnT w="9525">
                      <a:solidFill>
                        <a:srgbClr val="1A1E25"/>
                      </a:solidFill>
                    </a:lnT>
                    <a:lnB w="9525">
                      <a:solidFill>
                        <a:srgbClr val="1A1E25"/>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5,469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33,621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119,417</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454,274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3,277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3,651</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20만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4,800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10,938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67,241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238,834</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908,548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6,554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7,302</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30만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7,200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16,407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100,862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358,252</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1,362,822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9,831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10,952</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50만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27,345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168,103</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597,086</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2,271,370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16,384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18,254</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54,689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336,205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1,194,172</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4,542,740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32,768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36,508</a:t>
                      </a:r>
                      <a:endParaRPr sz="85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0" name="Connector 19"/>
          <p:cNvCxnSpPr/>
          <p:nvPr/>
        </p:nvCxnSpPr>
        <p:spPr>
          <a:xfrm>
            <a:off x="558000" y="1980000"/>
            <a:ext cx="9576000" cy="0"/>
          </a:xfrm>
          <a:prstGeom prst="line">
            <a:avLst/>
          </a:prstGeom>
          <a:ln w="25400">
            <a:solidFill>
              <a:srgbClr val="1A1E25"/>
            </a:solidFill>
          </a:ln>
        </p:spPr>
      </p:cxnSp>
      <p:cxnSp>
        <p:nvCxnSpPr>
          <p:cNvPr id="21" name="Connector 20"/>
          <p:cNvCxnSpPr/>
          <p:nvPr/>
        </p:nvCxnSpPr>
        <p:spPr>
          <a:xfrm>
            <a:off x="558000" y="3456000"/>
            <a:ext cx="9576000" cy="0"/>
          </a:xfrm>
          <a:prstGeom prst="line">
            <a:avLst/>
          </a:prstGeom>
          <a:ln w="9525">
            <a:solidFill>
              <a:srgbClr val="1A1E25"/>
            </a:solidFill>
          </a:ln>
        </p:spPr>
      </p:cxnSp>
      <p:sp>
        <p:nvSpPr>
          <p:cNvPr id="22" name="표지 막대"/>
          <p:cNvSpPr/>
          <p:nvPr/>
        </p:nvSpPr>
        <p:spPr>
          <a:xfrm>
            <a:off x="558000" y="3456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그림 제목"/>
          <p:cNvSpPr txBox="1"/>
          <p:nvPr/>
        </p:nvSpPr>
        <p:spPr>
          <a:xfrm>
            <a:off x="558000" y="3556799"/>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QQQ 단독 적립 · 20년 뒤</a:t>
            </a:r>
          </a:p>
        </p:txBody>
      </p:sp>
      <p:graphicFrame>
        <p:nvGraphicFramePr>
          <p:cNvPr id="24" name="표"/>
          <p:cNvGraphicFramePr>
            <a:graphicFrameLocks noGrp="1"/>
          </p:cNvGraphicFramePr>
          <p:nvPr/>
        </p:nvGraphicFramePr>
        <p:xfrm>
          <a:off x="558000" y="3726000"/>
          <a:ext cx="9575996" cy="907200"/>
        </p:xfrm>
        <a:graphic>
          <a:graphicData uri="http://schemas.openxmlformats.org/drawingml/2006/table">
            <a:tbl>
              <a:tblPr firstRow="0" bandRow="0" firstCol="0" lastCol="0" bandCol="0" lastRow="0">
                <a:tableStyleId>{5940675A-B579-460E-94D1-54222C63F5DA}</a:tableStyleId>
              </a:tblPr>
              <a:tblGrid>
                <a:gridCol w="1044000"/>
                <a:gridCol w="1044000"/>
                <a:gridCol w="1385999"/>
                <a:gridCol w="1385999"/>
                <a:gridCol w="1385999"/>
                <a:gridCol w="1385999"/>
                <a:gridCol w="972000"/>
                <a:gridCol w="972000"/>
              </a:tblGrid>
              <a:tr h="1512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월 납입액</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넣은 원금</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모의 최저</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하위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중간</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상위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3%</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4%</a:t>
                      </a:r>
                      <a:endParaRPr sz="800"/>
                    </a:p>
                  </a:txBody>
                  <a:tcPr marL="28800" marR="43200" marT="25200" marB="25200" anchor="b">
                    <a:lnL w="0">
                      <a:noFill/>
                    </a:lnL>
                    <a:lnR w="0">
                      <a:noFill/>
                    </a:lnR>
                    <a:lnT w="9525">
                      <a:solidFill>
                        <a:srgbClr val="1A1E25"/>
                      </a:solidFill>
                    </a:lnT>
                    <a:lnB w="9525">
                      <a:solidFill>
                        <a:srgbClr val="1A1E25"/>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4,252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12,582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25,810</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53,866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3,277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3,651</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20만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4,800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8,505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25,164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51,620</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107,731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6,554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7,302</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30만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7,200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12,757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37,747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77,430</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161,597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9,831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10,952</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50만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21,262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62,911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129,050</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269,329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16,384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18,254</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42,525</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125,822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258,100</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538,657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32,768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36,508</a:t>
                      </a:r>
                      <a:endParaRPr sz="85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5" name="Connector 24"/>
          <p:cNvCxnSpPr/>
          <p:nvPr/>
        </p:nvCxnSpPr>
        <p:spPr>
          <a:xfrm>
            <a:off x="558000" y="3726000"/>
            <a:ext cx="9576000" cy="0"/>
          </a:xfrm>
          <a:prstGeom prst="line">
            <a:avLst/>
          </a:prstGeom>
          <a:ln w="25400">
            <a:solidFill>
              <a:srgbClr val="1A1E25"/>
            </a:solidFill>
          </a:ln>
        </p:spPr>
      </p:cxnSp>
      <p:cxnSp>
        <p:nvCxnSpPr>
          <p:cNvPr id="26" name="Connector 25"/>
          <p:cNvCxnSpPr/>
          <p:nvPr/>
        </p:nvCxnSpPr>
        <p:spPr>
          <a:xfrm>
            <a:off x="558000" y="5202000"/>
            <a:ext cx="9576000" cy="0"/>
          </a:xfrm>
          <a:prstGeom prst="line">
            <a:avLst/>
          </a:prstGeom>
          <a:ln w="9525">
            <a:solidFill>
              <a:srgbClr val="1A1E25"/>
            </a:solidFill>
          </a:ln>
        </p:spPr>
      </p:cxnSp>
      <p:sp>
        <p:nvSpPr>
          <p:cNvPr id="27" name="표지 막대"/>
          <p:cNvSpPr/>
          <p:nvPr/>
        </p:nvSpPr>
        <p:spPr>
          <a:xfrm>
            <a:off x="558000" y="5202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그림 제목"/>
          <p:cNvSpPr txBox="1"/>
          <p:nvPr/>
        </p:nvSpPr>
        <p:spPr>
          <a:xfrm>
            <a:off x="558000" y="5302799"/>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Polaris · 20년 뒤</a:t>
            </a:r>
          </a:p>
        </p:txBody>
      </p:sp>
      <p:graphicFrame>
        <p:nvGraphicFramePr>
          <p:cNvPr id="29" name="표"/>
          <p:cNvGraphicFramePr>
            <a:graphicFrameLocks noGrp="1"/>
          </p:cNvGraphicFramePr>
          <p:nvPr/>
        </p:nvGraphicFramePr>
        <p:xfrm>
          <a:off x="558000" y="5472000"/>
          <a:ext cx="9575996" cy="907200"/>
        </p:xfrm>
        <a:graphic>
          <a:graphicData uri="http://schemas.openxmlformats.org/drawingml/2006/table">
            <a:tbl>
              <a:tblPr firstRow="0" bandRow="0" firstCol="0" lastCol="0" bandCol="0" lastRow="0">
                <a:tableStyleId>{5940675A-B579-460E-94D1-54222C63F5DA}</a:tableStyleId>
              </a:tblPr>
              <a:tblGrid>
                <a:gridCol w="1044000"/>
                <a:gridCol w="1044000"/>
                <a:gridCol w="1385999"/>
                <a:gridCol w="1385999"/>
                <a:gridCol w="1385999"/>
                <a:gridCol w="1385999"/>
                <a:gridCol w="972000"/>
                <a:gridCol w="972000"/>
              </a:tblGrid>
              <a:tr h="151200">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월 납입액</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넣은 원금</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모의 최저</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하위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중간</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상위 10%</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3%</a:t>
                      </a:r>
                      <a:endParaRPr sz="80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00" b="1" lang="ko-KR" altLang="en-US">
                          <a:solidFill>
                            <a:srgbClr val="5C6573"/>
                          </a:solidFill>
                          <a:latin typeface="Noto Sans KR"/>
                          <a:ea typeface="Noto Sans KR"/>
                          <a:cs typeface="Noto Sans KR"/>
                        </a:rPr>
                        <a:t>적금 4%</a:t>
                      </a:r>
                      <a:endParaRPr sz="800"/>
                    </a:p>
                  </a:txBody>
                  <a:tcPr marL="28800" marR="43200" marT="25200" marB="25200" anchor="b">
                    <a:lnL w="0">
                      <a:noFill/>
                    </a:lnL>
                    <a:lnR w="0">
                      <a:noFill/>
                    </a:lnR>
                    <a:lnT w="9525">
                      <a:solidFill>
                        <a:srgbClr val="1A1E25"/>
                      </a:solidFill>
                    </a:lnT>
                    <a:lnB w="9525">
                      <a:solidFill>
                        <a:srgbClr val="1A1E25"/>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3,518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6,610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10,061</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15,486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3,277</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3,651</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20만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4,800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7,036</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13,221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20,122</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30,972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6,554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7,302</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30만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7,200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10,554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19,831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30,182</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46,459</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9,831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10,952</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50만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12,000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17,590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33,052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50,304</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77,431</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16,384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18,254</a:t>
                      </a:r>
                      <a:endParaRPr sz="850"/>
                    </a:p>
                  </a:txBody>
                  <a:tcPr marL="28800" marR="43200" marT="25200" marB="25200" anchor="ctr">
                    <a:lnL w="0">
                      <a:noFill/>
                    </a:lnL>
                    <a:lnR w="0">
                      <a:noFill/>
                    </a:lnR>
                    <a:lnT w="0">
                      <a:noFill/>
                    </a:lnT>
                    <a:lnB w="6350">
                      <a:solidFill>
                        <a:srgbClr val="C9D0DA"/>
                      </a:solidFill>
                    </a:lnB>
                    <a:noFill/>
                  </a:tcPr>
                </a:tc>
              </a:tr>
              <a:tr h="151200">
                <a:tc>
                  <a:txBody>
                    <a:bodyPr wrap="square"/>
                    <a:lstStyle/>
                    <a:p>
                      <a:pPr algn="l" eaLnBrk="0">
                        <a:lnSpc>
                          <a:spcPct val="112000"/>
                        </a:lnSpc>
                        <a:spcAft>
                          <a:spcPts val="0"/>
                        </a:spcAft>
                      </a:pPr>
                      <a:r>
                        <a:rPr sz="850" b="1" lang="ko-KR" altLang="en-US">
                          <a:solidFill>
                            <a:srgbClr val="1A1E25"/>
                          </a:solidFill>
                          <a:latin typeface="Noto Sans KR"/>
                          <a:ea typeface="Noto Sans KR"/>
                          <a:cs typeface="Noto Sans KR"/>
                        </a:rPr>
                        <a:t>월 100만 원</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24,000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35,180</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66,104</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100,608</a:t>
                      </a:r>
                      <a:endParaRPr sz="85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154,862</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32,768</a:t>
                      </a:r>
                      <a:endParaRPr sz="85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50" b="0" lang="ko-KR" altLang="en-US">
                          <a:solidFill>
                            <a:srgbClr val="1A1E25"/>
                          </a:solidFill>
                          <a:latin typeface="Noto Sans KR"/>
                          <a:ea typeface="Noto Sans KR"/>
                          <a:cs typeface="Noto Sans KR"/>
                        </a:rPr>
                        <a:t>36,508</a:t>
                      </a:r>
                      <a:endParaRPr sz="850"/>
                    </a:p>
                  </a:txBody>
                  <a:tcPr marL="28800" marR="43200" marT="25200" marB="25200" anchor="ctr">
                    <a:lnL w="0">
                      <a:noFill/>
                    </a:lnL>
                    <a:lnR w="0">
                      <a:noFill/>
                    </a:lnR>
                    <a:lnT w="0">
                      <a:noFill/>
                    </a:lnT>
                    <a:lnB w="6350">
                      <a:solidFill>
                        <a:srgbClr val="C9D0DA"/>
                      </a:solidFill>
                    </a:lnB>
                    <a:noFill/>
                  </a:tcPr>
                </a:tc>
              </a:tr>
            </a:tbl>
          </a:graphicData>
        </a:graphic>
      </p:graphicFrame>
      <p:cxnSp>
        <p:nvCxnSpPr>
          <p:cNvPr id="30" name="Connector 29"/>
          <p:cNvCxnSpPr/>
          <p:nvPr/>
        </p:nvCxnSpPr>
        <p:spPr>
          <a:xfrm>
            <a:off x="558000" y="5472000"/>
            <a:ext cx="9576000" cy="0"/>
          </a:xfrm>
          <a:prstGeom prst="line">
            <a:avLst/>
          </a:prstGeom>
          <a:ln w="25400">
            <a:solidFill>
              <a:srgbClr val="1A1E25"/>
            </a:solidFill>
          </a:ln>
        </p:spPr>
      </p:cxnSp>
      <p:sp>
        <p:nvSpPr>
          <p:cNvPr id="31"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같은 1,000 경로(2012~2026 1년 블록 재조합) · 세전 · 소수 주 · 비용 0.15% · 월 20만 원 계산을 납입액에 비례 환산 · 적금 12개월 단리 재예치</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8037600" y="619200"/>
            <a:ext cx="5364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35</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12장 · 장기 적립 시나리오</a:t>
            </a:r>
          </a:p>
        </p:txBody>
      </p:sp>
      <p:sp>
        <p:nvSpPr>
          <p:cNvPr id="14" name="제목"/>
          <p:cNvSpPr txBox="1"/>
          <p:nvPr/>
        </p:nvSpPr>
        <p:spPr>
          <a:xfrm>
            <a:off x="558000" y="990000"/>
            <a:ext cx="6120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세 전략 한눈에 · 월 10만 원</a:t>
            </a:r>
          </a:p>
        </p:txBody>
      </p:sp>
      <p:cxnSp>
        <p:nvCxnSpPr>
          <p:cNvPr id="15" name="Connector 14"/>
          <p:cNvCxnSpPr/>
          <p:nvPr/>
        </p:nvCxnSpPr>
        <p:spPr>
          <a:xfrm>
            <a:off x="558000" y="1638000"/>
            <a:ext cx="9576000" cy="0"/>
          </a:xfrm>
          <a:prstGeom prst="line">
            <a:avLst/>
          </a:prstGeom>
          <a:ln w="9525">
            <a:solidFill>
              <a:srgbClr val="1A1E25"/>
            </a:solidFill>
          </a:ln>
        </p:spPr>
      </p:cxnSp>
      <p:sp>
        <p:nvSpPr>
          <p:cNvPr id="16" name="표지 막대"/>
          <p:cNvSpPr/>
          <p:nvPr/>
        </p:nvSpPr>
        <p:spPr>
          <a:xfrm>
            <a:off x="558000" y="1638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그림 제목"/>
          <p:cNvSpPr txBox="1"/>
          <p:nvPr/>
        </p:nvSpPr>
        <p:spPr>
          <a:xfrm>
            <a:off x="558000" y="1738800"/>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기간별 중간값과 모의 최저</a:t>
            </a:r>
          </a:p>
        </p:txBody>
      </p:sp>
      <p:sp>
        <p:nvSpPr>
          <p:cNvPr id="18" name="그림 설명"/>
          <p:cNvSpPr txBox="1"/>
          <p:nvPr/>
        </p:nvSpPr>
        <p:spPr>
          <a:xfrm>
            <a:off x="558000" y="1925999"/>
            <a:ext cx="957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같은 1,000 경로 · 세전 · 단위 만 원</a:t>
            </a:r>
          </a:p>
        </p:txBody>
      </p:sp>
      <p:graphicFrame>
        <p:nvGraphicFramePr>
          <p:cNvPr id="19" name="표"/>
          <p:cNvGraphicFramePr>
            <a:graphicFrameLocks noGrp="1"/>
          </p:cNvGraphicFramePr>
          <p:nvPr/>
        </p:nvGraphicFramePr>
        <p:xfrm>
          <a:off x="558000" y="2106000"/>
          <a:ext cx="9575994" cy="1116000"/>
        </p:xfrm>
        <a:graphic>
          <a:graphicData uri="http://schemas.openxmlformats.org/drawingml/2006/table">
            <a:tbl>
              <a:tblPr firstRow="0" bandRow="0" firstCol="0" lastCol="0" bandCol="0" lastRow="0">
                <a:tableStyleId>{5940675A-B579-460E-94D1-54222C63F5DA}</a:tableStyleId>
              </a:tblPr>
              <a:tblGrid>
                <a:gridCol w="792000"/>
                <a:gridCol w="936000"/>
                <a:gridCol w="1121142"/>
                <a:gridCol w="1121142"/>
                <a:gridCol w="1121142"/>
                <a:gridCol w="1121142"/>
                <a:gridCol w="1121142"/>
                <a:gridCol w="1121142"/>
                <a:gridCol w="1121142"/>
              </a:tblGrid>
              <a:tr h="2232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기간</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넣은 원금</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Deneb 중간</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QQQ 중간</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Polaris 중간</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적금 4%</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Deneb 최저</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QQQ 최저</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Polaris 최저</a:t>
                      </a:r>
                      <a:endParaRPr sz="850"/>
                    </a:p>
                  </a:txBody>
                  <a:tcPr marL="28800" marR="43200" marT="25200" marB="25200" anchor="b">
                    <a:lnL w="0">
                      <a:noFill/>
                    </a:lnL>
                    <a:lnR w="0">
                      <a:noFill/>
                    </a:lnR>
                    <a:lnT w="9525">
                      <a:solidFill>
                        <a:srgbClr val="1A1E25"/>
                      </a:solidFill>
                    </a:lnT>
                    <a:lnB w="9525">
                      <a:solidFill>
                        <a:srgbClr val="1A1E25"/>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5년</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1,383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1,033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842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664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428</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435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515</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10년</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1,200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7,189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3,658</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2,379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1,472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1,002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796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1,082</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15년</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1,800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30,423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10,153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5,152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2,455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2,052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1,646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2,002</a:t>
                      </a:r>
                      <a:endParaRPr sz="900"/>
                    </a:p>
                  </a:txBody>
                  <a:tcPr marL="28800" marR="43200" marT="25200" marB="25200" anchor="ctr">
                    <a:lnL w="0">
                      <a:noFill/>
                    </a:lnL>
                    <a:lnR w="0">
                      <a:noFill/>
                    </a:lnR>
                    <a:lnT w="0">
                      <a:noFill/>
                    </a:lnT>
                    <a:lnB w="6350">
                      <a:solidFill>
                        <a:srgbClr val="C9D0DA"/>
                      </a:solidFill>
                    </a:lnB>
                    <a:noFill/>
                  </a:tcPr>
                </a:tc>
              </a:tr>
              <a:tr h="2232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20년</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2,400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119,417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25,810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10,061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3,651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5,469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4,252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3,518</a:t>
                      </a:r>
                      <a:endParaRPr sz="90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0" name="Connector 19"/>
          <p:cNvCxnSpPr/>
          <p:nvPr/>
        </p:nvCxnSpPr>
        <p:spPr>
          <a:xfrm>
            <a:off x="558000" y="2106000"/>
            <a:ext cx="9576000" cy="0"/>
          </a:xfrm>
          <a:prstGeom prst="line">
            <a:avLst/>
          </a:prstGeom>
          <a:ln w="25400">
            <a:solidFill>
              <a:srgbClr val="1A1E25"/>
            </a:solidFill>
          </a:ln>
        </p:spPr>
      </p:cxnSp>
      <p:cxnSp>
        <p:nvCxnSpPr>
          <p:cNvPr id="21" name="Connector 20"/>
          <p:cNvCxnSpPr/>
          <p:nvPr/>
        </p:nvCxnSpPr>
        <p:spPr>
          <a:xfrm>
            <a:off x="558000" y="3456000"/>
            <a:ext cx="9576000" cy="0"/>
          </a:xfrm>
          <a:prstGeom prst="line">
            <a:avLst/>
          </a:prstGeom>
          <a:ln w="9525">
            <a:solidFill>
              <a:srgbClr val="1A1E25"/>
            </a:solidFill>
          </a:ln>
        </p:spPr>
      </p:cxnSp>
      <p:sp>
        <p:nvSpPr>
          <p:cNvPr id="22" name="표지 막대"/>
          <p:cNvSpPr/>
          <p:nvPr/>
        </p:nvSpPr>
        <p:spPr>
          <a:xfrm>
            <a:off x="558000" y="3456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그림 제목"/>
          <p:cNvSpPr txBox="1"/>
          <p:nvPr/>
        </p:nvSpPr>
        <p:spPr>
          <a:xfrm>
            <a:off x="558000" y="3556799"/>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같은 경로끼리 맞대 보기 — 1,000개 중 몇 개였나</a:t>
            </a:r>
          </a:p>
        </p:txBody>
      </p:sp>
      <p:sp>
        <p:nvSpPr>
          <p:cNvPr id="24" name="그림 설명"/>
          <p:cNvSpPr txBox="1"/>
          <p:nvPr/>
        </p:nvSpPr>
        <p:spPr>
          <a:xfrm>
            <a:off x="558000" y="3744000"/>
            <a:ext cx="957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미래 확률이 아니라 이 모의 경로에서 센 개수</a:t>
            </a:r>
          </a:p>
        </p:txBody>
      </p:sp>
      <p:graphicFrame>
        <p:nvGraphicFramePr>
          <p:cNvPr id="25" name="표"/>
          <p:cNvGraphicFramePr>
            <a:graphicFrameLocks noGrp="1"/>
          </p:cNvGraphicFramePr>
          <p:nvPr/>
        </p:nvGraphicFramePr>
        <p:xfrm>
          <a:off x="558000" y="3924000"/>
          <a:ext cx="9575999" cy="1080000"/>
        </p:xfrm>
        <a:graphic>
          <a:graphicData uri="http://schemas.openxmlformats.org/drawingml/2006/table">
            <a:tbl>
              <a:tblPr firstRow="0" bandRow="0" firstCol="0" lastCol="0" bandCol="0" lastRow="0">
                <a:tableStyleId>{5940675A-B579-460E-94D1-54222C63F5DA}</a:tableStyleId>
              </a:tblPr>
              <a:tblGrid>
                <a:gridCol w="792000"/>
                <a:gridCol w="2232000"/>
                <a:gridCol w="2232000"/>
                <a:gridCol w="1800000"/>
                <a:gridCol w="1260000"/>
                <a:gridCol w="1259999"/>
              </a:tblGrid>
              <a:tr h="2160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기간</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Deneb가 QQQ보다 적었던 경로</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Polaris가 QQQ보다 적었던 경로</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원금보다 적었던 경로 · Deneb</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QQQ</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Polaris</a:t>
                      </a:r>
                      <a:endParaRPr sz="850"/>
                    </a:p>
                  </a:txBody>
                  <a:tcPr marL="28800" marR="43200" marT="25200" marB="25200" anchor="b">
                    <a:lnL w="0">
                      <a:noFill/>
                    </a:lnL>
                    <a:lnR w="0">
                      <a:noFill/>
                    </a:lnR>
                    <a:lnT w="9525">
                      <a:solidFill>
                        <a:srgbClr val="1A1E25"/>
                      </a:solidFill>
                    </a:lnT>
                    <a:lnB w="9525">
                      <a:solidFill>
                        <a:srgbClr val="1A1E25"/>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5년</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65개</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946개</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16개</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26개</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13개</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10년</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19개</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986개</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4개</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3개</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3개</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15년</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14개</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996개</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0개</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1개</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0개</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20년</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2개</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1000개</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0개</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0개</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0개</a:t>
                      </a:r>
                      <a:endParaRPr sz="90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6" name="Connector 25"/>
          <p:cNvCxnSpPr/>
          <p:nvPr/>
        </p:nvCxnSpPr>
        <p:spPr>
          <a:xfrm>
            <a:off x="558000" y="3924000"/>
            <a:ext cx="9576000" cy="0"/>
          </a:xfrm>
          <a:prstGeom prst="line">
            <a:avLst/>
          </a:prstGeom>
          <a:ln w="25400">
            <a:solidFill>
              <a:srgbClr val="1A1E25"/>
            </a:solidFill>
          </a:ln>
        </p:spPr>
      </p:cxnSp>
      <p:cxnSp>
        <p:nvCxnSpPr>
          <p:cNvPr id="27" name="Connector 26"/>
          <p:cNvCxnSpPr/>
          <p:nvPr/>
        </p:nvCxnSpPr>
        <p:spPr>
          <a:xfrm>
            <a:off x="558000" y="5184000"/>
            <a:ext cx="3006000" cy="0"/>
          </a:xfrm>
          <a:prstGeom prst="line">
            <a:avLst/>
          </a:prstGeom>
          <a:ln w="6350">
            <a:solidFill>
              <a:srgbClr val="C9D0DA"/>
            </a:solidFill>
          </a:ln>
        </p:spPr>
      </p:cxnSp>
      <p:sp>
        <p:nvSpPr>
          <p:cNvPr id="28" name="TextBox 27"/>
          <p:cNvSpPr txBox="1"/>
          <p:nvPr/>
        </p:nvSpPr>
        <p:spPr>
          <a:xfrm>
            <a:off x="558000" y="5256000"/>
            <a:ext cx="3006000" cy="1619999"/>
          </a:xfrm>
          <a:prstGeom prst="rect">
            <a:avLst/>
          </a:prstGeom>
          <a:noFill/>
        </p:spPr>
        <p:txBody>
          <a:bodyPr wrap="square" lIns="0" rIns="0" tIns="0" bIns="0" anchor="t">
            <a:spAutoFit/>
          </a:bodyPr>
          <a:lstStyle/>
          <a:p>
            <a:pPr algn="l" eaLnBrk="0">
              <a:lnSpc>
                <a:spcPct val="132000"/>
              </a:lnSpc>
              <a:spcAft>
                <a:spcPts val="400"/>
              </a:spcAft>
            </a:pPr>
            <a:r>
              <a:rPr sz="950" b="1" lang="ko-KR" altLang="en-US">
                <a:solidFill>
                  <a:srgbClr val="1A1E25"/>
                </a:solidFill>
                <a:latin typeface="Noto Sans KR"/>
                <a:ea typeface="Noto Sans KR"/>
                <a:cs typeface="Noto Sans KR"/>
              </a:rPr>
              <a:t>읽는 법  </a:t>
            </a:r>
            <a:r>
              <a:rPr sz="950" b="0" lang="ko-KR" altLang="en-US">
                <a:solidFill>
                  <a:srgbClr val="1A1E25"/>
                </a:solidFill>
                <a:latin typeface="Noto Sans KR"/>
                <a:ea typeface="Noto Sans KR"/>
                <a:cs typeface="Noto Sans KR"/>
              </a:rPr>
              <a:t>5년처럼 짧으면 세 전략 모두 원금보다 적게 끝난 경로가 있었습니다(QQQ 26개, Deneb 16개, Polaris 13개). 기간이 길수록 줄었습니다.</a:t>
            </a:r>
          </a:p>
        </p:txBody>
      </p:sp>
      <p:cxnSp>
        <p:nvCxnSpPr>
          <p:cNvPr id="29" name="Connector 28"/>
          <p:cNvCxnSpPr/>
          <p:nvPr/>
        </p:nvCxnSpPr>
        <p:spPr>
          <a:xfrm>
            <a:off x="3844800" y="5184000"/>
            <a:ext cx="3006000" cy="0"/>
          </a:xfrm>
          <a:prstGeom prst="line">
            <a:avLst/>
          </a:prstGeom>
          <a:ln w="6350">
            <a:solidFill>
              <a:srgbClr val="C9D0DA"/>
            </a:solidFill>
          </a:ln>
        </p:spPr>
      </p:cxnSp>
      <p:sp>
        <p:nvSpPr>
          <p:cNvPr id="30" name="TextBox 29"/>
          <p:cNvSpPr txBox="1"/>
          <p:nvPr/>
        </p:nvSpPr>
        <p:spPr>
          <a:xfrm>
            <a:off x="3844800" y="5256000"/>
            <a:ext cx="3006000" cy="1619999"/>
          </a:xfrm>
          <a:prstGeom prst="rect">
            <a:avLst/>
          </a:prstGeom>
          <a:noFill/>
        </p:spPr>
        <p:txBody>
          <a:bodyPr wrap="square" lIns="0" rIns="0" tIns="0" bIns="0" anchor="t">
            <a:spAutoFit/>
          </a:bodyPr>
          <a:lstStyle/>
          <a:p>
            <a:pPr algn="l" eaLnBrk="0">
              <a:lnSpc>
                <a:spcPct val="132000"/>
              </a:lnSpc>
              <a:spcAft>
                <a:spcPts val="400"/>
              </a:spcAft>
            </a:pPr>
            <a:r>
              <a:rPr sz="950" b="1" lang="ko-KR" altLang="en-US">
                <a:solidFill>
                  <a:srgbClr val="1A1E25"/>
                </a:solidFill>
                <a:latin typeface="Noto Sans KR"/>
                <a:ea typeface="Noto Sans KR"/>
                <a:cs typeface="Noto Sans KR"/>
              </a:rPr>
              <a:t>Deneb와 QQQ  </a:t>
            </a:r>
            <a:r>
              <a:rPr sz="950" b="0" lang="ko-KR" altLang="en-US">
                <a:solidFill>
                  <a:srgbClr val="1A1E25"/>
                </a:solidFill>
                <a:latin typeface="Noto Sans KR"/>
                <a:ea typeface="Noto Sans KR"/>
                <a:cs typeface="Noto Sans KR"/>
              </a:rPr>
              <a:t>같은 경로에서 Deneb가 QQQ보다 적게 남은 경우는 5년 65개, 20년 2개였습니다. 재료가 강세장이라 레버리지에 유리하게 기울어 있습니다.</a:t>
            </a:r>
          </a:p>
        </p:txBody>
      </p:sp>
      <p:cxnSp>
        <p:nvCxnSpPr>
          <p:cNvPr id="31" name="Connector 30"/>
          <p:cNvCxnSpPr/>
          <p:nvPr/>
        </p:nvCxnSpPr>
        <p:spPr>
          <a:xfrm>
            <a:off x="7128000" y="5184000"/>
            <a:ext cx="3006000" cy="0"/>
          </a:xfrm>
          <a:prstGeom prst="line">
            <a:avLst/>
          </a:prstGeom>
          <a:ln w="6350">
            <a:solidFill>
              <a:srgbClr val="C9D0DA"/>
            </a:solidFill>
          </a:ln>
        </p:spPr>
      </p:cxnSp>
      <p:sp>
        <p:nvSpPr>
          <p:cNvPr id="32" name="TextBox 31"/>
          <p:cNvSpPr txBox="1"/>
          <p:nvPr/>
        </p:nvSpPr>
        <p:spPr>
          <a:xfrm>
            <a:off x="7128000" y="5256000"/>
            <a:ext cx="3006000" cy="1619999"/>
          </a:xfrm>
          <a:prstGeom prst="rect">
            <a:avLst/>
          </a:prstGeom>
          <a:noFill/>
        </p:spPr>
        <p:txBody>
          <a:bodyPr wrap="square" lIns="0" rIns="0" tIns="0" bIns="0" anchor="t">
            <a:spAutoFit/>
          </a:bodyPr>
          <a:lstStyle/>
          <a:p>
            <a:pPr algn="l" eaLnBrk="0">
              <a:lnSpc>
                <a:spcPct val="132000"/>
              </a:lnSpc>
              <a:spcAft>
                <a:spcPts val="400"/>
              </a:spcAft>
            </a:pPr>
            <a:r>
              <a:rPr sz="950" b="1" lang="ko-KR" altLang="en-US">
                <a:solidFill>
                  <a:srgbClr val="1A1E25"/>
                </a:solidFill>
                <a:latin typeface="Noto Sans KR"/>
                <a:ea typeface="Noto Sans KR"/>
                <a:cs typeface="Noto Sans KR"/>
              </a:rPr>
              <a:t>Polaris와 QQQ  </a:t>
            </a:r>
            <a:r>
              <a:rPr sz="950" b="0" lang="ko-KR" altLang="en-US">
                <a:solidFill>
                  <a:srgbClr val="1A1E25"/>
                </a:solidFill>
                <a:latin typeface="Noto Sans KR"/>
                <a:ea typeface="Noto Sans KR"/>
                <a:cs typeface="Noto Sans KR"/>
              </a:rPr>
              <a:t>Polaris는 거의 모든 경로에서 QQQ보다 적게 남았습니다. 대신 하위 10%와 중간값의 간격이 좁아 결과가 덜 퍼졌습니다.</a:t>
            </a:r>
          </a:p>
        </p:txBody>
      </p:sp>
      <p:sp>
        <p:nvSpPr>
          <p:cNvPr id="33"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blue_manual/calc2_result.json resampling.compare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9085800" y="619200"/>
            <a:ext cx="5364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36</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13장 · 결과 해석과 한계</a:t>
            </a:r>
          </a:p>
        </p:txBody>
      </p:sp>
      <p:sp>
        <p:nvSpPr>
          <p:cNvPr id="14" name="제목"/>
          <p:cNvSpPr txBox="1"/>
          <p:nvPr/>
        </p:nvSpPr>
        <p:spPr>
          <a:xfrm>
            <a:off x="558000" y="990000"/>
            <a:ext cx="6120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세 전략의 장단점</a:t>
            </a:r>
          </a:p>
        </p:txBody>
      </p:sp>
      <p:graphicFrame>
        <p:nvGraphicFramePr>
          <p:cNvPr id="15" name="표"/>
          <p:cNvGraphicFramePr>
            <a:graphicFrameLocks noGrp="1"/>
          </p:cNvGraphicFramePr>
          <p:nvPr/>
        </p:nvGraphicFramePr>
        <p:xfrm>
          <a:off x="558000" y="1655999"/>
          <a:ext cx="9575997" cy="2700000"/>
        </p:xfrm>
        <a:graphic>
          <a:graphicData uri="http://schemas.openxmlformats.org/drawingml/2006/table">
            <a:tbl>
              <a:tblPr firstRow="0" bandRow="0" firstCol="0" lastCol="0" bandCol="0" lastRow="0">
                <a:tableStyleId>{5940675A-B579-460E-94D1-54222C63F5DA}</a:tableStyleId>
              </a:tblPr>
              <a:tblGrid>
                <a:gridCol w="1512000"/>
                <a:gridCol w="2687999"/>
                <a:gridCol w="2687999"/>
                <a:gridCol w="2687999"/>
              </a:tblGrid>
              <a:tr h="4500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Deneb</a:t>
                      </a:r>
                      <a:endParaRPr sz="850"/>
                    </a:p>
                  </a:txBody>
                  <a:tcPr marL="28800" marR="43200" marT="25200" marB="25200" anchor="b">
                    <a:lnL w="0">
                      <a:noFill/>
                    </a:lnL>
                    <a:lnR w="0">
                      <a:noFill/>
                    </a:lnR>
                    <a:lnT w="9525">
                      <a:solidFill>
                        <a:srgbClr val="1A1E25"/>
                      </a:solidFill>
                    </a:lnT>
                    <a:lnB w="9525">
                      <a:solidFill>
                        <a:srgbClr val="1A1E25"/>
                      </a:solidFill>
                    </a:lnB>
                    <a:solidFill>
                      <a:srgbClr val="EDF1F7"/>
                    </a:solid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Polaris</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QQQ 단독 적립</a:t>
                      </a:r>
                      <a:endParaRPr sz="850"/>
                    </a:p>
                  </a:txBody>
                  <a:tcPr marL="28800" marR="43200" marT="25200" marB="25200" anchor="b">
                    <a:lnL w="0">
                      <a:noFill/>
                    </a:lnL>
                    <a:lnR w="0">
                      <a:noFill/>
                    </a:lnR>
                    <a:lnT w="9525">
                      <a:solidFill>
                        <a:srgbClr val="1A1E25"/>
                      </a:solidFill>
                    </a:lnT>
                    <a:lnB w="9525">
                      <a:solidFill>
                        <a:srgbClr val="1A1E25"/>
                      </a:solidFill>
                    </a:lnB>
                    <a:noFill/>
                  </a:tcPr>
                </a:tc>
              </a:tr>
              <a:tr h="450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확인된 점 (2012~2026)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QQQ 단독보다 4.1배 남기면서 최대 낙폭은 비슷(−32% vs −35%)</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네 위기 구간 모두 가장 덜 내림 · 최대 낙폭 −23%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규칙이 없어 이해 · 실행이 가장 쉬움</a:t>
                      </a:r>
                      <a:endParaRPr sz="900"/>
                    </a:p>
                  </a:txBody>
                  <a:tcPr marL="28800" marR="43200" marT="25200" marB="25200" anchor="ctr">
                    <a:lnL w="0">
                      <a:noFill/>
                    </a:lnL>
                    <a:lnR w="0">
                      <a:noFill/>
                    </a:lnR>
                    <a:lnT w="0">
                      <a:noFill/>
                    </a:lnT>
                    <a:lnB w="6350">
                      <a:solidFill>
                        <a:srgbClr val="C9D0DA"/>
                      </a:solidFill>
                    </a:lnB>
                    <a:noFill/>
                  </a:tcPr>
                </a:tc>
              </a:tr>
              <a:tr h="450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감수할 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짧고 급한 하락에선 더 내림(2018 · 2020) · 되사기 절반은 판 값보다 비쌌음</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QQQ보다 끝 금액이 42% 적음 · 국채도 함께 내린 해(2022)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−35% 하락과 24개월 회복을 그대로 견뎌야 함</a:t>
                      </a:r>
                      <a:endParaRPr sz="900"/>
                    </a:p>
                  </a:txBody>
                  <a:tcPr marL="28800" marR="43200" marT="25200" marB="25200" anchor="ctr">
                    <a:lnL w="0">
                      <a:noFill/>
                    </a:lnL>
                    <a:lnR w="0">
                      <a:noFill/>
                    </a:lnR>
                    <a:lnT w="0">
                      <a:noFill/>
                    </a:lnT>
                    <a:lnB w="6350">
                      <a:solidFill>
                        <a:srgbClr val="C9D0DA"/>
                      </a:solidFill>
                    </a:lnB>
                    <a:noFill/>
                  </a:tcPr>
                </a:tc>
              </a:tr>
              <a:tr h="450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특정 기간에 기댄 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나스닥100의 강한 상승에 크게 기댐 · 긴 합성 연구에선 섞기만으로 −98%</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국채 금리 상승기(2022)에 분산 효과가 약했음</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미국 기술주 비중이 큼</a:t>
                      </a:r>
                      <a:endParaRPr sz="900"/>
                    </a:p>
                  </a:txBody>
                  <a:tcPr marL="28800" marR="43200" marT="25200" marB="25200" anchor="ctr">
                    <a:lnL w="0">
                      <a:noFill/>
                    </a:lnL>
                    <a:lnR w="0">
                      <a:noFill/>
                    </a:lnR>
                    <a:lnT w="0">
                      <a:noFill/>
                    </a:lnT>
                    <a:lnB w="6350">
                      <a:solidFill>
                        <a:srgbClr val="C9D0DA"/>
                      </a:solidFill>
                    </a:lnB>
                    <a:noFill/>
                  </a:tcPr>
                </a:tc>
              </a:tr>
              <a:tr h="450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실제와 다를 수 있는 점</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양도세(매도 · 되사기 잦음) · 정수 주 · 체결 가격</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원화 주문 · 정수 주 · 분배금 재투자 규칙 없음</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환율 · 세금</a:t>
                      </a:r>
                      <a:endParaRPr sz="900"/>
                    </a:p>
                  </a:txBody>
                  <a:tcPr marL="28800" marR="43200" marT="25200" marB="25200" anchor="ctr">
                    <a:lnL w="0">
                      <a:noFill/>
                    </a:lnL>
                    <a:lnR w="0">
                      <a:noFill/>
                    </a:lnR>
                    <a:lnT w="0">
                      <a:noFill/>
                    </a:lnT>
                    <a:lnB w="6350">
                      <a:solidFill>
                        <a:srgbClr val="C9D0DA"/>
                      </a:solidFill>
                    </a:lnB>
                    <a:noFill/>
                  </a:tcPr>
                </a:tc>
              </a:tr>
              <a:tr h="450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연구 판정</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변동성 조절은 연구 판정 ‘기각’, 사용자 선택 · 하락 방어는 별도 연구로 채택</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참고 계산 기반 선택(판정 아님)</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비교 기준</a:t>
                      </a:r>
                      <a:endParaRPr sz="900"/>
                    </a:p>
                  </a:txBody>
                  <a:tcPr marL="28800" marR="43200" marT="25200" marB="25200" anchor="ctr">
                    <a:lnL w="0">
                      <a:noFill/>
                    </a:lnL>
                    <a:lnR w="0">
                      <a:noFill/>
                    </a:lnR>
                    <a:lnT w="0">
                      <a:noFill/>
                    </a:lnT>
                    <a:lnB w="6350">
                      <a:solidFill>
                        <a:srgbClr val="C9D0DA"/>
                      </a:solidFill>
                    </a:lnB>
                    <a:noFill/>
                  </a:tcPr>
                </a:tc>
              </a:tr>
            </a:tbl>
          </a:graphicData>
        </a:graphic>
      </p:graphicFrame>
      <p:cxnSp>
        <p:nvCxnSpPr>
          <p:cNvPr id="16" name="Connector 15"/>
          <p:cNvCxnSpPr/>
          <p:nvPr/>
        </p:nvCxnSpPr>
        <p:spPr>
          <a:xfrm>
            <a:off x="558000" y="1655999"/>
            <a:ext cx="9576000" cy="0"/>
          </a:xfrm>
          <a:prstGeom prst="line">
            <a:avLst/>
          </a:prstGeom>
          <a:ln w="25400">
            <a:solidFill>
              <a:srgbClr val="1A1E25"/>
            </a:solidFill>
          </a:ln>
        </p:spPr>
      </p:cxnSp>
      <p:sp>
        <p:nvSpPr>
          <p:cNvPr id="17" name="TextBox 16"/>
          <p:cNvSpPr txBox="1"/>
          <p:nvPr/>
        </p:nvSpPr>
        <p:spPr>
          <a:xfrm>
            <a:off x="558000" y="4680000"/>
            <a:ext cx="9576000" cy="360000"/>
          </a:xfrm>
          <a:prstGeom prst="rect">
            <a:avLst/>
          </a:prstGeom>
          <a:noFill/>
        </p:spPr>
        <p:txBody>
          <a:bodyPr wrap="square" lIns="0" rIns="0" tIns="0" bIns="0" anchor="t">
            <a:spAutoFit/>
          </a:bodyPr>
          <a:lstStyle/>
          <a:p>
            <a:pPr algn="l" eaLnBrk="0">
              <a:lnSpc>
                <a:spcPct val="132000"/>
              </a:lnSpc>
              <a:spcAft>
                <a:spcPts val="0"/>
              </a:spcAft>
            </a:pPr>
            <a:r>
              <a:rPr sz="1050" b="0" lang="ko-KR" altLang="en-US">
                <a:solidFill>
                  <a:srgbClr val="1A1E25"/>
                </a:solidFill>
                <a:latin typeface="Malgun Gothic Semilight"/>
                <a:ea typeface="Malgun Gothic Semilight"/>
                <a:cs typeface="Malgun Gothic Semilight"/>
              </a:rPr>
              <a:t>이 설명서는 한 전략을 고르라는 결론을 내리지 않습니다. 같은 조건에서 무엇을 얻고 무엇을 감수했는지를 나란히 보여 줄 뿐입니다.</a:t>
            </a:r>
          </a:p>
        </p:txBody>
      </p:sp>
      <p:cxnSp>
        <p:nvCxnSpPr>
          <p:cNvPr id="18" name="Connector 17"/>
          <p:cNvCxnSpPr/>
          <p:nvPr/>
        </p:nvCxnSpPr>
        <p:spPr>
          <a:xfrm>
            <a:off x="558000" y="5166000"/>
            <a:ext cx="9576000" cy="0"/>
          </a:xfrm>
          <a:prstGeom prst="line">
            <a:avLst/>
          </a:prstGeom>
          <a:ln w="9525">
            <a:solidFill>
              <a:srgbClr val="1A1E25"/>
            </a:solidFill>
          </a:ln>
        </p:spPr>
      </p:cxnSp>
      <p:sp>
        <p:nvSpPr>
          <p:cNvPr id="19" name="표지 막대"/>
          <p:cNvSpPr/>
          <p:nvPr/>
        </p:nvSpPr>
        <p:spPr>
          <a:xfrm>
            <a:off x="558000" y="5166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그림 제목"/>
          <p:cNvSpPr txBox="1"/>
          <p:nvPr/>
        </p:nvSpPr>
        <p:spPr>
          <a:xfrm>
            <a:off x="558000" y="5266800"/>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해마다 수익률 · 1원당 가치</a:t>
            </a:r>
          </a:p>
        </p:txBody>
      </p:sp>
      <p:sp>
        <p:nvSpPr>
          <p:cNvPr id="21" name="그림 설명"/>
          <p:cNvSpPr txBox="1"/>
          <p:nvPr/>
        </p:nvSpPr>
        <p:spPr>
          <a:xfrm>
            <a:off x="558000" y="5454000"/>
            <a:ext cx="957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2012~2025 · 실제 ETF · 세전 · 0 아래는 그해 손실</a:t>
            </a:r>
          </a:p>
        </p:txBody>
      </p:sp>
      <p:graphicFrame>
        <p:nvGraphicFramePr>
          <p:cNvPr id="22" name="표"/>
          <p:cNvGraphicFramePr>
            <a:graphicFrameLocks noGrp="1"/>
          </p:cNvGraphicFramePr>
          <p:nvPr/>
        </p:nvGraphicFramePr>
        <p:xfrm>
          <a:off x="558000" y="5616000"/>
          <a:ext cx="9575994" cy="792000"/>
        </p:xfrm>
        <a:graphic>
          <a:graphicData uri="http://schemas.openxmlformats.org/drawingml/2006/table">
            <a:tbl>
              <a:tblPr firstRow="0" bandRow="0" firstCol="0" lastCol="0" bandCol="0" lastRow="0">
                <a:tableStyleId>{5940675A-B579-460E-94D1-54222C63F5DA}</a:tableStyleId>
              </a:tblPr>
              <a:tblGrid>
                <a:gridCol w="1224000"/>
                <a:gridCol w="596571"/>
                <a:gridCol w="596571"/>
                <a:gridCol w="596571"/>
                <a:gridCol w="596571"/>
                <a:gridCol w="596571"/>
                <a:gridCol w="596571"/>
                <a:gridCol w="596571"/>
                <a:gridCol w="596571"/>
                <a:gridCol w="596571"/>
                <a:gridCol w="596571"/>
                <a:gridCol w="596571"/>
                <a:gridCol w="596571"/>
                <a:gridCol w="596571"/>
                <a:gridCol w="596571"/>
              </a:tblGrid>
              <a:tr h="198000">
                <a:tc>
                  <a:txBody>
                    <a:bodyPr wrap="square"/>
                    <a:lstStyle/>
                    <a:p>
                      <a:pPr algn="l" eaLnBrk="0">
                        <a:lnSpc>
                          <a:spcPct val="112000"/>
                        </a:lnSpc>
                        <a:spcAft>
                          <a:spcPts val="0"/>
                        </a:spcAft>
                      </a:pPr>
                      <a:r>
                        <a:rPr sz="780" b="1" lang="ko-KR" altLang="en-US">
                          <a:solidFill>
                            <a:srgbClr val="5C6573"/>
                          </a:solidFill>
                          <a:latin typeface="Noto Sans KR"/>
                          <a:ea typeface="Noto Sans KR"/>
                          <a:cs typeface="Noto Sans KR"/>
                        </a:rPr>
                        <a:t>전략</a:t>
                      </a:r>
                      <a:endParaRPr sz="78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780" b="1" lang="ko-KR" altLang="en-US">
                          <a:solidFill>
                            <a:srgbClr val="5C6573"/>
                          </a:solidFill>
                          <a:latin typeface="Noto Sans KR"/>
                          <a:ea typeface="Noto Sans KR"/>
                          <a:cs typeface="Noto Sans KR"/>
                        </a:rPr>
                        <a:t>12년</a:t>
                      </a:r>
                      <a:endParaRPr sz="78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780" b="1" lang="ko-KR" altLang="en-US">
                          <a:solidFill>
                            <a:srgbClr val="5C6573"/>
                          </a:solidFill>
                          <a:latin typeface="Noto Sans KR"/>
                          <a:ea typeface="Noto Sans KR"/>
                          <a:cs typeface="Noto Sans KR"/>
                        </a:rPr>
                        <a:t>13년</a:t>
                      </a:r>
                      <a:endParaRPr sz="78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780" b="1" lang="ko-KR" altLang="en-US">
                          <a:solidFill>
                            <a:srgbClr val="5C6573"/>
                          </a:solidFill>
                          <a:latin typeface="Noto Sans KR"/>
                          <a:ea typeface="Noto Sans KR"/>
                          <a:cs typeface="Noto Sans KR"/>
                        </a:rPr>
                        <a:t>14년</a:t>
                      </a:r>
                      <a:endParaRPr sz="78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780" b="1" lang="ko-KR" altLang="en-US">
                          <a:solidFill>
                            <a:srgbClr val="5C6573"/>
                          </a:solidFill>
                          <a:latin typeface="Noto Sans KR"/>
                          <a:ea typeface="Noto Sans KR"/>
                          <a:cs typeface="Noto Sans KR"/>
                        </a:rPr>
                        <a:t>15년</a:t>
                      </a:r>
                      <a:endParaRPr sz="78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780" b="1" lang="ko-KR" altLang="en-US">
                          <a:solidFill>
                            <a:srgbClr val="5C6573"/>
                          </a:solidFill>
                          <a:latin typeface="Noto Sans KR"/>
                          <a:ea typeface="Noto Sans KR"/>
                          <a:cs typeface="Noto Sans KR"/>
                        </a:rPr>
                        <a:t>16년</a:t>
                      </a:r>
                      <a:endParaRPr sz="78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780" b="1" lang="ko-KR" altLang="en-US">
                          <a:solidFill>
                            <a:srgbClr val="5C6573"/>
                          </a:solidFill>
                          <a:latin typeface="Noto Sans KR"/>
                          <a:ea typeface="Noto Sans KR"/>
                          <a:cs typeface="Noto Sans KR"/>
                        </a:rPr>
                        <a:t>17년</a:t>
                      </a:r>
                      <a:endParaRPr sz="78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780" b="1" lang="ko-KR" altLang="en-US">
                          <a:solidFill>
                            <a:srgbClr val="5C6573"/>
                          </a:solidFill>
                          <a:latin typeface="Noto Sans KR"/>
                          <a:ea typeface="Noto Sans KR"/>
                          <a:cs typeface="Noto Sans KR"/>
                        </a:rPr>
                        <a:t>18년</a:t>
                      </a:r>
                      <a:endParaRPr sz="78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780" b="1" lang="ko-KR" altLang="en-US">
                          <a:solidFill>
                            <a:srgbClr val="5C6573"/>
                          </a:solidFill>
                          <a:latin typeface="Noto Sans KR"/>
                          <a:ea typeface="Noto Sans KR"/>
                          <a:cs typeface="Noto Sans KR"/>
                        </a:rPr>
                        <a:t>19년</a:t>
                      </a:r>
                      <a:endParaRPr sz="78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780" b="1" lang="ko-KR" altLang="en-US">
                          <a:solidFill>
                            <a:srgbClr val="5C6573"/>
                          </a:solidFill>
                          <a:latin typeface="Noto Sans KR"/>
                          <a:ea typeface="Noto Sans KR"/>
                          <a:cs typeface="Noto Sans KR"/>
                        </a:rPr>
                        <a:t>20년</a:t>
                      </a:r>
                      <a:endParaRPr sz="78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780" b="1" lang="ko-KR" altLang="en-US">
                          <a:solidFill>
                            <a:srgbClr val="5C6573"/>
                          </a:solidFill>
                          <a:latin typeface="Noto Sans KR"/>
                          <a:ea typeface="Noto Sans KR"/>
                          <a:cs typeface="Noto Sans KR"/>
                        </a:rPr>
                        <a:t>21년</a:t>
                      </a:r>
                      <a:endParaRPr sz="78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780" b="1" lang="ko-KR" altLang="en-US">
                          <a:solidFill>
                            <a:srgbClr val="5C6573"/>
                          </a:solidFill>
                          <a:latin typeface="Noto Sans KR"/>
                          <a:ea typeface="Noto Sans KR"/>
                          <a:cs typeface="Noto Sans KR"/>
                        </a:rPr>
                        <a:t>22년</a:t>
                      </a:r>
                      <a:endParaRPr sz="78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780" b="1" lang="ko-KR" altLang="en-US">
                          <a:solidFill>
                            <a:srgbClr val="5C6573"/>
                          </a:solidFill>
                          <a:latin typeface="Noto Sans KR"/>
                          <a:ea typeface="Noto Sans KR"/>
                          <a:cs typeface="Noto Sans KR"/>
                        </a:rPr>
                        <a:t>23년</a:t>
                      </a:r>
                      <a:endParaRPr sz="78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780" b="1" lang="ko-KR" altLang="en-US">
                          <a:solidFill>
                            <a:srgbClr val="5C6573"/>
                          </a:solidFill>
                          <a:latin typeface="Noto Sans KR"/>
                          <a:ea typeface="Noto Sans KR"/>
                          <a:cs typeface="Noto Sans KR"/>
                        </a:rPr>
                        <a:t>24년</a:t>
                      </a:r>
                      <a:endParaRPr sz="78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780" b="1" lang="ko-KR" altLang="en-US">
                          <a:solidFill>
                            <a:srgbClr val="5C6573"/>
                          </a:solidFill>
                          <a:latin typeface="Noto Sans KR"/>
                          <a:ea typeface="Noto Sans KR"/>
                          <a:cs typeface="Noto Sans KR"/>
                        </a:rPr>
                        <a:t>25년</a:t>
                      </a:r>
                      <a:endParaRPr sz="780"/>
                    </a:p>
                  </a:txBody>
                  <a:tcPr marL="28800" marR="43200" marT="25200" marB="25200" anchor="b">
                    <a:lnL w="0">
                      <a:noFill/>
                    </a:lnL>
                    <a:lnR w="0">
                      <a:noFill/>
                    </a:lnR>
                    <a:lnT w="9525">
                      <a:solidFill>
                        <a:srgbClr val="1A1E25"/>
                      </a:solidFill>
                    </a:lnT>
                    <a:lnB w="9525">
                      <a:solidFill>
                        <a:srgbClr val="1A1E25"/>
                      </a:solidFill>
                    </a:lnB>
                    <a:noFill/>
                  </a:tcPr>
                </a:tc>
              </a:tr>
              <a:tr h="198000">
                <a:tc>
                  <a:txBody>
                    <a:bodyPr wrap="square"/>
                    <a:lstStyle/>
                    <a:p>
                      <a:pPr algn="l" eaLnBrk="0">
                        <a:lnSpc>
                          <a:spcPct val="112000"/>
                        </a:lnSpc>
                        <a:spcAft>
                          <a:spcPts val="0"/>
                        </a:spcAft>
                      </a:pPr>
                      <a:r>
                        <a:rPr sz="830" b="1" lang="ko-KR" altLang="en-US">
                          <a:solidFill>
                            <a:srgbClr val="1A1E25"/>
                          </a:solidFill>
                          <a:latin typeface="Noto Sans KR"/>
                          <a:ea typeface="Noto Sans KR"/>
                          <a:cs typeface="Noto Sans KR"/>
                        </a:rPr>
                        <a:t>Deneb</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33%</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52%</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27%</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4%</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8%</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74%</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−4%</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66%</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100%</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64%</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−26%</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82%</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38%</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24%</a:t>
                      </a:r>
                      <a:endParaRPr sz="830"/>
                    </a:p>
                  </a:txBody>
                  <a:tcPr marL="28800" marR="43200" marT="25200" marB="25200" anchor="ctr">
                    <a:lnL w="0">
                      <a:noFill/>
                    </a:lnL>
                    <a:lnR w="0">
                      <a:noFill/>
                    </a:lnR>
                    <a:lnT w="0">
                      <a:noFill/>
                    </a:lnT>
                    <a:lnB w="6350">
                      <a:solidFill>
                        <a:srgbClr val="C9D0DA"/>
                      </a:solidFill>
                    </a:lnB>
                    <a:noFill/>
                  </a:tcPr>
                </a:tc>
              </a:tr>
              <a:tr h="198000">
                <a:tc>
                  <a:txBody>
                    <a:bodyPr wrap="square"/>
                    <a:lstStyle/>
                    <a:p>
                      <a:pPr algn="l" eaLnBrk="0">
                        <a:lnSpc>
                          <a:spcPct val="112000"/>
                        </a:lnSpc>
                        <a:spcAft>
                          <a:spcPts val="0"/>
                        </a:spcAft>
                      </a:pPr>
                      <a:r>
                        <a:rPr sz="830" b="1" lang="ko-KR" altLang="en-US">
                          <a:solidFill>
                            <a:srgbClr val="1A1E25"/>
                          </a:solidFill>
                          <a:latin typeface="Noto Sans KR"/>
                          <a:ea typeface="Noto Sans KR"/>
                          <a:cs typeface="Noto Sans KR"/>
                        </a:rPr>
                        <a:t>QQQ 단독 적립</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16%</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37%</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19%</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9%</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7%</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33%</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0%</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39%</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48%</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27%</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−33%</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55%</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26%</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21%</a:t>
                      </a:r>
                      <a:endParaRPr sz="830"/>
                    </a:p>
                  </a:txBody>
                  <a:tcPr marL="28800" marR="43200" marT="25200" marB="25200" anchor="ctr">
                    <a:lnL w="0">
                      <a:noFill/>
                    </a:lnL>
                    <a:lnR w="0">
                      <a:noFill/>
                    </a:lnR>
                    <a:lnT w="0">
                      <a:noFill/>
                    </a:lnT>
                    <a:lnB w="6350">
                      <a:solidFill>
                        <a:srgbClr val="C9D0DA"/>
                      </a:solidFill>
                    </a:lnB>
                    <a:noFill/>
                  </a:tcPr>
                </a:tc>
              </a:tr>
              <a:tr h="198000">
                <a:tc>
                  <a:txBody>
                    <a:bodyPr wrap="square"/>
                    <a:lstStyle/>
                    <a:p>
                      <a:pPr algn="l" eaLnBrk="0">
                        <a:lnSpc>
                          <a:spcPct val="112000"/>
                        </a:lnSpc>
                        <a:spcAft>
                          <a:spcPts val="0"/>
                        </a:spcAft>
                      </a:pPr>
                      <a:r>
                        <a:rPr sz="830" b="1" lang="ko-KR" altLang="en-US">
                          <a:solidFill>
                            <a:srgbClr val="1A1E25"/>
                          </a:solidFill>
                          <a:latin typeface="Noto Sans KR"/>
                          <a:ea typeface="Noto Sans KR"/>
                          <a:cs typeface="Noto Sans KR"/>
                        </a:rPr>
                        <a:t>Polaris</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11%</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11%</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11%</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2%</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8%</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19%</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−1%</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26%</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27%</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15%</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−19%</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27%</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20%</a:t>
                      </a:r>
                      <a:endParaRPr sz="83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830" b="0" lang="ko-KR" altLang="en-US">
                          <a:solidFill>
                            <a:srgbClr val="1A1E25"/>
                          </a:solidFill>
                          <a:latin typeface="Noto Sans KR"/>
                          <a:ea typeface="Noto Sans KR"/>
                          <a:cs typeface="Noto Sans KR"/>
                        </a:rPr>
                        <a:t>26%</a:t>
                      </a:r>
                      <a:endParaRPr sz="83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3" name="Connector 22"/>
          <p:cNvCxnSpPr/>
          <p:nvPr/>
        </p:nvCxnSpPr>
        <p:spPr>
          <a:xfrm>
            <a:off x="558000" y="5616000"/>
            <a:ext cx="9576000" cy="0"/>
          </a:xfrm>
          <a:prstGeom prst="line">
            <a:avLst/>
          </a:prstGeom>
          <a:ln w="25400">
            <a:solidFill>
              <a:srgbClr val="1A1E25"/>
            </a:solidFill>
          </a:ln>
        </p:spPr>
      </p:cxnSp>
      <p:sp>
        <p:nvSpPr>
          <p:cNvPr id="24"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실제 ETF 수정 종가(QQQ · QLD · TQQQ · SCHD · SPY · IEF · GLD), 자체 계산 · 비용 0.15% · 세전 · 환율 고정 · 소수 주 · calc2.py 연도별</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9085800" y="619200"/>
            <a:ext cx="5364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37</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13장 · 결과 해석과 한계</a:t>
            </a:r>
          </a:p>
        </p:txBody>
      </p:sp>
      <p:sp>
        <p:nvSpPr>
          <p:cNvPr id="14" name="제목"/>
          <p:cNvSpPr txBox="1"/>
          <p:nvPr/>
        </p:nvSpPr>
        <p:spPr>
          <a:xfrm>
            <a:off x="558000" y="990000"/>
            <a:ext cx="3006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숫자의 한계</a:t>
            </a:r>
          </a:p>
        </p:txBody>
      </p:sp>
      <p:sp>
        <p:nvSpPr>
          <p:cNvPr id="15" name="인용 막대"/>
          <p:cNvSpPr/>
          <p:nvPr/>
        </p:nvSpPr>
        <p:spPr>
          <a:xfrm>
            <a:off x="558000" y="1594800"/>
            <a:ext cx="32400" cy="8784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인용"/>
          <p:cNvSpPr txBox="1"/>
          <p:nvPr/>
        </p:nvSpPr>
        <p:spPr>
          <a:xfrm>
            <a:off x="737999" y="1565999"/>
            <a:ext cx="2826000" cy="936000"/>
          </a:xfrm>
          <a:prstGeom prst="rect">
            <a:avLst/>
          </a:prstGeom>
          <a:noFill/>
        </p:spPr>
        <p:txBody>
          <a:bodyPr wrap="square" lIns="0" rIns="0" tIns="0" bIns="0" anchor="t">
            <a:spAutoFit/>
          </a:bodyPr>
          <a:lstStyle/>
          <a:p>
            <a:pPr algn="l" eaLnBrk="0">
              <a:lnSpc>
                <a:spcPct val="122000"/>
              </a:lnSpc>
              <a:spcAft>
                <a:spcPts val="0"/>
              </a:spcAft>
            </a:pPr>
            <a:r>
              <a:rPr sz="1450" b="0" lang="ko-KR" altLang="en-US">
                <a:solidFill>
                  <a:srgbClr val="1A1E25"/>
                </a:solidFill>
                <a:latin typeface="Malgun Gothic Semilight"/>
                <a:ea typeface="Malgun Gothic Semilight"/>
                <a:cs typeface="Malgun Gothic Semilight"/>
              </a:rPr>
              <a:t>과거 결과를 미래의 수익률로 늘려 그리면 안 됩니다.</a:t>
            </a:r>
          </a:p>
        </p:txBody>
      </p:sp>
      <p:sp>
        <p:nvSpPr>
          <p:cNvPr id="17" name="TextBox 16"/>
          <p:cNvSpPr txBox="1"/>
          <p:nvPr/>
        </p:nvSpPr>
        <p:spPr>
          <a:xfrm>
            <a:off x="558000" y="2664000"/>
            <a:ext cx="3006000" cy="4140000"/>
          </a:xfrm>
          <a:prstGeom prst="rect">
            <a:avLst/>
          </a:prstGeom>
          <a:noFill/>
        </p:spPr>
        <p:txBody>
          <a:bodyPr wrap="square" lIns="0" rIns="0" tIns="0" bIns="0" anchor="t">
            <a:spAutoFit/>
          </a:bodyPr>
          <a:lstStyle/>
          <a:p>
            <a:pPr algn="l" eaLnBrk="0">
              <a:lnSpc>
                <a:spcPct val="132000"/>
              </a:lnSpc>
              <a:spcAft>
                <a:spcPts val="800"/>
              </a:spcAft>
            </a:pPr>
            <a:r>
              <a:rPr sz="950" b="1" lang="ko-KR" altLang="en-US">
                <a:solidFill>
                  <a:srgbClr val="1A1E25"/>
                </a:solidFill>
                <a:latin typeface="Noto Sans KR"/>
                <a:ea typeface="Noto Sans KR"/>
                <a:cs typeface="Noto Sans KR"/>
              </a:rPr>
              <a:t>기간의 운  </a:t>
            </a:r>
            <a:r>
              <a:rPr sz="950" b="0" lang="ko-KR" altLang="en-US">
                <a:solidFill>
                  <a:srgbClr val="1A1E25"/>
                </a:solidFill>
                <a:latin typeface="Noto Sans KR"/>
                <a:ea typeface="Noto Sans KR"/>
                <a:cs typeface="Noto Sans KR"/>
              </a:rPr>
              <a:t>2012~2026년 나스닥100은 연 20% 가까이 올랐습니다. 이 기간 결과를 미래에 그대로 기대하면 레버리지 전략을 과대평가하게 됩니다. 시작이 2000년이나 2008년 직전이었다면 순서가 달라질 수 있습니다.</a:t>
            </a:r>
          </a:p>
          <a:p>
            <a:pPr algn="l" eaLnBrk="0">
              <a:lnSpc>
                <a:spcPct val="132000"/>
              </a:lnSpc>
              <a:spcAft>
                <a:spcPts val="800"/>
              </a:spcAft>
            </a:pPr>
            <a:r>
              <a:rPr sz="950" b="1" lang="ko-KR" altLang="en-US">
                <a:solidFill>
                  <a:srgbClr val="1A1E25"/>
                </a:solidFill>
                <a:latin typeface="Noto Sans KR"/>
                <a:ea typeface="Noto Sans KR"/>
                <a:cs typeface="Noto Sans KR"/>
              </a:rPr>
              <a:t>자료의 종류  </a:t>
            </a:r>
            <a:r>
              <a:rPr sz="950" b="0" lang="ko-KR" altLang="en-US">
                <a:solidFill>
                  <a:srgbClr val="1A1E25"/>
                </a:solidFill>
                <a:latin typeface="Noto Sans KR"/>
                <a:ea typeface="Noto Sans KR"/>
                <a:cs typeface="Noto Sans KR"/>
              </a:rPr>
              <a:t>실제 ETF 결과(2012~)와 긴 합성 연구(1986~)는 자료 · 기간이 달라 같은 표에 섞지 않았습니다. 합성 자료는 실제 ETF 비용 · 괴리를 완전히 담지 못합니다.</a:t>
            </a:r>
          </a:p>
        </p:txBody>
      </p:sp>
      <p:sp>
        <p:nvSpPr>
          <p:cNvPr id="18" name="TextBox 17"/>
          <p:cNvSpPr txBox="1"/>
          <p:nvPr/>
        </p:nvSpPr>
        <p:spPr>
          <a:xfrm>
            <a:off x="3844800" y="1026000"/>
            <a:ext cx="3006000" cy="5760000"/>
          </a:xfrm>
          <a:prstGeom prst="rect">
            <a:avLst/>
          </a:prstGeom>
          <a:noFill/>
        </p:spPr>
        <p:txBody>
          <a:bodyPr wrap="square" lIns="0" rIns="0" tIns="0" bIns="0" anchor="t">
            <a:spAutoFit/>
          </a:bodyPr>
          <a:lstStyle/>
          <a:p>
            <a:pPr algn="l" eaLnBrk="0">
              <a:lnSpc>
                <a:spcPct val="132000"/>
              </a:lnSpc>
              <a:spcAft>
                <a:spcPts val="800"/>
              </a:spcAft>
            </a:pPr>
            <a:r>
              <a:rPr sz="950" b="1" lang="ko-KR" altLang="en-US">
                <a:solidFill>
                  <a:srgbClr val="1A1E25"/>
                </a:solidFill>
                <a:latin typeface="Noto Sans KR"/>
                <a:ea typeface="Noto Sans KR"/>
                <a:cs typeface="Noto Sans KR"/>
              </a:rPr>
              <a:t>세금  </a:t>
            </a:r>
            <a:r>
              <a:rPr sz="950" b="0" lang="ko-KR" altLang="en-US">
                <a:solidFill>
                  <a:srgbClr val="1A1E25"/>
                </a:solidFill>
                <a:latin typeface="Noto Sans KR"/>
                <a:ea typeface="Noto Sans KR"/>
                <a:cs typeface="Noto Sans KR"/>
              </a:rPr>
              <a:t>모든 계산은 세전입니다. 해외 ETF는 매도 이익에서 연 250만 원을 뺀 뒤 22%, 배당은 미국 원천징수 15%가 있습니다. Deneb는 사고파는 횟수가 많아 세금 차이가 더 클 수 있습니다.</a:t>
            </a:r>
          </a:p>
          <a:p>
            <a:pPr algn="l" eaLnBrk="0">
              <a:lnSpc>
                <a:spcPct val="132000"/>
              </a:lnSpc>
              <a:spcAft>
                <a:spcPts val="800"/>
              </a:spcAft>
            </a:pPr>
            <a:r>
              <a:rPr sz="950" b="1" lang="ko-KR" altLang="en-US">
                <a:solidFill>
                  <a:srgbClr val="1A1E25"/>
                </a:solidFill>
                <a:latin typeface="Noto Sans KR"/>
                <a:ea typeface="Noto Sans KR"/>
                <a:cs typeface="Noto Sans KR"/>
              </a:rPr>
              <a:t>환율  </a:t>
            </a:r>
            <a:r>
              <a:rPr sz="950" b="0" lang="ko-KR" altLang="en-US">
                <a:solidFill>
                  <a:srgbClr val="1A1E25"/>
                </a:solidFill>
                <a:latin typeface="Noto Sans KR"/>
                <a:ea typeface="Noto Sans KR"/>
                <a:cs typeface="Noto Sans KR"/>
              </a:rPr>
              <a:t>원 = 달러로 고정해 계산했습니다. 실제로는 환율이 오르내리며 원화 금액이 달라집니다.</a:t>
            </a:r>
          </a:p>
        </p:txBody>
      </p:sp>
      <p:sp>
        <p:nvSpPr>
          <p:cNvPr id="19" name="TextBox 18"/>
          <p:cNvSpPr txBox="1"/>
          <p:nvPr/>
        </p:nvSpPr>
        <p:spPr>
          <a:xfrm>
            <a:off x="7128000" y="1026000"/>
            <a:ext cx="3006000" cy="5760000"/>
          </a:xfrm>
          <a:prstGeom prst="rect">
            <a:avLst/>
          </a:prstGeom>
          <a:noFill/>
        </p:spPr>
        <p:txBody>
          <a:bodyPr wrap="square" lIns="0" rIns="0" tIns="0" bIns="0" anchor="t">
            <a:spAutoFit/>
          </a:bodyPr>
          <a:lstStyle/>
          <a:p>
            <a:pPr algn="l" eaLnBrk="0">
              <a:lnSpc>
                <a:spcPct val="132000"/>
              </a:lnSpc>
              <a:spcAft>
                <a:spcPts val="800"/>
              </a:spcAft>
            </a:pPr>
            <a:r>
              <a:rPr sz="950" b="1" lang="ko-KR" altLang="en-US">
                <a:solidFill>
                  <a:srgbClr val="1A1E25"/>
                </a:solidFill>
                <a:latin typeface="Noto Sans KR"/>
                <a:ea typeface="Noto Sans KR"/>
                <a:cs typeface="Noto Sans KR"/>
              </a:rPr>
              <a:t>실행 차이  </a:t>
            </a:r>
            <a:r>
              <a:rPr sz="950" b="0" lang="ko-KR" altLang="en-US">
                <a:solidFill>
                  <a:srgbClr val="1A1E25"/>
                </a:solidFill>
                <a:latin typeface="Noto Sans KR"/>
                <a:ea typeface="Noto Sans KR"/>
                <a:cs typeface="Noto Sans KR"/>
              </a:rPr>
              <a:t>계산은 종가로 체결했다고 봅니다. 실제는 지정가 주문 · 정수 주 · 최소 주문 금액 · 체결 실패가 있습니다.</a:t>
            </a:r>
          </a:p>
          <a:p>
            <a:pPr algn="l" eaLnBrk="0">
              <a:lnSpc>
                <a:spcPct val="132000"/>
              </a:lnSpc>
              <a:spcAft>
                <a:spcPts val="800"/>
              </a:spcAft>
            </a:pPr>
            <a:r>
              <a:rPr sz="950" b="1" lang="ko-KR" altLang="en-US">
                <a:solidFill>
                  <a:srgbClr val="1A1E25"/>
                </a:solidFill>
                <a:latin typeface="Noto Sans KR"/>
                <a:ea typeface="Noto Sans KR"/>
                <a:cs typeface="Noto Sans KR"/>
              </a:rPr>
              <a:t>긴 회복  </a:t>
            </a:r>
            <a:r>
              <a:rPr sz="950" b="0" lang="ko-KR" altLang="en-US">
                <a:solidFill>
                  <a:srgbClr val="1A1E25"/>
                </a:solidFill>
                <a:latin typeface="Noto Sans KR"/>
                <a:ea typeface="Noto Sans KR"/>
                <a:cs typeface="Noto Sans KR"/>
              </a:rPr>
              <a:t>최대 낙폭에서 회복까지 QQQ 24개월, TQQQ 단독 36개월이 걸렸습니다. 그동안 적립을 멈추지 않고 이어 가는 것 자체가 어려운 일입니다.</a:t>
            </a:r>
          </a:p>
        </p:txBody>
      </p:sp>
      <p:cxnSp>
        <p:nvCxnSpPr>
          <p:cNvPr id="20" name="Connector 19"/>
          <p:cNvCxnSpPr/>
          <p:nvPr/>
        </p:nvCxnSpPr>
        <p:spPr>
          <a:xfrm>
            <a:off x="3844800" y="3456000"/>
            <a:ext cx="6289200" cy="0"/>
          </a:xfrm>
          <a:prstGeom prst="line">
            <a:avLst/>
          </a:prstGeom>
          <a:ln w="9525">
            <a:solidFill>
              <a:srgbClr val="1A1E25"/>
            </a:solidFill>
          </a:ln>
        </p:spPr>
      </p:cxnSp>
      <p:sp>
        <p:nvSpPr>
          <p:cNvPr id="21" name="표지 막대"/>
          <p:cNvSpPr/>
          <p:nvPr/>
        </p:nvSpPr>
        <p:spPr>
          <a:xfrm>
            <a:off x="3844800" y="3456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그림 제목"/>
          <p:cNvSpPr txBox="1"/>
          <p:nvPr/>
        </p:nvSpPr>
        <p:spPr>
          <a:xfrm>
            <a:off x="3844800" y="3556799"/>
            <a:ext cx="62892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검증이 남은 부분</a:t>
            </a:r>
          </a:p>
        </p:txBody>
      </p:sp>
      <p:sp>
        <p:nvSpPr>
          <p:cNvPr id="23" name="TextBox 22"/>
          <p:cNvSpPr txBox="1"/>
          <p:nvPr/>
        </p:nvSpPr>
        <p:spPr>
          <a:xfrm>
            <a:off x="3844800" y="3780000"/>
            <a:ext cx="6289200" cy="3060000"/>
          </a:xfrm>
          <a:prstGeom prst="rect">
            <a:avLst/>
          </a:prstGeom>
          <a:noFill/>
        </p:spPr>
        <p:txBody>
          <a:bodyPr wrap="square" lIns="0" rIns="0" tIns="0" bIns="0" anchor="t">
            <a:spAutoFit/>
          </a:bodyPr>
          <a:lstStyle/>
          <a:p>
            <a:pPr algn="l" eaLnBrk="0">
              <a:lnSpc>
                <a:spcPct val="132000"/>
              </a:lnSpc>
              <a:spcAft>
                <a:spcPts val="600"/>
              </a:spcAft>
            </a:pPr>
            <a:r>
              <a:rPr sz="950" b="0" lang="ko-KR" altLang="en-US">
                <a:solidFill>
                  <a:srgbClr val="1A1E25"/>
                </a:solidFill>
                <a:latin typeface="Noto Sans KR"/>
                <a:ea typeface="Noto Sans KR"/>
                <a:cs typeface="Noto Sans KR"/>
              </a:rPr>
              <a:t>하락 방어가 2012년 이전 위기(2000 · 2008)에서도 같은 효과를 내는지는 실제 ETF로 확인할 수 없습니다(TQQQ는 2010년 출시).</a:t>
            </a:r>
          </a:p>
          <a:p>
            <a:pPr algn="l" eaLnBrk="0">
              <a:lnSpc>
                <a:spcPct val="132000"/>
              </a:lnSpc>
              <a:spcAft>
                <a:spcPts val="600"/>
              </a:spcAft>
            </a:pPr>
            <a:r>
              <a:rPr sz="950" b="0" lang="ko-KR" altLang="en-US">
                <a:solidFill>
                  <a:srgbClr val="1A1E25"/>
                </a:solidFill>
                <a:latin typeface="Noto Sans KR"/>
                <a:ea typeface="Noto Sans KR"/>
                <a:cs typeface="Noto Sans KR"/>
              </a:rPr>
              <a:t>배당을 현금으로 받는 경로, 세후 재투자 경로는 계산하지 않았습니다.</a:t>
            </a:r>
          </a:p>
          <a:p>
            <a:pPr algn="l" eaLnBrk="0">
              <a:lnSpc>
                <a:spcPct val="132000"/>
              </a:lnSpc>
              <a:spcAft>
                <a:spcPts val="600"/>
              </a:spcAft>
            </a:pPr>
            <a:r>
              <a:rPr sz="950" b="0" lang="ko-KR" altLang="en-US">
                <a:solidFill>
                  <a:srgbClr val="1A1E25"/>
                </a:solidFill>
                <a:latin typeface="Noto Sans KR"/>
                <a:ea typeface="Noto Sans KR"/>
                <a:cs typeface="Noto Sans KR"/>
              </a:rPr>
              <a:t>승인형 배당 단계(TQQQ 목표 낮추기)를 적용했을 때의 결과는 계산하지 않았습니다.</a:t>
            </a:r>
          </a:p>
          <a:p>
            <a:pPr algn="l" eaLnBrk="0">
              <a:lnSpc>
                <a:spcPct val="132000"/>
              </a:lnSpc>
              <a:spcAft>
                <a:spcPts val="600"/>
              </a:spcAft>
            </a:pPr>
            <a:r>
              <a:rPr sz="950" b="0" lang="ko-KR" altLang="en-US">
                <a:solidFill>
                  <a:srgbClr val="1A1E25"/>
                </a:solidFill>
                <a:latin typeface="Noto Sans KR"/>
                <a:ea typeface="Noto Sans KR"/>
                <a:cs typeface="Noto Sans KR"/>
              </a:rPr>
              <a:t>Polaris의 실제 운영(100만 원 × 4회 뒤 12월 맞춤)과 이 설명서의 매달 계속 적립은 다릅니다.</a:t>
            </a:r>
          </a:p>
        </p:txBody>
      </p:sp>
      <p:sp>
        <p:nvSpPr>
          <p:cNvPr id="24"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calc_spec.md · calc2_spec.md · docs/research/181 · 182 · 183 · 184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9085800" y="619200"/>
            <a:ext cx="5364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38</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14장 · 전체 결과표와 출처</a:t>
            </a:r>
          </a:p>
        </p:txBody>
      </p:sp>
      <p:sp>
        <p:nvSpPr>
          <p:cNvPr id="14" name="제목"/>
          <p:cNvSpPr txBox="1"/>
          <p:nvPr/>
        </p:nvSpPr>
        <p:spPr>
          <a:xfrm>
            <a:off x="558000" y="990000"/>
            <a:ext cx="6120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전체 결과표 — 과거 계산</a:t>
            </a:r>
          </a:p>
        </p:txBody>
      </p:sp>
      <p:cxnSp>
        <p:nvCxnSpPr>
          <p:cNvPr id="15" name="Connector 14"/>
          <p:cNvCxnSpPr/>
          <p:nvPr/>
        </p:nvCxnSpPr>
        <p:spPr>
          <a:xfrm>
            <a:off x="558000" y="1638000"/>
            <a:ext cx="9576000" cy="0"/>
          </a:xfrm>
          <a:prstGeom prst="line">
            <a:avLst/>
          </a:prstGeom>
          <a:ln w="9525">
            <a:solidFill>
              <a:srgbClr val="1A1E25"/>
            </a:solidFill>
          </a:ln>
        </p:spPr>
      </p:cxnSp>
      <p:sp>
        <p:nvSpPr>
          <p:cNvPr id="16" name="표지 막대"/>
          <p:cNvSpPr/>
          <p:nvPr/>
        </p:nvSpPr>
        <p:spPr>
          <a:xfrm>
            <a:off x="558000" y="1638000"/>
            <a:ext cx="216000" cy="61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그림 제목"/>
          <p:cNvSpPr txBox="1"/>
          <p:nvPr/>
        </p:nvSpPr>
        <p:spPr>
          <a:xfrm>
            <a:off x="558000" y="1738800"/>
            <a:ext cx="9576000" cy="180000"/>
          </a:xfrm>
          <a:prstGeom prst="rect">
            <a:avLst/>
          </a:prstGeom>
          <a:noFill/>
        </p:spPr>
        <p:txBody>
          <a:bodyPr wrap="square" lIns="0" rIns="0" tIns="0" bIns="0" anchor="t">
            <a:spAutoFit/>
          </a:bodyPr>
          <a:lstStyle/>
          <a:p>
            <a:pPr algn="l" eaLnBrk="0">
              <a:lnSpc>
                <a:spcPct val="100000"/>
              </a:lnSpc>
              <a:spcAft>
                <a:spcPts val="0"/>
              </a:spcAft>
            </a:pPr>
            <a:r>
              <a:rPr sz="1000" b="1" lang="ko-KR" altLang="en-US">
                <a:solidFill>
                  <a:srgbClr val="1A1E25"/>
                </a:solidFill>
                <a:latin typeface="Noto Sans KR"/>
                <a:ea typeface="Noto Sans KR"/>
                <a:cs typeface="Noto Sans KR"/>
              </a:rPr>
              <a:t>14년 8개월 적립 후 · 다섯 납입액 · 열한 가지 비교 대상</a:t>
            </a:r>
          </a:p>
        </p:txBody>
      </p:sp>
      <p:sp>
        <p:nvSpPr>
          <p:cNvPr id="18" name="그림 설명"/>
          <p:cNvSpPr txBox="1"/>
          <p:nvPr/>
        </p:nvSpPr>
        <p:spPr>
          <a:xfrm>
            <a:off x="558000" y="1925999"/>
            <a:ext cx="9576000" cy="180000"/>
          </a:xfrm>
          <a:prstGeom prst="rect">
            <a:avLst/>
          </a:prstGeom>
          <a:noFill/>
        </p:spPr>
        <p:txBody>
          <a:bodyPr wrap="square" lIns="0" rIns="0" tIns="0" bIns="0" anchor="t">
            <a:spAutoFit/>
          </a:bodyPr>
          <a:lstStyle/>
          <a:p>
            <a:pPr algn="l" eaLnBrk="0">
              <a:lnSpc>
                <a:spcPct val="110000"/>
              </a:lnSpc>
              <a:spcAft>
                <a:spcPts val="0"/>
              </a:spcAft>
            </a:pPr>
            <a:r>
              <a:rPr sz="800" b="0" lang="ko-KR" altLang="en-US">
                <a:solidFill>
                  <a:srgbClr val="5C6573"/>
                </a:solidFill>
                <a:latin typeface="Noto Sans KR"/>
                <a:ea typeface="Noto Sans KR"/>
                <a:cs typeface="Noto Sans KR"/>
              </a:rPr>
              <a:t>2012-01 ~ 2026-08 · 176회 · 단위 만 원 · 세전 · 연복리 · 낙폭 · 회복은 납입액과 무관</a:t>
            </a:r>
          </a:p>
        </p:txBody>
      </p:sp>
      <p:graphicFrame>
        <p:nvGraphicFramePr>
          <p:cNvPr id="19" name="표"/>
          <p:cNvGraphicFramePr>
            <a:graphicFrameLocks noGrp="1"/>
          </p:cNvGraphicFramePr>
          <p:nvPr/>
        </p:nvGraphicFramePr>
        <p:xfrm>
          <a:off x="558000" y="2106000"/>
          <a:ext cx="9575997" cy="3024000"/>
        </p:xfrm>
        <a:graphic>
          <a:graphicData uri="http://schemas.openxmlformats.org/drawingml/2006/table">
            <a:tbl>
              <a:tblPr firstRow="0" bandRow="0" firstCol="0" lastCol="0" bandCol="0" lastRow="0">
                <a:tableStyleId>{5940675A-B579-460E-94D1-54222C63F5DA}</a:tableStyleId>
              </a:tblPr>
              <a:tblGrid>
                <a:gridCol w="1584000"/>
                <a:gridCol w="990000"/>
                <a:gridCol w="990000"/>
                <a:gridCol w="990000"/>
                <a:gridCol w="990000"/>
                <a:gridCol w="990000"/>
                <a:gridCol w="827999"/>
                <a:gridCol w="827999"/>
                <a:gridCol w="1385999"/>
              </a:tblGrid>
              <a:tr h="216000">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비교 대상</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월 10만 원</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월 20만 원</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월 30만 원</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월 50만 원</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월 100만 원</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연복리</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최대 낙폭</a:t>
                      </a:r>
                      <a:endParaRPr sz="850"/>
                    </a:p>
                  </a:txBody>
                  <a:tcPr marL="28800" marR="43200" marT="25200" marB="25200" anchor="b">
                    <a:lnL w="0">
                      <a:noFill/>
                    </a:lnL>
                    <a:lnR w="0">
                      <a:noFill/>
                    </a:lnR>
                    <a:lnT w="9525">
                      <a:solidFill>
                        <a:srgbClr val="1A1E25"/>
                      </a:solidFill>
                    </a:lnT>
                    <a:lnB w="9525">
                      <a:solidFill>
                        <a:srgbClr val="1A1E25"/>
                      </a:solidFill>
                    </a:lnB>
                    <a:noFill/>
                  </a:tcPr>
                </a:tc>
                <a:tc>
                  <a:txBody>
                    <a:bodyPr wrap="square"/>
                    <a:lstStyle/>
                    <a:p>
                      <a:pPr algn="l" eaLnBrk="0">
                        <a:lnSpc>
                          <a:spcPct val="112000"/>
                        </a:lnSpc>
                        <a:spcAft>
                          <a:spcPts val="0"/>
                        </a:spcAft>
                      </a:pPr>
                      <a:r>
                        <a:rPr sz="850" b="1" lang="ko-KR" altLang="en-US">
                          <a:solidFill>
                            <a:srgbClr val="5C6573"/>
                          </a:solidFill>
                          <a:latin typeface="Noto Sans KR"/>
                          <a:ea typeface="Noto Sans KR"/>
                          <a:cs typeface="Noto Sans KR"/>
                        </a:rPr>
                        <a:t>회복</a:t>
                      </a:r>
                      <a:endParaRPr sz="850"/>
                    </a:p>
                  </a:txBody>
                  <a:tcPr marL="28800" marR="43200" marT="25200" marB="25200" anchor="b">
                    <a:lnL w="0">
                      <a:noFill/>
                    </a:lnL>
                    <a:lnR w="0">
                      <a:noFill/>
                    </a:lnR>
                    <a:lnT w="9525">
                      <a:solidFill>
                        <a:srgbClr val="1A1E25"/>
                      </a:solidFill>
                    </a:lnT>
                    <a:lnB w="9525">
                      <a:solidFill>
                        <a:srgbClr val="1A1E25"/>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Deneb</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36,111</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72,222</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108,334</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180,556</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361,112</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35.6%</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−31.7%</a:t>
                      </a:r>
                      <a:endParaRPr sz="900"/>
                    </a:p>
                  </a:txBody>
                  <a:tcPr marL="28800" marR="43200" marT="25200" marB="25200" anchor="ctr">
                    <a:lnL w="0">
                      <a:noFill/>
                    </a:lnL>
                    <a:lnR w="0">
                      <a:noFill/>
                    </a:lnR>
                    <a:lnT w="0">
                      <a:noFill/>
                    </a:lnT>
                    <a:lnB w="6350">
                      <a:solidFill>
                        <a:srgbClr val="C9D0DA"/>
                      </a:solidFill>
                    </a:lnB>
                    <a:solidFill>
                      <a:srgbClr val="EDF1F7"/>
                    </a:solid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19개월</a:t>
                      </a:r>
                      <a:endParaRPr sz="900"/>
                    </a:p>
                  </a:txBody>
                  <a:tcPr marL="28800" marR="43200" marT="25200" marB="25200" anchor="ctr">
                    <a:lnL w="0">
                      <a:noFill/>
                    </a:lnL>
                    <a:lnR w="0">
                      <a:noFill/>
                    </a:lnR>
                    <a:lnT w="0">
                      <a:noFill/>
                    </a:lnT>
                    <a:lnB w="6350">
                      <a:solidFill>
                        <a:srgbClr val="C9D0DA"/>
                      </a:solidFill>
                    </a:lnB>
                    <a:solidFill>
                      <a:srgbClr val="EDF1F7"/>
                    </a:solid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변동성 조절만</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26,442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52,884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79,325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132,209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264,418</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34.3%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−52.1%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6개월</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TQQQ 60 · SCHD 40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26,587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53,174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79,761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132,935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265,870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34.4%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−61.4%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29개월</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QLD 60 · SCHD 40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14,449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28,898</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43,347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72,245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144,489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26.4%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−46.2%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25개월</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QQQ 60 · SCHD 40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7,163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14,325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21,488</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35,813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71,627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−29.9%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4개월</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QQQ 단독 적립</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26,414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44,023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88,045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19.8%</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−35.1%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24개월</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QLD 단독</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25,432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50,864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76,296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127,160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254,321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33.6%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−63.7%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30개월</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TQQQ 단독</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51,272</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102,543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153,815</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256,358</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512,716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43.6%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−81.7%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36개월</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S&amp;P500 단독</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5,810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11,620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17,430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29,050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58,100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14.9%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−33.7%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6개월</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Polaris</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5,077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10,153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15,230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25,384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50,767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12.3%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−23.4%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24개월</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적금 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2,206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4,413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6,619</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11,031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22,063</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적금 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2,384</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4,767</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7,151</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11,918</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23,836</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a:t>
                      </a:r>
                      <a:endParaRPr sz="900"/>
                    </a:p>
                  </a:txBody>
                  <a:tcPr marL="28800" marR="43200" marT="25200" marB="25200" anchor="ctr">
                    <a:lnL w="0">
                      <a:noFill/>
                    </a:lnL>
                    <a:lnR w="0">
                      <a:noFill/>
                    </a:lnR>
                    <a:lnT w="0">
                      <a:noFill/>
                    </a:lnT>
                    <a:lnB w="6350">
                      <a:solidFill>
                        <a:srgbClr val="C9D0DA"/>
                      </a:solidFill>
                    </a:lnB>
                    <a:noFill/>
                  </a:tcPr>
                </a:tc>
              </a:tr>
              <a:tr h="216000">
                <a:tc>
                  <a:txBody>
                    <a:bodyPr wrap="square"/>
                    <a:lstStyle/>
                    <a:p>
                      <a:pPr algn="l" eaLnBrk="0">
                        <a:lnSpc>
                          <a:spcPct val="112000"/>
                        </a:lnSpc>
                        <a:spcAft>
                          <a:spcPts val="0"/>
                        </a:spcAft>
                      </a:pPr>
                      <a:r>
                        <a:rPr sz="900" b="1" lang="ko-KR" altLang="en-US">
                          <a:solidFill>
                            <a:srgbClr val="1A1E25"/>
                          </a:solidFill>
                          <a:latin typeface="Noto Sans KR"/>
                          <a:ea typeface="Noto Sans KR"/>
                          <a:cs typeface="Noto Sans KR"/>
                        </a:rPr>
                        <a:t>넣은 원금</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3,520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5,280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8,800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17,600</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
                      </a:r>
                      <a:endParaRPr sz="900"/>
                    </a:p>
                  </a:txBody>
                  <a:tcPr marL="28800" marR="43200" marT="25200" marB="25200" anchor="ctr">
                    <a:lnL w="0">
                      <a:noFill/>
                    </a:lnL>
                    <a:lnR w="0">
                      <a:noFill/>
                    </a:lnR>
                    <a:lnT w="0">
                      <a:noFill/>
                    </a:lnT>
                    <a:lnB w="6350">
                      <a:solidFill>
                        <a:srgbClr val="C9D0DA"/>
                      </a:solidFill>
                    </a:lnB>
                    <a:noFill/>
                  </a:tcPr>
                </a:tc>
                <a:tc>
                  <a:txBody>
                    <a:bodyPr wrap="square"/>
                    <a:lstStyle/>
                    <a:p>
                      <a:pPr algn="l" eaLnBrk="0">
                        <a:lnSpc>
                          <a:spcPct val="112000"/>
                        </a:lnSpc>
                        <a:spcAft>
                          <a:spcPts val="0"/>
                        </a:spcAft>
                      </a:pPr>
                      <a:r>
                        <a:rPr sz="900" b="0" lang="ko-KR" altLang="en-US">
                          <a:solidFill>
                            <a:srgbClr val="1A1E25"/>
                          </a:solidFill>
                          <a:latin typeface="Noto Sans KR"/>
                          <a:ea typeface="Noto Sans KR"/>
                          <a:cs typeface="Noto Sans KR"/>
                        </a:rPr>
                        <a:t/>
                      </a:r>
                      <a:endParaRPr sz="900"/>
                    </a:p>
                  </a:txBody>
                  <a:tcPr marL="28800" marR="43200" marT="25200" marB="25200" anchor="ctr">
                    <a:lnL w="0">
                      <a:noFill/>
                    </a:lnL>
                    <a:lnR w="0">
                      <a:noFill/>
                    </a:lnR>
                    <a:lnT w="0">
                      <a:noFill/>
                    </a:lnT>
                    <a:lnB w="6350">
                      <a:solidFill>
                        <a:srgbClr val="C9D0DA"/>
                      </a:solidFill>
                    </a:lnB>
                    <a:noFill/>
                  </a:tcPr>
                </a:tc>
              </a:tr>
            </a:tbl>
          </a:graphicData>
        </a:graphic>
      </p:graphicFrame>
      <p:cxnSp>
        <p:nvCxnSpPr>
          <p:cNvPr id="20" name="Connector 19"/>
          <p:cNvCxnSpPr/>
          <p:nvPr/>
        </p:nvCxnSpPr>
        <p:spPr>
          <a:xfrm>
            <a:off x="558000" y="2106000"/>
            <a:ext cx="9575999" cy="0"/>
          </a:xfrm>
          <a:prstGeom prst="line">
            <a:avLst/>
          </a:prstGeom>
          <a:ln w="25400">
            <a:solidFill>
              <a:srgbClr val="1A1E25"/>
            </a:solidFill>
          </a:ln>
        </p:spPr>
      </p:cxnSp>
      <p:sp>
        <p:nvSpPr>
          <p:cNvPr id="21"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실제 ETF 수정 종가(QQQ · QLD · TQQQ · SCHD · SPY · IEF · GLD), 자체 계산 · 비용 0.15% · 세전 · 환율 고정 · 소수 주 · 적금 12개월 단리 재예치 세전</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표지 원"/>
          <p:cNvSpPr/>
          <p:nvPr/>
        </p:nvSpPr>
        <p:spPr>
          <a:xfrm>
            <a:off x="558000" y="270000"/>
            <a:ext cx="450000" cy="450000"/>
          </a:xfrm>
          <a:prstGeom prst="ellipse">
            <a:avLst/>
          </a:prstGeom>
          <a:noFill/>
          <a:ln w="7620">
            <a:solidFill>
              <a:srgbClr val="5C657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0" lang="ko-KR" altLang="en-US">
                <a:solidFill>
                  <a:srgbClr val="5C6573"/>
                </a:solidFill>
                <a:latin typeface="Noto Sans KR"/>
                <a:ea typeface="Noto Sans KR"/>
                <a:cs typeface="Noto Sans KR"/>
              </a:rPr>
              <a:t>D·P</a:t>
            </a:r>
          </a:p>
        </p:txBody>
      </p:sp>
      <p:sp>
        <p:nvSpPr>
          <p:cNvPr id="3" name="목차 개요"/>
          <p:cNvSpPr txBox="1"/>
          <p:nvPr/>
        </p:nvSpPr>
        <p:spPr>
          <a:xfrm>
            <a:off x="3844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개요</a:t>
            </a:r>
          </a:p>
        </p:txBody>
      </p:sp>
      <p:sp>
        <p:nvSpPr>
          <p:cNvPr id="4" name="목차 Deneb"/>
          <p:cNvSpPr txBox="1"/>
          <p:nvPr/>
        </p:nvSpPr>
        <p:spPr>
          <a:xfrm>
            <a:off x="48930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Deneb</a:t>
            </a:r>
          </a:p>
        </p:txBody>
      </p:sp>
      <p:sp>
        <p:nvSpPr>
          <p:cNvPr id="5" name="목차 Polaris"/>
          <p:cNvSpPr txBox="1"/>
          <p:nvPr/>
        </p:nvSpPr>
        <p:spPr>
          <a:xfrm>
            <a:off x="59412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Polaris</a:t>
            </a:r>
          </a:p>
        </p:txBody>
      </p:sp>
      <p:sp>
        <p:nvSpPr>
          <p:cNvPr id="6" name="목차 적금"/>
          <p:cNvSpPr txBox="1"/>
          <p:nvPr/>
        </p:nvSpPr>
        <p:spPr>
          <a:xfrm>
            <a:off x="69894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적금</a:t>
            </a:r>
          </a:p>
        </p:txBody>
      </p:sp>
      <p:sp>
        <p:nvSpPr>
          <p:cNvPr id="7" name="목차 전망"/>
          <p:cNvSpPr txBox="1"/>
          <p:nvPr/>
        </p:nvSpPr>
        <p:spPr>
          <a:xfrm>
            <a:off x="80376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5C6573"/>
                </a:solidFill>
                <a:latin typeface="Noto Sans KR"/>
                <a:ea typeface="Noto Sans KR"/>
                <a:cs typeface="Noto Sans KR"/>
              </a:rPr>
              <a:t>전망</a:t>
            </a:r>
          </a:p>
        </p:txBody>
      </p:sp>
      <p:sp>
        <p:nvSpPr>
          <p:cNvPr id="8" name="목차 자료"/>
          <p:cNvSpPr txBox="1"/>
          <p:nvPr/>
        </p:nvSpPr>
        <p:spPr>
          <a:xfrm>
            <a:off x="9085800" y="367200"/>
            <a:ext cx="1048200" cy="180000"/>
          </a:xfrm>
          <a:prstGeom prst="rect">
            <a:avLst/>
          </a:prstGeom>
          <a:noFill/>
        </p:spPr>
        <p:txBody>
          <a:bodyPr wrap="square" lIns="0" rIns="0" tIns="0" bIns="0" anchor="t">
            <a:spAutoFit/>
          </a:bodyPr>
          <a:lstStyle/>
          <a:p>
            <a:pPr algn="l" eaLnBrk="0">
              <a:lnSpc>
                <a:spcPct val="100000"/>
              </a:lnSpc>
              <a:spcAft>
                <a:spcPts val="0"/>
              </a:spcAft>
            </a:pPr>
            <a:r>
              <a:rPr sz="900" b="0" lang="ko-KR" altLang="en-US">
                <a:solidFill>
                  <a:srgbClr val="1A1E25"/>
                </a:solidFill>
                <a:latin typeface="Noto Sans KR"/>
                <a:ea typeface="Noto Sans KR"/>
                <a:cs typeface="Noto Sans KR"/>
              </a:rPr>
              <a:t>자료</a:t>
            </a:r>
          </a:p>
        </p:txBody>
      </p:sp>
      <p:cxnSp>
        <p:nvCxnSpPr>
          <p:cNvPr id="9" name="Connector 8"/>
          <p:cNvCxnSpPr/>
          <p:nvPr/>
        </p:nvCxnSpPr>
        <p:spPr>
          <a:xfrm>
            <a:off x="3844800" y="619200"/>
            <a:ext cx="6289200" cy="0"/>
          </a:xfrm>
          <a:prstGeom prst="line">
            <a:avLst/>
          </a:prstGeom>
          <a:ln w="6350">
            <a:solidFill>
              <a:srgbClr val="C9D0DA"/>
            </a:solidFill>
          </a:ln>
        </p:spPr>
      </p:cxnSp>
      <p:cxnSp>
        <p:nvCxnSpPr>
          <p:cNvPr id="10" name="Connector 9"/>
          <p:cNvCxnSpPr/>
          <p:nvPr/>
        </p:nvCxnSpPr>
        <p:spPr>
          <a:xfrm>
            <a:off x="9085800" y="619200"/>
            <a:ext cx="536400" cy="0"/>
          </a:xfrm>
          <a:prstGeom prst="line">
            <a:avLst/>
          </a:prstGeom>
          <a:ln w="25400">
            <a:solidFill>
              <a:srgbClr val="0B3D91"/>
            </a:solidFill>
          </a:ln>
        </p:spPr>
      </p:cxnSp>
      <p:sp>
        <p:nvSpPr>
          <p:cNvPr id="11" name="바닥 제목"/>
          <p:cNvSpPr txBox="1"/>
          <p:nvPr/>
        </p:nvSpPr>
        <p:spPr>
          <a:xfrm>
            <a:off x="558000" y="7182000"/>
            <a:ext cx="4320000" cy="144000"/>
          </a:xfrm>
          <a:prstGeom prst="rect">
            <a:avLst/>
          </a:prstGeom>
          <a:noFill/>
        </p:spPr>
        <p:txBody>
          <a:bodyPr wrap="square" lIns="0" rIns="0" tIns="0" bIns="0" anchor="t">
            <a:spAutoFit/>
          </a:bodyPr>
          <a:lstStyle/>
          <a:p>
            <a:pPr algn="l" eaLnBrk="0">
              <a:lnSpc>
                <a:spcPct val="100000"/>
              </a:lnSpc>
              <a:spcAft>
                <a:spcPts val="0"/>
              </a:spcAft>
            </a:pPr>
            <a:r>
              <a:rPr sz="800" b="0" lang="ko-KR" altLang="en-US">
                <a:solidFill>
                  <a:srgbClr val="5C6573"/>
                </a:solidFill>
                <a:latin typeface="Noto Sans KR"/>
                <a:ea typeface="Noto Sans KR"/>
                <a:cs typeface="Noto Sans KR"/>
              </a:rPr>
              <a:t>Deneb · Polaris 투자 전략 설명서</a:t>
            </a:r>
          </a:p>
        </p:txBody>
      </p:sp>
      <p:sp>
        <p:nvSpPr>
          <p:cNvPr id="12" name="쪽 번호"/>
          <p:cNvSpPr txBox="1"/>
          <p:nvPr/>
        </p:nvSpPr>
        <p:spPr>
          <a:xfrm>
            <a:off x="9414000" y="7182000"/>
            <a:ext cx="720000" cy="144000"/>
          </a:xfrm>
          <a:prstGeom prst="rect">
            <a:avLst/>
          </a:prstGeom>
          <a:noFill/>
        </p:spPr>
        <p:txBody>
          <a:bodyPr wrap="square" lIns="0" rIns="0" tIns="0" bIns="0" anchor="t">
            <a:spAutoFit/>
          </a:bodyPr>
          <a:lstStyle/>
          <a:p>
            <a:pPr algn="r" eaLnBrk="0">
              <a:lnSpc>
                <a:spcPct val="100000"/>
              </a:lnSpc>
              <a:spcAft>
                <a:spcPts val="0"/>
              </a:spcAft>
            </a:pPr>
            <a:r>
              <a:rPr sz="800" b="0" lang="ko-KR" altLang="en-US">
                <a:solidFill>
                  <a:srgbClr val="5C6573"/>
                </a:solidFill>
                <a:latin typeface="Noto Sans KR"/>
                <a:ea typeface="Noto Sans KR"/>
                <a:cs typeface="Noto Sans KR"/>
              </a:rPr>
              <a:t>39</a:t>
            </a:r>
          </a:p>
        </p:txBody>
      </p:sp>
      <p:sp>
        <p:nvSpPr>
          <p:cNvPr id="13" name="장 표시"/>
          <p:cNvSpPr txBox="1"/>
          <p:nvPr/>
        </p:nvSpPr>
        <p:spPr>
          <a:xfrm>
            <a:off x="558000" y="827999"/>
            <a:ext cx="4320000" cy="144000"/>
          </a:xfrm>
          <a:prstGeom prst="rect">
            <a:avLst/>
          </a:prstGeom>
          <a:noFill/>
        </p:spPr>
        <p:txBody>
          <a:bodyPr wrap="square" lIns="0" rIns="0" tIns="0" bIns="0" anchor="t">
            <a:spAutoFit/>
          </a:bodyPr>
          <a:lstStyle/>
          <a:p>
            <a:pPr algn="l" eaLnBrk="0">
              <a:lnSpc>
                <a:spcPct val="100000"/>
              </a:lnSpc>
              <a:spcAft>
                <a:spcPts val="0"/>
              </a:spcAft>
            </a:pPr>
            <a:r>
              <a:rPr sz="850" b="1" lang="ko-KR" altLang="en-US">
                <a:solidFill>
                  <a:srgbClr val="0B3D91"/>
                </a:solidFill>
                <a:latin typeface="Noto Sans KR"/>
                <a:ea typeface="Noto Sans KR"/>
                <a:cs typeface="Noto Sans KR"/>
              </a:rPr>
              <a:t>14장 · 전체 결과표와 출처</a:t>
            </a:r>
          </a:p>
        </p:txBody>
      </p:sp>
      <p:sp>
        <p:nvSpPr>
          <p:cNvPr id="14" name="제목"/>
          <p:cNvSpPr txBox="1"/>
          <p:nvPr/>
        </p:nvSpPr>
        <p:spPr>
          <a:xfrm>
            <a:off x="558000" y="990000"/>
            <a:ext cx="6120000" cy="864000"/>
          </a:xfrm>
          <a:prstGeom prst="rect">
            <a:avLst/>
          </a:prstGeom>
          <a:noFill/>
        </p:spPr>
        <p:txBody>
          <a:bodyPr wrap="square" lIns="0" rIns="0" tIns="0" bIns="0" anchor="t">
            <a:spAutoFit/>
          </a:bodyPr>
          <a:lstStyle/>
          <a:p>
            <a:pPr algn="l" eaLnBrk="0">
              <a:lnSpc>
                <a:spcPct val="108000"/>
              </a:lnSpc>
              <a:spcAft>
                <a:spcPts val="0"/>
              </a:spcAft>
            </a:pPr>
            <a:r>
              <a:rPr sz="2700" b="0" lang="ko-KR" altLang="en-US">
                <a:solidFill>
                  <a:srgbClr val="1A1E25"/>
                </a:solidFill>
                <a:latin typeface="Malgun Gothic Semilight"/>
                <a:ea typeface="Malgun Gothic Semilight"/>
                <a:cs typeface="Malgun Gothic Semilight"/>
              </a:rPr>
              <a:t>정의 · 가정 · 출처</a:t>
            </a:r>
          </a:p>
        </p:txBody>
      </p:sp>
      <p:cxnSp>
        <p:nvCxnSpPr>
          <p:cNvPr id="15" name="Connector 14"/>
          <p:cNvCxnSpPr/>
          <p:nvPr/>
        </p:nvCxnSpPr>
        <p:spPr>
          <a:xfrm>
            <a:off x="558000" y="1655999"/>
            <a:ext cx="3006000" cy="0"/>
          </a:xfrm>
          <a:prstGeom prst="line">
            <a:avLst/>
          </a:prstGeom>
          <a:ln w="25400">
            <a:solidFill>
              <a:srgbClr val="1A1E25"/>
            </a:solidFill>
          </a:ln>
        </p:spPr>
      </p:cxnSp>
      <p:sp>
        <p:nvSpPr>
          <p:cNvPr id="16" name="TextBox 15"/>
          <p:cNvSpPr txBox="1"/>
          <p:nvPr/>
        </p:nvSpPr>
        <p:spPr>
          <a:xfrm>
            <a:off x="558000" y="1745999"/>
            <a:ext cx="3006000" cy="5040000"/>
          </a:xfrm>
          <a:prstGeom prst="rect">
            <a:avLst/>
          </a:prstGeom>
          <a:noFill/>
        </p:spPr>
        <p:txBody>
          <a:bodyPr wrap="square" lIns="0" rIns="0" tIns="0" bIns="0" anchor="t">
            <a:spAutoFit/>
          </a:bodyPr>
          <a:lstStyle/>
          <a:p>
            <a:pPr algn="l" eaLnBrk="0">
              <a:lnSpc>
                <a:spcPct val="132000"/>
              </a:lnSpc>
              <a:spcAft>
                <a:spcPts val="800"/>
              </a:spcAft>
            </a:pPr>
            <a:r>
              <a:rPr sz="919" b="1" lang="ko-KR" altLang="en-US">
                <a:solidFill>
                  <a:srgbClr val="1A1E25"/>
                </a:solidFill>
                <a:latin typeface="Noto Sans KR"/>
                <a:ea typeface="Noto Sans KR"/>
                <a:cs typeface="Noto Sans KR"/>
              </a:rPr>
              <a:t>가격 자료  </a:t>
            </a:r>
            <a:r>
              <a:rPr sz="919" b="0" lang="ko-KR" altLang="en-US">
                <a:solidFill>
                  <a:srgbClr val="1A1E25"/>
                </a:solidFill>
                <a:latin typeface="Noto Sans KR"/>
                <a:ea typeface="Noto Sans KR"/>
                <a:cs typeface="Noto Sans KR"/>
              </a:rPr>
              <a:t>data/research/div_mix_180 (QQQ · SCHD · SPY · IEF · GLD), data/research/lev_div_181 (TQQQ · QLD) — 수정 종가, 배당 재투자.</a:t>
            </a:r>
          </a:p>
          <a:p>
            <a:pPr algn="l" eaLnBrk="0">
              <a:lnSpc>
                <a:spcPct val="132000"/>
              </a:lnSpc>
              <a:spcAft>
                <a:spcPts val="800"/>
              </a:spcAft>
            </a:pPr>
            <a:r>
              <a:rPr sz="919" b="1" lang="ko-KR" altLang="en-US">
                <a:solidFill>
                  <a:srgbClr val="1A1E25"/>
                </a:solidFill>
                <a:latin typeface="Noto Sans KR"/>
                <a:ea typeface="Noto Sans KR"/>
                <a:cs typeface="Noto Sans KR"/>
              </a:rPr>
              <a:t>과거 계산  </a:t>
            </a:r>
            <a:r>
              <a:rPr sz="919" b="0" lang="ko-KR" altLang="en-US">
                <a:solidFill>
                  <a:srgbClr val="1A1E25"/>
                </a:solidFill>
                <a:latin typeface="Noto Sans KR"/>
                <a:ea typeface="Noto Sans KR"/>
                <a:cs typeface="Noto Sans KR"/>
              </a:rPr>
              <a:t>scripts/run_brake_184.simulate (Deneb · 고정 섞기 · 단독 적립), scripts/run_namu_core_compare.run_policy (Polaris). 함수 · 비용 · 신호는 바꾸지 않음.</a:t>
            </a:r>
          </a:p>
          <a:p>
            <a:pPr algn="l" eaLnBrk="0">
              <a:lnSpc>
                <a:spcPct val="132000"/>
              </a:lnSpc>
              <a:spcAft>
                <a:spcPts val="800"/>
              </a:spcAft>
            </a:pPr>
            <a:r>
              <a:rPr sz="919" b="1" lang="ko-KR" altLang="en-US">
                <a:solidFill>
                  <a:srgbClr val="1A1E25"/>
                </a:solidFill>
                <a:latin typeface="Noto Sans KR"/>
                <a:ea typeface="Noto Sans KR"/>
                <a:cs typeface="Noto Sans KR"/>
              </a:rPr>
              <a:t>다섯 납입액  </a:t>
            </a:r>
            <a:r>
              <a:rPr sz="919" b="0" lang="ko-KR" altLang="en-US">
                <a:solidFill>
                  <a:srgbClr val="1A1E25"/>
                </a:solidFill>
                <a:latin typeface="Noto Sans KR"/>
                <a:ea typeface="Noto Sans KR"/>
                <a:cs typeface="Noto Sans KR"/>
              </a:rPr>
              <a:t>blue_manual/calc.py — 결과 전 조건 고정(16f398e), 금액마다 따로 실행. 월 20만 원 결과가 52쪽 원장과 일치, 비례 오차 1e-9 이하.</a:t>
            </a:r>
          </a:p>
        </p:txBody>
      </p:sp>
      <p:cxnSp>
        <p:nvCxnSpPr>
          <p:cNvPr id="17" name="Connector 16"/>
          <p:cNvCxnSpPr/>
          <p:nvPr/>
        </p:nvCxnSpPr>
        <p:spPr>
          <a:xfrm>
            <a:off x="3844800" y="1655999"/>
            <a:ext cx="3006000" cy="0"/>
          </a:xfrm>
          <a:prstGeom prst="line">
            <a:avLst/>
          </a:prstGeom>
          <a:ln w="25400">
            <a:solidFill>
              <a:srgbClr val="1A1E25"/>
            </a:solidFill>
          </a:ln>
        </p:spPr>
      </p:cxnSp>
      <p:sp>
        <p:nvSpPr>
          <p:cNvPr id="18" name="TextBox 17"/>
          <p:cNvSpPr txBox="1"/>
          <p:nvPr/>
        </p:nvSpPr>
        <p:spPr>
          <a:xfrm>
            <a:off x="3844800" y="1745999"/>
            <a:ext cx="3006000" cy="5040000"/>
          </a:xfrm>
          <a:prstGeom prst="rect">
            <a:avLst/>
          </a:prstGeom>
          <a:noFill/>
        </p:spPr>
        <p:txBody>
          <a:bodyPr wrap="square" lIns="0" rIns="0" tIns="0" bIns="0" anchor="t">
            <a:spAutoFit/>
          </a:bodyPr>
          <a:lstStyle/>
          <a:p>
            <a:pPr algn="l" eaLnBrk="0">
              <a:lnSpc>
                <a:spcPct val="132000"/>
              </a:lnSpc>
              <a:spcAft>
                <a:spcPts val="800"/>
              </a:spcAft>
            </a:pPr>
            <a:r>
              <a:rPr sz="919" b="1" lang="ko-KR" altLang="en-US">
                <a:solidFill>
                  <a:srgbClr val="1A1E25"/>
                </a:solidFill>
                <a:latin typeface="Noto Sans KR"/>
                <a:ea typeface="Noto Sans KR"/>
                <a:cs typeface="Noto Sans KR"/>
              </a:rPr>
              <a:t>장기 시나리오  </a:t>
            </a:r>
            <a:r>
              <a:rPr sz="919" b="0" lang="ko-KR" altLang="en-US">
                <a:solidFill>
                  <a:srgbClr val="1A1E25"/>
                </a:solidFill>
                <a:latin typeface="Noto Sans KR"/>
                <a:ea typeface="Noto Sans KR"/>
                <a:cs typeface="Noto Sans KR"/>
              </a:rPr>
              <a:t>full_report/calculation.py 재표본(씨앗 20261018, 1,000 경로, 252일 블록) + blue_manual/calc2.py QQQ 단독 적립 추가(조건 고정 9d575bc). Deneb · Polaris 분위가 기존 원장과 같음을 확인.</a:t>
            </a:r>
          </a:p>
          <a:p>
            <a:pPr algn="l" eaLnBrk="0">
              <a:lnSpc>
                <a:spcPct val="132000"/>
              </a:lnSpc>
              <a:spcAft>
                <a:spcPts val="800"/>
              </a:spcAft>
            </a:pPr>
            <a:r>
              <a:rPr sz="919" b="1" lang="ko-KR" altLang="en-US">
                <a:solidFill>
                  <a:srgbClr val="1A1E25"/>
                </a:solidFill>
                <a:latin typeface="Noto Sans KR"/>
                <a:ea typeface="Noto Sans KR"/>
                <a:cs typeface="Noto Sans KR"/>
              </a:rPr>
              <a:t>SCHD 예상 배당  </a:t>
            </a:r>
            <a:r>
              <a:rPr sz="919" b="0" lang="ko-KR" altLang="en-US">
                <a:solidFill>
                  <a:srgbClr val="1A1E25"/>
                </a:solidFill>
                <a:latin typeface="Noto Sans KR"/>
                <a:ea typeface="Noto Sans KR"/>
                <a:cs typeface="Noto Sans KR"/>
              </a:rPr>
              <a:t>codex_independent/dividend_projection.json (조건 고정 5c68278) — 세 가정 · 세전 · 재투자 · 환율 1,300원 · 시작 $35 · 수익률 3%.</a:t>
            </a:r>
          </a:p>
          <a:p>
            <a:pPr algn="l" eaLnBrk="0">
              <a:lnSpc>
                <a:spcPct val="132000"/>
              </a:lnSpc>
              <a:spcAft>
                <a:spcPts val="800"/>
              </a:spcAft>
            </a:pPr>
            <a:r>
              <a:rPr sz="919" b="1" lang="ko-KR" altLang="en-US">
                <a:solidFill>
                  <a:srgbClr val="1A1E25"/>
                </a:solidFill>
                <a:latin typeface="Noto Sans KR"/>
                <a:ea typeface="Noto Sans KR"/>
                <a:cs typeface="Noto Sans KR"/>
              </a:rPr>
              <a:t>긴 합성 연구  </a:t>
            </a:r>
            <a:r>
              <a:rPr sz="919" b="0" lang="ko-KR" altLang="en-US">
                <a:solidFill>
                  <a:srgbClr val="1A1E25"/>
                </a:solidFill>
                <a:latin typeface="Noto Sans KR"/>
                <a:ea typeface="Noto Sans KR"/>
                <a:cs typeface="Noto Sans KR"/>
              </a:rPr>
              <a:t>docs/research/181 · 182 (1986-02 ~ 2026-08) · 하락 방어 183 · 184.</a:t>
            </a:r>
          </a:p>
        </p:txBody>
      </p:sp>
      <p:cxnSp>
        <p:nvCxnSpPr>
          <p:cNvPr id="19" name="Connector 18"/>
          <p:cNvCxnSpPr/>
          <p:nvPr/>
        </p:nvCxnSpPr>
        <p:spPr>
          <a:xfrm>
            <a:off x="7128000" y="1655999"/>
            <a:ext cx="3006000" cy="0"/>
          </a:xfrm>
          <a:prstGeom prst="line">
            <a:avLst/>
          </a:prstGeom>
          <a:ln w="25400">
            <a:solidFill>
              <a:srgbClr val="1A1E25"/>
            </a:solidFill>
          </a:ln>
        </p:spPr>
      </p:cxnSp>
      <p:sp>
        <p:nvSpPr>
          <p:cNvPr id="20" name="TextBox 19"/>
          <p:cNvSpPr txBox="1"/>
          <p:nvPr/>
        </p:nvSpPr>
        <p:spPr>
          <a:xfrm>
            <a:off x="7128000" y="1745999"/>
            <a:ext cx="3006000" cy="5040000"/>
          </a:xfrm>
          <a:prstGeom prst="rect">
            <a:avLst/>
          </a:prstGeom>
          <a:noFill/>
        </p:spPr>
        <p:txBody>
          <a:bodyPr wrap="square" lIns="0" rIns="0" tIns="0" bIns="0" anchor="t">
            <a:spAutoFit/>
          </a:bodyPr>
          <a:lstStyle/>
          <a:p>
            <a:pPr algn="l" eaLnBrk="0">
              <a:lnSpc>
                <a:spcPct val="132000"/>
              </a:lnSpc>
              <a:spcAft>
                <a:spcPts val="800"/>
              </a:spcAft>
            </a:pPr>
            <a:r>
              <a:rPr sz="919" b="1" lang="ko-KR" altLang="en-US">
                <a:solidFill>
                  <a:srgbClr val="1A1E25"/>
                </a:solidFill>
                <a:latin typeface="Noto Sans KR"/>
                <a:ea typeface="Noto Sans KR"/>
                <a:cs typeface="Noto Sans KR"/>
              </a:rPr>
              <a:t>규칙 원문  </a:t>
            </a:r>
            <a:r>
              <a:rPr sz="919" b="0" lang="ko-KR" altLang="en-US">
                <a:solidFill>
                  <a:srgbClr val="1A1E25"/>
                </a:solidFill>
                <a:latin typeface="Noto Sans KR"/>
                <a:ea typeface="Noto Sans KR"/>
                <a:cs typeface="Noto Sans KR"/>
              </a:rPr>
              <a:t>src/auto_trading/ops/deneb_guard.py · mf_paper.py · polaris.py, docs/current/CURRENT_SPEC.md (2026-10-17).</a:t>
            </a:r>
          </a:p>
          <a:p>
            <a:pPr algn="l" eaLnBrk="0">
              <a:lnSpc>
                <a:spcPct val="132000"/>
              </a:lnSpc>
              <a:spcAft>
                <a:spcPts val="800"/>
              </a:spcAft>
            </a:pPr>
            <a:r>
              <a:rPr sz="919" b="1" lang="ko-KR" altLang="en-US">
                <a:solidFill>
                  <a:srgbClr val="1A1E25"/>
                </a:solidFill>
                <a:latin typeface="Noto Sans KR"/>
                <a:ea typeface="Noto Sans KR"/>
                <a:cs typeface="Noto Sans KR"/>
              </a:rPr>
              <a:t>적금  </a:t>
            </a:r>
            <a:r>
              <a:rPr sz="919" b="0" lang="ko-KR" altLang="en-US">
                <a:solidFill>
                  <a:srgbClr val="1A1E25"/>
                </a:solidFill>
                <a:latin typeface="Noto Sans KR"/>
                <a:ea typeface="Noto Sans KR"/>
                <a:cs typeface="Noto Sans KR"/>
              </a:rPr>
              <a:t>매달 같은 날 납입, 12개월 만기 단리, 만기금은 같은 금리 1년 예금으로 해마다 재예치(연 복리), 마지막 덜 찬 기간은 비례 단리. 세전, 세후 참고는 이자 15.4% 차감.</a:t>
            </a:r>
          </a:p>
          <a:p>
            <a:pPr algn="l" eaLnBrk="0">
              <a:lnSpc>
                <a:spcPct val="132000"/>
              </a:lnSpc>
              <a:spcAft>
                <a:spcPts val="800"/>
              </a:spcAft>
            </a:pPr>
            <a:r>
              <a:rPr sz="919" b="1" lang="ko-KR" altLang="en-US">
                <a:solidFill>
                  <a:srgbClr val="1A1E25"/>
                </a:solidFill>
                <a:latin typeface="Noto Sans KR"/>
                <a:ea typeface="Noto Sans KR"/>
                <a:cs typeface="Noto Sans KR"/>
              </a:rPr>
              <a:t>이 설명서가 아닌 것  </a:t>
            </a:r>
            <a:r>
              <a:rPr sz="919" b="0" lang="ko-KR" altLang="en-US">
                <a:solidFill>
                  <a:srgbClr val="1A1E25"/>
                </a:solidFill>
                <a:latin typeface="Noto Sans KR"/>
                <a:ea typeface="Noto Sans KR"/>
                <a:cs typeface="Noto Sans KR"/>
              </a:rPr>
              <a:t>새 전략 채택 · 통계적 우위 판정 · 실거래 허가가 아닙니다. 미래 금액과 배당은 보장되지 않습니다.</a:t>
            </a:r>
          </a:p>
        </p:txBody>
      </p:sp>
      <p:sp>
        <p:nvSpPr>
          <p:cNvPr id="21" name="출처"/>
          <p:cNvSpPr txBox="1"/>
          <p:nvPr/>
        </p:nvSpPr>
        <p:spPr>
          <a:xfrm>
            <a:off x="558000" y="6955200"/>
            <a:ext cx="9576000" cy="162000"/>
          </a:xfrm>
          <a:prstGeom prst="rect">
            <a:avLst/>
          </a:prstGeom>
          <a:noFill/>
        </p:spPr>
        <p:txBody>
          <a:bodyPr wrap="square" lIns="0" rIns="0" tIns="0" bIns="0" anchor="t">
            <a:spAutoFit/>
          </a:bodyPr>
          <a:lstStyle/>
          <a:p>
            <a:pPr algn="l" eaLnBrk="0">
              <a:lnSpc>
                <a:spcPct val="105000"/>
              </a:lnSpc>
              <a:spcAft>
                <a:spcPts val="0"/>
              </a:spcAft>
            </a:pPr>
            <a:r>
              <a:rPr sz="750" b="0" lang="ko-KR" altLang="en-US">
                <a:solidFill>
                  <a:srgbClr val="5C6573"/>
                </a:solidFill>
                <a:latin typeface="Noto Sans KR"/>
                <a:ea typeface="Noto Sans KR"/>
                <a:cs typeface="Noto Sans KR"/>
              </a:rPr>
              <a:t>출처 · reports/deneb_polaris_report_20261017/blue_manual/ (calc_spec · calc · calc2_spec · calc2 · build ·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