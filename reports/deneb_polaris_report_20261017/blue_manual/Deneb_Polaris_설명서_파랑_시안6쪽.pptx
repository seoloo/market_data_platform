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TQQQ</c:v>
                </c:pt>
              </c:strCache>
            </c:strRef>
          </c:tx>
          <c:spPr>
            <a:solidFill>
              <a:srgbClr val="0B3D91"/>
            </a:solidFill>
          </c:spPr>
          <c:dLbls>
            <c:numFmt formatCode="0&quot;만 원&quot;" sourceLinked="0"/>
            <c:txPr>
              <a:bodyPr/>
              <a:lstStyle/>
              <a:p>
                <a:pPr>
                  <a:defRPr sz="85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폭락 · 60%</c:v>
                </c:pt>
                <c:pt idx="1">
                  <c:v>급락 · 40%</c:v>
                </c:pt>
                <c:pt idx="2">
                  <c:v>출렁임 · 30%</c:v>
                </c:pt>
                <c:pt idx="3">
                  <c:v>보통 · 20%</c:v>
                </c:pt>
                <c:pt idx="4">
                  <c:v>잔잔함 · 변동성 15%</c:v>
                </c:pt>
              </c:strCache>
            </c:strRef>
          </c:cat>
          <c:val>
            <c:numRef>
              <c:f>Sheet1!$B$2:$B$6</c:f>
              <c:numCache>
                <c:formatCode>General</c:formatCode>
                <c:ptCount val="5"/>
                <c:pt idx="0">
                  <c:v>2.0</c:v>
                </c:pt>
                <c:pt idx="1">
                  <c:v>3.0</c:v>
                </c:pt>
                <c:pt idx="2">
                  <c:v>4.0</c:v>
                </c:pt>
                <c:pt idx="3">
                  <c:v>6.0</c:v>
                </c:pt>
                <c:pt idx="4">
                  <c:v>6.0</c:v>
                </c:pt>
              </c:numCache>
            </c:numRef>
          </c:val>
        </c:ser>
        <c:ser>
          <c:idx val="1"/>
          <c:order val="1"/>
          <c:tx>
            <c:strRef>
              <c:f>Sheet1!$C$1</c:f>
              <c:strCache>
                <c:ptCount val="1"/>
                <c:pt idx="0">
                  <c:v>SCHD</c:v>
                </c:pt>
              </c:strCache>
            </c:strRef>
          </c:tx>
          <c:spPr>
            <a:solidFill>
              <a:srgbClr val="AFC3E3"/>
            </a:solidFill>
          </c:spPr>
          <c:dLbls>
            <c:numFmt formatCode="0&quot;만 원&quot;" sourceLinked="0"/>
            <c:txPr>
              <a:bodyPr/>
              <a:lstStyle/>
              <a:p>
                <a:pPr>
                  <a:defRPr sz="850" b="1">
                    <a:solidFill>
                      <a:srgbClr val="1A1E25"/>
                    </a:solidFill>
                  </a:defRPr>
                </a:pPr>
              </a:p>
            </c:txPr>
            <c:dLblPos val="ctr"/>
            <c:showLegendKey val="0"/>
            <c:showVal val="1"/>
            <c:showCatName val="0"/>
            <c:showSerName val="0"/>
            <c:showPercent val="0"/>
            <c:showBubbleSize val="0"/>
            <c:showLeaderLines val="1"/>
          </c:dLbls>
          <c:cat>
            <c:strRef>
              <c:f>Sheet1!$A$2:$A$6</c:f>
              <c:strCache>
                <c:ptCount val="5"/>
                <c:pt idx="0">
                  <c:v>폭락 · 60%</c:v>
                </c:pt>
                <c:pt idx="1">
                  <c:v>급락 · 40%</c:v>
                </c:pt>
                <c:pt idx="2">
                  <c:v>출렁임 · 30%</c:v>
                </c:pt>
                <c:pt idx="3">
                  <c:v>보통 · 20%</c:v>
                </c:pt>
                <c:pt idx="4">
                  <c:v>잔잔함 · 변동성 15%</c:v>
                </c:pt>
              </c:strCache>
            </c:strRef>
          </c:cat>
          <c:val>
            <c:numRef>
              <c:f>Sheet1!$C$2:$C$6</c:f>
              <c:numCache>
                <c:formatCode>General</c:formatCode>
                <c:ptCount val="5"/>
                <c:pt idx="0">
                  <c:v>8.0</c:v>
                </c:pt>
                <c:pt idx="1">
                  <c:v>7.0</c:v>
                </c:pt>
                <c:pt idx="2">
                  <c:v>6.0</c:v>
                </c:pt>
                <c:pt idx="3">
                  <c:v>4.0</c:v>
                </c:pt>
                <c:pt idx="4">
                  <c:v>4.0</c:v>
                </c:pt>
              </c:numCache>
            </c:numRef>
          </c:val>
        </c:ser>
        <c:gapWidth val="45"/>
        <c:overlap val="100"/>
        <c:axId val="-2068027336"/>
        <c:axId val="-2113994440"/>
      </c:barChart>
      <c:catAx>
        <c:axId val="-2068027336"/>
        <c:scaling>
          <c:orientation val="minMax"/>
        </c:scaling>
        <c:delete val="0"/>
        <c:axPos val="l"/>
        <c:majorTickMark val="out"/>
        <c:minorTickMark val="none"/>
        <c:tickLblPos val="low"/>
        <c:spPr>
          <a:ln w="9525">
            <a:no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10.0"/>
          <c:min val="0.0"/>
        </c:scaling>
        <c:delete/>
        <c:axPos val="b"/>
        <c:numFmt formatCode="0&quot;만&quot;" sourceLinked="0"/>
        <c:majorTickMark val="out"/>
        <c:minorTickMark val="none"/>
        <c:tickLblPos val="nextTo"/>
        <c:spPr>
          <a:ln>
            <a:noFill/>
          </a:ln>
        </c:spPr>
        <c:txPr>
          <a:bodyPr/>
          <a:lstStyle/>
          <a:p>
            <a:pPr>
              <a:defRPr sz="800">
                <a:solidFill>
                  <a:srgbClr val="5C6573"/>
                </a:solidFill>
              </a:defRPr>
            </a:pPr>
          </a:p>
        </c:txPr>
        <c:crossAx val="-2068027336"/>
        <c:crosses val="autoZero"/>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최종 평가액</c:v>
                </c:pt>
              </c:strCache>
            </c:strRef>
          </c:tx>
          <c:invertIfNegative val="0"/>
          <c:dPt>
            <c:idx val="0"/>
            <c:invertIfNegative val="0"/>
            <c:spPr>
              <a:solidFill>
                <a:srgbClr val="E07A1F"/>
              </a:solidFill>
            </c:spPr>
          </c:dPt>
          <c:dPt>
            <c:idx val="1"/>
            <c:invertIfNegative val="0"/>
            <c:spPr>
              <a:solidFill>
                <a:srgbClr val="3D9BE0"/>
              </a:solidFill>
            </c:spPr>
          </c:dPt>
          <c:dPt>
            <c:idx val="2"/>
            <c:invertIfNegative val="0"/>
            <c:spPr>
              <a:solidFill>
                <a:srgbClr val="7A4CB0"/>
              </a:solidFill>
            </c:spPr>
          </c:dPt>
          <c:dPt>
            <c:idx val="3"/>
            <c:invertIfNegative val="0"/>
            <c:spPr>
              <a:solidFill>
                <a:srgbClr val="B0862A"/>
              </a:solidFill>
            </c:spPr>
          </c:dPt>
          <c:dPt>
            <c:idx val="4"/>
            <c:invertIfNegative val="0"/>
            <c:spPr>
              <a:solidFill>
                <a:srgbClr val="F2B27A"/>
              </a:solidFill>
            </c:spPr>
          </c:dPt>
          <c:dPt>
            <c:idx val="5"/>
            <c:invertIfNegative val="0"/>
            <c:spPr>
              <a:solidFill>
                <a:srgbClr val="9FCBEF"/>
              </a:solidFill>
            </c:spPr>
          </c:dPt>
          <c:dPt>
            <c:idx val="6"/>
            <c:invertIfNegative val="0"/>
            <c:spPr>
              <a:solidFill>
                <a:srgbClr val="BBA3DB"/>
              </a:solidFill>
            </c:spPr>
          </c:dPt>
          <c:dPt>
            <c:idx val="7"/>
            <c:invertIfNegative val="0"/>
            <c:spPr>
              <a:solidFill>
                <a:srgbClr val="5F7FC0"/>
              </a:solidFill>
            </c:spPr>
          </c:dPt>
          <c:dPt>
            <c:idx val="8"/>
            <c:invertIfNegative val="0"/>
            <c:spPr>
              <a:solidFill>
                <a:srgbClr val="0B3D91"/>
              </a:solidFill>
            </c:spPr>
          </c:dPt>
          <c:dLbls>
            <c:numFmt formatCode="#,##0"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Sheet1!$A$2:$A$10</c:f>
              <c:strCache>
                <c:ptCount val="9"/>
                <c:pt idx="0">
                  <c:v>QQQ
단독</c:v>
                </c:pt>
                <c:pt idx="1">
                  <c:v>QLD
단독</c:v>
                </c:pt>
                <c:pt idx="2">
                  <c:v>TQQQ
단독</c:v>
                </c:pt>
                <c:pt idx="3">
                  <c:v>S&amp;P500
단독</c:v>
                </c:pt>
                <c:pt idx="4">
                  <c:v>QQQ 60
SCHD 40</c:v>
                </c:pt>
                <c:pt idx="5">
                  <c:v>QLD 60
SCHD 40</c:v>
                </c:pt>
                <c:pt idx="6">
                  <c:v>TQQQ 60
SCHD 40</c:v>
                </c:pt>
                <c:pt idx="7">
                  <c:v>변동성
조절만</c:v>
                </c:pt>
                <c:pt idx="8">
                  <c:v>Deneb</c:v>
                </c:pt>
              </c:strCache>
            </c:strRef>
          </c:cat>
          <c:val>
            <c:numRef>
              <c:f>Sheet1!$B$2:$B$10</c:f>
              <c:numCache>
                <c:formatCode>General</c:formatCode>
                <c:ptCount val="9"/>
                <c:pt idx="0">
                  <c:v>8804.535846044668</c:v>
                </c:pt>
                <c:pt idx="1">
                  <c:v>25432.08632672166</c:v>
                </c:pt>
                <c:pt idx="2">
                  <c:v>51271.57911672567</c:v>
                </c:pt>
                <c:pt idx="3">
                  <c:v>5810.026071590881</c:v>
                </c:pt>
                <c:pt idx="4">
                  <c:v>7162.651785876534</c:v>
                </c:pt>
                <c:pt idx="5">
                  <c:v>14448.946641451817</c:v>
                </c:pt>
                <c:pt idx="6">
                  <c:v>26587.024609835178</c:v>
                </c:pt>
                <c:pt idx="7">
                  <c:v>26441.80489517723</c:v>
                </c:pt>
                <c:pt idx="8">
                  <c:v>36111.22577284591</c:v>
                </c:pt>
              </c:numCache>
            </c:numRef>
          </c:val>
        </c:ser>
        <c:gapWidth val="45"/>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60000.0"/>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20000.0"/>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최대 낙폭</c:v>
                </c:pt>
              </c:strCache>
            </c:strRef>
          </c:tx>
          <c:invertIfNegative val="0"/>
          <c:dPt>
            <c:idx val="0"/>
            <c:invertIfNegative val="0"/>
            <c:spPr>
              <a:solidFill>
                <a:srgbClr val="E07A1F"/>
              </a:solidFill>
            </c:spPr>
          </c:dPt>
          <c:dPt>
            <c:idx val="1"/>
            <c:invertIfNegative val="0"/>
            <c:spPr>
              <a:solidFill>
                <a:srgbClr val="3D9BE0"/>
              </a:solidFill>
            </c:spPr>
          </c:dPt>
          <c:dPt>
            <c:idx val="2"/>
            <c:invertIfNegative val="0"/>
            <c:spPr>
              <a:solidFill>
                <a:srgbClr val="7A4CB0"/>
              </a:solidFill>
            </c:spPr>
          </c:dPt>
          <c:dPt>
            <c:idx val="3"/>
            <c:invertIfNegative val="0"/>
            <c:spPr>
              <a:solidFill>
                <a:srgbClr val="B0862A"/>
              </a:solidFill>
            </c:spPr>
          </c:dPt>
          <c:dPt>
            <c:idx val="4"/>
            <c:invertIfNegative val="0"/>
            <c:spPr>
              <a:solidFill>
                <a:srgbClr val="F2B27A"/>
              </a:solidFill>
            </c:spPr>
          </c:dPt>
          <c:dPt>
            <c:idx val="5"/>
            <c:invertIfNegative val="0"/>
            <c:spPr>
              <a:solidFill>
                <a:srgbClr val="9FCBEF"/>
              </a:solidFill>
            </c:spPr>
          </c:dPt>
          <c:dPt>
            <c:idx val="6"/>
            <c:invertIfNegative val="0"/>
            <c:spPr>
              <a:solidFill>
                <a:srgbClr val="BBA3DB"/>
              </a:solidFill>
            </c:spPr>
          </c:dPt>
          <c:dPt>
            <c:idx val="7"/>
            <c:invertIfNegative val="0"/>
            <c:spPr>
              <a:solidFill>
                <a:srgbClr val="5F7FC0"/>
              </a:solidFill>
            </c:spPr>
          </c:dPt>
          <c:dPt>
            <c:idx val="8"/>
            <c:invertIfNegative val="0"/>
            <c:spPr>
              <a:solidFill>
                <a:srgbClr val="0B3D91"/>
              </a:solidFill>
            </c:spPr>
          </c:dPt>
          <c:dLbls>
            <c:numFmt formatCode="0%;&quot;−&quot;0%"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Sheet1!$A$2:$A$10</c:f>
              <c:strCache>
                <c:ptCount val="9"/>
                <c:pt idx="0">
                  <c:v>QQQ
단독</c:v>
                </c:pt>
                <c:pt idx="1">
                  <c:v>QLD
단독</c:v>
                </c:pt>
                <c:pt idx="2">
                  <c:v>TQQQ
단독</c:v>
                </c:pt>
                <c:pt idx="3">
                  <c:v>S&amp;P500
단독</c:v>
                </c:pt>
                <c:pt idx="4">
                  <c:v>QQQ 60
SCHD 40</c:v>
                </c:pt>
                <c:pt idx="5">
                  <c:v>QLD 60
SCHD 40</c:v>
                </c:pt>
                <c:pt idx="6">
                  <c:v>TQQQ 60
SCHD 40</c:v>
                </c:pt>
                <c:pt idx="7">
                  <c:v>변동성
조절만</c:v>
                </c:pt>
                <c:pt idx="8">
                  <c:v>Deneb</c:v>
                </c:pt>
              </c:strCache>
            </c:strRef>
          </c:cat>
          <c:val>
            <c:numRef>
              <c:f>Sheet1!$B$2:$B$10</c:f>
              <c:numCache>
                <c:formatCode>General</c:formatCode>
                <c:ptCount val="9"/>
                <c:pt idx="0">
                  <c:v>-0.351218255181172</c:v>
                </c:pt>
                <c:pt idx="1">
                  <c:v>-0.6368547421919409</c:v>
                </c:pt>
                <c:pt idx="2">
                  <c:v>-0.8166016618224907</c:v>
                </c:pt>
                <c:pt idx="3">
                  <c:v>-0.3371787085235165</c:v>
                </c:pt>
                <c:pt idx="4">
                  <c:v>-0.2985588065238479</c:v>
                </c:pt>
                <c:pt idx="5">
                  <c:v>-0.46197849757551646</c:v>
                </c:pt>
                <c:pt idx="6">
                  <c:v>-0.6142367585347968</c:v>
                </c:pt>
                <c:pt idx="7">
                  <c:v>-0.520980044995438</c:v>
                </c:pt>
                <c:pt idx="8">
                  <c:v>-0.3171535684070895</c:v>
                </c:pt>
              </c:numCache>
            </c:numRef>
          </c:val>
        </c:ser>
        <c:gapWidth val="45"/>
        <c:axId val="-2068027336"/>
        <c:axId val="-2113994440"/>
      </c:barChart>
      <c:catAx>
        <c:axId val="-2068027336"/>
        <c:scaling>
          <c:orientation val="minMax"/>
        </c:scaling>
        <c:delete val="0"/>
        <c:axPos val="b"/>
        <c:majorTickMark val="out"/>
        <c:minorTickMark val="none"/>
        <c:tickLblPos val="high"/>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0"/>
          <c:min val="-1.0"/>
        </c:scaling>
        <c:delete val="0"/>
        <c:axPos val="l"/>
        <c:majorGridlines>
          <c:spPr>
            <a:ln w="6350">
              <a:solidFill>
                <a:srgbClr val="E3E7ED"/>
              </a:solidFill>
            </a:ln>
          </c:spPr>
        </c:majorGridlines>
        <c:numFmt formatCode="0%;&quot;−&quot;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5"/>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Polaris − QQQ 단독 적립</c:v>
                </c:pt>
              </c:strCache>
            </c:strRef>
          </c:tx>
          <c:spPr>
            <a:solidFill>
              <a:srgbClr val="1E9A84"/>
            </a:solidFill>
          </c:spPr>
          <c:invertIfNegative val="0"/>
          <c:dLbls>
            <c:numFmt formatCode="&quot;+&quot;#,##0&quot;만&quot;;&quot;−&quot;#,##0&quot;만&quot;"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월 100만 원</c:v>
                </c:pt>
                <c:pt idx="1">
                  <c:v>월 50만 원</c:v>
                </c:pt>
                <c:pt idx="2">
                  <c:v>월 30만 원</c:v>
                </c:pt>
                <c:pt idx="3">
                  <c:v>월 20만 원</c:v>
                </c:pt>
                <c:pt idx="4">
                  <c:v>월 10만 원</c:v>
                </c:pt>
              </c:strCache>
            </c:strRef>
          </c:cat>
          <c:val>
            <c:numRef>
              <c:f>Sheet1!$B$2:$B$6</c:f>
              <c:numCache>
                <c:formatCode>General</c:formatCode>
                <c:ptCount val="5"/>
                <c:pt idx="0">
                  <c:v>-37277.96027427945</c:v>
                </c:pt>
                <c:pt idx="1">
                  <c:v>-18638.980137139726</c:v>
                </c:pt>
                <c:pt idx="2">
                  <c:v>-11183.388082283855</c:v>
                </c:pt>
                <c:pt idx="3">
                  <c:v>-7455.592054855901</c:v>
                </c:pt>
                <c:pt idx="4">
                  <c:v>-3727.7960274279503</c:v>
                </c:pt>
              </c:numCache>
            </c:numRef>
          </c:val>
        </c:ser>
        <c:ser>
          <c:idx val="1"/>
          <c:order val="1"/>
          <c:tx>
            <c:strRef>
              <c:f>Sheet1!$C$1</c:f>
              <c:strCache>
                <c:ptCount val="1"/>
                <c:pt idx="0">
                  <c:v>Deneb − QQQ 단독 적립</c:v>
                </c:pt>
              </c:strCache>
            </c:strRef>
          </c:tx>
          <c:spPr>
            <a:solidFill>
              <a:srgbClr val="0B3D91"/>
            </a:solidFill>
          </c:spPr>
          <c:invertIfNegative val="0"/>
          <c:dLbls>
            <c:numFmt formatCode="&quot;+&quot;#,##0&quot;만&quot;;&quot;−&quot;#,##0&quot;만&quot;"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월 100만 원</c:v>
                </c:pt>
                <c:pt idx="1">
                  <c:v>월 50만 원</c:v>
                </c:pt>
                <c:pt idx="2">
                  <c:v>월 30만 원</c:v>
                </c:pt>
                <c:pt idx="3">
                  <c:v>월 20만 원</c:v>
                </c:pt>
                <c:pt idx="4">
                  <c:v>월 10만 원</c:v>
                </c:pt>
              </c:strCache>
            </c:strRef>
          </c:cat>
          <c:val>
            <c:numRef>
              <c:f>Sheet1!$C$2:$C$6</c:f>
              <c:numCache>
                <c:formatCode>General</c:formatCode>
                <c:ptCount val="5"/>
                <c:pt idx="0">
                  <c:v>273066.8992680123</c:v>
                </c:pt>
                <c:pt idx="1">
                  <c:v>136533.44963400616</c:v>
                </c:pt>
                <c:pt idx="2">
                  <c:v>81920.06978040369</c:v>
                </c:pt>
                <c:pt idx="3">
                  <c:v>54613.379853602484</c:v>
                </c:pt>
                <c:pt idx="4">
                  <c:v>27306.689926801242</c:v>
                </c:pt>
              </c:numCache>
            </c:numRef>
          </c:val>
        </c:ser>
        <c:gapWidth val="35"/>
        <c:axId val="-2068027336"/>
        <c:axId val="-2113994440"/>
      </c:barChart>
      <c:catAx>
        <c:axId val="-2068027336"/>
        <c:scaling>
          <c:orientation val="minMax"/>
        </c:scaling>
        <c:delete val="0"/>
        <c:axPos val="l"/>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300000.0"/>
          <c:min val="-100000.0"/>
        </c:scaling>
        <c:delete val="0"/>
        <c:axPos val="b"/>
        <c:majorGridlines>
          <c:spPr>
            <a:ln w="6350">
              <a:solidFill>
                <a:srgbClr val="E3E7ED"/>
              </a:solidFill>
            </a:ln>
          </c:spPr>
        </c:majorGridlines>
        <c:numFmt formatCode="&quot;+&quot;#,##0;&quot;−&quot;#,##0;0" sourceLinked="0"/>
        <c:majorTickMark val="out"/>
        <c:minorTickMark val="none"/>
        <c:tickLblPos val="nextTo"/>
        <c:spPr>
          <a:ln>
            <a:noFill/>
          </a:ln>
        </c:spPr>
        <c:txPr>
          <a:bodyPr/>
          <a:lstStyle/>
          <a:p>
            <a:pPr>
              <a:defRPr sz="800">
                <a:solidFill>
                  <a:srgbClr val="5C6573"/>
                </a:solidFill>
              </a:defRPr>
            </a:pPr>
          </a:p>
        </c:txPr>
        <c:crossAx val="-2068027336"/>
        <c:crosses val="autoZero"/>
        <c:majorUnit val="50000.0"/>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Sheet1!$B$2:$B$49</c:f>
              <c:numCache>
                <c:formatCode>General</c:formatCode>
                <c:ptCount val="48"/>
                <c:pt idx="0">
                  <c:v>11.213422473076623</c:v>
                </c:pt>
                <c:pt idx="1">
                  <c:v>23.80548216726327</c:v>
                </c:pt>
                <c:pt idx="2">
                  <c:v>37.08091081261784</c:v>
                </c:pt>
                <c:pt idx="3">
                  <c:v>45.46683731838303</c:v>
                </c:pt>
                <c:pt idx="4">
                  <c:v>51.91853553791116</c:v>
                </c:pt>
                <c:pt idx="5">
                  <c:v>64.25468323750923</c:v>
                </c:pt>
                <c:pt idx="6">
                  <c:v>75.82181615660201</c:v>
                </c:pt>
                <c:pt idx="7">
                  <c:v>94.4247133203523</c:v>
                </c:pt>
                <c:pt idx="8">
                  <c:v>106.29071875922925</c:v>
                </c:pt>
                <c:pt idx="9">
                  <c:v>106.02523138642987</c:v>
                </c:pt>
                <c:pt idx="10">
                  <c:v>113.51846099875313</c:v>
                </c:pt>
                <c:pt idx="11">
                  <c:v>122.10162008395707</c:v>
                </c:pt>
                <c:pt idx="12">
                  <c:v>140.49365162899312</c:v>
                </c:pt>
                <c:pt idx="13">
                  <c:v>152.04220227106666</c:v>
                </c:pt>
                <c:pt idx="14">
                  <c:v>173.50835855926744</c:v>
                </c:pt>
                <c:pt idx="15">
                  <c:v>193.48035237212056</c:v>
                </c:pt>
                <c:pt idx="16">
                  <c:v>217.80539114263314</c:v>
                </c:pt>
                <c:pt idx="17">
                  <c:v>213.37129901021453</c:v>
                </c:pt>
                <c:pt idx="18">
                  <c:v>238.49075272576005</c:v>
                </c:pt>
                <c:pt idx="19">
                  <c:v>242.81115235270443</c:v>
                </c:pt>
                <c:pt idx="20">
                  <c:v>264.9040926052649</c:v>
                </c:pt>
                <c:pt idx="21">
                  <c:v>291.74416777421663</c:v>
                </c:pt>
                <c:pt idx="22">
                  <c:v>313.50843398629894</c:v>
                </c:pt>
                <c:pt idx="23">
                  <c:v>334.00964499976624</c:v>
                </c:pt>
                <c:pt idx="24">
                  <c:v>329.8323473041796</c:v>
                </c:pt>
                <c:pt idx="25">
                  <c:v>361.1803157032581</c:v>
                </c:pt>
                <c:pt idx="26">
                  <c:v>367.4876975409001</c:v>
                </c:pt>
                <c:pt idx="27">
                  <c:v>361.3399817884283</c:v>
                </c:pt>
                <c:pt idx="28">
                  <c:v>402.9849502735276</c:v>
                </c:pt>
                <c:pt idx="29">
                  <c:v>438.657487485945</c:v>
                </c:pt>
                <c:pt idx="30">
                  <c:v>453.69912482587563</c:v>
                </c:pt>
                <c:pt idx="31">
                  <c:v>513.2810549555993</c:v>
                </c:pt>
                <c:pt idx="32">
                  <c:v>514.2148474716863</c:v>
                </c:pt>
                <c:pt idx="33">
                  <c:v>532.5286002964607</c:v>
                </c:pt>
                <c:pt idx="34">
                  <c:v>593.3504030506715</c:v>
                </c:pt>
                <c:pt idx="35">
                  <c:v>565.5411109470227</c:v>
                </c:pt>
                <c:pt idx="36">
                  <c:v>557.4098309355111</c:v>
                </c:pt>
                <c:pt idx="37">
                  <c:v>635.7781990782452</c:v>
                </c:pt>
                <c:pt idx="38">
                  <c:v>609.8322765390974</c:v>
                </c:pt>
                <c:pt idx="39">
                  <c:v>641.2070595308302</c:v>
                </c:pt>
                <c:pt idx="40">
                  <c:v>677.1589681062226</c:v>
                </c:pt>
                <c:pt idx="41">
                  <c:v>646.5792528537428</c:v>
                </c:pt>
                <c:pt idx="42">
                  <c:v>710.4716248574916</c:v>
                </c:pt>
                <c:pt idx="43">
                  <c:v>580.2223209367326</c:v>
                </c:pt>
                <c:pt idx="44">
                  <c:v>565.5773009616528</c:v>
                </c:pt>
                <c:pt idx="45">
                  <c:v>711.6236634516243</c:v>
                </c:pt>
                <c:pt idx="46">
                  <c:v>727.5988761777757</c:v>
                </c:pt>
                <c:pt idx="47">
                  <c:v>709.2672149040551</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Sheet1!$C$2:$C$49</c:f>
              <c:numCache>
                <c:formatCode>General</c:formatCode>
                <c:ptCount val="48"/>
                <c:pt idx="0">
                  <c:v>10.622006555990184</c:v>
                </c:pt>
                <c:pt idx="1">
                  <c:v>21.842607345451118</c:v>
                </c:pt>
                <c:pt idx="2">
                  <c:v>33.353458140837155</c:v>
                </c:pt>
                <c:pt idx="3">
                  <c:v>42.730414337094494</c:v>
                </c:pt>
                <c:pt idx="4">
                  <c:v>48.988898154883415</c:v>
                </c:pt>
                <c:pt idx="5">
                  <c:v>61.39221105146554</c:v>
                </c:pt>
                <c:pt idx="6">
                  <c:v>72.05943549467482</c:v>
                </c:pt>
                <c:pt idx="7">
                  <c:v>86.3294813582194</c:v>
                </c:pt>
                <c:pt idx="8">
                  <c:v>97.18051482340599</c:v>
                </c:pt>
                <c:pt idx="9">
                  <c:v>101.52175403229073</c:v>
                </c:pt>
                <c:pt idx="10">
                  <c:v>112.82475509633078</c:v>
                </c:pt>
                <c:pt idx="11">
                  <c:v>122.25596330334491</c:v>
                </c:pt>
                <c:pt idx="12">
                  <c:v>135.4580848245305</c:v>
                </c:pt>
                <c:pt idx="13">
                  <c:v>145.82637161781193</c:v>
                </c:pt>
                <c:pt idx="14">
                  <c:v>160.48159892779438</c:v>
                </c:pt>
                <c:pt idx="15">
                  <c:v>174.8621500440913</c:v>
                </c:pt>
                <c:pt idx="16">
                  <c:v>191.50844753123604</c:v>
                </c:pt>
                <c:pt idx="17">
                  <c:v>196.64988233888937</c:v>
                </c:pt>
                <c:pt idx="18">
                  <c:v>219.61674746596935</c:v>
                </c:pt>
                <c:pt idx="19">
                  <c:v>228.59268074609108</c:v>
                </c:pt>
                <c:pt idx="20">
                  <c:v>250.04682399870222</c:v>
                </c:pt>
                <c:pt idx="21">
                  <c:v>272.816098711802</c:v>
                </c:pt>
                <c:pt idx="22">
                  <c:v>292.8412954776085</c:v>
                </c:pt>
                <c:pt idx="23">
                  <c:v>311.7203232303129</c:v>
                </c:pt>
                <c:pt idx="24">
                  <c:v>315.6018646700718</c:v>
                </c:pt>
                <c:pt idx="25">
                  <c:v>342.60906970874686</c:v>
                </c:pt>
                <c:pt idx="26">
                  <c:v>343.02817814906854</c:v>
                </c:pt>
                <c:pt idx="27">
                  <c:v>351.71399034758736</c:v>
                </c:pt>
                <c:pt idx="28">
                  <c:v>377.8925987967782</c:v>
                </c:pt>
                <c:pt idx="29">
                  <c:v>400.00419375747873</c:v>
                </c:pt>
                <c:pt idx="30">
                  <c:v>414.7256139125013</c:v>
                </c:pt>
                <c:pt idx="31">
                  <c:v>446.0251703829715</c:v>
                </c:pt>
                <c:pt idx="32">
                  <c:v>452.53113837218064</c:v>
                </c:pt>
                <c:pt idx="33">
                  <c:v>474.90216050125014</c:v>
                </c:pt>
                <c:pt idx="34">
                  <c:v>506.90099455967965</c:v>
                </c:pt>
                <c:pt idx="35">
                  <c:v>505.41636145337543</c:v>
                </c:pt>
                <c:pt idx="36">
                  <c:v>504.69846394282337</c:v>
                </c:pt>
                <c:pt idx="37">
                  <c:v>551.7541645409284</c:v>
                </c:pt>
                <c:pt idx="38">
                  <c:v>548.4004958335198</c:v>
                </c:pt>
                <c:pt idx="39">
                  <c:v>569.1727207310574</c:v>
                </c:pt>
                <c:pt idx="40">
                  <c:v>592.0470282829582</c:v>
                </c:pt>
                <c:pt idx="41">
                  <c:v>587.0445260497884</c:v>
                </c:pt>
                <c:pt idx="42">
                  <c:v>624.1585162298544</c:v>
                </c:pt>
                <c:pt idx="43">
                  <c:v>590.8955357106094</c:v>
                </c:pt>
                <c:pt idx="44">
                  <c:v>587.9323443569657</c:v>
                </c:pt>
                <c:pt idx="45">
                  <c:v>665.8499836113907</c:v>
                </c:pt>
                <c:pt idx="46">
                  <c:v>679.837607414608</c:v>
                </c:pt>
                <c:pt idx="47">
                  <c:v>678.7240088199684</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Sheet1!$D$2:$D$49</c:f>
              <c:numCache>
                <c:formatCode>General</c:formatCode>
                <c:ptCount val="48"/>
                <c:pt idx="0">
                  <c:v>10.467449882855313</c:v>
                </c:pt>
                <c:pt idx="1">
                  <c:v>20.895986497464285</c:v>
                </c:pt>
                <c:pt idx="2">
                  <c:v>31.405341989086654</c:v>
                </c:pt>
                <c:pt idx="3">
                  <c:v>41.29431279186734</c:v>
                </c:pt>
                <c:pt idx="4">
                  <c:v>48.90649702441963</c:v>
                </c:pt>
                <c:pt idx="5">
                  <c:v>60.615051864746576</c:v>
                </c:pt>
                <c:pt idx="6">
                  <c:v>71.3531098131352</c:v>
                </c:pt>
                <c:pt idx="7">
                  <c:v>84.03855047669707</c:v>
                </c:pt>
                <c:pt idx="8">
                  <c:v>95.80932453246905</c:v>
                </c:pt>
                <c:pt idx="9">
                  <c:v>102.82172532566275</c:v>
                </c:pt>
                <c:pt idx="10">
                  <c:v>113.4909848282849</c:v>
                </c:pt>
                <c:pt idx="11">
                  <c:v>122.82713268888362</c:v>
                </c:pt>
                <c:pt idx="12">
                  <c:v>135.26157543283213</c:v>
                </c:pt>
                <c:pt idx="13">
                  <c:v>144.74706680944544</c:v>
                </c:pt>
                <c:pt idx="14">
                  <c:v>158.2664073687051</c:v>
                </c:pt>
                <c:pt idx="15">
                  <c:v>168.5052921615859</c:v>
                </c:pt>
                <c:pt idx="16">
                  <c:v>178.42690944302151</c:v>
                </c:pt>
                <c:pt idx="17">
                  <c:v>181.13908918369046</c:v>
                </c:pt>
                <c:pt idx="18">
                  <c:v>200.2830599739698</c:v>
                </c:pt>
                <c:pt idx="19">
                  <c:v>209.77400934915593</c:v>
                </c:pt>
                <c:pt idx="20">
                  <c:v>223.6327459537614</c:v>
                </c:pt>
                <c:pt idx="21">
                  <c:v>240.60446712077513</c:v>
                </c:pt>
                <c:pt idx="22">
                  <c:v>252.28501375887944</c:v>
                </c:pt>
                <c:pt idx="23">
                  <c:v>263.63930899646044</c:v>
                </c:pt>
                <c:pt idx="24">
                  <c:v>272.6135449275355</c:v>
                </c:pt>
                <c:pt idx="25">
                  <c:v>294.82100970364723</c:v>
                </c:pt>
                <c:pt idx="26">
                  <c:v>300.832359018681</c:v>
                </c:pt>
                <c:pt idx="27">
                  <c:v>311.92217459995203</c:v>
                </c:pt>
                <c:pt idx="28">
                  <c:v>327.6614666381645</c:v>
                </c:pt>
                <c:pt idx="29">
                  <c:v>347.0696840696658</c:v>
                </c:pt>
                <c:pt idx="30">
                  <c:v>354.06836274512636</c:v>
                </c:pt>
                <c:pt idx="31">
                  <c:v>375.5062996429983</c:v>
                </c:pt>
                <c:pt idx="32">
                  <c:v>377.52130136826247</c:v>
                </c:pt>
                <c:pt idx="33">
                  <c:v>392.2788070332501</c:v>
                </c:pt>
                <c:pt idx="34">
                  <c:v>411.72897772480985</c:v>
                </c:pt>
                <c:pt idx="35">
                  <c:v>419.71426053867674</c:v>
                </c:pt>
                <c:pt idx="36">
                  <c:v>434.29778006746324</c:v>
                </c:pt>
                <c:pt idx="37">
                  <c:v>453.2886612832991</c:v>
                </c:pt>
                <c:pt idx="38">
                  <c:v>456.6428790457963</c:v>
                </c:pt>
                <c:pt idx="39">
                  <c:v>469.9818218192033</c:v>
                </c:pt>
                <c:pt idx="40">
                  <c:v>485.1986588629951</c:v>
                </c:pt>
                <c:pt idx="41">
                  <c:v>485.3687992663313</c:v>
                </c:pt>
                <c:pt idx="42">
                  <c:v>500.3183257531675</c:v>
                </c:pt>
                <c:pt idx="43">
                  <c:v>494.340250644246</c:v>
                </c:pt>
                <c:pt idx="44">
                  <c:v>497.2604365540323</c:v>
                </c:pt>
                <c:pt idx="45">
                  <c:v>538.8069473504729</c:v>
                </c:pt>
                <c:pt idx="46">
                  <c:v>542.5907502635077</c:v>
                </c:pt>
                <c:pt idx="47">
                  <c:v>546.0387058543014</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Sheet1!$E$2:$E$49</c:f>
              <c:numCache>
                <c:formatCode>General</c:formatCode>
                <c:ptCount val="48"/>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Sheet1!$B$2:$B$49</c:f>
              <c:numCache>
                <c:formatCode>General</c:formatCode>
                <c:ptCount val="48"/>
                <c:pt idx="0">
                  <c:v>629.1830460930474</c:v>
                </c:pt>
                <c:pt idx="1">
                  <c:v>652.5227758639569</c:v>
                </c:pt>
                <c:pt idx="2">
                  <c:v>755.9122899691556</c:v>
                </c:pt>
                <c:pt idx="3">
                  <c:v>720.5098217494593</c:v>
                </c:pt>
                <c:pt idx="4">
                  <c:v>762.9653400223904</c:v>
                </c:pt>
                <c:pt idx="5">
                  <c:v>716.0651317423785</c:v>
                </c:pt>
                <c:pt idx="6">
                  <c:v>793.3318195597551</c:v>
                </c:pt>
                <c:pt idx="7">
                  <c:v>814.6873064731388</c:v>
                </c:pt>
                <c:pt idx="8">
                  <c:v>853.9247983629031</c:v>
                </c:pt>
                <c:pt idx="9">
                  <c:v>834.6496714102869</c:v>
                </c:pt>
                <c:pt idx="10">
                  <c:v>861.4563973285645</c:v>
                </c:pt>
                <c:pt idx="11">
                  <c:v>893.7696792345131</c:v>
                </c:pt>
                <c:pt idx="12">
                  <c:v>986.9147524626667</c:v>
                </c:pt>
                <c:pt idx="13">
                  <c:v>1090.7750366776538</c:v>
                </c:pt>
                <c:pt idx="14">
                  <c:v>1138.5579371433607</c:v>
                </c:pt>
                <c:pt idx="15">
                  <c:v>1205.3085255341068</c:v>
                </c:pt>
                <c:pt idx="16">
                  <c:v>1307.0037086000766</c:v>
                </c:pt>
                <c:pt idx="17">
                  <c:v>1252.9182683937026</c:v>
                </c:pt>
                <c:pt idx="18">
                  <c:v>1368.7395789869515</c:v>
                </c:pt>
                <c:pt idx="19">
                  <c:v>1420.3061523406461</c:v>
                </c:pt>
                <c:pt idx="20">
                  <c:v>1437.4293327242244</c:v>
                </c:pt>
                <c:pt idx="21">
                  <c:v>1587.6658006145212</c:v>
                </c:pt>
                <c:pt idx="22">
                  <c:v>1677.0322427880715</c:v>
                </c:pt>
                <c:pt idx="23">
                  <c:v>1712.18833515097</c:v>
                </c:pt>
                <c:pt idx="24">
                  <c:v>2036.0475821420155</c:v>
                </c:pt>
                <c:pt idx="25">
                  <c:v>1881.1899516533338</c:v>
                </c:pt>
                <c:pt idx="26">
                  <c:v>1816.4852292557525</c:v>
                </c:pt>
                <c:pt idx="27">
                  <c:v>1763.8569198498988</c:v>
                </c:pt>
                <c:pt idx="28">
                  <c:v>1947.9451711061656</c:v>
                </c:pt>
                <c:pt idx="29">
                  <c:v>1988.6820704457368</c:v>
                </c:pt>
                <c:pt idx="30">
                  <c:v>2125.2619821924263</c:v>
                </c:pt>
                <c:pt idx="31">
                  <c:v>2380.0239817418114</c:v>
                </c:pt>
                <c:pt idx="32">
                  <c:v>2377.9007991366925</c:v>
                </c:pt>
                <c:pt idx="33">
                  <c:v>1979.3716447897077</c:v>
                </c:pt>
                <c:pt idx="34">
                  <c:v>1902.2684016575276</c:v>
                </c:pt>
                <c:pt idx="35">
                  <c:v>1741.1868239019684</c:v>
                </c:pt>
                <c:pt idx="36">
                  <c:v>1898.8026664327688</c:v>
                </c:pt>
                <c:pt idx="37">
                  <c:v>2028.7079893887817</c:v>
                </c:pt>
                <c:pt idx="38">
                  <c:v>2181.0703262689003</c:v>
                </c:pt>
                <c:pt idx="39">
                  <c:v>2437.2186249777815</c:v>
                </c:pt>
                <c:pt idx="40">
                  <c:v>2089.140399989666</c:v>
                </c:pt>
                <c:pt idx="41">
                  <c:v>2374.881751794093</c:v>
                </c:pt>
                <c:pt idx="42">
                  <c:v>2484.6258390466996</c:v>
                </c:pt>
                <c:pt idx="43">
                  <c:v>2311.166346341279</c:v>
                </c:pt>
                <c:pt idx="44">
                  <c:v>2381.6181784769788</c:v>
                </c:pt>
                <c:pt idx="45">
                  <c:v>2587.100277895019</c:v>
                </c:pt>
                <c:pt idx="46">
                  <c:v>2816.51927515442</c:v>
                </c:pt>
                <c:pt idx="47">
                  <c:v>3046.2283987884884</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Sheet1!$C$2:$C$49</c:f>
              <c:numCache>
                <c:formatCode>General</c:formatCode>
                <c:ptCount val="48"/>
                <c:pt idx="0">
                  <c:v>641.3167526618679</c:v>
                </c:pt>
                <c:pt idx="1">
                  <c:v>641.0801951137835</c:v>
                </c:pt>
                <c:pt idx="2">
                  <c:v>695.3483233435484</c:v>
                </c:pt>
                <c:pt idx="3">
                  <c:v>682.7541963465966</c:v>
                </c:pt>
                <c:pt idx="4">
                  <c:v>722.9143366653743</c:v>
                </c:pt>
                <c:pt idx="5">
                  <c:v>716.2028466447673</c:v>
                </c:pt>
                <c:pt idx="6">
                  <c:v>778.0627169655015</c:v>
                </c:pt>
                <c:pt idx="7">
                  <c:v>796.26979558731</c:v>
                </c:pt>
                <c:pt idx="8">
                  <c:v>824.0752646353862</c:v>
                </c:pt>
                <c:pt idx="9">
                  <c:v>821.9203784704363</c:v>
                </c:pt>
                <c:pt idx="10">
                  <c:v>835.6080465001927</c:v>
                </c:pt>
                <c:pt idx="11">
                  <c:v>855.3444598072622</c:v>
                </c:pt>
                <c:pt idx="12">
                  <c:v>909.7153010433026</c:v>
                </c:pt>
                <c:pt idx="13">
                  <c:v>959.8666409126936</c:v>
                </c:pt>
                <c:pt idx="14">
                  <c:v>989.3990478345843</c:v>
                </c:pt>
                <c:pt idx="15">
                  <c:v>1026.6433283540482</c:v>
                </c:pt>
                <c:pt idx="16">
                  <c:v>1076.9375459031348</c:v>
                </c:pt>
                <c:pt idx="17">
                  <c:v>1061.6904921422386</c:v>
                </c:pt>
                <c:pt idx="18">
                  <c:v>1115.310444037375</c:v>
                </c:pt>
                <c:pt idx="19">
                  <c:v>1148.6059530045109</c:v>
                </c:pt>
                <c:pt idx="20">
                  <c:v>1155.1839470420564</c:v>
                </c:pt>
                <c:pt idx="21">
                  <c:v>1218.8317483545998</c:v>
                </c:pt>
                <c:pt idx="22">
                  <c:v>1253.0493730864025</c:v>
                </c:pt>
                <c:pt idx="23">
                  <c:v>1270.6945932678618</c:v>
                </c:pt>
                <c:pt idx="24">
                  <c:v>1392.6423585925443</c:v>
                </c:pt>
                <c:pt idx="25">
                  <c:v>1384.5791014391339</c:v>
                </c:pt>
                <c:pt idx="26">
                  <c:v>1337.8413125328093</c:v>
                </c:pt>
                <c:pt idx="27">
                  <c:v>1354.942441590786</c:v>
                </c:pt>
                <c:pt idx="28">
                  <c:v>1442.2391352964617</c:v>
                </c:pt>
                <c:pt idx="29">
                  <c:v>1468.6965187481956</c:v>
                </c:pt>
                <c:pt idx="30">
                  <c:v>1519.962905347262</c:v>
                </c:pt>
                <c:pt idx="31">
                  <c:v>1618.3494830517764</c:v>
                </c:pt>
                <c:pt idx="32">
                  <c:v>1623.7912685648705</c:v>
                </c:pt>
                <c:pt idx="33">
                  <c:v>1493.322929785186</c:v>
                </c:pt>
                <c:pt idx="34">
                  <c:v>1499.1949217869083</c:v>
                </c:pt>
                <c:pt idx="35">
                  <c:v>1378.3173768765373</c:v>
                </c:pt>
                <c:pt idx="36">
                  <c:v>1513.3555849972552</c:v>
                </c:pt>
                <c:pt idx="37">
                  <c:v>1568.9497264182517</c:v>
                </c:pt>
                <c:pt idx="38">
                  <c:v>1640.8300537920252</c:v>
                </c:pt>
                <c:pt idx="39">
                  <c:v>1741.4602427788057</c:v>
                </c:pt>
                <c:pt idx="40">
                  <c:v>1607.4152292140386</c:v>
                </c:pt>
                <c:pt idx="41">
                  <c:v>1740.4036224174936</c:v>
                </c:pt>
                <c:pt idx="42">
                  <c:v>1791.1206864512137</c:v>
                </c:pt>
                <c:pt idx="43">
                  <c:v>1766.9415381192814</c:v>
                </c:pt>
                <c:pt idx="44">
                  <c:v>1793.3356913756627</c:v>
                </c:pt>
                <c:pt idx="45">
                  <c:v>1882.393447893223</c:v>
                </c:pt>
                <c:pt idx="46">
                  <c:v>1969.2935461040697</c:v>
                </c:pt>
                <c:pt idx="47">
                  <c:v>2056.307857964185</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Sheet1!$D$2:$D$49</c:f>
              <c:numCache>
                <c:formatCode>General</c:formatCode>
                <c:ptCount val="48"/>
                <c:pt idx="0">
                  <c:v>545.904356696589</c:v>
                </c:pt>
                <c:pt idx="1">
                  <c:v>567.6236186888692</c:v>
                </c:pt>
                <c:pt idx="2">
                  <c:v>598.7125977692995</c:v>
                </c:pt>
                <c:pt idx="3">
                  <c:v>609.9910223527876</c:v>
                </c:pt>
                <c:pt idx="4">
                  <c:v>622.4895625320654</c:v>
                </c:pt>
                <c:pt idx="5">
                  <c:v>644.0752373582799</c:v>
                </c:pt>
                <c:pt idx="6">
                  <c:v>677.8328872852787</c:v>
                </c:pt>
                <c:pt idx="7">
                  <c:v>684.276169784117</c:v>
                </c:pt>
                <c:pt idx="8">
                  <c:v>700.1477685412945</c:v>
                </c:pt>
                <c:pt idx="9">
                  <c:v>697.0520445058811</c:v>
                </c:pt>
                <c:pt idx="10">
                  <c:v>698.185574006879</c:v>
                </c:pt>
                <c:pt idx="11">
                  <c:v>712.0216379526963</c:v>
                </c:pt>
                <c:pt idx="12">
                  <c:v>745.0905574652144</c:v>
                </c:pt>
                <c:pt idx="13">
                  <c:v>779.8293200823836</c:v>
                </c:pt>
                <c:pt idx="14">
                  <c:v>794.4253068494454</c:v>
                </c:pt>
                <c:pt idx="15">
                  <c:v>817.9607783976148</c:v>
                </c:pt>
                <c:pt idx="16">
                  <c:v>842.3484465085955</c:v>
                </c:pt>
                <c:pt idx="17">
                  <c:v>843.3921789516231</c:v>
                </c:pt>
                <c:pt idx="18">
                  <c:v>873.7859875144549</c:v>
                </c:pt>
                <c:pt idx="19">
                  <c:v>900.0481476031853</c:v>
                </c:pt>
                <c:pt idx="20">
                  <c:v>905.858029705196</c:v>
                </c:pt>
                <c:pt idx="21">
                  <c:v>933.3001224263877</c:v>
                </c:pt>
                <c:pt idx="22">
                  <c:v>957.706797413728</c:v>
                </c:pt>
                <c:pt idx="23">
                  <c:v>977.3342884188812</c:v>
                </c:pt>
                <c:pt idx="24">
                  <c:v>1031.8322423901052</c:v>
                </c:pt>
                <c:pt idx="25">
                  <c:v>1020.1582506976059</c:v>
                </c:pt>
                <c:pt idx="26">
                  <c:v>1012.5509740500465</c:v>
                </c:pt>
                <c:pt idx="27">
                  <c:v>1021.351846018045</c:v>
                </c:pt>
                <c:pt idx="28">
                  <c:v>1055.9684839488273</c:v>
                </c:pt>
                <c:pt idx="29">
                  <c:v>1064.3723436062385</c:v>
                </c:pt>
                <c:pt idx="30">
                  <c:v>1089.7130194910321</c:v>
                </c:pt>
                <c:pt idx="31">
                  <c:v>1127.656228989982</c:v>
                </c:pt>
                <c:pt idx="32">
                  <c:v>1134.6316364606992</c:v>
                </c:pt>
                <c:pt idx="33">
                  <c:v>1093.958926991662</c:v>
                </c:pt>
                <c:pt idx="34">
                  <c:v>1112.7775322922912</c:v>
                </c:pt>
                <c:pt idx="35">
                  <c:v>1081.5341228357556</c:v>
                </c:pt>
                <c:pt idx="36">
                  <c:v>1152.7721283322273</c:v>
                </c:pt>
                <c:pt idx="37">
                  <c:v>1181.4088090028968</c:v>
                </c:pt>
                <c:pt idx="38">
                  <c:v>1214.2314474947511</c:v>
                </c:pt>
                <c:pt idx="39">
                  <c:v>1256.4677524502215</c:v>
                </c:pt>
                <c:pt idx="40">
                  <c:v>1222.226527895674</c:v>
                </c:pt>
                <c:pt idx="41">
                  <c:v>1308.3038949668655</c:v>
                </c:pt>
                <c:pt idx="42">
                  <c:v>1333.394060058032</c:v>
                </c:pt>
                <c:pt idx="43">
                  <c:v>1361.1043810872563</c:v>
                </c:pt>
                <c:pt idx="44">
                  <c:v>1369.3677549926263</c:v>
                </c:pt>
                <c:pt idx="45">
                  <c:v>1414.3030890509592</c:v>
                </c:pt>
                <c:pt idx="46">
                  <c:v>1445.718866227152</c:v>
                </c:pt>
                <c:pt idx="47">
                  <c:v>1493.2801817930456</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Sheet1!$E$2:$E$49</c:f>
              <c:numCache>
                <c:formatCode>General</c:formatCode>
                <c:ptCount val="48"/>
                <c:pt idx="0">
                  <c:v>490</c:v>
                </c:pt>
                <c:pt idx="1">
                  <c:v>500</c:v>
                </c:pt>
                <c:pt idx="2">
                  <c:v>510</c:v>
                </c:pt>
                <c:pt idx="3">
                  <c:v>520</c:v>
                </c:pt>
                <c:pt idx="4">
                  <c:v>530</c:v>
                </c:pt>
                <c:pt idx="5">
                  <c:v>540</c:v>
                </c:pt>
                <c:pt idx="6">
                  <c:v>550</c:v>
                </c:pt>
                <c:pt idx="7">
                  <c:v>560</c:v>
                </c:pt>
                <c:pt idx="8">
                  <c:v>570</c:v>
                </c:pt>
                <c:pt idx="9">
                  <c:v>580</c:v>
                </c:pt>
                <c:pt idx="10">
                  <c:v>590</c:v>
                </c:pt>
                <c:pt idx="11">
                  <c:v>600</c:v>
                </c:pt>
                <c:pt idx="12">
                  <c:v>610</c:v>
                </c:pt>
                <c:pt idx="13">
                  <c:v>620</c:v>
                </c:pt>
                <c:pt idx="14">
                  <c:v>630</c:v>
                </c:pt>
                <c:pt idx="15">
                  <c:v>640</c:v>
                </c:pt>
                <c:pt idx="16">
                  <c:v>650</c:v>
                </c:pt>
                <c:pt idx="17">
                  <c:v>660</c:v>
                </c:pt>
                <c:pt idx="18">
                  <c:v>670</c:v>
                </c:pt>
                <c:pt idx="19">
                  <c:v>680</c:v>
                </c:pt>
                <c:pt idx="20">
                  <c:v>690</c:v>
                </c:pt>
                <c:pt idx="21">
                  <c:v>700</c:v>
                </c:pt>
                <c:pt idx="22">
                  <c:v>710</c:v>
                </c:pt>
                <c:pt idx="23">
                  <c:v>720</c:v>
                </c:pt>
                <c:pt idx="24">
                  <c:v>730</c:v>
                </c:pt>
                <c:pt idx="25">
                  <c:v>740</c:v>
                </c:pt>
                <c:pt idx="26">
                  <c:v>750</c:v>
                </c:pt>
                <c:pt idx="27">
                  <c:v>760</c:v>
                </c:pt>
                <c:pt idx="28">
                  <c:v>770</c:v>
                </c:pt>
                <c:pt idx="29">
                  <c:v>780</c:v>
                </c:pt>
                <c:pt idx="30">
                  <c:v>790</c:v>
                </c:pt>
                <c:pt idx="31">
                  <c:v>800</c:v>
                </c:pt>
                <c:pt idx="32">
                  <c:v>810</c:v>
                </c:pt>
                <c:pt idx="33">
                  <c:v>820</c:v>
                </c:pt>
                <c:pt idx="34">
                  <c:v>830</c:v>
                </c:pt>
                <c:pt idx="35">
                  <c:v>840</c:v>
                </c:pt>
                <c:pt idx="36">
                  <c:v>850</c:v>
                </c:pt>
                <c:pt idx="37">
                  <c:v>860</c:v>
                </c:pt>
                <c:pt idx="38">
                  <c:v>870</c:v>
                </c:pt>
                <c:pt idx="39">
                  <c:v>880</c:v>
                </c:pt>
                <c:pt idx="40">
                  <c:v>890</c:v>
                </c:pt>
                <c:pt idx="41">
                  <c:v>900</c:v>
                </c:pt>
                <c:pt idx="42">
                  <c:v>910</c:v>
                </c:pt>
                <c:pt idx="43">
                  <c:v>920</c:v>
                </c:pt>
                <c:pt idx="44">
                  <c:v>930</c:v>
                </c:pt>
                <c:pt idx="45">
                  <c:v>940</c:v>
                </c:pt>
                <c:pt idx="46">
                  <c:v>950</c:v>
                </c:pt>
                <c:pt idx="47">
                  <c:v>960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Sheet1!$B$2:$B$37</c:f>
              <c:numCache>
                <c:formatCode>General</c:formatCode>
                <c:ptCount val="36"/>
                <c:pt idx="0">
                  <c:v>3186.3898639771614</c:v>
                </c:pt>
                <c:pt idx="1">
                  <c:v>2848.637801969334</c:v>
                </c:pt>
                <c:pt idx="2">
                  <c:v>2715.7585927780597</c:v>
                </c:pt>
                <c:pt idx="3">
                  <c:v>3458.998061786162</c:v>
                </c:pt>
                <c:pt idx="4">
                  <c:v>3687.114003300544</c:v>
                </c:pt>
                <c:pt idx="5">
                  <c:v>4066.095221699889</c:v>
                </c:pt>
                <c:pt idx="6">
                  <c:v>4638.741610774298</c:v>
                </c:pt>
                <c:pt idx="7">
                  <c:v>5616.157419120424</c:v>
                </c:pt>
                <c:pt idx="8">
                  <c:v>5061.302948085629</c:v>
                </c:pt>
                <c:pt idx="9">
                  <c:v>5079.903579767502</c:v>
                </c:pt>
                <c:pt idx="10">
                  <c:v>5745.026173742251</c:v>
                </c:pt>
                <c:pt idx="11">
                  <c:v>6288.365867343661</c:v>
                </c:pt>
                <c:pt idx="12">
                  <c:v>6270.152948688488</c:v>
                </c:pt>
                <c:pt idx="13">
                  <c:v>6430.408565576998</c:v>
                </c:pt>
                <c:pt idx="14">
                  <c:v>7122.926013465324</c:v>
                </c:pt>
                <c:pt idx="15">
                  <c:v>7791.901766802166</c:v>
                </c:pt>
                <c:pt idx="16">
                  <c:v>7632.082393808408</c:v>
                </c:pt>
                <c:pt idx="17">
                  <c:v>8506.723495525404</c:v>
                </c:pt>
                <c:pt idx="18">
                  <c:v>8963.745502286838</c:v>
                </c:pt>
                <c:pt idx="19">
                  <c:v>9727.582096123237</c:v>
                </c:pt>
                <c:pt idx="20">
                  <c:v>8648.370362923837</c:v>
                </c:pt>
                <c:pt idx="21">
                  <c:v>10045.385681642318</c:v>
                </c:pt>
                <c:pt idx="22">
                  <c:v>10289.783638430405</c:v>
                </c:pt>
                <c:pt idx="23">
                  <c:v>10450.287611808011</c:v>
                </c:pt>
                <c:pt idx="24">
                  <c:v>9729.063244213912</c:v>
                </c:pt>
                <c:pt idx="25">
                  <c:v>9632.945598186425</c:v>
                </c:pt>
                <c:pt idx="26">
                  <c:v>9891.302278795021</c:v>
                </c:pt>
                <c:pt idx="27">
                  <c:v>8841.102072682805</c:v>
                </c:pt>
                <c:pt idx="28">
                  <c:v>9084.500527954919</c:v>
                </c:pt>
                <c:pt idx="29">
                  <c:v>8598.97737275925</c:v>
                </c:pt>
                <c:pt idx="30">
                  <c:v>8833.407431250183</c:v>
                </c:pt>
                <c:pt idx="31">
                  <c:v>8232.188051876179</c:v>
                </c:pt>
                <c:pt idx="32">
                  <c:v>7744.870778276569</c:v>
                </c:pt>
                <c:pt idx="33">
                  <c:v>8298.160343634925</c:v>
                </c:pt>
                <c:pt idx="34">
                  <c:v>8677.25909143346</c:v>
                </c:pt>
                <c:pt idx="35">
                  <c:v>7840.207184216589</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Sheet1!$C$2:$C$37</c:f>
              <c:numCache>
                <c:formatCode>General</c:formatCode>
                <c:ptCount val="36"/>
                <c:pt idx="0">
                  <c:v>2128.9064545578967</c:v>
                </c:pt>
                <c:pt idx="1">
                  <c:v>2009.1899693448831</c:v>
                </c:pt>
                <c:pt idx="2">
                  <c:v>1871.6073907677833</c:v>
                </c:pt>
                <c:pt idx="3">
                  <c:v>2163.8464690708756</c:v>
                </c:pt>
                <c:pt idx="4">
                  <c:v>2317.63207974054</c:v>
                </c:pt>
                <c:pt idx="5">
                  <c:v>2473.914743817774</c:v>
                </c:pt>
                <c:pt idx="6">
                  <c:v>2666.256659551665</c:v>
                </c:pt>
                <c:pt idx="7">
                  <c:v>2969.001514142887</c:v>
                </c:pt>
                <c:pt idx="8">
                  <c:v>2806.683595787189</c:v>
                </c:pt>
                <c:pt idx="9">
                  <c:v>2730.7524763940455</c:v>
                </c:pt>
                <c:pt idx="10">
                  <c:v>3048.3810410221154</c:v>
                </c:pt>
                <c:pt idx="11">
                  <c:v>3208.169095556074</c:v>
                </c:pt>
                <c:pt idx="12">
                  <c:v>3226.7086455983635</c:v>
                </c:pt>
                <c:pt idx="13">
                  <c:v>3232.129330875347</c:v>
                </c:pt>
                <c:pt idx="14">
                  <c:v>3297.4770985683044</c:v>
                </c:pt>
                <c:pt idx="15">
                  <c:v>3502.7490687710538</c:v>
                </c:pt>
                <c:pt idx="16">
                  <c:v>3470.5923036586314</c:v>
                </c:pt>
                <c:pt idx="17">
                  <c:v>3698.5693312302433</c:v>
                </c:pt>
                <c:pt idx="18">
                  <c:v>3814.650682303625</c:v>
                </c:pt>
                <c:pt idx="19">
                  <c:v>3985.983461832225</c:v>
                </c:pt>
                <c:pt idx="20">
                  <c:v>3768.855726057193</c:v>
                </c:pt>
                <c:pt idx="21">
                  <c:v>4075.943113579592</c:v>
                </c:pt>
                <c:pt idx="22">
                  <c:v>4167.482535534658</c:v>
                </c:pt>
                <c:pt idx="23">
                  <c:v>4225.781252965896</c:v>
                </c:pt>
                <c:pt idx="24">
                  <c:v>3865.1759168814697</c:v>
                </c:pt>
                <c:pt idx="25">
                  <c:v>3701.6457387480104</c:v>
                </c:pt>
                <c:pt idx="26">
                  <c:v>3885.047386028237</c:v>
                </c:pt>
                <c:pt idx="27">
                  <c:v>3365.489974469753</c:v>
                </c:pt>
                <c:pt idx="28">
                  <c:v>3321.7589189532055</c:v>
                </c:pt>
                <c:pt idx="29">
                  <c:v>3035.023455766536</c:v>
                </c:pt>
                <c:pt idx="30">
                  <c:v>3427.136652828619</c:v>
                </c:pt>
                <c:pt idx="31">
                  <c:v>3260.7270228500615</c:v>
                </c:pt>
                <c:pt idx="32">
                  <c:v>2926.1216860911854</c:v>
                </c:pt>
                <c:pt idx="33">
                  <c:v>3053.308799080601</c:v>
                </c:pt>
                <c:pt idx="34">
                  <c:v>3233.2359873475934</c:v>
                </c:pt>
                <c:pt idx="35">
                  <c:v>2950.876094587448</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Sheet1!$D$2:$D$37</c:f>
              <c:numCache>
                <c:formatCode>General</c:formatCode>
                <c:ptCount val="36"/>
                <c:pt idx="0">
                  <c:v>1540.6665875810902</c:v>
                </c:pt>
                <c:pt idx="1">
                  <c:v>1493.103927333845</c:v>
                </c:pt>
                <c:pt idx="2">
                  <c:v>1427.8942891497006</c:v>
                </c:pt>
                <c:pt idx="3">
                  <c:v>1572.3868198581915</c:v>
                </c:pt>
                <c:pt idx="4">
                  <c:v>1644.8090620270375</c:v>
                </c:pt>
                <c:pt idx="5">
                  <c:v>1704.5258295643348</c:v>
                </c:pt>
                <c:pt idx="6">
                  <c:v>1823.675010384861</c:v>
                </c:pt>
                <c:pt idx="7">
                  <c:v>1928.758454629436</c:v>
                </c:pt>
                <c:pt idx="8">
                  <c:v>1865.4914508292936</c:v>
                </c:pt>
                <c:pt idx="9">
                  <c:v>1836.646474330983</c:v>
                </c:pt>
                <c:pt idx="10">
                  <c:v>1951.7310837237064</c:v>
                </c:pt>
                <c:pt idx="11">
                  <c:v>2038.7017380629104</c:v>
                </c:pt>
                <c:pt idx="12">
                  <c:v>2026.349593074298</c:v>
                </c:pt>
                <c:pt idx="13">
                  <c:v>2017.5087154374917</c:v>
                </c:pt>
                <c:pt idx="14">
                  <c:v>2052.6288260950637</c:v>
                </c:pt>
                <c:pt idx="15">
                  <c:v>2152.0232144231927</c:v>
                </c:pt>
                <c:pt idx="16">
                  <c:v>2191.25475461606</c:v>
                </c:pt>
                <c:pt idx="17">
                  <c:v>2231.0370628909877</c:v>
                </c:pt>
                <c:pt idx="18">
                  <c:v>2297.120288674239</c:v>
                </c:pt>
                <c:pt idx="19">
                  <c:v>2357.0473794520894</c:v>
                </c:pt>
                <c:pt idx="20">
                  <c:v>2268.6202849961105</c:v>
                </c:pt>
                <c:pt idx="21">
                  <c:v>2388.616094780379</c:v>
                </c:pt>
                <c:pt idx="22">
                  <c:v>2409.4645208311317</c:v>
                </c:pt>
                <c:pt idx="23">
                  <c:v>2473.24749077669</c:v>
                </c:pt>
                <c:pt idx="24">
                  <c:v>2359.793462208012</c:v>
                </c:pt>
                <c:pt idx="25">
                  <c:v>2346.212479148818</c:v>
                </c:pt>
                <c:pt idx="26">
                  <c:v>2401.0817755243124</c:v>
                </c:pt>
                <c:pt idx="27">
                  <c:v>2221.9101450501157</c:v>
                </c:pt>
                <c:pt idx="28">
                  <c:v>2209.522312145251</c:v>
                </c:pt>
                <c:pt idx="29">
                  <c:v>2098.4978378078276</c:v>
                </c:pt>
                <c:pt idx="30">
                  <c:v>2236.212015635127</c:v>
                </c:pt>
                <c:pt idx="31">
                  <c:v>2154.223446153206</c:v>
                </c:pt>
                <c:pt idx="32">
                  <c:v>2005.1790479480203</c:v>
                </c:pt>
                <c:pt idx="33">
                  <c:v>2071.144152037487</c:v>
                </c:pt>
                <c:pt idx="34">
                  <c:v>2201.790936580281</c:v>
                </c:pt>
                <c:pt idx="35">
                  <c:v>2119.8473200505337</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Sheet1!$E$2:$E$37</c:f>
              <c:numCache>
                <c:formatCode>General</c:formatCode>
                <c:ptCount val="36"/>
                <c:pt idx="0">
                  <c:v>970</c:v>
                </c:pt>
                <c:pt idx="1">
                  <c:v>980</c:v>
                </c:pt>
                <c:pt idx="2">
                  <c:v>990</c:v>
                </c:pt>
                <c:pt idx="3">
                  <c:v>1000</c:v>
                </c:pt>
                <c:pt idx="4">
                  <c:v>1010</c:v>
                </c:pt>
                <c:pt idx="5">
                  <c:v>1020</c:v>
                </c:pt>
                <c:pt idx="6">
                  <c:v>1030</c:v>
                </c:pt>
                <c:pt idx="7">
                  <c:v>1040</c:v>
                </c:pt>
                <c:pt idx="8">
                  <c:v>1050</c:v>
                </c:pt>
                <c:pt idx="9">
                  <c:v>1060</c:v>
                </c:pt>
                <c:pt idx="10">
                  <c:v>1070</c:v>
                </c:pt>
                <c:pt idx="11">
                  <c:v>1080</c:v>
                </c:pt>
                <c:pt idx="12">
                  <c:v>1090</c:v>
                </c:pt>
                <c:pt idx="13">
                  <c:v>1100</c:v>
                </c:pt>
                <c:pt idx="14">
                  <c:v>1110</c:v>
                </c:pt>
                <c:pt idx="15">
                  <c:v>1120</c:v>
                </c:pt>
                <c:pt idx="16">
                  <c:v>1130</c:v>
                </c:pt>
                <c:pt idx="17">
                  <c:v>1140</c:v>
                </c:pt>
                <c:pt idx="18">
                  <c:v>1150</c:v>
                </c:pt>
                <c:pt idx="19">
                  <c:v>1160</c:v>
                </c:pt>
                <c:pt idx="20">
                  <c:v>1170</c:v>
                </c:pt>
                <c:pt idx="21">
                  <c:v>1180</c:v>
                </c:pt>
                <c:pt idx="22">
                  <c:v>1190</c:v>
                </c:pt>
                <c:pt idx="23">
                  <c:v>1200</c:v>
                </c:pt>
                <c:pt idx="24">
                  <c:v>1210</c:v>
                </c:pt>
                <c:pt idx="25">
                  <c:v>1220</c:v>
                </c:pt>
                <c:pt idx="26">
                  <c:v>1230</c:v>
                </c:pt>
                <c:pt idx="27">
                  <c:v>1240</c:v>
                </c:pt>
                <c:pt idx="28">
                  <c:v>1250</c:v>
                </c:pt>
                <c:pt idx="29">
                  <c:v>1260</c:v>
                </c:pt>
                <c:pt idx="30">
                  <c:v>1270</c:v>
                </c:pt>
                <c:pt idx="31">
                  <c:v>1280</c:v>
                </c:pt>
                <c:pt idx="32">
                  <c:v>1290</c:v>
                </c:pt>
                <c:pt idx="33">
                  <c:v>1300</c:v>
                </c:pt>
                <c:pt idx="34">
                  <c:v>1310</c:v>
                </c:pt>
                <c:pt idx="35">
                  <c:v>1320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Sheet1!$B$2:$B$45</c:f>
              <c:numCache>
                <c:formatCode>General</c:formatCode>
                <c:ptCount val="44"/>
                <c:pt idx="0">
                  <c:v>8341.517259982676</c:v>
                </c:pt>
                <c:pt idx="1">
                  <c:v>7967.021205573781</c:v>
                </c:pt>
                <c:pt idx="2">
                  <c:v>9023.3730389591</c:v>
                </c:pt>
                <c:pt idx="3">
                  <c:v>9006.974274971204</c:v>
                </c:pt>
                <c:pt idx="4">
                  <c:v>10115.607608723467</c:v>
                </c:pt>
                <c:pt idx="5">
                  <c:v>11467.865218910349</c:v>
                </c:pt>
                <c:pt idx="6">
                  <c:v>12393.276140696524</c:v>
                </c:pt>
                <c:pt idx="7">
                  <c:v>11682.85837704981</c:v>
                </c:pt>
                <c:pt idx="8">
                  <c:v>11041.217468547662</c:v>
                </c:pt>
                <c:pt idx="9">
                  <c:v>10524.774812377062</c:v>
                </c:pt>
                <c:pt idx="10">
                  <c:v>12845.731955371068</c:v>
                </c:pt>
                <c:pt idx="11">
                  <c:v>14417.368233209818</c:v>
                </c:pt>
                <c:pt idx="12">
                  <c:v>14767.887303898979</c:v>
                </c:pt>
                <c:pt idx="13">
                  <c:v>16185.329718793711</c:v>
                </c:pt>
                <c:pt idx="14">
                  <c:v>16747.897614040332</c:v>
                </c:pt>
                <c:pt idx="15">
                  <c:v>14667.580281212744</c:v>
                </c:pt>
                <c:pt idx="16">
                  <c:v>16457.580659960604</c:v>
                </c:pt>
                <c:pt idx="17">
                  <c:v>18296.13568749444</c:v>
                </c:pt>
                <c:pt idx="18">
                  <c:v>18387.13214529933</c:v>
                </c:pt>
                <c:pt idx="19">
                  <c:v>19113.94544603529</c:v>
                </c:pt>
                <c:pt idx="20">
                  <c:v>19032.146642792046</c:v>
                </c:pt>
                <c:pt idx="21">
                  <c:v>18619.828472267225</c:v>
                </c:pt>
                <c:pt idx="22">
                  <c:v>20640.069577094357</c:v>
                </c:pt>
                <c:pt idx="23">
                  <c:v>20032.65574602465</c:v>
                </c:pt>
                <c:pt idx="24">
                  <c:v>20704.018262369966</c:v>
                </c:pt>
                <c:pt idx="25">
                  <c:v>20511.719160115685</c:v>
                </c:pt>
                <c:pt idx="26">
                  <c:v>19488.43364272791</c:v>
                </c:pt>
                <c:pt idx="27">
                  <c:v>18755.09566572177</c:v>
                </c:pt>
                <c:pt idx="28">
                  <c:v>18993.69845207694</c:v>
                </c:pt>
                <c:pt idx="29">
                  <c:v>21279.256001560105</c:v>
                </c:pt>
                <c:pt idx="30">
                  <c:v>22084.240963682525</c:v>
                </c:pt>
                <c:pt idx="31">
                  <c:v>22712.55515655553</c:v>
                </c:pt>
                <c:pt idx="32">
                  <c:v>24785.136397466296</c:v>
                </c:pt>
                <c:pt idx="33">
                  <c:v>26510.04465121707</c:v>
                </c:pt>
                <c:pt idx="34">
                  <c:v>25112.723494203474</c:v>
                </c:pt>
                <c:pt idx="35">
                  <c:v>24990.565104010657</c:v>
                </c:pt>
                <c:pt idx="36">
                  <c:v>26256.797829380677</c:v>
                </c:pt>
                <c:pt idx="37">
                  <c:v>26846.429071558297</c:v>
                </c:pt>
                <c:pt idx="38">
                  <c:v>24482.29406951958</c:v>
                </c:pt>
                <c:pt idx="39">
                  <c:v>29630.136447632074</c:v>
                </c:pt>
                <c:pt idx="40">
                  <c:v>35546.33665252652</c:v>
                </c:pt>
                <c:pt idx="41">
                  <c:v>33898.3093557915</c:v>
                </c:pt>
                <c:pt idx="42">
                  <c:v>33687.76486221718</c:v>
                </c:pt>
                <c:pt idx="43">
                  <c:v>36111.22577284591</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Sheet1!$C$2:$C$45</c:f>
              <c:numCache>
                <c:formatCode>General</c:formatCode>
                <c:ptCount val="44"/>
                <c:pt idx="0">
                  <c:v>3276.0597839699944</c:v>
                </c:pt>
                <c:pt idx="1">
                  <c:v>3274.0131265046302</c:v>
                </c:pt>
                <c:pt idx="2">
                  <c:v>3595.827316424736</c:v>
                </c:pt>
                <c:pt idx="3">
                  <c:v>3624.1510862923287</c:v>
                </c:pt>
                <c:pt idx="4">
                  <c:v>3920.656363814675</c:v>
                </c:pt>
                <c:pt idx="5">
                  <c:v>4178.30190297223</c:v>
                </c:pt>
                <c:pt idx="6">
                  <c:v>4349.934910974488</c:v>
                </c:pt>
                <c:pt idx="7">
                  <c:v>4295.285049651571</c:v>
                </c:pt>
                <c:pt idx="8">
                  <c:v>4086.5783902490653</c:v>
                </c:pt>
                <c:pt idx="9">
                  <c:v>4011.868167297671</c:v>
                </c:pt>
                <c:pt idx="10">
                  <c:v>4456.78106668738</c:v>
                </c:pt>
                <c:pt idx="11">
                  <c:v>4716.293556356859</c:v>
                </c:pt>
                <c:pt idx="12">
                  <c:v>4812.4336807166555</c:v>
                </c:pt>
                <c:pt idx="13">
                  <c:v>5077.081784610699</c:v>
                </c:pt>
                <c:pt idx="14">
                  <c:v>5151.7756563791645</c:v>
                </c:pt>
                <c:pt idx="15">
                  <c:v>4935.976782958499</c:v>
                </c:pt>
                <c:pt idx="16">
                  <c:v>5250.305570737923</c:v>
                </c:pt>
                <c:pt idx="17">
                  <c:v>5600.581053594181</c:v>
                </c:pt>
                <c:pt idx="18">
                  <c:v>5516.356917298968</c:v>
                </c:pt>
                <c:pt idx="19">
                  <c:v>5587.595903593415</c:v>
                </c:pt>
                <c:pt idx="20">
                  <c:v>5744.647911708087</c:v>
                </c:pt>
                <c:pt idx="21">
                  <c:v>5705.016289740993</c:v>
                </c:pt>
                <c:pt idx="22">
                  <c:v>6020.724736323076</c:v>
                </c:pt>
                <c:pt idx="23">
                  <c:v>6057.982746840626</c:v>
                </c:pt>
                <c:pt idx="24">
                  <c:v>6199.262950595066</c:v>
                </c:pt>
                <c:pt idx="25">
                  <c:v>6041.4606097400265</c:v>
                </c:pt>
                <c:pt idx="26">
                  <c:v>5592.578069817282</c:v>
                </c:pt>
                <c:pt idx="27">
                  <c:v>5680.740231374726</c:v>
                </c:pt>
                <c:pt idx="28">
                  <c:v>6212.895704501287</c:v>
                </c:pt>
                <c:pt idx="29">
                  <c:v>6620.180413706256</c:v>
                </c:pt>
                <c:pt idx="30">
                  <c:v>6790.947083231677</c:v>
                </c:pt>
                <c:pt idx="31">
                  <c:v>6866.013181866948</c:v>
                </c:pt>
                <c:pt idx="32">
                  <c:v>7245.755597110586</c:v>
                </c:pt>
                <c:pt idx="33">
                  <c:v>7602.543182596508</c:v>
                </c:pt>
                <c:pt idx="34">
                  <c:v>7493.647525144333</c:v>
                </c:pt>
                <c:pt idx="35">
                  <c:v>7453.396749722621</c:v>
                </c:pt>
                <c:pt idx="36">
                  <c:v>7555.248937499872</c:v>
                </c:pt>
                <c:pt idx="37">
                  <c:v>7387.79806794738</c:v>
                </c:pt>
                <c:pt idx="38">
                  <c:v>7039.84670107167</c:v>
                </c:pt>
                <c:pt idx="39">
                  <c:v>8155.815356880477</c:v>
                </c:pt>
                <c:pt idx="40">
                  <c:v>9028.696430272237</c:v>
                </c:pt>
                <c:pt idx="41">
                  <c:v>9025.14700186923</c:v>
                </c:pt>
                <c:pt idx="42">
                  <c:v>8441.318262265393</c:v>
                </c:pt>
                <c:pt idx="43">
                  <c:v>8804.535846044668</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Sheet1!$D$2:$D$45</c:f>
              <c:numCache>
                <c:formatCode>General</c:formatCode>
                <c:ptCount val="44"/>
                <c:pt idx="0">
                  <c:v>2276.4574749615745</c:v>
                </c:pt>
                <c:pt idx="1">
                  <c:v>2226.5091035801606</c:v>
                </c:pt>
                <c:pt idx="2">
                  <c:v>2377.680577220441</c:v>
                </c:pt>
                <c:pt idx="3">
                  <c:v>2410.481004610707</c:v>
                </c:pt>
                <c:pt idx="4">
                  <c:v>2469.222170743319</c:v>
                </c:pt>
                <c:pt idx="5">
                  <c:v>2559.7473341112013</c:v>
                </c:pt>
                <c:pt idx="6">
                  <c:v>2635.718044500683</c:v>
                </c:pt>
                <c:pt idx="7">
                  <c:v>2609.9882194870597</c:v>
                </c:pt>
                <c:pt idx="8">
                  <c:v>2500.3272849522755</c:v>
                </c:pt>
                <c:pt idx="9">
                  <c:v>2502.913104832948</c:v>
                </c:pt>
                <c:pt idx="10">
                  <c:v>2701.3876620127085</c:v>
                </c:pt>
                <c:pt idx="11">
                  <c:v>2820.569250848316</c:v>
                </c:pt>
                <c:pt idx="12">
                  <c:v>2852.385355437811</c:v>
                </c:pt>
                <c:pt idx="13">
                  <c:v>2944.5995651885687</c:v>
                </c:pt>
                <c:pt idx="14">
                  <c:v>3048.6089962186375</c:v>
                </c:pt>
                <c:pt idx="15">
                  <c:v>2979.9847121949556</c:v>
                </c:pt>
                <c:pt idx="16">
                  <c:v>3111.0926650380707</c:v>
                </c:pt>
                <c:pt idx="17">
                  <c:v>3222.357448922012</c:v>
                </c:pt>
                <c:pt idx="18">
                  <c:v>3278.8109934638796</c:v>
                </c:pt>
                <c:pt idx="19">
                  <c:v>3345.4684440959963</c:v>
                </c:pt>
                <c:pt idx="20">
                  <c:v>3447.144058761725</c:v>
                </c:pt>
                <c:pt idx="21">
                  <c:v>3447.511862494084</c:v>
                </c:pt>
                <c:pt idx="22">
                  <c:v>3557.3638716624996</c:v>
                </c:pt>
                <c:pt idx="23">
                  <c:v>3520.223704446922</c:v>
                </c:pt>
                <c:pt idx="24">
                  <c:v>3634.1007641998463</c:v>
                </c:pt>
                <c:pt idx="25">
                  <c:v>3634.598609068117</c:v>
                </c:pt>
                <c:pt idx="26">
                  <c:v>3579.5085174745686</c:v>
                </c:pt>
                <c:pt idx="27">
                  <c:v>3648.1009824347393</c:v>
                </c:pt>
                <c:pt idx="28">
                  <c:v>3804.8423988192117</c:v>
                </c:pt>
                <c:pt idx="29">
                  <c:v>3956.4521035448433</c:v>
                </c:pt>
                <c:pt idx="30">
                  <c:v>4011.4055763497918</c:v>
                </c:pt>
                <c:pt idx="31">
                  <c:v>4113.786461648385</c:v>
                </c:pt>
                <c:pt idx="32">
                  <c:v>4347.149308457675</c:v>
                </c:pt>
                <c:pt idx="33">
                  <c:v>4491.127236128171</c:v>
                </c:pt>
                <c:pt idx="34">
                  <c:v>4548.343567343224</c:v>
                </c:pt>
                <c:pt idx="35">
                  <c:v>4564.553656153168</c:v>
                </c:pt>
                <c:pt idx="36">
                  <c:v>4723.0340612086375</c:v>
                </c:pt>
                <c:pt idx="37">
                  <c:v>4801.597055266247</c:v>
                </c:pt>
                <c:pt idx="38">
                  <c:v>4530.890855984119</c:v>
                </c:pt>
                <c:pt idx="39">
                  <c:v>4866.434774284729</c:v>
                </c:pt>
                <c:pt idx="40">
                  <c:v>5096.589180175866</c:v>
                </c:pt>
                <c:pt idx="41">
                  <c:v>4976.460743755518</c:v>
                </c:pt>
                <c:pt idx="42">
                  <c:v>4872.376788457857</c:v>
                </c:pt>
                <c:pt idx="43">
                  <c:v>5076.739818616718</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Sheet1!$E$2:$E$45</c:f>
              <c:numCache>
                <c:formatCode>General</c:formatCode>
                <c:ptCount val="44"/>
                <c:pt idx="0">
                  <c:v>1330</c:v>
                </c:pt>
                <c:pt idx="1">
                  <c:v>1340</c:v>
                </c:pt>
                <c:pt idx="2">
                  <c:v>1350</c:v>
                </c:pt>
                <c:pt idx="3">
                  <c:v>1360</c:v>
                </c:pt>
                <c:pt idx="4">
                  <c:v>1370</c:v>
                </c:pt>
                <c:pt idx="5">
                  <c:v>1380</c:v>
                </c:pt>
                <c:pt idx="6">
                  <c:v>1390</c:v>
                </c:pt>
                <c:pt idx="7">
                  <c:v>1400</c:v>
                </c:pt>
                <c:pt idx="8">
                  <c:v>1410</c:v>
                </c:pt>
                <c:pt idx="9">
                  <c:v>1420</c:v>
                </c:pt>
                <c:pt idx="10">
                  <c:v>1430</c:v>
                </c:pt>
                <c:pt idx="11">
                  <c:v>1440</c:v>
                </c:pt>
                <c:pt idx="12">
                  <c:v>1450</c:v>
                </c:pt>
                <c:pt idx="13">
                  <c:v>1460</c:v>
                </c:pt>
                <c:pt idx="14">
                  <c:v>1470</c:v>
                </c:pt>
                <c:pt idx="15">
                  <c:v>1480</c:v>
                </c:pt>
                <c:pt idx="16">
                  <c:v>1490</c:v>
                </c:pt>
                <c:pt idx="17">
                  <c:v>1500</c:v>
                </c:pt>
                <c:pt idx="18">
                  <c:v>1510</c:v>
                </c:pt>
                <c:pt idx="19">
                  <c:v>1520</c:v>
                </c:pt>
                <c:pt idx="20">
                  <c:v>1530</c:v>
                </c:pt>
                <c:pt idx="21">
                  <c:v>1540</c:v>
                </c:pt>
                <c:pt idx="22">
                  <c:v>1550</c:v>
                </c:pt>
                <c:pt idx="23">
                  <c:v>1560</c:v>
                </c:pt>
                <c:pt idx="24">
                  <c:v>1570</c:v>
                </c:pt>
                <c:pt idx="25">
                  <c:v>1580</c:v>
                </c:pt>
                <c:pt idx="26">
                  <c:v>1590</c:v>
                </c:pt>
                <c:pt idx="27">
                  <c:v>1600</c:v>
                </c:pt>
                <c:pt idx="28">
                  <c:v>1610</c:v>
                </c:pt>
                <c:pt idx="29">
                  <c:v>1620</c:v>
                </c:pt>
                <c:pt idx="30">
                  <c:v>1630</c:v>
                </c:pt>
                <c:pt idx="31">
                  <c:v>1640</c:v>
                </c:pt>
                <c:pt idx="32">
                  <c:v>1650</c:v>
                </c:pt>
                <c:pt idx="33">
                  <c:v>1660</c:v>
                </c:pt>
                <c:pt idx="34">
                  <c:v>1670</c:v>
                </c:pt>
                <c:pt idx="35">
                  <c:v>1680</c:v>
                </c:pt>
                <c:pt idx="36">
                  <c:v>1690</c:v>
                </c:pt>
                <c:pt idx="37">
                  <c:v>1700</c:v>
                </c:pt>
                <c:pt idx="38">
                  <c:v>1710</c:v>
                </c:pt>
                <c:pt idx="39">
                  <c:v>1720</c:v>
                </c:pt>
                <c:pt idx="40">
                  <c:v>1730</c:v>
                </c:pt>
                <c:pt idx="41">
                  <c:v>1740</c:v>
                </c:pt>
                <c:pt idx="42">
                  <c:v>1750</c:v>
                </c:pt>
                <c:pt idx="43">
                  <c:v>1760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비중</c:v>
                </c:pt>
              </c:strCache>
            </c:strRef>
          </c:tx>
          <c:dPt>
            <c:idx val="0"/>
            <c:spPr>
              <a:solidFill>
                <a:srgbClr val="7FB0F0"/>
              </a:solidFill>
              <a:ln w="19050">
                <a:solidFill>
                  <a:srgbClr val="0A2A5C"/>
                </a:solidFill>
              </a:ln>
            </c:spPr>
          </c:dPt>
          <c:dPt>
            <c:idx val="1"/>
            <c:spPr>
              <a:solidFill>
                <a:srgbClr val="3D7FD9"/>
              </a:solidFill>
              <a:ln w="19050">
                <a:solidFill>
                  <a:srgbClr val="0A2A5C"/>
                </a:solidFill>
              </a:ln>
            </c:spPr>
          </c:dPt>
          <c:dPt>
            <c:idx val="2"/>
            <c:spPr>
              <a:solidFill>
                <a:srgbClr val="BFD6F5"/>
              </a:solidFill>
              <a:ln w="19050">
                <a:solidFill>
                  <a:srgbClr val="0A2A5C"/>
                </a:solidFill>
              </a:ln>
            </c:spPr>
          </c:dPt>
          <c:dPt>
            <c:idx val="3"/>
            <c:spPr>
              <a:solidFill>
                <a:srgbClr val="C9A227"/>
              </a:solidFill>
              <a:ln w="19050">
                <a:solidFill>
                  <a:srgbClr val="0A2A5C"/>
                </a:solidFill>
              </a:ln>
            </c:spPr>
          </c:dPt>
          <c:cat>
            <c:strRef>
              <c:f>Sheet1!$A$2:$A$5</c:f>
              <c:strCache>
                <c:ptCount val="4"/>
                <c:pt idx="0">
                  <c:v>SPYM</c:v>
                </c:pt>
                <c:pt idx="1">
                  <c:v>QQQM</c:v>
                </c:pt>
                <c:pt idx="2">
                  <c:v>IEF</c:v>
                </c:pt>
                <c:pt idx="3">
                  <c:v>GLDM</c:v>
                </c:pt>
              </c:strCache>
            </c:strRef>
          </c:cat>
          <c:val>
            <c:numRef>
              <c:f>Sheet1!$B$2:$B$5</c:f>
              <c:numCache>
                <c:formatCode>General</c:formatCode>
                <c:ptCount val="4"/>
                <c:pt idx="0">
                  <c:v>0.3</c:v>
                </c:pt>
                <c:pt idx="1">
                  <c:v>0.3</c:v>
                </c:pt>
                <c:pt idx="2">
                  <c:v>0.2</c:v>
                </c:pt>
                <c:pt idx="3">
                  <c:v>0.2</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800">
          <a:solidFill>
            <a:srgbClr val="5C6573"/>
          </a:solidFill>
          <a:latin typeface="Noto Sans KR"/>
          <a:ea typeface="Noto Sans KR"/>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GLD 금</c:v>
                </c:pt>
              </c:strCache>
            </c:strRef>
          </c:tx>
          <c:spPr>
            <a:solidFill>
              <a:srgbClr val="C9A227"/>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Sheet1!$B$2:$B$5</c:f>
              <c:numCache>
                <c:formatCode>General</c:formatCode>
                <c:ptCount val="4"/>
                <c:pt idx="0">
                  <c:v>-0.01</c:v>
                </c:pt>
                <c:pt idx="1">
                  <c:v>0.25</c:v>
                </c:pt>
                <c:pt idx="2">
                  <c:v>-0.02</c:v>
                </c:pt>
                <c:pt idx="3">
                  <c:v>-0.28</c:v>
                </c:pt>
              </c:numCache>
            </c:numRef>
          </c:val>
        </c:ser>
        <c:ser>
          <c:idx val="1"/>
          <c:order val="1"/>
          <c:tx>
            <c:strRef>
              <c:f>Sheet1!$C$1</c:f>
              <c:strCache>
                <c:ptCount val="1"/>
                <c:pt idx="0">
                  <c:v>IEF 국채</c:v>
                </c:pt>
              </c:strCache>
            </c:strRef>
          </c:tx>
          <c:spPr>
            <a:solidFill>
              <a:srgbClr val="3D9BE0"/>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Sheet1!$C$2:$C$5</c:f>
              <c:numCache>
                <c:formatCode>General</c:formatCode>
                <c:ptCount val="4"/>
                <c:pt idx="0">
                  <c:v>-0.15</c:v>
                </c:pt>
                <c:pt idx="1">
                  <c:v>0.1</c:v>
                </c:pt>
                <c:pt idx="2">
                  <c:v>0.01</c:v>
                </c:pt>
                <c:pt idx="3">
                  <c:v>-0.06</c:v>
                </c:pt>
              </c:numCache>
            </c:numRef>
          </c:val>
        </c:ser>
        <c:ser>
          <c:idx val="2"/>
          <c:order val="2"/>
          <c:tx>
            <c:strRef>
              <c:f>Sheet1!$D$1</c:f>
              <c:strCache>
                <c:ptCount val="1"/>
                <c:pt idx="0">
                  <c:v>SPY</c:v>
                </c:pt>
              </c:strCache>
            </c:strRef>
          </c:tx>
          <c:spPr>
            <a:solidFill>
              <a:srgbClr val="B0862A"/>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Sheet1!$D$2:$D$5</c:f>
              <c:numCache>
                <c:formatCode>General</c:formatCode>
                <c:ptCount val="4"/>
                <c:pt idx="0">
                  <c:v>-0.18</c:v>
                </c:pt>
                <c:pt idx="1">
                  <c:v>0.18</c:v>
                </c:pt>
                <c:pt idx="2">
                  <c:v>-0.05</c:v>
                </c:pt>
                <c:pt idx="3">
                  <c:v>0.32</c:v>
                </c:pt>
              </c:numCache>
            </c:numRef>
          </c:val>
        </c:ser>
        <c:ser>
          <c:idx val="3"/>
          <c:order val="3"/>
          <c:tx>
            <c:strRef>
              <c:f>Sheet1!$E$1</c:f>
              <c:strCache>
                <c:ptCount val="1"/>
                <c:pt idx="0">
                  <c:v>QQQ</c:v>
                </c:pt>
              </c:strCache>
            </c:strRef>
          </c:tx>
          <c:spPr>
            <a:solidFill>
              <a:srgbClr val="E07A1F"/>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Sheet1!$E$2:$E$5</c:f>
              <c:numCache>
                <c:formatCode>General</c:formatCode>
                <c:ptCount val="4"/>
                <c:pt idx="0">
                  <c:v>-0.33</c:v>
                </c:pt>
                <c:pt idx="1">
                  <c:v>0.48</c:v>
                </c:pt>
                <c:pt idx="2">
                  <c:v>-0.0</c:v>
                </c:pt>
                <c:pt idx="3">
                  <c:v>0.37</c:v>
                </c:pt>
              </c:numCache>
            </c:numRef>
          </c:val>
        </c:ser>
        <c:gapWidth val="40"/>
        <c:axId val="-2068027336"/>
        <c:axId val="-2113994440"/>
      </c:barChart>
      <c:catAx>
        <c:axId val="-2068027336"/>
        <c:scaling>
          <c:orientation val="minMax"/>
        </c:scaling>
        <c:delete val="0"/>
        <c:axPos val="l"/>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6"/>
          <c:min val="-0.5"/>
        </c:scaling>
        <c:delete val="0"/>
        <c:axPos val="b"/>
        <c:majorGridlines>
          <c:spPr>
            <a:ln w="6350">
              <a:solidFill>
                <a:srgbClr val="E3E7ED"/>
              </a:solidFill>
            </a:ln>
          </c:spPr>
        </c:majorGridlines>
        <c:numFmt formatCode="0%;&quot;−&quot;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5"/>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배수</c:v>
                </c:pt>
              </c:strCache>
            </c:strRef>
          </c:tx>
          <c:invertIfNegative val="0"/>
          <c:dPt>
            <c:idx val="0"/>
            <c:invertIfNegative val="0"/>
            <c:spPr>
              <a:solidFill>
                <a:srgbClr val="0B3D91"/>
              </a:solidFill>
            </c:spPr>
          </c:dPt>
          <c:dPt>
            <c:idx val="1"/>
            <c:invertIfNegative val="0"/>
            <c:spPr>
              <a:solidFill>
                <a:srgbClr val="E07A1F"/>
              </a:solidFill>
            </c:spPr>
          </c:dPt>
          <c:dPt>
            <c:idx val="2"/>
            <c:invertIfNegative val="0"/>
            <c:spPr>
              <a:solidFill>
                <a:srgbClr val="1E9A84"/>
              </a:solidFill>
            </c:spPr>
          </c:dPt>
          <c:dPt>
            <c:idx val="3"/>
            <c:invertIfNegative val="0"/>
            <c:spPr>
              <a:solidFill>
                <a:srgbClr val="4C6A8C"/>
              </a:solidFill>
            </c:spPr>
          </c:dPt>
          <c:dPt>
            <c:idx val="4"/>
            <c:invertIfNegative val="0"/>
            <c:spPr>
              <a:solidFill>
                <a:srgbClr val="8FA9C6"/>
              </a:solidFill>
            </c:spPr>
          </c:dPt>
          <c:dLbls>
            <c:numFmt formatCode="0.00&quot;배&quot;"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Deneb</c:v>
                </c:pt>
                <c:pt idx="1">
                  <c:v>QQQ 단독 적립</c:v>
                </c:pt>
                <c:pt idx="2">
                  <c:v>Polaris</c:v>
                </c:pt>
                <c:pt idx="3">
                  <c:v>적금 4%</c:v>
                </c:pt>
                <c:pt idx="4">
                  <c:v>적금 3%</c:v>
                </c:pt>
              </c:strCache>
            </c:strRef>
          </c:cat>
          <c:val>
            <c:numRef>
              <c:f>Sheet1!$B$2:$B$6</c:f>
              <c:numCache>
                <c:formatCode>General</c:formatCode>
                <c:ptCount val="5"/>
                <c:pt idx="0">
                  <c:v>20.51774191638972</c:v>
                </c:pt>
                <c:pt idx="1">
                  <c:v>5.002577185252653</c:v>
                </c:pt>
                <c:pt idx="2">
                  <c:v>2.8845112605776806</c:v>
                </c:pt>
                <c:pt idx="3">
                  <c:v>1.3543128789128762</c:v>
                </c:pt>
                <c:pt idx="4">
                  <c:v>1.2535515773674701</c:v>
                </c:pt>
              </c:numCache>
            </c:numRef>
          </c:val>
        </c:ser>
        <c:gapWidth val="45"/>
        <c:axId val="-2068027336"/>
        <c:axId val="-2113994440"/>
      </c:barChart>
      <c:catAx>
        <c:axId val="-2068027336"/>
        <c:scaling>
          <c:orientation val="minMax"/>
        </c:scaling>
        <c:delete val="0"/>
        <c:axPos val="l"/>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25.0"/>
          <c:min val="0.0"/>
        </c:scaling>
        <c:delete val="0"/>
        <c:axPos val="b"/>
        <c:majorGridlines>
          <c:spPr>
            <a:ln w="6350">
              <a:solidFill>
                <a:srgbClr val="E3E7ED"/>
              </a:solidFill>
            </a:ln>
          </c:spPr>
        </c:majorGridlines>
        <c:numFmt formatCode="0&quot;배&quot;" sourceLinked="0"/>
        <c:majorTickMark val="out"/>
        <c:minorTickMark val="none"/>
        <c:tickLblPos val="nextTo"/>
        <c:spPr>
          <a:ln>
            <a:noFill/>
          </a:ln>
        </c:spPr>
        <c:txPr>
          <a:bodyPr/>
          <a:lstStyle/>
          <a:p>
            <a:pPr>
              <a:defRPr sz="800">
                <a:solidFill>
                  <a:srgbClr val="5C6573"/>
                </a:solidFill>
              </a:defRPr>
            </a:pPr>
          </a:p>
        </c:txPr>
        <c:crossAx val="-2068027336"/>
        <c:crosses val="autoZero"/>
        <c:majorUnit val="5.0"/>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최대 낙폭</c:v>
                </c:pt>
              </c:strCache>
            </c:strRef>
          </c:tx>
          <c:invertIfNegative val="0"/>
          <c:dPt>
            <c:idx val="0"/>
            <c:invertIfNegative val="0"/>
            <c:spPr>
              <a:solidFill>
                <a:srgbClr val="0B3D91"/>
              </a:solidFill>
            </c:spPr>
          </c:dPt>
          <c:dPt>
            <c:idx val="1"/>
            <c:invertIfNegative val="0"/>
            <c:spPr>
              <a:solidFill>
                <a:srgbClr val="E07A1F"/>
              </a:solidFill>
            </c:spPr>
          </c:dPt>
          <c:dPt>
            <c:idx val="2"/>
            <c:invertIfNegative val="0"/>
            <c:spPr>
              <a:solidFill>
                <a:srgbClr val="1E9A84"/>
              </a:solidFill>
            </c:spPr>
          </c:dPt>
          <c:dPt>
            <c:idx val="3"/>
            <c:invertIfNegative val="0"/>
            <c:spPr>
              <a:solidFill>
                <a:srgbClr val="4C6A8C"/>
              </a:solidFill>
            </c:spPr>
          </c:dPt>
          <c:dPt>
            <c:idx val="4"/>
            <c:invertIfNegative val="0"/>
            <c:spPr>
              <a:solidFill>
                <a:srgbClr val="8FA9C6"/>
              </a:solidFill>
            </c:spPr>
          </c:dPt>
          <c:dLbls>
            <c:numFmt formatCode="0.0%;&quot;−&quot;0.0%;"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Deneb</c:v>
                </c:pt>
                <c:pt idx="1">
                  <c:v>QQQ 단독 적립</c:v>
                </c:pt>
                <c:pt idx="2">
                  <c:v>Polaris</c:v>
                </c:pt>
                <c:pt idx="3">
                  <c:v>적금 4%</c:v>
                </c:pt>
                <c:pt idx="4">
                  <c:v>적금 3%</c:v>
                </c:pt>
              </c:strCache>
            </c:strRef>
          </c:cat>
          <c:val>
            <c:numRef>
              <c:f>Sheet1!$B$2:$B$6</c:f>
              <c:numCache>
                <c:formatCode>General</c:formatCode>
                <c:ptCount val="5"/>
                <c:pt idx="0">
                  <c:v>-0.3171535684070895</c:v>
                </c:pt>
                <c:pt idx="1">
                  <c:v>-0.351218255181172</c:v>
                </c:pt>
                <c:pt idx="2">
                  <c:v>-0.23359004913534087</c:v>
                </c:pt>
                <c:pt idx="3">
                  <c:v>0.0</c:v>
                </c:pt>
                <c:pt idx="4">
                  <c:v>0.0</c:v>
                </c:pt>
              </c:numCache>
            </c:numRef>
          </c:val>
        </c:ser>
        <c:gapWidth val="45"/>
        <c:axId val="-2068027336"/>
        <c:axId val="-2113994440"/>
      </c:barChart>
      <c:catAx>
        <c:axId val="-2068027336"/>
        <c:scaling>
          <c:orientation val="minMax"/>
        </c:scaling>
        <c:delete val="0"/>
        <c:axPos val="l"/>
        <c:majorTickMark val="out"/>
        <c:minorTickMark val="none"/>
        <c:tickLblPos val="high"/>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0"/>
          <c:min val="-0.5"/>
        </c:scaling>
        <c:delete val="0"/>
        <c:axPos val="b"/>
        <c:majorGridlines>
          <c:spPr>
            <a:ln w="6350">
              <a:solidFill>
                <a:srgbClr val="E3E7ED"/>
              </a:solidFill>
            </a:ln>
          </c:spPr>
        </c:majorGridlines>
        <c:numFmt formatCode="0%;&quot;−&quot;0%;0%" sourceLinked="0"/>
        <c:majorTickMark val="out"/>
        <c:minorTickMark val="none"/>
        <c:tickLblPos val="nextTo"/>
        <c:spPr>
          <a:ln>
            <a:noFill/>
          </a:ln>
        </c:spPr>
        <c:txPr>
          <a:bodyPr/>
          <a:lstStyle/>
          <a:p>
            <a:pPr>
              <a:defRPr sz="800">
                <a:solidFill>
                  <a:srgbClr val="5C6573"/>
                </a:solidFill>
              </a:defRPr>
            </a:pPr>
          </a:p>
        </c:txPr>
        <c:crossAx val="-2068027336"/>
        <c:crosses val="autoZero"/>
        <c:majorUnit val="0.1"/>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src/auto_trading/ops/deneb_guard.py(브레이크 −15% 절반 · −30% 전부, T 기준), ops/mf_paper.py(LEV_MAX 0.6, VOL_REF 0.20), scripts/run_brake_184.py simulate. 변동성 = QQQ 20거래일 일간 수익률 표준편차 × √252. 브레이크 횟수: blue_manual/calc_result.json brake_10 (월 10만 원 실행, 2012-01~2026-08). SCHD 연도 수익률: data/research/div_mix_180/SCHD.csv 수정 종가. 배당 단계(세후 배당 월 10·30·50·100만 원마다 TQQQ 목표 10%p 낮추자고 묻는 승인형 규칙)는 이 쪽과 과거 계산에 넣지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자료: QQQ · SCHD · SPY data/research/div_mix_180, TQQQ · QLD data/research/lev_div_181 (실제 ETF 수정 종가). 계산: blue_manual/calc.py — full_report/calculation.py 와 같은 run_brake_184.simulate · 비용 0.15% · 세금 0, 월 20만 원 실행이 기존 원장과 일치. 합성 연구 숫자: docs/research/181 · 182 (1986-02~2026-08, 합성 레버리지 + French 고배당 30%), 182 §7 사용자 결정 'm3가 맘에 드는데 수익과 최대 낙폭 보니까'. 주의: 2012~2026은 나스닥100이 매우 강했던 기간이라 레버리지 결과가 크게 나왔다.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금액을 각각 따로 실행(blue_manual/calc.py). 금액 ÷ 납입액 비율이 모델마다 상대 오차 1e-9 안에서 같았다(비례 모형 확인). 가장 크게 줄었던 금액 = 일간 평가액 고점에서 이후 저점까지 최대 감소액(납입이 중간에 더해진 상태).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월말 평가액 = 각 달 마지막 거래일 종가 평가(blue_manual/calc_result.json monthly_10). 원금 누계 = 납입 회차 × 10만 원. 구간: 2012-01~2015-12 · 2016-01~2019-12 · 2020-01~2022-12 · 2023-01~2026-08 (결과 보기 전 calc_spec.md 에 고정).</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출처: src/auto_trading/ops/polaris.py (WEIGHTS SPYM 30 · QQQM 30 · IEF 20 · GLDM 20, plan_buys 모자란 종목부터 정수 주, plan_rebalance 목표보다 1주 넘게 많은 만큼 매도), docs/current/CURRENT_SPEC.md Polaris 행. 분배금 처리 코드 없음(확인). 계산: run_namu_core_compare.run_policy YEAR (매년 12월 첫 거래일 전체 맞춤, 소수 주), SPY · QQQ · GLD 를 SPYM · QQQM · GLDM 대리로 사용. 실제 운영은 2026-11부터 100만 원 × 4회 뒤 12월 맞춤 — 보고서는 매달 계속 적립으로 비교(운영 설정 불변).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적금: 12개월 만기 단리(납입 달마다 남은 개월 비례), 만기금은 같은 금리 1년 예금으로 해마다 재예치(연 복리), 마지막 8개월은 경과 비례 단리. 5년 값이 기존 원장 save() 식과 같음을 확인. 세후 참고는 이자에 15.4% 차감. 원금 하회 달 수: calc_result.json under_paid_months (월 10만 원 기준 Deneb 0달, 나머지 2012년 5월 1달). 합성 연구 낙폭: docs/research/181 · 182.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chart" Target="../charts/chart12.xml"/><Relationship Id="rId4"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비교"/>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비교</a:t>
            </a:r>
          </a:p>
        </p:txBody>
      </p:sp>
      <p:sp>
        <p:nvSpPr>
          <p:cNvPr id="7" name="목차 적금"/>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893000" y="619200"/>
            <a:ext cx="666000" cy="0"/>
          </a:xfrm>
          <a:prstGeom prst="line">
            <a:avLst/>
          </a:prstGeom>
          <a:ln w="25400">
            <a:solidFill>
              <a:srgbClr val="0B3D91"/>
            </a:solidFill>
          </a:ln>
        </p:spPr>
        <p:style>
          <a:lnRef idx="2">
            <a:schemeClr val="accent1"/>
          </a:lnRef>
          <a:fillRef idx="0">
            <a:schemeClr val="accent1"/>
          </a:fillRef>
          <a:effectRef idx="1">
            <a:schemeClr val="accent1"/>
          </a:effectRef>
          <a:fontRef idx="minor">
            <a:schemeClr val="tx1"/>
          </a:fontRef>
        </p:style>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 — 시안</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Deneb의 구성</a:t>
            </a:r>
          </a:p>
        </p:txBody>
      </p:sp>
      <p:sp>
        <p:nvSpPr>
          <p:cNvPr id="14" name="인용 막대"/>
          <p:cNvSpPr/>
          <p:nvPr/>
        </p:nvSpPr>
        <p:spPr>
          <a:xfrm>
            <a:off x="558000" y="1594800"/>
            <a:ext cx="32400" cy="932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65999"/>
            <a:ext cx="2826000" cy="990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매달 넣는 돈을 TQQQ와 SCHD에 나눠 삽니다. TQQQ는 최대 60%까지만 담고, 시장이 크게 흔들리면 그 몫을 줄입니다.</a:t>
            </a:r>
          </a:p>
        </p:txBody>
      </p:sp>
      <p:sp>
        <p:nvSpPr>
          <p:cNvPr id="16" name="TextBox 15"/>
          <p:cNvSpPr txBox="1"/>
          <p:nvPr/>
        </p:nvSpPr>
        <p:spPr>
          <a:xfrm>
            <a:off x="558000" y="2718000"/>
            <a:ext cx="3006000" cy="4248000"/>
          </a:xfrm>
          <a:prstGeom prst="rect">
            <a:avLst/>
          </a:prstGeom>
          <a:noFill/>
        </p:spPr>
        <p:txBody>
          <a:bodyPr wrap="square" lIns="0" rIns="0" tIns="0" bIns="0" anchor="t">
            <a:spAutoFit/>
          </a:bodyPr>
          <a:lstStyle/>
          <a:p>
            <a:pPr algn="l" eaLnBrk="0">
              <a:lnSpc>
                <a:spcPct val="132000"/>
              </a:lnSpc>
              <a:spcAft>
                <a:spcPts val="700"/>
              </a:spcAft>
            </a:pPr>
            <a:r>
              <a:rPr sz="1000" b="1" lang="ko-KR" altLang="en-US">
                <a:solidFill>
                  <a:srgbClr val="1A1E25"/>
                </a:solidFill>
                <a:latin typeface="Noto Sans KR"/>
                <a:ea typeface="Noto Sans KR"/>
                <a:cs typeface="Noto Sans KR"/>
              </a:rPr>
              <a:t>TQQQ  </a:t>
            </a:r>
            <a:r>
              <a:rPr sz="1000" b="0" lang="ko-KR" altLang="en-US">
                <a:solidFill>
                  <a:srgbClr val="1A1E25"/>
                </a:solidFill>
                <a:latin typeface="Noto Sans KR"/>
                <a:ea typeface="Noto Sans KR"/>
                <a:cs typeface="Noto Sans KR"/>
              </a:rPr>
              <a:t>나스닥100 지수의 하루 움직임을 3배로 따라가는 미국 ETF입니다. 지수가 하루 1% 오르면 약 3% 오르고, 1% 내리면 약 3% 내립니다. Deneb에서 수익을 키우는 쪽입니다.</a:t>
            </a:r>
          </a:p>
          <a:p>
            <a:pPr algn="l" eaLnBrk="0">
              <a:lnSpc>
                <a:spcPct val="132000"/>
              </a:lnSpc>
              <a:spcAft>
                <a:spcPts val="700"/>
              </a:spcAft>
            </a:pPr>
            <a:r>
              <a:rPr sz="1000" b="1" lang="ko-KR" altLang="en-US">
                <a:solidFill>
                  <a:srgbClr val="1A1E25"/>
                </a:solidFill>
                <a:latin typeface="Noto Sans KR"/>
                <a:ea typeface="Noto Sans KR"/>
                <a:cs typeface="Noto Sans KR"/>
              </a:rPr>
              <a:t>SCHD  </a:t>
            </a:r>
            <a:r>
              <a:rPr sz="1000" b="0" lang="ko-KR" altLang="en-US">
                <a:solidFill>
                  <a:srgbClr val="1A1E25"/>
                </a:solidFill>
                <a:latin typeface="Noto Sans KR"/>
                <a:ea typeface="Noto Sans KR"/>
                <a:cs typeface="Noto Sans KR"/>
              </a:rPr>
              <a:t>배당을 꾸준히 늘려 온 미국 기업 약 100곳에 나눠 투자하는 ETF입니다. 성장주와 다르게 움직이는 날이 많아 계좌의 흔들림을 덜어 줍니다. 그래도 주식이라 원금을 지켜 주지는 않습니다. 2018년 −6%, 2022년 −3%처럼 함께 내린 해가 있습니다.</a:t>
            </a:r>
          </a:p>
          <a:p>
            <a:pPr algn="l" eaLnBrk="0">
              <a:lnSpc>
                <a:spcPct val="132000"/>
              </a:lnSpc>
              <a:spcAft>
                <a:spcPts val="700"/>
              </a:spcAft>
            </a:pPr>
            <a:r>
              <a:rPr sz="1000" b="1" lang="ko-KR" altLang="en-US">
                <a:solidFill>
                  <a:srgbClr val="1A1E25"/>
                </a:solidFill>
                <a:latin typeface="Noto Sans KR"/>
                <a:ea typeface="Noto Sans KR"/>
                <a:cs typeface="Noto Sans KR"/>
              </a:rPr>
              <a:t>매달 맞춤  </a:t>
            </a:r>
            <a:r>
              <a:rPr sz="1000" b="0" lang="ko-KR" altLang="en-US">
                <a:solidFill>
                  <a:srgbClr val="1A1E25"/>
                </a:solidFill>
                <a:latin typeface="Noto Sans KR"/>
                <a:ea typeface="Noto Sans KR"/>
                <a:cs typeface="Noto Sans KR"/>
              </a:rPr>
              <a:t>매달 첫 거래일에 새 돈을 넣으면서 두 ETF의 비율을 목표에 다시 맞춥니다. 목표보다 많아진 쪽은 일부 팔고, 모자란 쪽을 삽니다. 이 비율은 새 돈뿐 아니라 계좌 전체(하락 방어로 따로 보관한 현금은 빼고)에 적용됩니다.</a:t>
            </a:r>
          </a:p>
          <a:p>
            <a:pPr algn="l" eaLnBrk="0">
              <a:lnSpc>
                <a:spcPct val="132000"/>
              </a:lnSpc>
              <a:spcAft>
                <a:spcPts val="700"/>
              </a:spcAft>
            </a:pPr>
            <a:r>
              <a:rPr sz="1000" b="1" lang="ko-KR" altLang="en-US">
                <a:solidFill>
                  <a:srgbClr val="1A1E25"/>
                </a:solidFill>
                <a:latin typeface="Noto Sans KR"/>
                <a:ea typeface="Noto Sans KR"/>
                <a:cs typeface="Noto Sans KR"/>
              </a:rPr>
              <a:t>계좌 전체로 보면  </a:t>
            </a:r>
            <a:r>
              <a:rPr sz="1000" b="0" lang="ko-KR" altLang="en-US">
                <a:solidFill>
                  <a:srgbClr val="1A1E25"/>
                </a:solidFill>
                <a:latin typeface="Noto Sans KR"/>
                <a:ea typeface="Noto Sans KR"/>
                <a:cs typeface="Noto Sans KR"/>
              </a:rPr>
              <a:t>TQQQ가 60%이면 계좌는 나스닥100에 약 1.8배(60% × 3배) 노출됩니다. ‘3배 상품을 산다’와 ‘계좌가 3배로 움직인다’는 같은 말이 아닙니다.</a:t>
            </a:r>
          </a:p>
        </p:txBody>
      </p:sp>
      <p:cxnSp>
        <p:nvCxnSpPr>
          <p:cNvPr id="17" name="Connector 16"/>
          <p:cNvCxnSpPr/>
          <p:nvPr/>
        </p:nvCxnSpPr>
        <p:spPr>
          <a:xfrm>
            <a:off x="3844800" y="990000"/>
            <a:ext cx="62892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18" name="그림 제목"/>
          <p:cNvSpPr txBox="1"/>
          <p:nvPr/>
        </p:nvSpPr>
        <p:spPr>
          <a:xfrm>
            <a:off x="3844800" y="1054800"/>
            <a:ext cx="62892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시장 흔들림에 따른 월 10만 원의 목표 배분</a:t>
            </a:r>
          </a:p>
        </p:txBody>
      </p:sp>
      <p:sp>
        <p:nvSpPr>
          <p:cNvPr id="19" name="그림 설명"/>
          <p:cNvSpPr txBox="1"/>
          <p:nvPr/>
        </p:nvSpPr>
        <p:spPr>
          <a:xfrm>
            <a:off x="3844800" y="12348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나스닥100(QQQ) 최근 20거래일 변동성(연율) 기준 · 하락 방어가 작동하지 않는 평상시 · 단위 만 원</a:t>
            </a:r>
          </a:p>
        </p:txBody>
      </p:sp>
      <p:graphicFrame>
        <p:nvGraphicFramePr>
          <p:cNvPr id="20" name="변동성별 배분"/>
          <p:cNvGraphicFramePr>
            <a:graphicFrameLocks noGrp="1"/>
          </p:cNvGraphicFramePr>
          <p:nvPr/>
        </p:nvGraphicFramePr>
        <p:xfrm>
          <a:off x="3844800" y="1458000"/>
          <a:ext cx="4273200" cy="2232000"/>
        </p:xfrm>
        <a:graphic>
          <a:graphicData uri="http://schemas.openxmlformats.org/drawingml/2006/chart">
            <c:chart xmlns:c="http://schemas.openxmlformats.org/drawingml/2006/chart" r:id="rId2"/>
          </a:graphicData>
        </a:graphic>
      </p:graphicFrame>
      <p:sp>
        <p:nvSpPr>
          <p:cNvPr id="21" name="TextBox 20"/>
          <p:cNvSpPr txBox="1"/>
          <p:nvPr/>
        </p:nvSpPr>
        <p:spPr>
          <a:xfrm>
            <a:off x="8225999" y="1530000"/>
            <a:ext cx="1908000" cy="2160000"/>
          </a:xfrm>
          <a:prstGeom prst="rect">
            <a:avLst/>
          </a:prstGeom>
          <a:noFill/>
        </p:spPr>
        <p:txBody>
          <a:bodyPr wrap="square" lIns="0" rIns="0" tIns="0" bIns="0" anchor="t">
            <a:spAutoFit/>
          </a:bodyPr>
          <a:lstStyle/>
          <a:p>
            <a:pPr algn="l" eaLnBrk="0">
              <a:lnSpc>
                <a:spcPct val="125000"/>
              </a:lnSpc>
              <a:spcAft>
                <a:spcPts val="300"/>
              </a:spcAft>
            </a:pPr>
            <a:r>
              <a:rPr sz="900" b="1" lang="ko-KR" altLang="en-US">
                <a:solidFill>
                  <a:srgbClr val="1A1E25"/>
                </a:solidFill>
                <a:latin typeface="Noto Sans KR"/>
                <a:ea typeface="Noto Sans KR"/>
                <a:cs typeface="Noto Sans KR"/>
              </a:rPr>
              <a:t>목표 TQQQ 비중</a:t>
            </a:r>
          </a:p>
          <a:p>
            <a:pPr algn="l" eaLnBrk="0">
              <a:lnSpc>
                <a:spcPct val="125000"/>
              </a:lnSpc>
              <a:spcAft>
                <a:spcPts val="300"/>
              </a:spcAft>
            </a:pPr>
            <a:r>
              <a:rPr sz="900" b="0" lang="ko-KR" altLang="en-US">
                <a:solidFill>
                  <a:srgbClr val="1A1E25"/>
                </a:solidFill>
                <a:latin typeface="Noto Sans KR"/>
                <a:ea typeface="Noto Sans KR"/>
                <a:cs typeface="Noto Sans KR"/>
              </a:rPr>
              <a:t>60% × (20% ÷ 지금 변동성)</a:t>
            </a:r>
          </a:p>
          <a:p>
            <a:pPr algn="l" eaLnBrk="0">
              <a:lnSpc>
                <a:spcPct val="125000"/>
              </a:lnSpc>
              <a:spcAft>
                <a:spcPts val="300"/>
              </a:spcAft>
            </a:pPr>
            <a:r>
              <a:rPr sz="900" b="0" lang="ko-KR" altLang="en-US">
                <a:solidFill>
                  <a:srgbClr val="1A1E25"/>
                </a:solidFill>
                <a:latin typeface="Noto Sans KR"/>
                <a:ea typeface="Noto Sans KR"/>
                <a:cs typeface="Noto Sans KR"/>
              </a:rPr>
              <a:t>단, 60%를 넘지 않습니다.</a:t>
            </a:r>
          </a:p>
          <a:p>
            <a:pPr algn="l" eaLnBrk="0">
              <a:lnSpc>
                <a:spcPct val="125000"/>
              </a:lnSpc>
              <a:spcAft>
                <a:spcPts val="300"/>
              </a:spcAft>
            </a:pPr>
            <a:r>
              <a:rPr sz="900" b="1" lang="ko-KR" altLang="en-US">
                <a:solidFill>
                  <a:srgbClr val="1A1E25"/>
                </a:solidFill>
                <a:latin typeface="Noto Sans KR"/>
                <a:ea typeface="Noto Sans KR"/>
                <a:cs typeface="Noto Sans KR"/>
              </a:rPr>
              <a:t>예: 변동성 30%</a:t>
            </a:r>
          </a:p>
          <a:p>
            <a:pPr algn="l" eaLnBrk="0">
              <a:lnSpc>
                <a:spcPct val="125000"/>
              </a:lnSpc>
              <a:spcAft>
                <a:spcPts val="300"/>
              </a:spcAft>
            </a:pPr>
            <a:r>
              <a:rPr sz="900" b="0" lang="ko-KR" altLang="en-US">
                <a:solidFill>
                  <a:srgbClr val="1A1E25"/>
                </a:solidFill>
                <a:latin typeface="Noto Sans KR"/>
                <a:ea typeface="Noto Sans KR"/>
                <a:cs typeface="Noto Sans KR"/>
              </a:rPr>
              <a:t>60% × 20 ÷ 30 = 40%</a:t>
            </a:r>
          </a:p>
          <a:p>
            <a:pPr algn="l" eaLnBrk="0">
              <a:lnSpc>
                <a:spcPct val="125000"/>
              </a:lnSpc>
              <a:spcAft>
                <a:spcPts val="300"/>
              </a:spcAft>
            </a:pPr>
            <a:r>
              <a:rPr sz="900" b="0" lang="ko-KR" altLang="en-US">
                <a:solidFill>
                  <a:srgbClr val="1A1E25"/>
                </a:solidFill>
                <a:latin typeface="Noto Sans KR"/>
                <a:ea typeface="Noto Sans KR"/>
                <a:cs typeface="Noto Sans KR"/>
              </a:rPr>
              <a:t>→ 10만 원 중 TQQQ 4만, SCHD 6만</a:t>
            </a:r>
          </a:p>
        </p:txBody>
      </p:sp>
      <p:cxnSp>
        <p:nvCxnSpPr>
          <p:cNvPr id="22" name="Connector 21"/>
          <p:cNvCxnSpPr/>
          <p:nvPr/>
        </p:nvCxnSpPr>
        <p:spPr>
          <a:xfrm>
            <a:off x="3844800" y="3960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844800" y="4050000"/>
            <a:ext cx="3006000" cy="216000"/>
          </a:xfrm>
          <a:prstGeom prst="rect">
            <a:avLst/>
          </a:prstGeom>
          <a:noFill/>
        </p:spPr>
        <p:txBody>
          <a:bodyPr wrap="square" lIns="0" rIns="0" tIns="0" bIns="0" anchor="t">
            <a:spAutoFit/>
          </a:bodyPr>
          <a:lstStyle/>
          <a:p>
            <a:pPr algn="l" eaLnBrk="0">
              <a:lnSpc>
                <a:spcPct val="100000"/>
              </a:lnSpc>
              <a:spcAft>
                <a:spcPts val="0"/>
              </a:spcAft>
            </a:pPr>
            <a:r>
              <a:rPr sz="1250" b="0" lang="ko-KR" altLang="en-US">
                <a:solidFill>
                  <a:srgbClr val="1A1E25"/>
                </a:solidFill>
                <a:latin typeface="Malgun Gothic Semilight"/>
                <a:ea typeface="Malgun Gothic Semilight"/>
                <a:cs typeface="Malgun Gothic Semilight"/>
              </a:rPr>
              <a:t>일간 3배와 장기 3배</a:t>
            </a:r>
          </a:p>
        </p:txBody>
      </p:sp>
      <p:sp>
        <p:nvSpPr>
          <p:cNvPr id="24" name="TextBox 23"/>
          <p:cNvSpPr txBox="1"/>
          <p:nvPr/>
        </p:nvSpPr>
        <p:spPr>
          <a:xfrm>
            <a:off x="3844800" y="4338000"/>
            <a:ext cx="3006000" cy="936000"/>
          </a:xfrm>
          <a:prstGeom prst="rect">
            <a:avLst/>
          </a:prstGeom>
          <a:noFill/>
        </p:spPr>
        <p:txBody>
          <a:bodyPr wrap="square" lIns="0" rIns="0" tIns="0" bIns="0" anchor="t">
            <a:spAutoFit/>
          </a:bodyPr>
          <a:lstStyle/>
          <a:p>
            <a:pPr algn="l" eaLnBrk="0">
              <a:lnSpc>
                <a:spcPct val="132000"/>
              </a:lnSpc>
              <a:spcAft>
                <a:spcPts val="0"/>
              </a:spcAft>
            </a:pPr>
            <a:r>
              <a:rPr sz="950" b="0" lang="ko-KR" altLang="en-US">
                <a:solidFill>
                  <a:srgbClr val="1A1E25"/>
                </a:solidFill>
                <a:latin typeface="Noto Sans KR"/>
                <a:ea typeface="Noto Sans KR"/>
                <a:cs typeface="Noto Sans KR"/>
              </a:rPr>
              <a:t>TQQQ는 ‘하루’ 수익률의 3배를 맞춥니다. 아래처럼 이틀 동안 지수가 1% 내렸을 때 TQQQ는 3%가 아니라 9% 내렸습니다. 오르내림이 반복될수록 이런 차이가 쌓여, 긴 기간의 수익률은 지수의 정확히 3배가 되지 않습니다.</a:t>
            </a:r>
          </a:p>
        </p:txBody>
      </p:sp>
      <p:graphicFrame>
        <p:nvGraphicFramePr>
          <p:cNvPr id="25" name="표"/>
          <p:cNvGraphicFramePr>
            <a:graphicFrameLocks noGrp="1"/>
          </p:cNvGraphicFramePr>
          <p:nvPr/>
        </p:nvGraphicFramePr>
        <p:xfrm>
          <a:off x="3844800" y="5310000"/>
          <a:ext cx="3006000" cy="648000"/>
        </p:xfrm>
        <a:graphic>
          <a:graphicData uri="http://schemas.openxmlformats.org/drawingml/2006/table">
            <a:tbl>
              <a:tblPr firstRow="0" bandRow="0" firstCol="0" lastCol="0" bandCol="0" lastRow="0">
                <a:tableStyleId>{5940675A-B579-460E-94D1-54222C63F5DA}</a:tableStyleId>
              </a:tblPr>
              <a:tblGrid>
                <a:gridCol w="990000"/>
                <a:gridCol w="450000"/>
                <a:gridCol w="540000"/>
                <a:gridCol w="540000"/>
                <a:gridCol w="486000"/>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100에서 시작</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출발</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1일 +10%</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2일 −10%</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결과</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나스닥100 지수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TQQQ (일간 3배)</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−9%</a:t>
                      </a:r>
                      <a:endParaRPr sz="900"/>
                    </a:p>
                  </a:txBody>
                  <a:tcPr marL="28800" marR="43200" marT="25200" marB="25200" anchor="ctr">
                    <a:lnL w="0">
                      <a:noFill/>
                    </a:lnL>
                    <a:lnR w="0">
                      <a:noFill/>
                    </a:lnR>
                    <a:lnT w="0">
                      <a:noFill/>
                    </a:lnT>
                    <a:lnB w="6350">
                      <a:solidFill>
                        <a:srgbClr val="C9D0DA"/>
                      </a:solidFill>
                    </a:lnB>
                    <a:noFill/>
                  </a:tcPr>
                </a:tc>
              </a:tr>
            </a:tbl>
          </a:graphicData>
        </a:graphic>
      </p:graphicFrame>
      <p:sp>
        <p:nvSpPr>
          <p:cNvPr id="26" name="TextBox 25"/>
          <p:cNvSpPr txBox="1"/>
          <p:nvPr/>
        </p:nvSpPr>
        <p:spPr>
          <a:xfrm>
            <a:off x="3844800" y="6120000"/>
            <a:ext cx="3006000" cy="503999"/>
          </a:xfrm>
          <a:prstGeom prst="rect">
            <a:avLst/>
          </a:prstGeom>
          <a:noFill/>
        </p:spPr>
        <p:txBody>
          <a:bodyPr wrap="square" lIns="0" rIns="0" tIns="0" bIns="0" anchor="t">
            <a:spAutoFit/>
          </a:bodyPr>
          <a:lstStyle/>
          <a:p>
            <a:pPr algn="l" eaLnBrk="0">
              <a:lnSpc>
                <a:spcPct val="132000"/>
              </a:lnSpc>
              <a:spcAft>
                <a:spcPts val="0"/>
              </a:spcAft>
            </a:pPr>
            <a:r>
              <a:rPr sz="850" b="0" lang="ko-KR" altLang="en-US">
                <a:solidFill>
                  <a:srgbClr val="5C6573"/>
                </a:solidFill>
                <a:latin typeface="Noto Sans KR"/>
                <a:ea typeface="Noto Sans KR"/>
                <a:cs typeface="Noto Sans KR"/>
              </a:rPr>
              <a:t>꾸준히 한 방향으로 오르는 시기에는 반대로 3배보다 더 오를 수도 있습니다. 같은 식이 TQQQ 단독 결과의 큰 낙폭(−82%)에도 그대로 작용했습니다.</a:t>
            </a:r>
          </a:p>
        </p:txBody>
      </p:sp>
      <p:cxnSp>
        <p:nvCxnSpPr>
          <p:cNvPr id="27" name="Connector 26"/>
          <p:cNvCxnSpPr/>
          <p:nvPr/>
        </p:nvCxnSpPr>
        <p:spPr>
          <a:xfrm>
            <a:off x="7128000" y="3960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128000" y="4050000"/>
            <a:ext cx="3006000" cy="216000"/>
          </a:xfrm>
          <a:prstGeom prst="rect">
            <a:avLst/>
          </a:prstGeom>
          <a:noFill/>
        </p:spPr>
        <p:txBody>
          <a:bodyPr wrap="square" lIns="0" rIns="0" tIns="0" bIns="0" anchor="t">
            <a:spAutoFit/>
          </a:bodyPr>
          <a:lstStyle/>
          <a:p>
            <a:pPr algn="l" eaLnBrk="0">
              <a:lnSpc>
                <a:spcPct val="100000"/>
              </a:lnSpc>
              <a:spcAft>
                <a:spcPts val="0"/>
              </a:spcAft>
            </a:pPr>
            <a:r>
              <a:rPr sz="1250" b="0" lang="ko-KR" altLang="en-US">
                <a:solidFill>
                  <a:srgbClr val="1A1E25"/>
                </a:solidFill>
                <a:latin typeface="Malgun Gothic Semilight"/>
                <a:ea typeface="Malgun Gothic Semilight"/>
                <a:cs typeface="Malgun Gothic Semilight"/>
              </a:rPr>
              <a:t>하락 방어와 복귀</a:t>
            </a:r>
          </a:p>
        </p:txBody>
      </p:sp>
      <p:sp>
        <p:nvSpPr>
          <p:cNvPr id="29" name="TextBox 28"/>
          <p:cNvSpPr txBox="1"/>
          <p:nvPr/>
        </p:nvSpPr>
        <p:spPr>
          <a:xfrm>
            <a:off x="7128000" y="4338000"/>
            <a:ext cx="3006000" cy="2592000"/>
          </a:xfrm>
          <a:prstGeom prst="rect">
            <a:avLst/>
          </a:prstGeom>
          <a:noFill/>
        </p:spPr>
        <p:txBody>
          <a:bodyPr wrap="square" lIns="0" rIns="0" tIns="0" bIns="0" anchor="t">
            <a:spAutoFit/>
          </a:bodyPr>
          <a:lstStyle/>
          <a:p>
            <a:pPr algn="l" eaLnBrk="0">
              <a:lnSpc>
                <a:spcPct val="132000"/>
              </a:lnSpc>
              <a:spcAft>
                <a:spcPts val="500"/>
              </a:spcAft>
            </a:pPr>
            <a:r>
              <a:rPr sz="950" b="1" lang="ko-KR" altLang="en-US">
                <a:solidFill>
                  <a:srgbClr val="1A1E25"/>
                </a:solidFill>
                <a:latin typeface="Noto Sans KR"/>
                <a:ea typeface="Noto Sans KR"/>
                <a:cs typeface="Noto Sans KR"/>
              </a:rPr>
              <a:t>1단계  </a:t>
            </a:r>
            <a:r>
              <a:rPr sz="950" b="0" lang="ko-KR" altLang="en-US">
                <a:solidFill>
                  <a:srgbClr val="1A1E25"/>
                </a:solidFill>
                <a:latin typeface="Noto Sans KR"/>
                <a:ea typeface="Noto Sans KR"/>
                <a:cs typeface="Noto Sans KR"/>
              </a:rPr>
              <a:t>TQQQ 가격이 자기 최고점보다 15% 내리면 가진 TQQQ의 절반을 팝니다.</a:t>
            </a:r>
          </a:p>
          <a:p>
            <a:pPr algn="l" eaLnBrk="0">
              <a:lnSpc>
                <a:spcPct val="132000"/>
              </a:lnSpc>
              <a:spcAft>
                <a:spcPts val="500"/>
              </a:spcAft>
            </a:pPr>
            <a:r>
              <a:rPr sz="950" b="1" lang="ko-KR" altLang="en-US">
                <a:solidFill>
                  <a:srgbClr val="1A1E25"/>
                </a:solidFill>
                <a:latin typeface="Noto Sans KR"/>
                <a:ea typeface="Noto Sans KR"/>
                <a:cs typeface="Noto Sans KR"/>
              </a:rPr>
              <a:t>2단계  </a:t>
            </a:r>
            <a:r>
              <a:rPr sz="950" b="0" lang="ko-KR" altLang="en-US">
                <a:solidFill>
                  <a:srgbClr val="1A1E25"/>
                </a:solidFill>
                <a:latin typeface="Noto Sans KR"/>
                <a:ea typeface="Noto Sans KR"/>
                <a:cs typeface="Noto Sans KR"/>
              </a:rPr>
              <a:t>30% 내리면 남은 TQQQ를 모두 팝니다.</a:t>
            </a:r>
          </a:p>
          <a:p>
            <a:pPr algn="l" eaLnBrk="0">
              <a:lnSpc>
                <a:spcPct val="132000"/>
              </a:lnSpc>
              <a:spcAft>
                <a:spcPts val="500"/>
              </a:spcAft>
            </a:pPr>
            <a:r>
              <a:rPr sz="950" b="1" lang="ko-KR" altLang="en-US">
                <a:solidFill>
                  <a:srgbClr val="1A1E25"/>
                </a:solidFill>
                <a:latin typeface="Noto Sans KR"/>
                <a:ea typeface="Noto Sans KR"/>
                <a:cs typeface="Noto Sans KR"/>
              </a:rPr>
              <a:t>보관  </a:t>
            </a:r>
            <a:r>
              <a:rPr sz="950" b="0" lang="ko-KR" altLang="en-US">
                <a:solidFill>
                  <a:srgbClr val="1A1E25"/>
                </a:solidFill>
                <a:latin typeface="Noto Sans KR"/>
                <a:ea typeface="Noto Sans KR"/>
                <a:cs typeface="Noto Sans KR"/>
              </a:rPr>
              <a:t>판 돈은 현금으로 따로 두고, 매달 비율 계산에서 뺍니다. 그동안 새 돈의 TQQQ 몫도 1단계면 절반, 2단계면 0으로 줄어 나머지는 SCHD로 갑니다.</a:t>
            </a:r>
          </a:p>
          <a:p>
            <a:pPr algn="l" eaLnBrk="0">
              <a:lnSpc>
                <a:spcPct val="132000"/>
              </a:lnSpc>
              <a:spcAft>
                <a:spcPts val="500"/>
              </a:spcAft>
            </a:pPr>
            <a:r>
              <a:rPr sz="950" b="1" lang="ko-KR" altLang="en-US">
                <a:solidFill>
                  <a:srgbClr val="1A1E25"/>
                </a:solidFill>
                <a:latin typeface="Noto Sans KR"/>
                <a:ea typeface="Noto Sans KR"/>
                <a:cs typeface="Noto Sans KR"/>
              </a:rPr>
              <a:t>복귀  </a:t>
            </a:r>
            <a:r>
              <a:rPr sz="950" b="0" lang="ko-KR" altLang="en-US">
                <a:solidFill>
                  <a:srgbClr val="1A1E25"/>
                </a:solidFill>
                <a:latin typeface="Noto Sans KR"/>
                <a:ea typeface="Noto Sans KR"/>
                <a:cs typeface="Noto Sans KR"/>
              </a:rPr>
              <a:t>나스닥100 추세 신호(20·60·120일 가격 비교 중 2개 이상 상승)가 꺼졌다가 다시 켜진 날, 보관한 현금으로 TQQQ를 다시 삽니다.</a:t>
            </a:r>
          </a:p>
          <a:p>
            <a:pPr algn="l" eaLnBrk="0">
              <a:lnSpc>
                <a:spcPct val="132000"/>
              </a:lnSpc>
              <a:spcAft>
                <a:spcPts val="500"/>
              </a:spcAft>
            </a:pPr>
            <a:r>
              <a:rPr sz="950" b="1" lang="ko-KR" altLang="en-US">
                <a:solidFill>
                  <a:srgbClr val="1A1E25"/>
                </a:solidFill>
                <a:latin typeface="Noto Sans KR"/>
                <a:ea typeface="Noto Sans KR"/>
                <a:cs typeface="Noto Sans KR"/>
              </a:rPr>
              <a:t>대가  </a:t>
            </a:r>
            <a:r>
              <a:rPr sz="950" b="0" lang="ko-KR" altLang="en-US">
                <a:solidFill>
                  <a:srgbClr val="1A1E25"/>
                </a:solidFill>
                <a:latin typeface="Noto Sans KR"/>
                <a:ea typeface="Noto Sans KR"/>
                <a:cs typeface="Noto Sans KR"/>
              </a:rPr>
              <a:t>2012~2026년 계산에서 49번 팔고 34번 되샀는데, 되산 가격이 판 평균값보다 비쌌던 경우가 절반(17번)이었습니다.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비교"/>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비교</a:t>
            </a:r>
          </a:p>
        </p:txBody>
      </p:sp>
      <p:sp>
        <p:nvSpPr>
          <p:cNvPr id="7" name="목차 적금"/>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89400" y="619200"/>
            <a:ext cx="536399" cy="0"/>
          </a:xfrm>
          <a:prstGeom prst="line">
            <a:avLst/>
          </a:prstGeom>
          <a:ln w="25400">
            <a:solidFill>
              <a:srgbClr val="0B3D91"/>
            </a:solidFill>
          </a:ln>
        </p:spPr>
        <p:style>
          <a:lnRef idx="2">
            <a:schemeClr val="accent1"/>
          </a:lnRef>
          <a:fillRef idx="0">
            <a:schemeClr val="accent1"/>
          </a:fillRef>
          <a:effectRef idx="1">
            <a:schemeClr val="accent1"/>
          </a:effectRef>
          <a:fontRef idx="minor">
            <a:schemeClr val="tx1"/>
          </a:fontRef>
        </p:style>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 — 시안</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나스닥 1·2·3배와
Deneb</a:t>
            </a:r>
          </a:p>
        </p:txBody>
      </p:sp>
      <p:sp>
        <p:nvSpPr>
          <p:cNvPr id="14" name="TextBox 13"/>
          <p:cNvSpPr txBox="1"/>
          <p:nvPr/>
        </p:nvSpPr>
        <p:spPr>
          <a:xfrm>
            <a:off x="558000" y="1890000"/>
            <a:ext cx="3006000" cy="1080000"/>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1A1E25"/>
                </a:solidFill>
                <a:latin typeface="Noto Sans KR"/>
                <a:ea typeface="Noto Sans KR"/>
                <a:cs typeface="Noto Sans KR"/>
              </a:rPr>
              <a:t>같은 돈을 매달 넣었을 때, 배율과 섞는 방식에 따라 끝에 남은 돈과 중간에 견뎌야 했던 하락이 어떻게 달랐는지 봅니다.</a:t>
            </a:r>
          </a:p>
        </p:txBody>
      </p:sp>
      <p:sp>
        <p:nvSpPr>
          <p:cNvPr id="15" name="TextBox 14"/>
          <p:cNvSpPr txBox="1"/>
          <p:nvPr/>
        </p:nvSpPr>
        <p:spPr>
          <a:xfrm>
            <a:off x="3844800" y="1007999"/>
            <a:ext cx="3006000" cy="1944000"/>
          </a:xfrm>
          <a:prstGeom prst="rect">
            <a:avLst/>
          </a:prstGeom>
          <a:noFill/>
        </p:spPr>
        <p:txBody>
          <a:bodyPr wrap="square" lIns="0" rIns="0" tIns="0" bIns="0" anchor="t">
            <a:spAutoFit/>
          </a:bodyPr>
          <a:lstStyle/>
          <a:p>
            <a:pPr algn="l" eaLnBrk="0">
              <a:lnSpc>
                <a:spcPct val="132000"/>
              </a:lnSpc>
              <a:spcAft>
                <a:spcPts val="500"/>
              </a:spcAft>
            </a:pPr>
            <a:r>
              <a:rPr sz="950" b="1" lang="ko-KR" altLang="en-US">
                <a:solidFill>
                  <a:srgbClr val="1A1E25"/>
                </a:solidFill>
                <a:latin typeface="Noto Sans KR"/>
                <a:ea typeface="Noto Sans KR"/>
                <a:cs typeface="Noto Sans KR"/>
              </a:rPr>
              <a:t>비교 조건  </a:t>
            </a:r>
            <a:r>
              <a:rPr sz="950" b="0" lang="ko-KR" altLang="en-US">
                <a:solidFill>
                  <a:srgbClr val="1A1E25"/>
                </a:solidFill>
                <a:latin typeface="Noto Sans KR"/>
                <a:ea typeface="Noto Sans KR"/>
                <a:cs typeface="Noto Sans KR"/>
              </a:rPr>
              <a:t>2012년 1월부터 2026년 8월까지 매달 첫 거래일에 10만 원씩 176번, 모두 1,760만 원을 넣었습니다. 실제 ETF 가격(배당 재투자)을 썼고 사고팔 때마다 0.15% 비용, 세금 전, 환율 고정입니다.</a:t>
            </a:r>
          </a:p>
          <a:p>
            <a:pPr algn="l" eaLnBrk="0">
              <a:lnSpc>
                <a:spcPct val="132000"/>
              </a:lnSpc>
              <a:spcAft>
                <a:spcPts val="500"/>
              </a:spcAft>
            </a:pPr>
            <a:r>
              <a:rPr sz="950" b="1" lang="ko-KR" altLang="en-US">
                <a:solidFill>
                  <a:srgbClr val="1A1E25"/>
                </a:solidFill>
                <a:latin typeface="Noto Sans KR"/>
                <a:ea typeface="Noto Sans KR"/>
                <a:cs typeface="Noto Sans KR"/>
              </a:rPr>
              <a:t>고정 섞기  </a:t>
            </a:r>
            <a:r>
              <a:rPr sz="950" b="0" lang="ko-KR" altLang="en-US">
                <a:solidFill>
                  <a:srgbClr val="1A1E25"/>
                </a:solidFill>
                <a:latin typeface="Noto Sans KR"/>
                <a:ea typeface="Noto Sans KR"/>
                <a:cs typeface="Noto Sans KR"/>
              </a:rPr>
              <a:t>‘60 + 40 고정’은 매달 첫 거래일에 비율을 60 : 40으로 되돌립니다. 하락 방어는 없습니다.</a:t>
            </a:r>
          </a:p>
          <a:p>
            <a:pPr algn="l" eaLnBrk="0">
              <a:lnSpc>
                <a:spcPct val="132000"/>
              </a:lnSpc>
              <a:spcAft>
                <a:spcPts val="500"/>
              </a:spcAft>
            </a:pPr>
            <a:r>
              <a:rPr sz="950" b="1" lang="ko-KR" altLang="en-US">
                <a:solidFill>
                  <a:srgbClr val="1A1E25"/>
                </a:solidFill>
                <a:latin typeface="Noto Sans KR"/>
                <a:ea typeface="Noto Sans KR"/>
                <a:cs typeface="Noto Sans KR"/>
              </a:rPr>
              <a:t>변동성 조절만  </a:t>
            </a:r>
            <a:r>
              <a:rPr sz="950" b="0" lang="ko-KR" altLang="en-US">
                <a:solidFill>
                  <a:srgbClr val="1A1E25"/>
                </a:solidFill>
                <a:latin typeface="Noto Sans KR"/>
                <a:ea typeface="Noto Sans KR"/>
                <a:cs typeface="Noto Sans KR"/>
              </a:rPr>
              <a:t>Deneb에서 하락 방어(매도 · 보관 · 복귀)만 뺀 것입니다.</a:t>
            </a:r>
          </a:p>
        </p:txBody>
      </p:sp>
      <p:sp>
        <p:nvSpPr>
          <p:cNvPr id="16" name="TextBox 15"/>
          <p:cNvSpPr txBox="1"/>
          <p:nvPr/>
        </p:nvSpPr>
        <p:spPr>
          <a:xfrm>
            <a:off x="7128000" y="1007999"/>
            <a:ext cx="3006000" cy="1944000"/>
          </a:xfrm>
          <a:prstGeom prst="rect">
            <a:avLst/>
          </a:prstGeom>
          <a:noFill/>
        </p:spPr>
        <p:txBody>
          <a:bodyPr wrap="square" lIns="0" rIns="0" tIns="0" bIns="0" anchor="t">
            <a:spAutoFit/>
          </a:bodyPr>
          <a:lstStyle/>
          <a:p>
            <a:pPr algn="l" eaLnBrk="0">
              <a:lnSpc>
                <a:spcPct val="132000"/>
              </a:lnSpc>
              <a:spcAft>
                <a:spcPts val="500"/>
              </a:spcAft>
            </a:pPr>
            <a:r>
              <a:rPr sz="950" b="1" lang="ko-KR" altLang="en-US">
                <a:solidFill>
                  <a:srgbClr val="1A1E25"/>
                </a:solidFill>
                <a:latin typeface="Noto Sans KR"/>
                <a:ea typeface="Noto Sans KR"/>
                <a:cs typeface="Noto Sans KR"/>
              </a:rPr>
              <a:t>연구 결과와 선택  </a:t>
            </a:r>
            <a:r>
              <a:rPr sz="950" b="0" lang="ko-KR" altLang="en-US">
                <a:solidFill>
                  <a:srgbClr val="1A1E25"/>
                </a:solidFill>
                <a:latin typeface="Noto Sans KR"/>
                <a:ea typeface="Noto Sans KR"/>
                <a:cs typeface="Noto Sans KR"/>
              </a:rPr>
              <a:t>1986~2026년 합성 자료 연구에서 3배 60 + 배당주 40 고정은 최대 −98%까지 내렸습니다. 변동성 조절은 낙폭을 −79%로 줄였지만, 미리 정한 기준(2배에서도 5%p 이상 감소)을 못 넘어 연구 판정은 ‘기각’이었습니다. 그래도 사용자가 수익과 낙폭을 보고 이 방식을 골랐고, 이후 하락 방어를 더했습니다.</a:t>
            </a:r>
          </a:p>
          <a:p>
            <a:pPr algn="l" eaLnBrk="0">
              <a:lnSpc>
                <a:spcPct val="132000"/>
              </a:lnSpc>
              <a:spcAft>
                <a:spcPts val="500"/>
              </a:spcAft>
            </a:pPr>
            <a:r>
              <a:rPr sz="950" b="1" lang="ko-KR" altLang="en-US">
                <a:solidFill>
                  <a:srgbClr val="1A1E25"/>
                </a:solidFill>
                <a:latin typeface="Noto Sans KR"/>
                <a:ea typeface="Noto Sans KR"/>
                <a:cs typeface="Noto Sans KR"/>
              </a:rPr>
              <a:t>60%  </a:t>
            </a:r>
            <a:r>
              <a:rPr sz="950" b="0" lang="ko-KR" altLang="en-US">
                <a:solidFill>
                  <a:srgbClr val="1A1E25"/>
                </a:solidFill>
                <a:latin typeface="Noto Sans KR"/>
                <a:ea typeface="Noto Sans KR"/>
                <a:cs typeface="Noto Sans KR"/>
              </a:rPr>
              <a:t>최적값으로 증명된 숫자가 아니라 앞선 비교 연구에서 이어받은 상한입니다. 이 합성 연구 숫자는 아래 실제 ETF 결과와 기간 · 자료가 달라 섞어 비교하지 않습니다.</a:t>
            </a:r>
          </a:p>
        </p:txBody>
      </p:sp>
      <p:cxnSp>
        <p:nvCxnSpPr>
          <p:cNvPr id="17" name="Connector 16"/>
          <p:cNvCxnSpPr/>
          <p:nvPr/>
        </p:nvCxnSpPr>
        <p:spPr>
          <a:xfrm>
            <a:off x="558000" y="3078000"/>
            <a:ext cx="4680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18" name="그림 제목"/>
          <p:cNvSpPr txBox="1"/>
          <p:nvPr/>
        </p:nvSpPr>
        <p:spPr>
          <a:xfrm>
            <a:off x="558000" y="3142800"/>
            <a:ext cx="4680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14년 8개월 적립 후 최종 평가액 · 월 10만 원</a:t>
            </a:r>
          </a:p>
        </p:txBody>
      </p:sp>
      <p:sp>
        <p:nvSpPr>
          <p:cNvPr id="19" name="그림 설명"/>
          <p:cNvSpPr txBox="1"/>
          <p:nvPr/>
        </p:nvSpPr>
        <p:spPr>
          <a:xfrm>
            <a:off x="558000" y="3322800"/>
            <a:ext cx="4680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2012년 1월 ~ 2026년 8월 31일 · 176회 · 원금 1,760만 원 · 단위 만 원 · 세전</a:t>
            </a:r>
          </a:p>
        </p:txBody>
      </p:sp>
      <p:graphicFrame>
        <p:nvGraphicFramePr>
          <p:cNvPr id="20" name="최종 평가액"/>
          <p:cNvGraphicFramePr>
            <a:graphicFrameLocks noGrp="1"/>
          </p:cNvGraphicFramePr>
          <p:nvPr/>
        </p:nvGraphicFramePr>
        <p:xfrm>
          <a:off x="558000" y="3528000"/>
          <a:ext cx="4680000" cy="1835999"/>
        </p:xfrm>
        <a:graphic>
          <a:graphicData uri="http://schemas.openxmlformats.org/drawingml/2006/chart">
            <c:chart xmlns:c="http://schemas.openxmlformats.org/drawingml/2006/chart" r:id="rId2"/>
          </a:graphicData>
        </a:graphic>
      </p:graphicFrame>
      <p:cxnSp>
        <p:nvCxnSpPr>
          <p:cNvPr id="21" name="Connector 20"/>
          <p:cNvCxnSpPr/>
          <p:nvPr/>
        </p:nvCxnSpPr>
        <p:spPr>
          <a:xfrm>
            <a:off x="5454000" y="3078000"/>
            <a:ext cx="4680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2" name="그림 제목"/>
          <p:cNvSpPr txBox="1"/>
          <p:nvPr/>
        </p:nvSpPr>
        <p:spPr>
          <a:xfrm>
            <a:off x="5454000" y="3142800"/>
            <a:ext cx="4679999"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최대 낙폭</a:t>
            </a:r>
          </a:p>
        </p:txBody>
      </p:sp>
      <p:sp>
        <p:nvSpPr>
          <p:cNvPr id="23" name="그림 설명"/>
          <p:cNvSpPr txBox="1"/>
          <p:nvPr/>
        </p:nvSpPr>
        <p:spPr>
          <a:xfrm>
            <a:off x="5454000" y="3322800"/>
            <a:ext cx="4679999"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납입 효과를 뺀 단위 가격의 일간 고점 대비 최대 하락 · 2012-01 ~ 2026-08</a:t>
            </a:r>
          </a:p>
        </p:txBody>
      </p:sp>
      <p:graphicFrame>
        <p:nvGraphicFramePr>
          <p:cNvPr id="24" name="최대 낙폭"/>
          <p:cNvGraphicFramePr>
            <a:graphicFrameLocks noGrp="1"/>
          </p:cNvGraphicFramePr>
          <p:nvPr/>
        </p:nvGraphicFramePr>
        <p:xfrm>
          <a:off x="5454000" y="3528000"/>
          <a:ext cx="4679999" cy="1835999"/>
        </p:xfrm>
        <a:graphic>
          <a:graphicData uri="http://schemas.openxmlformats.org/drawingml/2006/chart">
            <c:chart xmlns:c="http://schemas.openxmlformats.org/drawingml/2006/chart" r:id="rId3"/>
          </a:graphicData>
        </a:graphic>
      </p:graphicFrame>
      <p:graphicFrame>
        <p:nvGraphicFramePr>
          <p:cNvPr id="25" name="표"/>
          <p:cNvGraphicFramePr>
            <a:graphicFrameLocks noGrp="1"/>
          </p:cNvGraphicFramePr>
          <p:nvPr/>
        </p:nvGraphicFramePr>
        <p:xfrm>
          <a:off x="558000" y="5454000"/>
          <a:ext cx="9575991" cy="1296000"/>
        </p:xfrm>
        <a:graphic>
          <a:graphicData uri="http://schemas.openxmlformats.org/drawingml/2006/table">
            <a:tbl>
              <a:tblPr firstRow="0" bandRow="0" firstCol="0" lastCol="0" bandCol="0" lastRow="0">
                <a:tableStyleId>{5940675A-B579-460E-94D1-54222C63F5DA}</a:tableStyleId>
              </a:tblPr>
              <a:tblGrid>
                <a:gridCol w="936000"/>
                <a:gridCol w="959999"/>
                <a:gridCol w="959999"/>
                <a:gridCol w="959999"/>
                <a:gridCol w="959999"/>
                <a:gridCol w="959999"/>
                <a:gridCol w="959999"/>
                <a:gridCol w="959999"/>
                <a:gridCol w="959999"/>
                <a:gridCol w="959999"/>
              </a:tblGrid>
              <a:tr h="2160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10만 원 · 14년 8개월</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QLD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S&amp;P500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60
SCHD 40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QLD 60
SCHD 40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TQQQ 60
SCHD 40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변동성 조절만</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Deneb</a:t>
                      </a:r>
                      <a:endParaRPr sz="800"/>
                    </a:p>
                  </a:txBody>
                  <a:tcPr marL="28800" marR="43200" marT="25200" marB="25200" anchor="b">
                    <a:lnL w="0">
                      <a:noFill/>
                    </a:lnL>
                    <a:lnR w="0">
                      <a:noFill/>
                    </a:lnR>
                    <a:lnT w="9525">
                      <a:solidFill>
                        <a:srgbClr val="1A1E25"/>
                      </a:solidFill>
                    </a:lnT>
                    <a:lnB w="9525">
                      <a:solidFill>
                        <a:srgbClr val="1A1E25"/>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최종 평가액</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8,805만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5,432만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5억 1,272만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5,810만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7,163만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1억 4,449만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6,587만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6,442만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3억 6,111만</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투자이익</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7,045만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3,672만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4억 9,512만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4,050만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5,403만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1억 2,689만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4,827만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4,682만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3억 4,351만</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연복리</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26.4%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34.4%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34.3%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35.6%</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최대 낙폭</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−63.7%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−81.7%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−46.2%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−61.4%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−31.7%</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회복 기간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19개월</a:t>
                      </a:r>
                      <a:endParaRPr sz="850"/>
                    </a:p>
                  </a:txBody>
                  <a:tcPr marL="28800" marR="43200" marT="25200" marB="25200" anchor="ctr">
                    <a:lnL w="0">
                      <a:noFill/>
                    </a:lnL>
                    <a:lnR w="0">
                      <a:noFill/>
                    </a:lnR>
                    <a:lnT w="0">
                      <a:noFill/>
                    </a:lnT>
                    <a:lnB w="6350">
                      <a:solidFill>
                        <a:srgbClr val="C9D0DA"/>
                      </a:solidFill>
                    </a:lnB>
                    <a:solidFill>
                      <a:srgbClr val="EDF1F7"/>
                    </a:solidFill>
                  </a:tcPr>
                </a:tc>
              </a:tr>
            </a:tbl>
          </a:graphicData>
        </a:graphic>
      </p:graphicFrame>
      <p:sp>
        <p:nvSpPr>
          <p:cNvPr id="26" name="TextBox 25"/>
          <p:cNvSpPr txBox="1"/>
          <p:nvPr/>
        </p:nvSpPr>
        <p:spPr>
          <a:xfrm>
            <a:off x="558000" y="6948000"/>
            <a:ext cx="9576000" cy="180000"/>
          </a:xfrm>
          <a:prstGeom prst="rect">
            <a:avLst/>
          </a:prstGeom>
          <a:noFill/>
        </p:spPr>
        <p:txBody>
          <a:bodyPr wrap="square" lIns="0" rIns="0" tIns="0" bIns="0" anchor="t">
            <a:spAutoFit/>
          </a:bodyPr>
          <a:lstStyle/>
          <a:p>
            <a:pPr algn="l" eaLnBrk="0">
              <a:lnSpc>
                <a:spcPct val="132000"/>
              </a:lnSpc>
              <a:spcAft>
                <a:spcPts val="0"/>
              </a:spcAft>
            </a:pPr>
            <a:r>
              <a:rPr sz="750" b="0" lang="ko-KR" altLang="en-US">
                <a:solidFill>
                  <a:srgbClr val="5C6573"/>
                </a:solidFill>
                <a:latin typeface="Noto Sans KR"/>
                <a:ea typeface="Noto Sans KR"/>
                <a:cs typeface="Noto Sans KR"/>
              </a:rPr>
              <a:t>모든 값은 2012년 1월부터 2026년 8월까지 14년 8개월 동안 매달 10만 원을 넣은 결과. 투자이익 = 최종 평가액 − 원금 1,760만 원. 회복 기간 = 최대 낙폭이 시작된 고점에서 그 고점을 다시 넘은 날까지. 금액 단위 원(억 · 만 표기).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비교"/>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비교</a:t>
            </a:r>
          </a:p>
        </p:txBody>
      </p:sp>
      <p:sp>
        <p:nvSpPr>
          <p:cNvPr id="7" name="목차 적금"/>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89400" y="619200"/>
            <a:ext cx="536399" cy="0"/>
          </a:xfrm>
          <a:prstGeom prst="line">
            <a:avLst/>
          </a:prstGeom>
          <a:ln w="25400">
            <a:solidFill>
              <a:srgbClr val="0B3D91"/>
            </a:solidFill>
          </a:ln>
        </p:spPr>
        <p:style>
          <a:lnRef idx="2">
            <a:schemeClr val="accent1"/>
          </a:lnRef>
          <a:fillRef idx="0">
            <a:schemeClr val="accent1"/>
          </a:fillRef>
          <a:effectRef idx="1">
            <a:schemeClr val="accent1"/>
          </a:effectRef>
          <a:fontRef idx="minor">
            <a:schemeClr val="tx1"/>
          </a:fontRef>
        </p:style>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 — 시안</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다섯 납입액의 결과</a:t>
            </a:r>
          </a:p>
        </p:txBody>
      </p:sp>
      <p:sp>
        <p:nvSpPr>
          <p:cNvPr id="14" name="인용 막대"/>
          <p:cNvSpPr/>
          <p:nvPr/>
        </p:nvSpPr>
        <p:spPr>
          <a:xfrm>
            <a:off x="558000" y="1576800"/>
            <a:ext cx="32400" cy="734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48000"/>
            <a:ext cx="2826000" cy="792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14년 8개월 · 같은 날 · 같은 비용입니다. 금액만 다릅니다.</a:t>
            </a:r>
          </a:p>
        </p:txBody>
      </p:sp>
      <p:sp>
        <p:nvSpPr>
          <p:cNvPr id="16" name="TextBox 15"/>
          <p:cNvSpPr txBox="1"/>
          <p:nvPr/>
        </p:nvSpPr>
        <p:spPr>
          <a:xfrm>
            <a:off x="558000" y="2466000"/>
            <a:ext cx="3006000" cy="900000"/>
          </a:xfrm>
          <a:prstGeom prst="rect">
            <a:avLst/>
          </a:prstGeom>
          <a:noFill/>
        </p:spPr>
        <p:txBody>
          <a:bodyPr wrap="square" lIns="0" rIns="0" tIns="0" bIns="0" anchor="t">
            <a:spAutoFit/>
          </a:bodyPr>
          <a:lstStyle/>
          <a:p>
            <a:pPr algn="l" eaLnBrk="0">
              <a:lnSpc>
                <a:spcPct val="132000"/>
              </a:lnSpc>
              <a:spcAft>
                <a:spcPts val="0"/>
              </a:spcAft>
            </a:pPr>
            <a:r>
              <a:rPr sz="950" b="0" lang="ko-KR" altLang="en-US">
                <a:solidFill>
                  <a:srgbClr val="1A1E25"/>
                </a:solidFill>
                <a:latin typeface="Noto Sans KR"/>
                <a:ea typeface="Noto Sans KR"/>
                <a:cs typeface="Noto Sans KR"/>
              </a:rPr>
              <a:t>이 계산은 세금 전 · 소수 주 허용 · 비율 비용이어서 연복리와 낙폭은 금액과 상관없이 같습니다 (Deneb 연 35.6%, QQQ 단독 적립 19.8%, Polaris 12.3%). 그래서 아래 금액만 다섯 줄로 나눠 봅니다.</a:t>
            </a:r>
          </a:p>
        </p:txBody>
      </p:sp>
      <p:cxnSp>
        <p:nvCxnSpPr>
          <p:cNvPr id="17" name="Connector 16"/>
          <p:cNvCxnSpPr/>
          <p:nvPr/>
        </p:nvCxnSpPr>
        <p:spPr>
          <a:xfrm>
            <a:off x="3844800" y="990000"/>
            <a:ext cx="62892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18" name="그림 제목"/>
          <p:cNvSpPr txBox="1"/>
          <p:nvPr/>
        </p:nvSpPr>
        <p:spPr>
          <a:xfrm>
            <a:off x="3844800" y="1054800"/>
            <a:ext cx="62892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14년 8개월 적립 후 최종 평가액 차이 — QQQ 단독 적립과 비교</a:t>
            </a:r>
          </a:p>
        </p:txBody>
      </p:sp>
      <p:sp>
        <p:nvSpPr>
          <p:cNvPr id="19" name="그림 설명"/>
          <p:cNvSpPr txBox="1"/>
          <p:nvPr/>
        </p:nvSpPr>
        <p:spPr>
          <a:xfrm>
            <a:off x="3844800" y="12348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같은 돈으로 QQQ만 샀을 때보다 더 남았으면 오른쪽, 덜 남았으면 왼쪽 · 2026-08-31 · 단위 만 원 · 세전</a:t>
            </a:r>
          </a:p>
        </p:txBody>
      </p:sp>
      <p:graphicFrame>
        <p:nvGraphicFramePr>
          <p:cNvPr id="20" name="QQQ 대비 차이"/>
          <p:cNvGraphicFramePr>
            <a:graphicFrameLocks noGrp="1"/>
          </p:cNvGraphicFramePr>
          <p:nvPr/>
        </p:nvGraphicFramePr>
        <p:xfrm>
          <a:off x="3844800" y="1458000"/>
          <a:ext cx="6289200" cy="1944000"/>
        </p:xfrm>
        <a:graphic>
          <a:graphicData uri="http://schemas.openxmlformats.org/drawingml/2006/chart">
            <c:chart xmlns:c="http://schemas.openxmlformats.org/drawingml/2006/chart" r:id="rId2"/>
          </a:graphicData>
        </a:graphic>
      </p:graphicFrame>
      <p:cxnSp>
        <p:nvCxnSpPr>
          <p:cNvPr id="21" name="Connector 20"/>
          <p:cNvCxnSpPr/>
          <p:nvPr/>
        </p:nvCxnSpPr>
        <p:spPr>
          <a:xfrm>
            <a:off x="558000" y="3654000"/>
            <a:ext cx="957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2" name="그림 제목"/>
          <p:cNvSpPr txBox="1"/>
          <p:nvPr/>
        </p:nvSpPr>
        <p:spPr>
          <a:xfrm>
            <a:off x="558000" y="3718800"/>
            <a:ext cx="957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14년 8개월 적립 후 납입액별 최종 평가액과 투자이익</a:t>
            </a:r>
          </a:p>
        </p:txBody>
      </p:sp>
      <p:sp>
        <p:nvSpPr>
          <p:cNvPr id="23" name="그림 설명"/>
          <p:cNvSpPr txBox="1"/>
          <p:nvPr/>
        </p:nvSpPr>
        <p:spPr>
          <a:xfrm>
            <a:off x="558000" y="38988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 매달 첫 거래일 납입 176회 · 단위 만 원 · 세전 · 투자이익 = 최종 평가액 − 원금</a:t>
            </a:r>
          </a:p>
        </p:txBody>
      </p:sp>
      <p:graphicFrame>
        <p:nvGraphicFramePr>
          <p:cNvPr id="24" name="표"/>
          <p:cNvGraphicFramePr>
            <a:graphicFrameLocks noGrp="1"/>
          </p:cNvGraphicFramePr>
          <p:nvPr/>
        </p:nvGraphicFramePr>
        <p:xfrm>
          <a:off x="558000" y="4140000"/>
          <a:ext cx="9575992" cy="1512000"/>
        </p:xfrm>
        <a:graphic>
          <a:graphicData uri="http://schemas.openxmlformats.org/drawingml/2006/table">
            <a:tbl>
              <a:tblPr firstRow="0" bandRow="0" firstCol="0" lastCol="0" bandCol="0" lastRow="0">
                <a:tableStyleId>{5940675A-B579-460E-94D1-54222C63F5DA}</a:tableStyleId>
              </a:tblPr>
              <a:tblGrid>
                <a:gridCol w="929014"/>
                <a:gridCol w="821820"/>
                <a:gridCol w="982611"/>
                <a:gridCol w="982611"/>
                <a:gridCol w="982611"/>
                <a:gridCol w="982611"/>
                <a:gridCol w="982611"/>
                <a:gridCol w="982611"/>
                <a:gridCol w="964746"/>
                <a:gridCol w="964746"/>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원금</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적립과 차이</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r>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평가액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투자이익</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평가액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투자이익</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평가액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투자이익</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0">
                      <a:no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34,351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3,317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+27,307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−3,728</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72,222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68,702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14,089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10,153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6,633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+54,613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−7,456</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30만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108,334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103,054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21,134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15,230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9,950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+81,920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−11,183</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50만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180,556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171,756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44,023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16,584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+136,533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−18,639</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343,512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70,445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33,167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+273,067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−37,278</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5" name="Connector 24"/>
          <p:cNvCxnSpPr/>
          <p:nvPr/>
        </p:nvCxnSpPr>
        <p:spPr>
          <a:xfrm>
            <a:off x="558000" y="5886000"/>
            <a:ext cx="30060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읽는 법  </a:t>
            </a:r>
            <a:r>
              <a:rPr sz="900" b="0" lang="ko-KR" altLang="en-US">
                <a:solidFill>
                  <a:srgbClr val="1A1E25"/>
                </a:solidFill>
                <a:latin typeface="Noto Sans KR"/>
                <a:ea typeface="Noto Sans KR"/>
                <a:cs typeface="Noto Sans KR"/>
              </a:rPr>
              <a:t>최종 평가액은 넣은 원금이 포함된 금액입니다. 원금을 뺀 투자이익을 따로 봐야 합니다. 예: 월 10만 원 QQQ 단독 적립은 8,805만 원이 남았고 그중 7,045만 원이 투자이익입니다.</a:t>
            </a:r>
          </a:p>
        </p:txBody>
      </p:sp>
      <p:cxnSp>
        <p:nvCxnSpPr>
          <p:cNvPr id="27" name="Connector 26"/>
          <p:cNvCxnSpPr/>
          <p:nvPr/>
        </p:nvCxnSpPr>
        <p:spPr>
          <a:xfrm>
            <a:off x="3844800" y="5886000"/>
            <a:ext cx="30060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448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돈으로 본 흔들림  </a:t>
            </a:r>
            <a:r>
              <a:rPr sz="900" b="0" lang="ko-KR" altLang="en-US">
                <a:solidFill>
                  <a:srgbClr val="1A1E25"/>
                </a:solidFill>
                <a:latin typeface="Noto Sans KR"/>
                <a:ea typeface="Noto Sans KR"/>
                <a:cs typeface="Noto Sans KR"/>
              </a:rPr>
              <a:t>비율이 같아도 금액이 크면 체감이 다릅니다. 월 10만 원 Deneb 평가액은 2024년 12월 2억 2,316만 원에서 2025년 4월까지 4,082만 원 줄었습니다. 월 100만 원이면 같은 기간 4억 817만 원이 줄어듭니다.</a:t>
            </a:r>
          </a:p>
        </p:txBody>
      </p:sp>
      <p:cxnSp>
        <p:nvCxnSpPr>
          <p:cNvPr id="29" name="Connector 28"/>
          <p:cNvCxnSpPr/>
          <p:nvPr/>
        </p:nvCxnSpPr>
        <p:spPr>
          <a:xfrm>
            <a:off x="7128000" y="5886000"/>
            <a:ext cx="30060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12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비례가 깨지는 경우  </a:t>
            </a:r>
            <a:r>
              <a:rPr sz="900" b="0" lang="ko-KR" altLang="en-US">
                <a:solidFill>
                  <a:srgbClr val="1A1E25"/>
                </a:solidFill>
                <a:latin typeface="Noto Sans KR"/>
                <a:ea typeface="Noto Sans KR"/>
                <a:cs typeface="Noto Sans KR"/>
              </a:rPr>
              <a:t>실제 계좌에서는 정수 주 매수, 최소 주문 금액, 해외주식 양도세(연 250만 원 공제 뒤 22%), 환율 때문에 금액이 정확히 비례하지 않습니다. 이 표는 실제 주문 결과가 아니라 설명용 계산입니다.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비교"/>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비교</a:t>
            </a:r>
          </a:p>
        </p:txBody>
      </p:sp>
      <p:sp>
        <p:nvSpPr>
          <p:cNvPr id="7" name="목차 적금"/>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89400" y="619200"/>
            <a:ext cx="536399" cy="0"/>
          </a:xfrm>
          <a:prstGeom prst="line">
            <a:avLst/>
          </a:prstGeom>
          <a:ln w="25400">
            <a:solidFill>
              <a:srgbClr val="0B3D91"/>
            </a:solidFill>
          </a:ln>
        </p:spPr>
        <p:style>
          <a:lnRef idx="2">
            <a:schemeClr val="accent1"/>
          </a:lnRef>
          <a:fillRef idx="0">
            <a:schemeClr val="accent1"/>
          </a:fillRef>
          <a:effectRef idx="1">
            <a:schemeClr val="accent1"/>
          </a:effectRef>
          <a:fontRef idx="minor">
            <a:schemeClr val="tx1"/>
          </a:fontRef>
        </p:style>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 — 시안</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4</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기간별 자산 변화</a:t>
            </a:r>
          </a:p>
        </p:txBody>
      </p:sp>
      <p:sp>
        <p:nvSpPr>
          <p:cNvPr id="14" name="인용 막대"/>
          <p:cNvSpPr/>
          <p:nvPr/>
        </p:nvSpPr>
        <p:spPr>
          <a:xfrm>
            <a:off x="558000" y="1576800"/>
            <a:ext cx="32400" cy="734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48000"/>
            <a:ext cx="2826000" cy="792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14년을 한 그림에 넣으면 앞쪽 몇 해가 바닥에 붙어 버립니다.</a:t>
            </a:r>
          </a:p>
        </p:txBody>
      </p:sp>
      <p:sp>
        <p:nvSpPr>
          <p:cNvPr id="16" name="TextBox 15"/>
          <p:cNvSpPr txBox="1"/>
          <p:nvPr/>
        </p:nvSpPr>
        <p:spPr>
          <a:xfrm>
            <a:off x="558000" y="2466000"/>
            <a:ext cx="3006000" cy="1512000"/>
          </a:xfrm>
          <a:prstGeom prst="rect">
            <a:avLst/>
          </a:prstGeom>
          <a:noFill/>
        </p:spPr>
        <p:txBody>
          <a:bodyPr wrap="square" lIns="0" rIns="0" tIns="0" bIns="0" anchor="t">
            <a:spAutoFit/>
          </a:bodyPr>
          <a:lstStyle/>
          <a:p>
            <a:pPr algn="l" eaLnBrk="0">
              <a:lnSpc>
                <a:spcPct val="132000"/>
              </a:lnSpc>
              <a:spcAft>
                <a:spcPts val="600"/>
              </a:spcAft>
            </a:pPr>
            <a:r>
              <a:rPr sz="950" b="0" lang="ko-KR" altLang="en-US">
                <a:solidFill>
                  <a:srgbClr val="1A1E25"/>
                </a:solidFill>
                <a:latin typeface="Noto Sans KR"/>
                <a:ea typeface="Noto Sans KR"/>
                <a:cs typeface="Noto Sans KR"/>
              </a:rPr>
              <a:t>그래서 네 구간으로 나눠 구간마다 세로축을 따로 잡았습니다. 칸마다 세로축 숫자가 다르니 칸끼리 선 높이를 비교하지 말고, 같은 칸 안에서 선끼리 비교하세요.</a:t>
            </a:r>
          </a:p>
          <a:p>
            <a:pPr algn="l" eaLnBrk="0">
              <a:lnSpc>
                <a:spcPct val="132000"/>
              </a:lnSpc>
              <a:spcAft>
                <a:spcPts val="600"/>
              </a:spcAft>
            </a:pPr>
            <a:r>
              <a:rPr sz="950" b="0" lang="ko-KR" altLang="en-US">
                <a:solidFill>
                  <a:srgbClr val="1A1E25"/>
                </a:solidFill>
                <a:latin typeface="Noto Sans KR"/>
                <a:ea typeface="Noto Sans KR"/>
                <a:cs typeface="Noto Sans KR"/>
              </a:rPr>
              <a:t>모든 선은 2012년 1월부터 매달 10만 원을 넣은 같은 계좌입니다. 다른 납입액은 3쪽 표처럼 금액만 비례해서 커집니다.</a:t>
            </a:r>
          </a:p>
        </p:txBody>
      </p:sp>
      <p:cxnSp>
        <p:nvCxnSpPr>
          <p:cNvPr id="17" name="Connector 16"/>
          <p:cNvCxnSpPr/>
          <p:nvPr/>
        </p:nvCxnSpPr>
        <p:spPr>
          <a:xfrm>
            <a:off x="558000" y="4031999"/>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18" name="그림 제목"/>
          <p:cNvSpPr txBox="1"/>
          <p:nvPr/>
        </p:nvSpPr>
        <p:spPr>
          <a:xfrm>
            <a:off x="558000" y="4096799"/>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구간 끝 평가액 · 월 10만 원</a:t>
            </a:r>
          </a:p>
        </p:txBody>
      </p:sp>
      <p:sp>
        <p:nvSpPr>
          <p:cNvPr id="19" name="그림 설명"/>
          <p:cNvSpPr txBox="1"/>
          <p:nvPr/>
        </p:nvSpPr>
        <p:spPr>
          <a:xfrm>
            <a:off x="558000" y="4276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2012년 1월 첫 납입부터 센 적립 기간 · 단위 만 원 · 세전</a:t>
            </a:r>
          </a:p>
        </p:txBody>
      </p:sp>
      <p:graphicFrame>
        <p:nvGraphicFramePr>
          <p:cNvPr id="20" name="표"/>
          <p:cNvGraphicFramePr>
            <a:graphicFrameLocks noGrp="1"/>
          </p:cNvGraphicFramePr>
          <p:nvPr/>
        </p:nvGraphicFramePr>
        <p:xfrm>
          <a:off x="558000" y="4482000"/>
          <a:ext cx="3005998" cy="1252800"/>
        </p:xfrm>
        <a:graphic>
          <a:graphicData uri="http://schemas.openxmlformats.org/drawingml/2006/table">
            <a:tbl>
              <a:tblPr firstRow="0" bandRow="0" firstCol="0" lastCol="0" bandCol="0" lastRow="0">
                <a:tableStyleId>{5940675A-B579-460E-94D1-54222C63F5DA}</a:tableStyleId>
              </a:tblPr>
              <a:tblGrid>
                <a:gridCol w="503999"/>
                <a:gridCol w="666000"/>
                <a:gridCol w="378000"/>
                <a:gridCol w="503999"/>
                <a:gridCol w="522000"/>
                <a:gridCol w="432000"/>
              </a:tblGrid>
              <a:tr h="2088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달말</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적립 기간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Deneb</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Polaris</a:t>
                      </a:r>
                      <a:endParaRPr sz="800"/>
                    </a:p>
                  </a:txBody>
                  <a:tcPr marL="28800" marR="43200" marT="25200" marB="25200" anchor="b">
                    <a:lnL w="0">
                      <a:noFill/>
                    </a:lnL>
                    <a:lnR w="0">
                      <a:noFill/>
                    </a:lnR>
                    <a:lnT w="9525">
                      <a:solidFill>
                        <a:srgbClr val="1A1E25"/>
                      </a:solidFill>
                    </a:lnT>
                    <a:lnB w="9525">
                      <a:solidFill>
                        <a:srgbClr val="1A1E25"/>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2015.12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679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546</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2019.12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960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3,046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2,056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1,493</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2021.12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10,450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4,226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2,473</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2022.12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1,320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7,840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2,951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2,120</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2026.08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14년 8개월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1,760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36,111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8,805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5,077</a:t>
                      </a:r>
                      <a:endParaRPr sz="850"/>
                    </a:p>
                  </a:txBody>
                  <a:tcPr marL="28800" marR="43200" marT="25200" marB="25200" anchor="ctr">
                    <a:lnL w="0">
                      <a:noFill/>
                    </a:lnL>
                    <a:lnR w="0">
                      <a:noFill/>
                    </a:lnR>
                    <a:lnT w="0">
                      <a:noFill/>
                    </a:lnT>
                    <a:lnB w="6350">
                      <a:solidFill>
                        <a:srgbClr val="C9D0DA"/>
                      </a:solidFill>
                    </a:lnB>
                    <a:noFill/>
                  </a:tcPr>
                </a:tc>
              </a:tr>
            </a:tbl>
          </a:graphicData>
        </a:graphic>
      </p:graphicFrame>
      <p:sp>
        <p:nvSpPr>
          <p:cNvPr id="21" name="TextBox 20"/>
          <p:cNvSpPr txBox="1"/>
          <p:nvPr/>
        </p:nvSpPr>
        <p:spPr>
          <a:xfrm>
            <a:off x="558000" y="5940000"/>
            <a:ext cx="3006000" cy="1080000"/>
          </a:xfrm>
          <a:prstGeom prst="rect">
            <a:avLst/>
          </a:prstGeom>
          <a:noFill/>
        </p:spPr>
        <p:txBody>
          <a:bodyPr wrap="square" lIns="0" rIns="0" tIns="0" bIns="0" anchor="t">
            <a:spAutoFit/>
          </a:bodyPr>
          <a:lstStyle/>
          <a:p>
            <a:pPr algn="l" eaLnBrk="0">
              <a:lnSpc>
                <a:spcPct val="132000"/>
              </a:lnSpc>
              <a:spcAft>
                <a:spcPts val="0"/>
              </a:spcAft>
            </a:pPr>
            <a:r>
              <a:rPr sz="900" b="0" lang="ko-KR" altLang="en-US">
                <a:solidFill>
                  <a:srgbClr val="1A1E25"/>
                </a:solidFill>
                <a:latin typeface="Noto Sans KR"/>
                <a:ea typeface="Noto Sans KR"/>
                <a:cs typeface="Noto Sans KR"/>
              </a:rPr>
              <a:t>2022년 한 해 동안 Deneb는 10,450만 원에서 7,840만 원으로, QQQ 단독 적립은 4,226만 원에서 2,951만 원으로 줄었습니다. 그사이 넣은 120만 원이 포함된 금액입니다.</a:t>
            </a:r>
          </a:p>
        </p:txBody>
      </p:sp>
      <p:cxnSp>
        <p:nvCxnSpPr>
          <p:cNvPr id="22" name="Connector 21"/>
          <p:cNvCxnSpPr/>
          <p:nvPr/>
        </p:nvCxnSpPr>
        <p:spPr>
          <a:xfrm>
            <a:off x="3844800" y="1116000"/>
            <a:ext cx="324000" cy="0"/>
          </a:xfrm>
          <a:prstGeom prst="line">
            <a:avLst/>
          </a:prstGeom>
          <a:ln w="28575">
            <a:solidFill>
              <a:srgbClr val="0B3D9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228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Deneb</a:t>
            </a:r>
          </a:p>
        </p:txBody>
      </p:sp>
      <p:cxnSp>
        <p:nvCxnSpPr>
          <p:cNvPr id="24" name="Connector 23"/>
          <p:cNvCxnSpPr/>
          <p:nvPr/>
        </p:nvCxnSpPr>
        <p:spPr>
          <a:xfrm>
            <a:off x="4996800" y="1116000"/>
            <a:ext cx="324000" cy="0"/>
          </a:xfrm>
          <a:prstGeom prst="line">
            <a:avLst/>
          </a:prstGeom>
          <a:ln w="25400">
            <a:solidFill>
              <a:srgbClr val="E07A1F"/>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748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QQQ 단독 적립</a:t>
            </a:r>
          </a:p>
        </p:txBody>
      </p:sp>
      <p:cxnSp>
        <p:nvCxnSpPr>
          <p:cNvPr id="26" name="Connector 25"/>
          <p:cNvCxnSpPr/>
          <p:nvPr/>
        </p:nvCxnSpPr>
        <p:spPr>
          <a:xfrm>
            <a:off x="6537600" y="1116000"/>
            <a:ext cx="324000" cy="0"/>
          </a:xfrm>
          <a:prstGeom prst="line">
            <a:avLst/>
          </a:prstGeom>
          <a:ln w="25400">
            <a:solidFill>
              <a:srgbClr val="1E9A8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9156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Polaris</a:t>
            </a:r>
          </a:p>
        </p:txBody>
      </p:sp>
      <p:cxnSp>
        <p:nvCxnSpPr>
          <p:cNvPr id="28" name="Connector 27"/>
          <p:cNvCxnSpPr/>
          <p:nvPr/>
        </p:nvCxnSpPr>
        <p:spPr>
          <a:xfrm>
            <a:off x="7883999" y="1116000"/>
            <a:ext cx="324000" cy="0"/>
          </a:xfrm>
          <a:prstGeom prst="line">
            <a:avLst/>
          </a:prstGeom>
          <a:ln w="12700">
            <a:solidFill>
              <a:srgbClr val="1A1E25"/>
            </a:solidFill>
            <a:prstDash val="sys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2620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넣은 원금 누계</a:t>
            </a:r>
          </a:p>
        </p:txBody>
      </p:sp>
      <p:cxnSp>
        <p:nvCxnSpPr>
          <p:cNvPr id="30" name="Connector 29"/>
          <p:cNvCxnSpPr/>
          <p:nvPr/>
        </p:nvCxnSpPr>
        <p:spPr>
          <a:xfrm>
            <a:off x="3844800" y="1350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31" name="그림 제목"/>
          <p:cNvSpPr txBox="1"/>
          <p:nvPr/>
        </p:nvSpPr>
        <p:spPr>
          <a:xfrm>
            <a:off x="3844800" y="1414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2012~2015년</a:t>
            </a:r>
          </a:p>
        </p:txBody>
      </p:sp>
      <p:sp>
        <p:nvSpPr>
          <p:cNvPr id="32" name="그림 설명"/>
          <p:cNvSpPr txBox="1"/>
          <p:nvPr/>
        </p:nvSpPr>
        <p:spPr>
          <a:xfrm>
            <a:off x="3844800" y="1594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480만 원</a:t>
            </a:r>
          </a:p>
        </p:txBody>
      </p:sp>
      <p:graphicFrame>
        <p:nvGraphicFramePr>
          <p:cNvPr id="33" name="2012~2015 평가액"/>
          <p:cNvGraphicFramePr>
            <a:graphicFrameLocks noGrp="1"/>
          </p:cNvGraphicFramePr>
          <p:nvPr/>
        </p:nvGraphicFramePr>
        <p:xfrm>
          <a:off x="3844800" y="1782000"/>
          <a:ext cx="3006000" cy="2268000"/>
        </p:xfrm>
        <a:graphic>
          <a:graphicData uri="http://schemas.openxmlformats.org/drawingml/2006/chart">
            <c:chart xmlns:c="http://schemas.openxmlformats.org/drawingml/2006/chart" r:id="rId2"/>
          </a:graphicData>
        </a:graphic>
      </p:graphicFrame>
      <p:cxnSp>
        <p:nvCxnSpPr>
          <p:cNvPr id="34" name="Connector 33"/>
          <p:cNvCxnSpPr/>
          <p:nvPr/>
        </p:nvCxnSpPr>
        <p:spPr>
          <a:xfrm>
            <a:off x="7128000" y="1350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35" name="그림 제목"/>
          <p:cNvSpPr txBox="1"/>
          <p:nvPr/>
        </p:nvSpPr>
        <p:spPr>
          <a:xfrm>
            <a:off x="7128000" y="1414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2016~2019년</a:t>
            </a:r>
          </a:p>
        </p:txBody>
      </p:sp>
      <p:sp>
        <p:nvSpPr>
          <p:cNvPr id="36" name="그림 설명"/>
          <p:cNvSpPr txBox="1"/>
          <p:nvPr/>
        </p:nvSpPr>
        <p:spPr>
          <a:xfrm>
            <a:off x="7128000" y="1594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960만 원</a:t>
            </a:r>
          </a:p>
        </p:txBody>
      </p:sp>
      <p:graphicFrame>
        <p:nvGraphicFramePr>
          <p:cNvPr id="37" name="2016~2019 평가액"/>
          <p:cNvGraphicFramePr>
            <a:graphicFrameLocks noGrp="1"/>
          </p:cNvGraphicFramePr>
          <p:nvPr/>
        </p:nvGraphicFramePr>
        <p:xfrm>
          <a:off x="7128000" y="1782000"/>
          <a:ext cx="3006000" cy="2268000"/>
        </p:xfrm>
        <a:graphic>
          <a:graphicData uri="http://schemas.openxmlformats.org/drawingml/2006/chart">
            <c:chart xmlns:c="http://schemas.openxmlformats.org/drawingml/2006/chart" r:id="rId3"/>
          </a:graphicData>
        </a:graphic>
      </p:graphicFrame>
      <p:cxnSp>
        <p:nvCxnSpPr>
          <p:cNvPr id="38" name="Connector 37"/>
          <p:cNvCxnSpPr/>
          <p:nvPr/>
        </p:nvCxnSpPr>
        <p:spPr>
          <a:xfrm>
            <a:off x="3844800" y="4176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39" name="그림 제목"/>
          <p:cNvSpPr txBox="1"/>
          <p:nvPr/>
        </p:nvSpPr>
        <p:spPr>
          <a:xfrm>
            <a:off x="3844800" y="4240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2020~2022년</a:t>
            </a:r>
          </a:p>
        </p:txBody>
      </p:sp>
      <p:sp>
        <p:nvSpPr>
          <p:cNvPr id="40" name="그림 설명"/>
          <p:cNvSpPr txBox="1"/>
          <p:nvPr/>
        </p:nvSpPr>
        <p:spPr>
          <a:xfrm>
            <a:off x="3844800" y="4420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1,320만 원</a:t>
            </a:r>
          </a:p>
        </p:txBody>
      </p:sp>
      <p:graphicFrame>
        <p:nvGraphicFramePr>
          <p:cNvPr id="41" name="2020~2022 평가액"/>
          <p:cNvGraphicFramePr>
            <a:graphicFrameLocks noGrp="1"/>
          </p:cNvGraphicFramePr>
          <p:nvPr/>
        </p:nvGraphicFramePr>
        <p:xfrm>
          <a:off x="3844800" y="4608000"/>
          <a:ext cx="3006000" cy="2268000"/>
        </p:xfrm>
        <a:graphic>
          <a:graphicData uri="http://schemas.openxmlformats.org/drawingml/2006/chart">
            <c:chart xmlns:c="http://schemas.openxmlformats.org/drawingml/2006/chart" r:id="rId4"/>
          </a:graphicData>
        </a:graphic>
      </p:graphicFrame>
      <p:cxnSp>
        <p:nvCxnSpPr>
          <p:cNvPr id="42" name="Connector 41"/>
          <p:cNvCxnSpPr/>
          <p:nvPr/>
        </p:nvCxnSpPr>
        <p:spPr>
          <a:xfrm>
            <a:off x="7128000" y="4176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43" name="그림 제목"/>
          <p:cNvSpPr txBox="1"/>
          <p:nvPr/>
        </p:nvSpPr>
        <p:spPr>
          <a:xfrm>
            <a:off x="7128000" y="4240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2023~2026년 (8월까지)</a:t>
            </a:r>
          </a:p>
        </p:txBody>
      </p:sp>
      <p:sp>
        <p:nvSpPr>
          <p:cNvPr id="44" name="그림 설명"/>
          <p:cNvSpPr txBox="1"/>
          <p:nvPr/>
        </p:nvSpPr>
        <p:spPr>
          <a:xfrm>
            <a:off x="7128000" y="4420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1,760만 원</a:t>
            </a:r>
          </a:p>
        </p:txBody>
      </p:sp>
      <p:graphicFrame>
        <p:nvGraphicFramePr>
          <p:cNvPr id="45" name="2023~2026 평가액"/>
          <p:cNvGraphicFramePr>
            <a:graphicFrameLocks noGrp="1"/>
          </p:cNvGraphicFramePr>
          <p:nvPr/>
        </p:nvGraphicFramePr>
        <p:xfrm>
          <a:off x="7128000" y="4608000"/>
          <a:ext cx="3006000" cy="2268000"/>
        </p:xfrm>
        <a:graphic>
          <a:graphicData uri="http://schemas.openxmlformats.org/drawingml/2006/chart">
            <c:chart xmlns:c="http://schemas.openxmlformats.org/drawingml/2006/chart" r:id="rId5"/>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판넬"/>
          <p:cNvSpPr/>
          <p:nvPr/>
        </p:nvSpPr>
        <p:spPr>
          <a:xfrm>
            <a:off x="0" y="0"/>
            <a:ext cx="3708000" cy="7560000"/>
          </a:xfrm>
          <a:prstGeom prst="rect">
            <a:avLst/>
          </a:prstGeom>
          <a:solidFill>
            <a:srgbClr val="0A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표지 원"/>
          <p:cNvSpPr/>
          <p:nvPr/>
        </p:nvSpPr>
        <p:spPr>
          <a:xfrm>
            <a:off x="558000" y="270000"/>
            <a:ext cx="450000" cy="450000"/>
          </a:xfrm>
          <a:prstGeom prst="ellipse">
            <a:avLst/>
          </a:prstGeom>
          <a:no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FFFFFF"/>
                </a:solidFill>
                <a:latin typeface="Noto Sans KR"/>
                <a:ea typeface="Noto Sans KR"/>
                <a:cs typeface="Noto Sans KR"/>
              </a:rPr>
              <a:t>D·P</a:t>
            </a:r>
          </a:p>
        </p:txBody>
      </p:sp>
      <p:sp>
        <p:nvSpPr>
          <p:cNvPr id="4"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5"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6"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Polaris</a:t>
            </a:r>
          </a:p>
        </p:txBody>
      </p:sp>
      <p:sp>
        <p:nvSpPr>
          <p:cNvPr id="7" name="목차 비교"/>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비교</a:t>
            </a:r>
          </a:p>
        </p:txBody>
      </p:sp>
      <p:sp>
        <p:nvSpPr>
          <p:cNvPr id="8" name="목차 적금"/>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9"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10" name="Connector 9"/>
          <p:cNvCxnSpPr/>
          <p:nvPr/>
        </p:nvCxnSpPr>
        <p:spPr>
          <a:xfrm>
            <a:off x="3844800" y="619200"/>
            <a:ext cx="62892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41200" y="619200"/>
            <a:ext cx="752400" cy="0"/>
          </a:xfrm>
          <a:prstGeom prst="line">
            <a:avLst/>
          </a:prstGeom>
          <a:ln w="25400">
            <a:solidFill>
              <a:srgbClr val="0B3D91"/>
            </a:solidFill>
          </a:ln>
        </p:spPr>
        <p:style>
          <a:lnRef idx="2">
            <a:schemeClr val="accent1"/>
          </a:lnRef>
          <a:fillRef idx="0">
            <a:schemeClr val="accent1"/>
          </a:fillRef>
          <a:effectRef idx="1">
            <a:schemeClr val="accent1"/>
          </a:effectRef>
          <a:fontRef idx="minor">
            <a:schemeClr val="tx1"/>
          </a:fontRef>
        </p:style>
      </p:cxnSp>
      <p:sp>
        <p:nvSpPr>
          <p:cNvPr id="12"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FFFFFF"/>
                </a:solidFill>
                <a:latin typeface="Noto Sans KR"/>
                <a:ea typeface="Noto Sans KR"/>
                <a:cs typeface="Noto Sans KR"/>
              </a:rPr>
              <a:t>Deneb · Polaris 투자 전략 설명서 — 시안</a:t>
            </a:r>
          </a:p>
        </p:txBody>
      </p:sp>
      <p:sp>
        <p:nvSpPr>
          <p:cNvPr id="13"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5</a:t>
            </a:r>
          </a:p>
        </p:txBody>
      </p:sp>
      <p:sp>
        <p:nvSpPr>
          <p:cNvPr id="14" name="제목"/>
          <p:cNvSpPr txBox="1"/>
          <p:nvPr/>
        </p:nvSpPr>
        <p:spPr>
          <a:xfrm>
            <a:off x="558000" y="990000"/>
            <a:ext cx="2934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FFFFFF"/>
                </a:solidFill>
                <a:latin typeface="Malgun Gothic Semilight"/>
                <a:ea typeface="Malgun Gothic Semilight"/>
                <a:cs typeface="Malgun Gothic Semilight"/>
              </a:rPr>
              <a:t>Polaris의
채권과 금</a:t>
            </a:r>
          </a:p>
        </p:txBody>
      </p:sp>
      <p:sp>
        <p:nvSpPr>
          <p:cNvPr id="15" name="TextBox 14"/>
          <p:cNvSpPr txBox="1"/>
          <p:nvPr/>
        </p:nvSpPr>
        <p:spPr>
          <a:xfrm>
            <a:off x="558000" y="1925999"/>
            <a:ext cx="2897999" cy="864000"/>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FFFFFF"/>
                </a:solidFill>
                <a:latin typeface="Noto Sans KR"/>
                <a:ea typeface="Noto Sans KR"/>
                <a:cs typeface="Noto Sans KR"/>
              </a:rPr>
              <a:t>미국 주식 60%에 미국 국채 20%와 금 20%를 섞어, 주식만 들고 있을 때보다 흔들림을 줄이려는 적립식 배분입니다.</a:t>
            </a:r>
          </a:p>
        </p:txBody>
      </p:sp>
      <p:graphicFrame>
        <p:nvGraphicFramePr>
          <p:cNvPr id="16" name="Polaris 구성"/>
          <p:cNvGraphicFramePr>
            <a:graphicFrameLocks noGrp="1"/>
          </p:cNvGraphicFramePr>
          <p:nvPr/>
        </p:nvGraphicFramePr>
        <p:xfrm>
          <a:off x="486000" y="2736000"/>
          <a:ext cx="1584000" cy="1584000"/>
        </p:xfrm>
        <a:graphic>
          <a:graphicData uri="http://schemas.openxmlformats.org/drawingml/2006/chart">
            <c:chart xmlns:c="http://schemas.openxmlformats.org/drawingml/2006/chart" r:id="rId2"/>
          </a:graphicData>
        </a:graphic>
      </p:graphicFrame>
      <p:sp>
        <p:nvSpPr>
          <p:cNvPr id="17" name="TextBox 16"/>
          <p:cNvSpPr txBox="1"/>
          <p:nvPr/>
        </p:nvSpPr>
        <p:spPr>
          <a:xfrm>
            <a:off x="2178000" y="2790000"/>
            <a:ext cx="1313999" cy="1548000"/>
          </a:xfrm>
          <a:prstGeom prst="rect">
            <a:avLst/>
          </a:prstGeom>
          <a:noFill/>
        </p:spPr>
        <p:txBody>
          <a:bodyPr wrap="square" lIns="0" rIns="0" tIns="0" bIns="0" anchor="t">
            <a:spAutoFit/>
          </a:bodyPr>
          <a:lstStyle/>
          <a:p>
            <a:pPr algn="l" eaLnBrk="0">
              <a:lnSpc>
                <a:spcPct val="115000"/>
              </a:lnSpc>
              <a:spcAft>
                <a:spcPts val="100"/>
              </a:spcAft>
            </a:pPr>
            <a:r>
              <a:rPr sz="850" b="1" lang="ko-KR" altLang="en-US">
                <a:solidFill>
                  <a:srgbClr val="FFFFFF"/>
                </a:solidFill>
                <a:latin typeface="Noto Sans KR"/>
                <a:ea typeface="Noto Sans KR"/>
                <a:cs typeface="Noto Sans KR"/>
              </a:rPr>
              <a:t>30%  SPYM</a:t>
            </a:r>
          </a:p>
          <a:p>
            <a:pPr algn="l" eaLnBrk="0">
              <a:lnSpc>
                <a:spcPct val="115000"/>
              </a:lnSpc>
              <a:spcAft>
                <a:spcPts val="100"/>
              </a:spcAft>
            </a:pPr>
            <a:r>
              <a:rPr sz="850" b="0" lang="ko-KR" altLang="en-US">
                <a:solidFill>
                  <a:srgbClr val="FFFFFF"/>
                </a:solidFill>
                <a:latin typeface="Noto Sans KR"/>
                <a:ea typeface="Noto Sans KR"/>
                <a:cs typeface="Noto Sans KR"/>
              </a:rPr>
              <a:t>S&amp;P500 미국 대형주 500곳</a:t>
            </a:r>
          </a:p>
          <a:p>
            <a:pPr algn="l" eaLnBrk="0">
              <a:lnSpc>
                <a:spcPct val="115000"/>
              </a:lnSpc>
              <a:spcAft>
                <a:spcPts val="100"/>
              </a:spcAft>
            </a:pPr>
            <a:r>
              <a:rPr sz="850" b="1" lang="ko-KR" altLang="en-US">
                <a:solidFill>
                  <a:srgbClr val="FFFFFF"/>
                </a:solidFill>
                <a:latin typeface="Noto Sans KR"/>
                <a:ea typeface="Noto Sans KR"/>
                <a:cs typeface="Noto Sans KR"/>
              </a:rPr>
              <a:t>30%  QQQM</a:t>
            </a:r>
          </a:p>
          <a:p>
            <a:pPr algn="l" eaLnBrk="0">
              <a:lnSpc>
                <a:spcPct val="115000"/>
              </a:lnSpc>
              <a:spcAft>
                <a:spcPts val="100"/>
              </a:spcAft>
            </a:pPr>
            <a:r>
              <a:rPr sz="850" b="0" lang="ko-KR" altLang="en-US">
                <a:solidFill>
                  <a:srgbClr val="FFFFFF"/>
                </a:solidFill>
                <a:latin typeface="Noto Sans KR"/>
                <a:ea typeface="Noto Sans KR"/>
                <a:cs typeface="Noto Sans KR"/>
              </a:rPr>
              <a:t>나스닥100 (QQQ와 같은 지수)</a:t>
            </a:r>
          </a:p>
          <a:p>
            <a:pPr algn="l" eaLnBrk="0">
              <a:lnSpc>
                <a:spcPct val="115000"/>
              </a:lnSpc>
              <a:spcAft>
                <a:spcPts val="100"/>
              </a:spcAft>
            </a:pPr>
            <a:r>
              <a:rPr sz="850" b="1" lang="ko-KR" altLang="en-US">
                <a:solidFill>
                  <a:srgbClr val="FFFFFF"/>
                </a:solidFill>
                <a:latin typeface="Noto Sans KR"/>
                <a:ea typeface="Noto Sans KR"/>
                <a:cs typeface="Noto Sans KR"/>
              </a:rPr>
              <a:t>20%  IEF</a:t>
            </a:r>
          </a:p>
          <a:p>
            <a:pPr algn="l" eaLnBrk="0">
              <a:lnSpc>
                <a:spcPct val="115000"/>
              </a:lnSpc>
              <a:spcAft>
                <a:spcPts val="100"/>
              </a:spcAft>
            </a:pPr>
            <a:r>
              <a:rPr sz="850" b="0" lang="ko-KR" altLang="en-US">
                <a:solidFill>
                  <a:srgbClr val="FFFFFF"/>
                </a:solidFill>
                <a:latin typeface="Noto Sans KR"/>
                <a:ea typeface="Noto Sans KR"/>
                <a:cs typeface="Noto Sans KR"/>
              </a:rPr>
              <a:t>미국 국채 7~10년</a:t>
            </a:r>
          </a:p>
          <a:p>
            <a:pPr algn="l" eaLnBrk="0">
              <a:lnSpc>
                <a:spcPct val="115000"/>
              </a:lnSpc>
              <a:spcAft>
                <a:spcPts val="100"/>
              </a:spcAft>
            </a:pPr>
            <a:r>
              <a:rPr sz="850" b="1" lang="ko-KR" altLang="en-US">
                <a:solidFill>
                  <a:srgbClr val="FFFFFF"/>
                </a:solidFill>
                <a:latin typeface="Noto Sans KR"/>
                <a:ea typeface="Noto Sans KR"/>
                <a:cs typeface="Noto Sans KR"/>
              </a:rPr>
              <a:t>20%  GLDM</a:t>
            </a:r>
          </a:p>
          <a:p>
            <a:pPr algn="l" eaLnBrk="0">
              <a:lnSpc>
                <a:spcPct val="115000"/>
              </a:lnSpc>
              <a:spcAft>
                <a:spcPts val="100"/>
              </a:spcAft>
            </a:pPr>
            <a:r>
              <a:rPr sz="850" b="0" lang="ko-KR" altLang="en-US">
                <a:solidFill>
                  <a:srgbClr val="FFFFFF"/>
                </a:solidFill>
                <a:latin typeface="Noto Sans KR"/>
                <a:ea typeface="Noto Sans KR"/>
                <a:cs typeface="Noto Sans KR"/>
              </a:rPr>
              <a:t>금</a:t>
            </a:r>
          </a:p>
        </p:txBody>
      </p:sp>
      <p:sp>
        <p:nvSpPr>
          <p:cNvPr id="18" name="TextBox 17"/>
          <p:cNvSpPr txBox="1"/>
          <p:nvPr/>
        </p:nvSpPr>
        <p:spPr>
          <a:xfrm>
            <a:off x="558000" y="4482000"/>
            <a:ext cx="2897999" cy="2520000"/>
          </a:xfrm>
          <a:prstGeom prst="rect">
            <a:avLst/>
          </a:prstGeom>
          <a:noFill/>
        </p:spPr>
        <p:txBody>
          <a:bodyPr wrap="square" lIns="0" rIns="0" tIns="0" bIns="0" anchor="t">
            <a:spAutoFit/>
          </a:bodyPr>
          <a:lstStyle/>
          <a:p>
            <a:pPr algn="l" eaLnBrk="0">
              <a:lnSpc>
                <a:spcPct val="132000"/>
              </a:lnSpc>
              <a:spcAft>
                <a:spcPts val="600"/>
              </a:spcAft>
            </a:pPr>
            <a:r>
              <a:rPr sz="900" b="1" lang="ko-KR" altLang="en-US">
                <a:solidFill>
                  <a:srgbClr val="FFFFFF"/>
                </a:solidFill>
                <a:latin typeface="Noto Sans KR"/>
                <a:ea typeface="Noto Sans KR"/>
                <a:cs typeface="Noto Sans KR"/>
              </a:rPr>
              <a:t>주식 60% 안의 겹침  </a:t>
            </a:r>
            <a:r>
              <a:rPr sz="900" b="0" lang="ko-KR" altLang="en-US">
                <a:solidFill>
                  <a:srgbClr val="DCE6F5"/>
                </a:solidFill>
                <a:latin typeface="Noto Sans KR"/>
                <a:ea typeface="Noto Sans KR"/>
                <a:cs typeface="Noto Sans KR"/>
              </a:rPr>
              <a:t>SPYM과 QQQM에는 애플 · 마이크로소프트 · 엔비디아 같은 대형 기술주가 함께 들어 있습니다. 그래서 주식 60%의 실제 기술주 비중은 30%보다 큽니다.</a:t>
            </a:r>
          </a:p>
          <a:p>
            <a:pPr algn="l" eaLnBrk="0">
              <a:lnSpc>
                <a:spcPct val="132000"/>
              </a:lnSpc>
              <a:spcAft>
                <a:spcPts val="600"/>
              </a:spcAft>
            </a:pPr>
            <a:r>
              <a:rPr sz="900" b="1" lang="ko-KR" altLang="en-US">
                <a:solidFill>
                  <a:srgbClr val="FFFFFF"/>
                </a:solidFill>
                <a:latin typeface="Noto Sans KR"/>
                <a:ea typeface="Noto Sans KR"/>
                <a:cs typeface="Noto Sans KR"/>
              </a:rPr>
              <a:t>왜 채권과 금인가  </a:t>
            </a:r>
            <a:r>
              <a:rPr sz="900" b="0" lang="ko-KR" altLang="en-US">
                <a:solidFill>
                  <a:srgbClr val="DCE6F5"/>
                </a:solidFill>
                <a:latin typeface="Noto Sans KR"/>
                <a:ea typeface="Noto Sans KR"/>
                <a:cs typeface="Noto Sans KR"/>
              </a:rPr>
              <a:t>2020년처럼 주식이 급락할 때 국채나 금이 덜 내리거나 오른 적이 많았습니다. 하지만 2022년처럼 주식과 국채가 함께 내린 해도 있어 항상 막아 주지는 않습니다.</a:t>
            </a:r>
          </a:p>
        </p:txBody>
      </p:sp>
      <p:cxnSp>
        <p:nvCxnSpPr>
          <p:cNvPr id="19" name="Connector 18"/>
          <p:cNvCxnSpPr/>
          <p:nvPr/>
        </p:nvCxnSpPr>
        <p:spPr>
          <a:xfrm>
            <a:off x="3844800" y="990000"/>
            <a:ext cx="62892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0" name="그림 제목"/>
          <p:cNvSpPr txBox="1"/>
          <p:nvPr/>
        </p:nvSpPr>
        <p:spPr>
          <a:xfrm>
            <a:off x="3844800" y="1054800"/>
            <a:ext cx="62892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상황별 관리 — 현재 프로그램에 있는 규칙만</a:t>
            </a:r>
          </a:p>
        </p:txBody>
      </p:sp>
      <p:sp>
        <p:nvSpPr>
          <p:cNvPr id="21" name="그림 설명"/>
          <p:cNvSpPr txBox="1"/>
          <p:nvPr/>
        </p:nvSpPr>
        <p:spPr>
          <a:xfrm>
            <a:off x="3844800" y="12348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실제 운영: 나무증권 원화 주문 · 정수 주 · 매달 버튼을 눌러야 그달 매수 · 12월 맞춤도 버튼 승인</a:t>
            </a:r>
          </a:p>
        </p:txBody>
      </p:sp>
      <p:graphicFrame>
        <p:nvGraphicFramePr>
          <p:cNvPr id="22" name="표"/>
          <p:cNvGraphicFramePr>
            <a:graphicFrameLocks noGrp="1"/>
          </p:cNvGraphicFramePr>
          <p:nvPr/>
        </p:nvGraphicFramePr>
        <p:xfrm>
          <a:off x="3844800" y="1458000"/>
          <a:ext cx="6289198" cy="1965600"/>
        </p:xfrm>
        <a:graphic>
          <a:graphicData uri="http://schemas.openxmlformats.org/drawingml/2006/table">
            <a:tbl>
              <a:tblPr firstRow="0" bandRow="0" firstCol="0" lastCol="0" bandCol="0" lastRow="0">
                <a:tableStyleId>{5940675A-B579-460E-94D1-54222C63F5DA}</a:tableStyleId>
              </a:tblPr>
              <a:tblGrid>
                <a:gridCol w="1188000"/>
                <a:gridCol w="1655999"/>
                <a:gridCol w="1800000"/>
                <a:gridCol w="1645199"/>
              </a:tblGrid>
              <a:tr h="2808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상황</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정해진 규칙</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실제로 하는 일</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주의할 점</a:t>
                      </a:r>
                      <a:endParaRPr sz="800"/>
                    </a:p>
                  </a:txBody>
                  <a:tcPr marL="28800" marR="43200" marT="25200" marB="25200" anchor="b">
                    <a:lnL w="0">
                      <a:noFill/>
                    </a:lnL>
                    <a:lnR w="0">
                      <a:noFill/>
                    </a:lnR>
                    <a:lnT w="9525">
                      <a:solidFill>
                        <a:srgbClr val="1A1E25"/>
                      </a:solidFill>
                    </a:lnT>
                    <a:lnB w="9525">
                      <a:solidFill>
                        <a:srgbClr val="1A1E25"/>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매달 새 돈이 들어올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목표 비율보다 모자란 종목부터 산다 (사기만)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주식이 올라 비중이 커졌으면 그달 돈은 채권 · 금 쪽으로 간다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팔지 않으므로 비율이 한쪽으로 쏠릴 수 있다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매년 12월 첫 평일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목표보다 1주 넘게 많은 종목을 팔고 모자란 종목을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많이 오른 자산 일부를 팔아 덜 오른 자산을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판 값이 평균 단가보다 낮으면 손실을 확정하는 매도다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채권 · 금이 크게 올랐을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별도 익절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12월 맞춤 때 넘친 몫만 판다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‘오르면 바로 판다’가 아니다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채권 · 금이 내렸을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별도 손절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비중이 모자라면 새 돈과 12월 맞춤으로 더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주식 · 채권이 같이 내릴 수 있다 (2022년)</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주식이 폭락했을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별도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채권 · 금 비중이 커지면 12월에 그 몫을 팔아 주식을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12월 전에는 새 돈으로만 주식을 채운다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채권 분배금</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전용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계좌에 달러 현금으로 들어온다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계산은 재투자로 가정해 실제와 차이가 난다</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3" name="Connector 22"/>
          <p:cNvCxnSpPr/>
          <p:nvPr/>
        </p:nvCxnSpPr>
        <p:spPr>
          <a:xfrm>
            <a:off x="3844800" y="4014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4" name="그림 제목"/>
          <p:cNvSpPr txBox="1"/>
          <p:nvPr/>
        </p:nvSpPr>
        <p:spPr>
          <a:xfrm>
            <a:off x="3844800" y="4078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자산별 연간 수익률 — 네 해 골라 보기</a:t>
            </a:r>
          </a:p>
        </p:txBody>
      </p:sp>
      <p:sp>
        <p:nvSpPr>
          <p:cNvPr id="25" name="그림 설명"/>
          <p:cNvSpPr txBox="1"/>
          <p:nvPr/>
        </p:nvSpPr>
        <p:spPr>
          <a:xfrm>
            <a:off x="3844800" y="4258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실제 ETF 수정 종가 · 금은 GLD, 국채는 IEF · 달러 기준</a:t>
            </a:r>
          </a:p>
        </p:txBody>
      </p:sp>
      <p:graphicFrame>
        <p:nvGraphicFramePr>
          <p:cNvPr id="26" name="연간 수익률"/>
          <p:cNvGraphicFramePr>
            <a:graphicFrameLocks noGrp="1"/>
          </p:cNvGraphicFramePr>
          <p:nvPr/>
        </p:nvGraphicFramePr>
        <p:xfrm>
          <a:off x="3844800" y="4482000"/>
          <a:ext cx="3006000" cy="2412000"/>
        </p:xfrm>
        <a:graphic>
          <a:graphicData uri="http://schemas.openxmlformats.org/drawingml/2006/chart">
            <c:chart xmlns:c="http://schemas.openxmlformats.org/drawingml/2006/chart" r:id="rId3"/>
          </a:graphicData>
        </a:graphic>
      </p:graphicFrame>
      <p:cxnSp>
        <p:nvCxnSpPr>
          <p:cNvPr id="27" name="Connector 26"/>
          <p:cNvCxnSpPr/>
          <p:nvPr/>
        </p:nvCxnSpPr>
        <p:spPr>
          <a:xfrm>
            <a:off x="7128000" y="4014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128000" y="4078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14년 8개월 적립 후 · 월 10만 원</a:t>
            </a:r>
          </a:p>
        </p:txBody>
      </p:sp>
      <p:sp>
        <p:nvSpPr>
          <p:cNvPr id="29" name="TextBox 28"/>
          <p:cNvSpPr txBox="1"/>
          <p:nvPr/>
        </p:nvSpPr>
        <p:spPr>
          <a:xfrm>
            <a:off x="7128000" y="4258800"/>
            <a:ext cx="3006000" cy="180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QQQ 단독 적립과 비교 · 2012-01 ~ 2026-08 · 원금 1,760만 원 · 세전</a:t>
            </a:r>
          </a:p>
        </p:txBody>
      </p:sp>
      <p:graphicFrame>
        <p:nvGraphicFramePr>
          <p:cNvPr id="30" name="표"/>
          <p:cNvGraphicFramePr>
            <a:graphicFrameLocks noGrp="1"/>
          </p:cNvGraphicFramePr>
          <p:nvPr/>
        </p:nvGraphicFramePr>
        <p:xfrm>
          <a:off x="7128000" y="4500000"/>
          <a:ext cx="3006000" cy="990000"/>
        </p:xfrm>
        <a:graphic>
          <a:graphicData uri="http://schemas.openxmlformats.org/drawingml/2006/table">
            <a:tbl>
              <a:tblPr firstRow="0" bandRow="0" firstCol="0" lastCol="0" bandCol="0" lastRow="0">
                <a:tableStyleId>{5940675A-B579-460E-94D1-54222C63F5DA}</a:tableStyleId>
              </a:tblPr>
              <a:tblGrid>
                <a:gridCol w="846000"/>
                <a:gridCol w="720000"/>
                <a:gridCol w="720000"/>
                <a:gridCol w="720000"/>
              </a:tblGrid>
              <a:tr h="1980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Polaris</a:t>
                      </a:r>
                      <a:endParaRPr sz="800"/>
                    </a:p>
                  </a:txBody>
                  <a:tcPr marL="28800" marR="43200" marT="25200" marB="25200" anchor="b">
                    <a:lnL w="0">
                      <a:noFill/>
                    </a:lnL>
                    <a:lnR w="0">
                      <a:noFill/>
                    </a:lnR>
                    <a:lnT w="9525">
                      <a:solidFill>
                        <a:srgbClr val="1A1E25"/>
                      </a:solidFill>
                    </a:lnT>
                    <a:lnB w="9525">
                      <a:solidFill>
                        <a:srgbClr val="1A1E25"/>
                      </a:solidFill>
                    </a:lnB>
                    <a:solidFill>
                      <a:srgbClr val="EDF1F7"/>
                    </a:solid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S&amp;P500 단독</a:t>
                      </a:r>
                      <a:endParaRPr sz="800"/>
                    </a:p>
                  </a:txBody>
                  <a:tcPr marL="28800" marR="43200" marT="25200" marB="25200" anchor="b">
                    <a:lnL w="0">
                      <a:noFill/>
                    </a:lnL>
                    <a:lnR w="0">
                      <a:noFill/>
                    </a:lnR>
                    <a:lnT w="9525">
                      <a:solidFill>
                        <a:srgbClr val="1A1E25"/>
                      </a:solidFill>
                    </a:lnT>
                    <a:lnB w="9525">
                      <a:solidFill>
                        <a:srgbClr val="1A1E25"/>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최종 평가액</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5,077만</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8,805만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5,810만</a:t>
                      </a:r>
                      <a:endParaRPr sz="85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연복리</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14.9%</a:t>
                      </a:r>
                      <a:endParaRPr sz="85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최대 낙폭</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−33.7%</a:t>
                      </a:r>
                      <a:endParaRPr sz="85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회복 기간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24개월</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6개월</a:t>
                      </a:r>
                      <a:endParaRPr sz="850"/>
                    </a:p>
                  </a:txBody>
                  <a:tcPr marL="28800" marR="43200" marT="25200" marB="25200" anchor="ctr">
                    <a:lnL w="0">
                      <a:noFill/>
                    </a:lnL>
                    <a:lnR w="0">
                      <a:noFill/>
                    </a:lnR>
                    <a:lnT w="0">
                      <a:noFill/>
                    </a:lnT>
                    <a:lnB w="6350">
                      <a:solidFill>
                        <a:srgbClr val="C9D0DA"/>
                      </a:solidFill>
                    </a:lnB>
                    <a:noFill/>
                  </a:tcPr>
                </a:tc>
              </a:tr>
            </a:tbl>
          </a:graphicData>
        </a:graphic>
      </p:graphicFrame>
      <p:sp>
        <p:nvSpPr>
          <p:cNvPr id="31" name="TextBox 30"/>
          <p:cNvSpPr txBox="1"/>
          <p:nvPr/>
        </p:nvSpPr>
        <p:spPr>
          <a:xfrm>
            <a:off x="7128000" y="5724000"/>
            <a:ext cx="3006000" cy="1296000"/>
          </a:xfrm>
          <a:prstGeom prst="rect">
            <a:avLst/>
          </a:prstGeom>
          <a:noFill/>
        </p:spPr>
        <p:txBody>
          <a:bodyPr wrap="square" lIns="0" rIns="0" tIns="0" bIns="0" anchor="t">
            <a:spAutoFit/>
          </a:bodyPr>
          <a:lstStyle/>
          <a:p>
            <a:pPr algn="l" eaLnBrk="0">
              <a:lnSpc>
                <a:spcPct val="132000"/>
              </a:lnSpc>
              <a:spcAft>
                <a:spcPts val="500"/>
              </a:spcAft>
            </a:pPr>
            <a:r>
              <a:rPr sz="850" b="0" lang="ko-KR" altLang="en-US">
                <a:solidFill>
                  <a:srgbClr val="1A1E25"/>
                </a:solidFill>
                <a:latin typeface="Noto Sans KR"/>
                <a:ea typeface="Noto Sans KR"/>
                <a:cs typeface="Noto Sans KR"/>
              </a:rPr>
              <a:t>낙폭은 −35.1% → −23.4%로 줄었지만, 끝 금액은 QQQ 단독 적립보다 3,728만 원 적었습니다. 2022년 하락에서 다시 고점을 넘기까지는 QQQ와 같은 24개월이 걸렸습니다.</a:t>
            </a:r>
          </a:p>
          <a:p>
            <a:pPr algn="l" eaLnBrk="0">
              <a:lnSpc>
                <a:spcPct val="132000"/>
              </a:lnSpc>
              <a:spcAft>
                <a:spcPts val="500"/>
              </a:spcAft>
            </a:pPr>
            <a:r>
              <a:rPr sz="850" b="1" lang="ko-KR" altLang="en-US">
                <a:solidFill>
                  <a:srgbClr val="1A1E25"/>
                </a:solidFill>
                <a:latin typeface="Noto Sans KR"/>
                <a:ea typeface="Noto Sans KR"/>
                <a:cs typeface="Noto Sans KR"/>
              </a:rPr>
              <a:t>12월 맞춤 예: </a:t>
            </a:r>
            <a:r>
              <a:rPr sz="850" b="0" lang="ko-KR" altLang="en-US">
                <a:solidFill>
                  <a:srgbClr val="1A1E25"/>
                </a:solidFill>
                <a:latin typeface="Noto Sans KR"/>
                <a:ea typeface="Noto Sans KR"/>
                <a:cs typeface="Noto Sans KR"/>
              </a:rPr>
              <a:t>계좌 1,000만 원이 주식 680만 · 국채 160만 · 금 160만이면 목표는 600 · 200 · 200만 원입니다. 주식 80만 원어치를 팔아 국채와 금을 40만 원어치씩 삽니다.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비교"/>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비교</a:t>
            </a:r>
          </a:p>
        </p:txBody>
      </p:sp>
      <p:sp>
        <p:nvSpPr>
          <p:cNvPr id="7" name="목차 적금"/>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적금</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7600" y="619200"/>
            <a:ext cx="536400" cy="0"/>
          </a:xfrm>
          <a:prstGeom prst="line">
            <a:avLst/>
          </a:prstGeom>
          <a:ln w="25400">
            <a:solidFill>
              <a:srgbClr val="0B3D91"/>
            </a:solidFill>
          </a:ln>
        </p:spPr>
        <p:style>
          <a:lnRef idx="2">
            <a:schemeClr val="accent1"/>
          </a:lnRef>
          <a:fillRef idx="0">
            <a:schemeClr val="accent1"/>
          </a:fillRef>
          <a:effectRef idx="1">
            <a:schemeClr val="accent1"/>
          </a:effectRef>
          <a:fontRef idx="minor">
            <a:schemeClr val="tx1"/>
          </a:fontRef>
        </p:style>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 — 시안</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6</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적금과 비교</a:t>
            </a:r>
          </a:p>
        </p:txBody>
      </p:sp>
      <p:sp>
        <p:nvSpPr>
          <p:cNvPr id="14" name="인용 막대"/>
          <p:cNvSpPr/>
          <p:nvPr/>
        </p:nvSpPr>
        <p:spPr>
          <a:xfrm>
            <a:off x="558000" y="1576800"/>
            <a:ext cx="32400" cy="734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48000"/>
            <a:ext cx="2826000" cy="792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적금의 이자는 약속된 돈이고, 투자 결과는 지나간 기간의 기록입니다.</a:t>
            </a:r>
          </a:p>
        </p:txBody>
      </p:sp>
      <p:sp>
        <p:nvSpPr>
          <p:cNvPr id="16" name="TextBox 15"/>
          <p:cNvSpPr txBox="1"/>
          <p:nvPr/>
        </p:nvSpPr>
        <p:spPr>
          <a:xfrm>
            <a:off x="558000" y="2466000"/>
            <a:ext cx="3006000" cy="1080000"/>
          </a:xfrm>
          <a:prstGeom prst="rect">
            <a:avLst/>
          </a:prstGeom>
          <a:noFill/>
        </p:spPr>
        <p:txBody>
          <a:bodyPr wrap="square" lIns="0" rIns="0" tIns="0" bIns="0" anchor="t">
            <a:spAutoFit/>
          </a:bodyPr>
          <a:lstStyle/>
          <a:p>
            <a:pPr algn="l" eaLnBrk="0">
              <a:lnSpc>
                <a:spcPct val="132000"/>
              </a:lnSpc>
              <a:spcAft>
                <a:spcPts val="0"/>
              </a:spcAft>
            </a:pPr>
            <a:r>
              <a:rPr sz="950" b="0" lang="ko-KR" altLang="en-US">
                <a:solidFill>
                  <a:srgbClr val="1A1E25"/>
                </a:solidFill>
                <a:latin typeface="Noto Sans KR"/>
                <a:ea typeface="Noto Sans KR"/>
                <a:cs typeface="Noto Sans KR"/>
              </a:rPr>
              <a:t>같은 날 같은 돈을 연 3% · 4% 적금에 넣은 경우와 비교합니다. 적금은 1년 만기마다 원리금을 같은 금리 예금으로 다시 맡긴다고 가정했습니다(세전).</a:t>
            </a:r>
          </a:p>
        </p:txBody>
      </p:sp>
      <p:cxnSp>
        <p:nvCxnSpPr>
          <p:cNvPr id="17" name="Connector 16"/>
          <p:cNvCxnSpPr/>
          <p:nvPr/>
        </p:nvCxnSpPr>
        <p:spPr>
          <a:xfrm>
            <a:off x="3844800" y="990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18" name="그림 제목"/>
          <p:cNvSpPr txBox="1"/>
          <p:nvPr/>
        </p:nvSpPr>
        <p:spPr>
          <a:xfrm>
            <a:off x="3844800" y="1054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14년 8개월 적립 후 원금 대비 최종 금액</a:t>
            </a:r>
          </a:p>
        </p:txBody>
      </p:sp>
      <p:sp>
        <p:nvSpPr>
          <p:cNvPr id="19" name="그림 설명"/>
          <p:cNvSpPr txBox="1"/>
          <p:nvPr/>
        </p:nvSpPr>
        <p:spPr>
          <a:xfrm>
            <a:off x="3844800" y="1234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2026-08-31 · 몇 배가 됐나 · 금액과 무관 · 세전</a:t>
            </a:r>
          </a:p>
        </p:txBody>
      </p:sp>
      <p:graphicFrame>
        <p:nvGraphicFramePr>
          <p:cNvPr id="20" name="원금 대비 배수"/>
          <p:cNvGraphicFramePr>
            <a:graphicFrameLocks noGrp="1"/>
          </p:cNvGraphicFramePr>
          <p:nvPr/>
        </p:nvGraphicFramePr>
        <p:xfrm>
          <a:off x="3844800" y="1422000"/>
          <a:ext cx="3006000" cy="1944000"/>
        </p:xfrm>
        <a:graphic>
          <a:graphicData uri="http://schemas.openxmlformats.org/drawingml/2006/chart">
            <c:chart xmlns:c="http://schemas.openxmlformats.org/drawingml/2006/chart" r:id="rId2"/>
          </a:graphicData>
        </a:graphic>
      </p:graphicFrame>
      <p:cxnSp>
        <p:nvCxnSpPr>
          <p:cNvPr id="21" name="Connector 20"/>
          <p:cNvCxnSpPr/>
          <p:nvPr/>
        </p:nvCxnSpPr>
        <p:spPr>
          <a:xfrm>
            <a:off x="7128000" y="990000"/>
            <a:ext cx="300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2" name="그림 제목"/>
          <p:cNvSpPr txBox="1"/>
          <p:nvPr/>
        </p:nvSpPr>
        <p:spPr>
          <a:xfrm>
            <a:off x="7128000" y="1054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그동안 견뎌야 했던 최대 낙폭</a:t>
            </a:r>
          </a:p>
        </p:txBody>
      </p:sp>
      <p:sp>
        <p:nvSpPr>
          <p:cNvPr id="23" name="그림 설명"/>
          <p:cNvSpPr txBox="1"/>
          <p:nvPr/>
        </p:nvSpPr>
        <p:spPr>
          <a:xfrm>
            <a:off x="7128000" y="12348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적금은 0% · 투자는 단위 가격의 일간 고점 대비 · 2012-01 ~ 2026-08</a:t>
            </a:r>
          </a:p>
        </p:txBody>
      </p:sp>
      <p:graphicFrame>
        <p:nvGraphicFramePr>
          <p:cNvPr id="24" name="최대 낙폭 비교"/>
          <p:cNvGraphicFramePr>
            <a:graphicFrameLocks noGrp="1"/>
          </p:cNvGraphicFramePr>
          <p:nvPr/>
        </p:nvGraphicFramePr>
        <p:xfrm>
          <a:off x="7128000" y="1422000"/>
          <a:ext cx="3006000" cy="1944000"/>
        </p:xfrm>
        <a:graphic>
          <a:graphicData uri="http://schemas.openxmlformats.org/drawingml/2006/chart">
            <c:chart xmlns:c="http://schemas.openxmlformats.org/drawingml/2006/chart" r:id="rId3"/>
          </a:graphicData>
        </a:graphic>
      </p:graphicFrame>
      <p:cxnSp>
        <p:nvCxnSpPr>
          <p:cNvPr id="25" name="Connector 24"/>
          <p:cNvCxnSpPr/>
          <p:nvPr/>
        </p:nvCxnSpPr>
        <p:spPr>
          <a:xfrm>
            <a:off x="558000" y="3618000"/>
            <a:ext cx="9576000" cy="0"/>
          </a:xfrm>
          <a:prstGeom prst="line">
            <a:avLst/>
          </a:prstGeom>
          <a:ln w="7620">
            <a:solidFill>
              <a:srgbClr val="1A1E25"/>
            </a:solidFill>
          </a:ln>
        </p:spPr>
        <p:style>
          <a:lnRef idx="2">
            <a:schemeClr val="accent1"/>
          </a:lnRef>
          <a:fillRef idx="0">
            <a:schemeClr val="accent1"/>
          </a:fillRef>
          <a:effectRef idx="1">
            <a:schemeClr val="accent1"/>
          </a:effectRef>
          <a:fontRef idx="minor">
            <a:schemeClr val="tx1"/>
          </a:fontRef>
        </p:style>
      </p:cxnSp>
      <p:sp>
        <p:nvSpPr>
          <p:cNvPr id="26" name="그림 제목"/>
          <p:cNvSpPr txBox="1"/>
          <p:nvPr/>
        </p:nvSpPr>
        <p:spPr>
          <a:xfrm>
            <a:off x="558000" y="3682800"/>
            <a:ext cx="957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14년 8개월 적립 후 납입액별 최종 금액 — Deneb · Polaris · QQQ 단독 적립 · 적금 3% · 적금 4%</a:t>
            </a:r>
          </a:p>
        </p:txBody>
      </p:sp>
      <p:sp>
        <p:nvSpPr>
          <p:cNvPr id="27" name="그림 설명"/>
          <p:cNvSpPr txBox="1"/>
          <p:nvPr/>
        </p:nvSpPr>
        <p:spPr>
          <a:xfrm>
            <a:off x="558000" y="38628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 매달 납입 176회 · 단위 만 원 · 모두 세전</a:t>
            </a:r>
          </a:p>
        </p:txBody>
      </p:sp>
      <p:graphicFrame>
        <p:nvGraphicFramePr>
          <p:cNvPr id="28" name="표"/>
          <p:cNvGraphicFramePr>
            <a:graphicFrameLocks noGrp="1"/>
          </p:cNvGraphicFramePr>
          <p:nvPr/>
        </p:nvGraphicFramePr>
        <p:xfrm>
          <a:off x="558000" y="4104000"/>
          <a:ext cx="9575991" cy="1512000"/>
        </p:xfrm>
        <a:graphic>
          <a:graphicData uri="http://schemas.openxmlformats.org/drawingml/2006/table">
            <a:tbl>
              <a:tblPr firstRow="0" bandRow="0" firstCol="0" lastCol="0" bandCol="0" lastRow="0">
                <a:tableStyleId>{5940675A-B579-460E-94D1-54222C63F5DA}</a:tableStyleId>
              </a:tblPr>
              <a:tblGrid>
                <a:gridCol w="936000"/>
                <a:gridCol w="959999"/>
                <a:gridCol w="959999"/>
                <a:gridCol w="959999"/>
                <a:gridCol w="959999"/>
                <a:gridCol w="959999"/>
                <a:gridCol w="959999"/>
                <a:gridCol w="959999"/>
                <a:gridCol w="959999"/>
                <a:gridCol w="959999"/>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원금</a:t>
                      </a:r>
                      <a:endParaRPr sz="850"/>
                    </a:p>
                  </a:txBody>
                  <a:tcPr marL="28800" marR="43200" marT="25200" marB="25200" anchor="b">
                    <a:lnL w="0">
                      <a:noFill/>
                    </a:lnL>
                    <a:lnR w="0">
                      <a:noFill/>
                    </a:lnR>
                    <a:lnT w="9525">
                      <a:solidFill>
                        <a:srgbClr val="1A1E25"/>
                      </a:solidFill>
                    </a:lnT>
                    <a:lnB w="0">
                      <a:noFill/>
                    </a:lnB>
                    <a:noFill/>
                  </a:tcPr>
                </a:tc>
                <a:tc gridSpan="5">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금액</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3">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적금 4%보다 더 남은 금액</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r>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적금 3%</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적금 4%</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0">
                      <a:no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2,206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+2,693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+6,421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+33,728</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4,413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10,153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72,222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+5,386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+12,842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+67,455</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30만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6,619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7,151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15,230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108,334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+8,079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+19,263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+101,183</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50만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11,031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11,918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44,023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180,556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+13,466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+32,105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+168,638</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22,063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23,836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+26,931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+64,209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+337,276</a:t>
                      </a:r>
                      <a:endParaRPr sz="900"/>
                    </a:p>
                  </a:txBody>
                  <a:tcPr marL="28800" marR="43200" marT="25200" marB="25200" anchor="ctr">
                    <a:lnL w="0">
                      <a:noFill/>
                    </a:lnL>
                    <a:lnR w="0">
                      <a:noFill/>
                    </a:lnR>
                    <a:lnT w="0">
                      <a:noFill/>
                    </a:lnT>
                    <a:lnB w="6350">
                      <a:solidFill>
                        <a:srgbClr val="C9D0DA"/>
                      </a:solidFill>
                    </a:lnB>
                    <a:solidFill>
                      <a:srgbClr val="EDF1F7"/>
                    </a:solidFill>
                  </a:tcPr>
                </a:tc>
              </a:tr>
            </a:tbl>
          </a:graphicData>
        </a:graphic>
      </p:graphicFrame>
      <p:cxnSp>
        <p:nvCxnSpPr>
          <p:cNvPr id="29" name="Connector 28"/>
          <p:cNvCxnSpPr/>
          <p:nvPr/>
        </p:nvCxnSpPr>
        <p:spPr>
          <a:xfrm>
            <a:off x="558000" y="5886000"/>
            <a:ext cx="30060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5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원금 위험  </a:t>
            </a:r>
            <a:r>
              <a:rPr sz="900" b="0" lang="ko-KR" altLang="en-US">
                <a:solidFill>
                  <a:srgbClr val="1A1E25"/>
                </a:solidFill>
                <a:latin typeface="Noto Sans KR"/>
                <a:ea typeface="Noto Sans KR"/>
                <a:cs typeface="Noto Sans KR"/>
              </a:rPr>
              <a:t>적금은 예금자 보호 한도 안에서 원금과 약정 이자가 정해져 있습니다. 투자 계좌는 넣은 돈보다 적어질 수 있고, 언제 끝내느냐에 따라 결과가 크게 달라집니다.</a:t>
            </a:r>
          </a:p>
        </p:txBody>
      </p:sp>
      <p:cxnSp>
        <p:nvCxnSpPr>
          <p:cNvPr id="31" name="Connector 30"/>
          <p:cNvCxnSpPr/>
          <p:nvPr/>
        </p:nvCxnSpPr>
        <p:spPr>
          <a:xfrm>
            <a:off x="3844800" y="5886000"/>
            <a:ext cx="30060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8448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기간의 운  </a:t>
            </a:r>
            <a:r>
              <a:rPr sz="900" b="0" lang="ko-KR" altLang="en-US">
                <a:solidFill>
                  <a:srgbClr val="1A1E25"/>
                </a:solidFill>
                <a:latin typeface="Noto Sans KR"/>
                <a:ea typeface="Noto Sans KR"/>
                <a:cs typeface="Noto Sans KR"/>
              </a:rPr>
              <a:t>2012~2026년은 미국 성장주가 매우 강했던 기간입니다. 이 기간에는 원금 아래로 내려간 달이 거의 없었지만, 닷컴 붕괴 · 2008년 위기가 들어간 긴 합성 연구에서는 레버리지 섞기의 낙폭이 −98%까지 나왔습니다.</a:t>
            </a:r>
          </a:p>
        </p:txBody>
      </p:sp>
      <p:cxnSp>
        <p:nvCxnSpPr>
          <p:cNvPr id="33" name="Connector 32"/>
          <p:cNvCxnSpPr/>
          <p:nvPr/>
        </p:nvCxnSpPr>
        <p:spPr>
          <a:xfrm>
            <a:off x="7128000" y="5886000"/>
            <a:ext cx="3006000" cy="0"/>
          </a:xfrm>
          <a:prstGeom prst="line">
            <a:avLst/>
          </a:prstGeom>
          <a:ln w="6350">
            <a:solidFill>
              <a:srgbClr val="C9D0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2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세금 가정  </a:t>
            </a:r>
            <a:r>
              <a:rPr sz="900" b="0" lang="ko-KR" altLang="en-US">
                <a:solidFill>
                  <a:srgbClr val="1A1E25"/>
                </a:solidFill>
                <a:latin typeface="Noto Sans KR"/>
                <a:ea typeface="Noto Sans KR"/>
                <a:cs typeface="Noto Sans KR"/>
              </a:rPr>
              <a:t>이 표는 모두 세전입니다. 적금 이자에 15.4%를 떼면 월 10만 원 적금 4%는 2,272만 원입니다. 해외 ETF는 매도 이익에서 연 250만 원을 뺀 뒤 22% 양도세가 붙습니다.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