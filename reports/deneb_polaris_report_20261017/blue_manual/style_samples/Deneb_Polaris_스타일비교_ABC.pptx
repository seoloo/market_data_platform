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Polaris</c:v>
                </c:pt>
              </c:strCache>
            </c:strRef>
          </c:tx>
          <c:spPr>
            <a:solidFill>
              <a:srgbClr val="6FB6D9"/>
            </a:solidFill>
          </c:spPr>
          <c:invertIfNegative val="0"/>
          <c:dLbls>
            <c:numFmt formatCode="&quot;+&quot;#,##0;&quot;−&quot;#,##0" sourceLinked="0"/>
            <c:txPr>
              <a:bodyPr/>
              <a:lstStyle/>
              <a:p>
                <a:pPr>
                  <a:defRPr sz="850" b="0">
                    <a:solidFill>
                      <a:srgbClr val="121212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월 100만 원</c:v>
                </c:pt>
                <c:pt idx="1">
                  <c:v>월 50만 원</c:v>
                </c:pt>
                <c:pt idx="2">
                  <c:v>월 30만 원</c:v>
                </c:pt>
                <c:pt idx="3">
                  <c:v>월 20만 원</c:v>
                </c:pt>
                <c:pt idx="4">
                  <c:v>월 10만 원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-37277.96027427945</c:v>
                </c:pt>
                <c:pt idx="1">
                  <c:v>-18638.980137139726</c:v>
                </c:pt>
                <c:pt idx="2">
                  <c:v>-11183.388082283855</c:v>
                </c:pt>
                <c:pt idx="3">
                  <c:v>-7455.592054855901</c:v>
                </c:pt>
                <c:pt idx="4">
                  <c:v>-3727.7960274279503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Deneb</c:v>
                </c:pt>
              </c:strCache>
            </c:strRef>
          </c:tx>
          <c:spPr>
            <a:solidFill>
              <a:srgbClr val="006BA2"/>
            </a:solidFill>
          </c:spPr>
          <c:invertIfNegative val="0"/>
          <c:dLbls>
            <c:numFmt formatCode="&quot;+&quot;#,##0;&quot;−&quot;#,##0" sourceLinked="0"/>
            <c:txPr>
              <a:bodyPr/>
              <a:lstStyle/>
              <a:p>
                <a:pPr>
                  <a:defRPr sz="850" b="0">
                    <a:solidFill>
                      <a:srgbClr val="121212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월 100만 원</c:v>
                </c:pt>
                <c:pt idx="1">
                  <c:v>월 50만 원</c:v>
                </c:pt>
                <c:pt idx="2">
                  <c:v>월 30만 원</c:v>
                </c:pt>
                <c:pt idx="3">
                  <c:v>월 20만 원</c:v>
                </c:pt>
                <c:pt idx="4">
                  <c:v>월 10만 원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273066.8992680123</c:v>
                </c:pt>
                <c:pt idx="1">
                  <c:v>136533.44963400616</c:v>
                </c:pt>
                <c:pt idx="2">
                  <c:v>81920.06978040369</c:v>
                </c:pt>
                <c:pt idx="3">
                  <c:v>54613.379853602484</c:v>
                </c:pt>
                <c:pt idx="4">
                  <c:v>27306.689926801242</c:v>
                </c:pt>
              </c:numCache>
            </c:numRef>
          </c:val>
        </c:ser>
        <c:gapWidth val="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 w="9525">
            <a:noFill/>
          </a:ln>
        </c:spPr>
        <c:txPr>
          <a:bodyPr/>
          <a:lstStyle/>
          <a:p>
            <a:pPr>
              <a:defRPr sz="800">
                <a:solidFill>
                  <a:srgbClr val="12121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0000.0"/>
          <c:min val="-100000.0"/>
        </c:scaling>
        <c:delete val="0"/>
        <c:axPos val="b"/>
        <c:majorGridlines>
          <c:spPr>
            <a:ln w="6350">
              <a:solidFill>
                <a:srgbClr val="D9D9D9"/>
              </a:solidFill>
            </a:ln>
          </c:spPr>
        </c:majorGridlines>
        <c:numFmt formatCode="&quot;+&quot;#,##0;&quot;−&quot;#,##0;0" sourceLinked="0"/>
        <c:majorTickMark val="out"/>
        <c:minorTickMark val="none"/>
        <c:tickLblPos val="high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5C6573"/>
                </a:solidFill>
              </a:defRPr>
            </a:pPr>
          </a:p>
        </c:txPr>
        <c:crossAx val="-2068027336"/>
        <c:crosses val="autoZero"/>
        <c:majorUnit val="50000.0"/>
      </c:valAx>
    </c:plotArea>
    <c:legend>
      <c:legendPos val="t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800">
          <a:solidFill>
            <a:srgbClr val="5C6573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바탕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396000"/>
            <a:ext cx="50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900" b="1" lang="ko-KR" altLang="en-US">
                <a:solidFill>
                  <a:srgbClr val="3182F6"/>
                </a:solidFill>
                <a:latin typeface="Noto Sans KR"/>
                <a:ea typeface="Noto Sans KR"/>
                <a:cs typeface="Noto Sans KR"/>
              </a:rPr>
              <a:t>A · 토스식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630000"/>
            <a:ext cx="7200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2600" b="1" lang="ko-KR" altLang="en-US">
                <a:solidFill>
                  <a:srgbClr val="191F28"/>
                </a:solidFill>
                <a:latin typeface="Noto Sans KR"/>
                <a:ea typeface="Noto Sans KR"/>
                <a:cs typeface="Noto Sans KR"/>
              </a:rPr>
              <a:t>14년 8개월 동안 매달 넣었다면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1098000"/>
            <a:ext cx="86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1050" b="0" lang="ko-KR" altLang="en-US">
                <a:solidFill>
                  <a:srgbClr val="6B7684"/>
                </a:solidFill>
                <a:latin typeface="Noto Sans KR"/>
                <a:ea typeface="Noto Sans KR"/>
                <a:cs typeface="Noto Sans KR"/>
              </a:rPr>
              <a:t>2012년 1월 ~ 2026년 8월 · 14년 8개월 · 176회 · 세전 · 실제 ETF 가격</a:t>
            </a:r>
          </a:p>
        </p:txBody>
      </p:sp>
      <p:sp>
        <p:nvSpPr>
          <p:cNvPr id="6" name="카드"/>
          <p:cNvSpPr/>
          <p:nvPr/>
        </p:nvSpPr>
        <p:spPr>
          <a:xfrm>
            <a:off x="576000" y="1512000"/>
            <a:ext cx="4536000" cy="23760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999" y="1710000"/>
            <a:ext cx="3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1100" b="0" lang="ko-KR" altLang="en-US">
                <a:solidFill>
                  <a:srgbClr val="6B7684"/>
                </a:solidFill>
                <a:latin typeface="Noto Sans KR"/>
                <a:ea typeface="Noto Sans KR"/>
                <a:cs typeface="Noto Sans KR"/>
              </a:rPr>
              <a:t>월 10만 원씩 Deneb에 넣었다면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999" y="1944000"/>
            <a:ext cx="4140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3600" b="1" lang="ko-KR" altLang="en-US">
                <a:solidFill>
                  <a:srgbClr val="3182F6"/>
                </a:solidFill>
                <a:latin typeface="Noto Sans KR"/>
                <a:ea typeface="Noto Sans KR"/>
                <a:cs typeface="Noto Sans KR"/>
              </a:rPr>
              <a:t>3억 6,111만 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999" y="2538000"/>
            <a:ext cx="41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1100" b="0" lang="ko-KR" altLang="en-US">
                <a:solidFill>
                  <a:srgbClr val="191F28"/>
                </a:solidFill>
                <a:latin typeface="Noto Sans KR"/>
                <a:ea typeface="Noto Sans KR"/>
                <a:cs typeface="Noto Sans KR"/>
              </a:rPr>
              <a:t>넣은 돈 1,760만 원 → 투자이익 3억 4,351만 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7999" y="2836800"/>
            <a:ext cx="4032001" cy="0"/>
          </a:xfrm>
          <a:prstGeom prst="line">
            <a:avLst/>
          </a:prstGeom>
          <a:ln w="9525">
            <a:solidFill>
              <a:srgbClr val="E5E8EB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827999" y="2880000"/>
            <a:ext cx="21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1100" b="0" lang="ko-KR" altLang="en-US">
                <a:solidFill>
                  <a:srgbClr val="6B7684"/>
                </a:solidFill>
                <a:latin typeface="Noto Sans KR"/>
                <a:ea typeface="Noto Sans KR"/>
                <a:cs typeface="Noto Sans KR"/>
              </a:rPr>
              <a:t>QQQ만 샀다면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0" y="2880000"/>
            <a:ext cx="19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0">
              <a:lnSpc>
                <a:spcPct val="100000"/>
              </a:lnSpc>
              <a:spcAft>
                <a:spcPts val="0"/>
              </a:spcAft>
            </a:pPr>
            <a:r>
              <a:rPr sz="1150" b="1" lang="ko-KR" altLang="en-US">
                <a:solidFill>
                  <a:srgbClr val="191F28"/>
                </a:solidFill>
                <a:latin typeface="Noto Sans KR"/>
                <a:ea typeface="Noto Sans KR"/>
                <a:cs typeface="Noto Sans KR"/>
              </a:rPr>
              <a:t>8,805만 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7999" y="3142800"/>
            <a:ext cx="4032001" cy="0"/>
          </a:xfrm>
          <a:prstGeom prst="line">
            <a:avLst/>
          </a:prstGeom>
          <a:ln w="9525">
            <a:solidFill>
              <a:srgbClr val="E5E8EB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27999" y="3186000"/>
            <a:ext cx="21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1100" b="0" lang="ko-KR" altLang="en-US">
                <a:solidFill>
                  <a:srgbClr val="6B7684"/>
                </a:solidFill>
                <a:latin typeface="Noto Sans KR"/>
                <a:ea typeface="Noto Sans KR"/>
                <a:cs typeface="Noto Sans KR"/>
              </a:rPr>
              <a:t>Polaris였다면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0" y="3186000"/>
            <a:ext cx="19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0">
              <a:lnSpc>
                <a:spcPct val="100000"/>
              </a:lnSpc>
              <a:spcAft>
                <a:spcPts val="0"/>
              </a:spcAft>
            </a:pPr>
            <a:r>
              <a:rPr sz="1150" b="1" lang="ko-KR" altLang="en-US">
                <a:solidFill>
                  <a:srgbClr val="191F28"/>
                </a:solidFill>
                <a:latin typeface="Noto Sans KR"/>
                <a:ea typeface="Noto Sans KR"/>
                <a:cs typeface="Noto Sans KR"/>
              </a:rPr>
              <a:t>5,077만 원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7999" y="3448800"/>
            <a:ext cx="4032001" cy="0"/>
          </a:xfrm>
          <a:prstGeom prst="line">
            <a:avLst/>
          </a:prstGeom>
          <a:ln w="9525">
            <a:solidFill>
              <a:srgbClr val="E5E8EB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827999" y="3491999"/>
            <a:ext cx="21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1100" b="0" lang="ko-KR" altLang="en-US">
                <a:solidFill>
                  <a:srgbClr val="6B7684"/>
                </a:solidFill>
                <a:latin typeface="Noto Sans KR"/>
                <a:ea typeface="Noto Sans KR"/>
                <a:cs typeface="Noto Sans KR"/>
              </a:rPr>
              <a:t>적금 4%였다면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0" y="3491999"/>
            <a:ext cx="19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0">
              <a:lnSpc>
                <a:spcPct val="100000"/>
              </a:lnSpc>
              <a:spcAft>
                <a:spcPts val="0"/>
              </a:spcAft>
            </a:pPr>
            <a:r>
              <a:rPr sz="1150" b="1" lang="ko-KR" altLang="en-US">
                <a:solidFill>
                  <a:srgbClr val="191F28"/>
                </a:solidFill>
                <a:latin typeface="Noto Sans KR"/>
                <a:ea typeface="Noto Sans KR"/>
                <a:cs typeface="Noto Sans KR"/>
              </a:rPr>
              <a:t>2,384만 원</a:t>
            </a:r>
          </a:p>
        </p:txBody>
      </p:sp>
      <p:sp>
        <p:nvSpPr>
          <p:cNvPr id="19" name="카드"/>
          <p:cNvSpPr/>
          <p:nvPr/>
        </p:nvSpPr>
        <p:spPr>
          <a:xfrm>
            <a:off x="5328000" y="1512000"/>
            <a:ext cx="4788000" cy="23760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80000" y="1710000"/>
            <a:ext cx="43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1100" b="0" lang="ko-KR" altLang="en-US">
                <a:solidFill>
                  <a:srgbClr val="6B7684"/>
                </a:solidFill>
                <a:latin typeface="Noto Sans KR"/>
                <a:ea typeface="Noto Sans KR"/>
                <a:cs typeface="Noto Sans KR"/>
              </a:rPr>
              <a:t>그 대신 이만큼 내려간 적도 있어요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80000" y="1944000"/>
            <a:ext cx="4320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3600" b="1" lang="ko-KR" altLang="en-US">
                <a:solidFill>
                  <a:srgbClr val="191F28"/>
                </a:solidFill>
                <a:latin typeface="Noto Sans KR"/>
                <a:ea typeface="Noto Sans KR"/>
                <a:cs typeface="Noto Sans KR"/>
              </a:rPr>
              <a:t>−31.7%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80000" y="2538000"/>
            <a:ext cx="432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1100" b="0" lang="ko-KR" altLang="en-US">
                <a:solidFill>
                  <a:srgbClr val="191F28"/>
                </a:solidFill>
                <a:latin typeface="Noto Sans KR"/>
                <a:ea typeface="Noto Sans KR"/>
                <a:cs typeface="Noto Sans KR"/>
              </a:rPr>
              <a:t>Deneb 최대 낙폭 · 2021년 11월 고점 → 2023년 3월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80000" y="2880000"/>
            <a:ext cx="93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1100" b="0" lang="ko-KR" altLang="en-US">
                <a:solidFill>
                  <a:srgbClr val="6B7684"/>
                </a:solidFill>
                <a:latin typeface="Noto Sans KR"/>
                <a:ea typeface="Noto Sans KR"/>
                <a:cs typeface="Noto Sans KR"/>
              </a:rPr>
              <a:t>Deneb</a:t>
            </a:r>
          </a:p>
        </p:txBody>
      </p:sp>
      <p:sp>
        <p:nvSpPr>
          <p:cNvPr id="24" name="낙폭 Deneb"/>
          <p:cNvSpPr/>
          <p:nvPr/>
        </p:nvSpPr>
        <p:spPr>
          <a:xfrm>
            <a:off x="7124844" y="2898000"/>
            <a:ext cx="2055155" cy="151200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70000" y="2880000"/>
            <a:ext cx="7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1100" b="1" lang="ko-KR" altLang="en-US">
                <a:solidFill>
                  <a:srgbClr val="191F28"/>
                </a:solidFill>
                <a:latin typeface="Noto Sans KR"/>
                <a:ea typeface="Noto Sans KR"/>
                <a:cs typeface="Noto Sans KR"/>
              </a:rPr>
              <a:t>−31.7%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80000" y="3186000"/>
            <a:ext cx="93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1100" b="0" lang="ko-KR" altLang="en-US">
                <a:solidFill>
                  <a:srgbClr val="6B7684"/>
                </a:solidFill>
                <a:latin typeface="Noto Sans KR"/>
                <a:ea typeface="Noto Sans KR"/>
                <a:cs typeface="Noto Sans KR"/>
              </a:rPr>
              <a:t>QQQ 단독</a:t>
            </a:r>
          </a:p>
        </p:txBody>
      </p:sp>
      <p:sp>
        <p:nvSpPr>
          <p:cNvPr id="27" name="낙폭 QQQ 단독"/>
          <p:cNvSpPr/>
          <p:nvPr/>
        </p:nvSpPr>
        <p:spPr>
          <a:xfrm>
            <a:off x="6904105" y="3204000"/>
            <a:ext cx="2275894" cy="151200"/>
          </a:xfrm>
          <a:prstGeom prst="roundRect">
            <a:avLst>
              <a:gd name="adj" fmla="val 50000"/>
            </a:avLst>
          </a:prstGeom>
          <a:solidFill>
            <a:srgbClr val="8B95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70000" y="3186000"/>
            <a:ext cx="7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1100" b="1" lang="ko-KR" altLang="en-US">
                <a:solidFill>
                  <a:srgbClr val="191F28"/>
                </a:solidFill>
                <a:latin typeface="Noto Sans KR"/>
                <a:ea typeface="Noto Sans KR"/>
                <a:cs typeface="Noto Sans KR"/>
              </a:rPr>
              <a:t>−35.1%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80000" y="3491999"/>
            <a:ext cx="93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1100" b="0" lang="ko-KR" altLang="en-US">
                <a:solidFill>
                  <a:srgbClr val="6B7684"/>
                </a:solidFill>
                <a:latin typeface="Noto Sans KR"/>
                <a:ea typeface="Noto Sans KR"/>
                <a:cs typeface="Noto Sans KR"/>
              </a:rPr>
              <a:t>Polaris</a:t>
            </a:r>
          </a:p>
        </p:txBody>
      </p:sp>
      <p:sp>
        <p:nvSpPr>
          <p:cNvPr id="30" name="낙폭 Polaris"/>
          <p:cNvSpPr/>
          <p:nvPr/>
        </p:nvSpPr>
        <p:spPr>
          <a:xfrm>
            <a:off x="7666336" y="3510000"/>
            <a:ext cx="1513663" cy="151200"/>
          </a:xfrm>
          <a:prstGeom prst="roundRect">
            <a:avLst>
              <a:gd name="adj" fmla="val 50000"/>
            </a:avLst>
          </a:prstGeom>
          <a:solidFill>
            <a:srgbClr val="8B95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70000" y="3491999"/>
            <a:ext cx="7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1100" b="1" lang="ko-KR" altLang="en-US">
                <a:solidFill>
                  <a:srgbClr val="191F28"/>
                </a:solidFill>
                <a:latin typeface="Noto Sans KR"/>
                <a:ea typeface="Noto Sans KR"/>
                <a:cs typeface="Noto Sans KR"/>
              </a:rPr>
              <a:t>−23.4%</a:t>
            </a:r>
          </a:p>
        </p:txBody>
      </p:sp>
      <p:sp>
        <p:nvSpPr>
          <p:cNvPr id="32" name="카드"/>
          <p:cNvSpPr/>
          <p:nvPr/>
        </p:nvSpPr>
        <p:spPr>
          <a:xfrm>
            <a:off x="576000" y="4104000"/>
            <a:ext cx="9540000" cy="27900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999" y="4302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1250" b="1" lang="ko-KR" altLang="en-US">
                <a:solidFill>
                  <a:srgbClr val="191F28"/>
                </a:solidFill>
                <a:latin typeface="Noto Sans KR"/>
                <a:ea typeface="Noto Sans KR"/>
                <a:cs typeface="Noto Sans KR"/>
              </a:rPr>
              <a:t>납입액별로 보면 · 14년 8개월 뒤 금액 (만 원)</a:t>
            </a:r>
          </a:p>
        </p:txBody>
      </p:sp>
      <p:graphicFrame>
        <p:nvGraphicFramePr>
          <p:cNvPr id="34" name="표"/>
          <p:cNvGraphicFramePr>
            <a:graphicFrameLocks noGrp="1"/>
          </p:cNvGraphicFramePr>
          <p:nvPr/>
        </p:nvGraphicFramePr>
        <p:xfrm>
          <a:off x="827999" y="4662000"/>
          <a:ext cx="9035999" cy="1771200"/>
        </p:xfrm>
        <a:graphic>
          <a:graphicData uri="http://schemas.openxmlformats.org/drawingml/2006/table">
            <a:tbl>
              <a:tblPr firstRow="0" bandRow="0" firstCol="0" lastCol="0" bandCol="0" lastRow="0">
                <a:tableStyleId>{5940675A-B579-460E-94D1-54222C63F5DA}</a:tableStyleId>
              </a:tblPr>
              <a:tblGrid>
                <a:gridCol w="1290857"/>
                <a:gridCol w="1290857"/>
                <a:gridCol w="1290857"/>
                <a:gridCol w="1290857"/>
                <a:gridCol w="1290857"/>
                <a:gridCol w="1290857"/>
                <a:gridCol w="1290857"/>
              </a:tblGrid>
              <a:tr h="2952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00" b="1" lang="ko-KR" altLang="en-US">
                          <a:solidFill>
                            <a:srgbClr val="6B768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납입액</a:t>
                      </a:r>
                      <a:endParaRPr sz="100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F2F4F6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00" b="1" lang="ko-KR" altLang="en-US">
                          <a:solidFill>
                            <a:srgbClr val="6B768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넣은 돈</a:t>
                      </a:r>
                      <a:endParaRPr sz="100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F2F4F6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00" b="1" lang="ko-KR" altLang="en-US">
                          <a:solidFill>
                            <a:srgbClr val="6B768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Deneb</a:t>
                      </a:r>
                      <a:endParaRPr sz="100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F2F4F6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00" b="1" lang="ko-KR" altLang="en-US">
                          <a:solidFill>
                            <a:srgbClr val="6B768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QQQ 단독 적립</a:t>
                      </a:r>
                      <a:endParaRPr sz="100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F2F4F6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00" b="1" lang="ko-KR" altLang="en-US">
                          <a:solidFill>
                            <a:srgbClr val="6B768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Polaris</a:t>
                      </a:r>
                      <a:endParaRPr sz="100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F2F4F6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00" b="1" lang="ko-KR" altLang="en-US">
                          <a:solidFill>
                            <a:srgbClr val="6B768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Deneb − QQQ</a:t>
                      </a:r>
                      <a:endParaRPr sz="100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F2F4F6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00" b="1" lang="ko-KR" altLang="en-US">
                          <a:solidFill>
                            <a:srgbClr val="6B768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Polaris − QQQ</a:t>
                      </a:r>
                      <a:endParaRPr sz="100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F2F4F6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</a:tr>
              <a:tr h="2952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1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10만 원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1,760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1" lang="ko-KR" altLang="en-US">
                          <a:solidFill>
                            <a:srgbClr val="3182F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36,111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8,805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5,077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+27,307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−3,728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</a:tr>
              <a:tr h="2952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1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20만 원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3,520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1" lang="ko-KR" altLang="en-US">
                          <a:solidFill>
                            <a:srgbClr val="3182F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72,222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17,609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10,153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+54,613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−7,456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</a:tr>
              <a:tr h="2952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1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30만 원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5,280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1" lang="ko-KR" altLang="en-US">
                          <a:solidFill>
                            <a:srgbClr val="3182F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108,334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26,414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15,230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+81,920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−11,183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</a:tr>
              <a:tr h="2952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1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50만 원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8,800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1" lang="ko-KR" altLang="en-US">
                          <a:solidFill>
                            <a:srgbClr val="3182F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180,556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44,023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25,384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+136,533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−18,639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</a:tr>
              <a:tr h="2952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1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100만 원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17,600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1" lang="ko-KR" altLang="en-US">
                          <a:solidFill>
                            <a:srgbClr val="3182F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361,112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88,045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50,767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+273,067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−37,278</a:t>
                      </a:r>
                      <a:endParaRPr sz="10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E5E8EB"/>
                      </a:solidFill>
                    </a:lnT>
                    <a:lnB w="9525">
                      <a:solidFill>
                        <a:srgbClr val="E5E8E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576000" y="7056000"/>
            <a:ext cx="95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900" b="0" lang="ko-KR" altLang="en-US">
                <a:solidFill>
                  <a:srgbClr val="6B7684"/>
                </a:solidFill>
                <a:latin typeface="Noto Sans KR"/>
                <a:ea typeface="Noto Sans KR"/>
                <a:cs typeface="Noto Sans KR"/>
              </a:rPr>
              <a:t>세금 · 정수 주 · 환율을 넣으면 실제 금액은 달라져요. 지나간 기간의 계산이고 앞으로의 약속이 아니에요.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바탕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표지 막대"/>
          <p:cNvSpPr/>
          <p:nvPr/>
        </p:nvSpPr>
        <p:spPr>
          <a:xfrm>
            <a:off x="576000" y="360000"/>
            <a:ext cx="396000" cy="115200"/>
          </a:xfrm>
          <a:prstGeom prst="rect">
            <a:avLst/>
          </a:prstGeom>
          <a:solidFill>
            <a:srgbClr val="006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76000" y="475200"/>
            <a:ext cx="9540000" cy="0"/>
          </a:xfrm>
          <a:prstGeom prst="line">
            <a:avLst/>
          </a:prstGeom>
          <a:ln w="9525">
            <a:solidFill>
              <a:srgbClr val="121212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76000" y="612000"/>
            <a:ext cx="36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900" b="1" lang="ko-KR" altLang="en-US">
                <a:solidFill>
                  <a:srgbClr val="006BA2"/>
                </a:solidFill>
                <a:latin typeface="Noto Sans KR"/>
                <a:ea typeface="Noto Sans KR"/>
                <a:cs typeface="Noto Sans KR"/>
              </a:rPr>
              <a:t>B · Economist 차트 + 스위스 격자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846000"/>
            <a:ext cx="72000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3000" b="1" lang="ko-KR" altLang="en-US">
                <a:solidFill>
                  <a:srgbClr val="121212"/>
                </a:solidFill>
                <a:latin typeface="Noto Sans KR"/>
                <a:ea typeface="Noto Sans KR"/>
                <a:cs typeface="Noto Sans KR"/>
              </a:rPr>
              <a:t>다섯 납입액, 14년 8개월의 결과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404000"/>
            <a:ext cx="61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20000"/>
              </a:lnSpc>
              <a:spcAft>
                <a:spcPts val="0"/>
              </a:spcAft>
            </a:pPr>
            <a:r>
              <a:rPr sz="13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같은 날, 같은 비용으로 금액만 다르게 넣었다. 수익률은 같고 남은 돈의 차이만 커진다.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6000" y="2015999"/>
            <a:ext cx="3060000" cy="0"/>
          </a:xfrm>
          <a:prstGeom prst="line">
            <a:avLst/>
          </a:prstGeom>
          <a:ln w="9525">
            <a:solidFill>
              <a:srgbClr val="121212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576000" y="2088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2000" b="1" lang="ko-KR" altLang="en-US">
                <a:solidFill>
                  <a:srgbClr val="006BA2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6000" y="2106000"/>
            <a:ext cx="27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1100" b="1" lang="ko-KR" altLang="en-US">
                <a:solidFill>
                  <a:srgbClr val="121212"/>
                </a:solidFill>
                <a:latin typeface="Noto Sans KR"/>
                <a:ea typeface="Noto Sans KR"/>
                <a:cs typeface="Noto Sans KR"/>
              </a:rPr>
              <a:t>같은 비율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000" y="2321999"/>
            <a:ext cx="2700000" cy="61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30000"/>
              </a:lnSpc>
              <a:spcAft>
                <a:spcPts val="0"/>
              </a:spcAft>
            </a:pPr>
            <a:r>
              <a:rPr sz="950" b="0" lang="ko-KR" altLang="en-US">
                <a:solidFill>
                  <a:srgbClr val="121212"/>
                </a:solidFill>
                <a:latin typeface="Noto Sans KR"/>
                <a:ea typeface="Noto Sans KR"/>
                <a:cs typeface="Noto Sans KR"/>
              </a:rPr>
              <a:t>연복리는 금액과 무관하다. Deneb 35.6%, QQQ 단독 적립 19.8%, Polaris 12.3%.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2933999"/>
            <a:ext cx="3060000" cy="0"/>
          </a:xfrm>
          <a:prstGeom prst="line">
            <a:avLst/>
          </a:prstGeom>
          <a:ln w="9525">
            <a:solidFill>
              <a:srgbClr val="121212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576000" y="3005999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2000" b="1" lang="ko-KR" altLang="en-US">
                <a:solidFill>
                  <a:srgbClr val="006BA2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6000" y="3023999"/>
            <a:ext cx="27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1100" b="1" lang="ko-KR" altLang="en-US">
                <a:solidFill>
                  <a:srgbClr val="121212"/>
                </a:solidFill>
                <a:latin typeface="Noto Sans KR"/>
                <a:ea typeface="Noto Sans KR"/>
                <a:cs typeface="Noto Sans KR"/>
              </a:rPr>
              <a:t>커지는 차이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6000" y="3239999"/>
            <a:ext cx="2700000" cy="61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30000"/>
              </a:lnSpc>
              <a:spcAft>
                <a:spcPts val="0"/>
              </a:spcAft>
            </a:pPr>
            <a:r>
              <a:rPr sz="950" b="0" lang="ko-KR" altLang="en-US">
                <a:solidFill>
                  <a:srgbClr val="121212"/>
                </a:solidFill>
                <a:latin typeface="Noto Sans KR"/>
                <a:ea typeface="Noto Sans KR"/>
                <a:cs typeface="Noto Sans KR"/>
              </a:rPr>
              <a:t>월 10만 원에서 2억 7,307만 원이던 Deneb와 QQQ의 차이가 월 100만 원에서는 27억 3,067만 원이 된다.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6000" y="3851999"/>
            <a:ext cx="3060000" cy="0"/>
          </a:xfrm>
          <a:prstGeom prst="line">
            <a:avLst/>
          </a:prstGeom>
          <a:ln w="9525">
            <a:solidFill>
              <a:srgbClr val="121212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576000" y="3923999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2000" b="1" lang="ko-KR" altLang="en-US">
                <a:solidFill>
                  <a:srgbClr val="006BA2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6000" y="3941999"/>
            <a:ext cx="27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1100" b="1" lang="ko-KR" altLang="en-US">
                <a:solidFill>
                  <a:srgbClr val="121212"/>
                </a:solidFill>
                <a:latin typeface="Noto Sans KR"/>
                <a:ea typeface="Noto Sans KR"/>
                <a:cs typeface="Noto Sans KR"/>
              </a:rPr>
              <a:t>같이 커지는 흔들림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000" y="4157999"/>
            <a:ext cx="2700000" cy="61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30000"/>
              </a:lnSpc>
              <a:spcAft>
                <a:spcPts val="0"/>
              </a:spcAft>
            </a:pPr>
            <a:r>
              <a:rPr sz="950" b="0" lang="ko-KR" altLang="en-US">
                <a:solidFill>
                  <a:srgbClr val="121212"/>
                </a:solidFill>
                <a:latin typeface="Noto Sans KR"/>
                <a:ea typeface="Noto Sans KR"/>
                <a:cs typeface="Noto Sans KR"/>
              </a:rPr>
              <a:t>월 100만 원 Deneb는 2024년 12월 → 2025년 4월에 4억 817만 원이 줄었다.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16000" y="2015999"/>
            <a:ext cx="6300000" cy="0"/>
          </a:xfrm>
          <a:prstGeom prst="line">
            <a:avLst/>
          </a:prstGeom>
          <a:ln w="9525">
            <a:solidFill>
              <a:srgbClr val="121212"/>
            </a:solidFill>
          </a:ln>
        </p:spPr>
      </p:cxnSp>
      <p:sp>
        <p:nvSpPr>
          <p:cNvPr id="21" name="차트 표지"/>
          <p:cNvSpPr/>
          <p:nvPr/>
        </p:nvSpPr>
        <p:spPr>
          <a:xfrm>
            <a:off x="3816000" y="2015999"/>
            <a:ext cx="198000" cy="57600"/>
          </a:xfrm>
          <a:prstGeom prst="rect">
            <a:avLst/>
          </a:prstGeom>
          <a:solidFill>
            <a:srgbClr val="006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16000" y="2142000"/>
            <a:ext cx="63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1150" b="1" lang="ko-KR" altLang="en-US">
                <a:solidFill>
                  <a:srgbClr val="121212"/>
                </a:solidFill>
                <a:latin typeface="Noto Sans KR"/>
                <a:ea typeface="Noto Sans KR"/>
                <a:cs typeface="Noto Sans KR"/>
              </a:rPr>
              <a:t>QQQ 단독 적립보다 더(덜) 남은 금액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6000" y="2340000"/>
            <a:ext cx="63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95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14년 8개월 적립 후, 2026년 8월 말, 만 원</a:t>
            </a:r>
          </a:p>
        </p:txBody>
      </p:sp>
      <p:graphicFrame>
        <p:nvGraphicFramePr>
          <p:cNvPr id="24" name="B 차이"/>
          <p:cNvGraphicFramePr>
            <a:graphicFrameLocks noGrp="1"/>
          </p:cNvGraphicFramePr>
          <p:nvPr/>
        </p:nvGraphicFramePr>
        <p:xfrm>
          <a:off x="3816000" y="2556000"/>
          <a:ext cx="6300000" cy="223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25" name="Connector 24"/>
          <p:cNvCxnSpPr/>
          <p:nvPr/>
        </p:nvCxnSpPr>
        <p:spPr>
          <a:xfrm>
            <a:off x="3816000" y="4950000"/>
            <a:ext cx="6300000" cy="0"/>
          </a:xfrm>
          <a:prstGeom prst="line">
            <a:avLst/>
          </a:prstGeom>
          <a:ln w="25400">
            <a:solidFill>
              <a:srgbClr val="121212"/>
            </a:solidFill>
          </a:ln>
        </p:spPr>
      </p:cxnSp>
      <p:graphicFrame>
        <p:nvGraphicFramePr>
          <p:cNvPr id="26" name="표"/>
          <p:cNvGraphicFramePr>
            <a:graphicFrameLocks noGrp="1"/>
          </p:cNvGraphicFramePr>
          <p:nvPr/>
        </p:nvGraphicFramePr>
        <p:xfrm>
          <a:off x="3816000" y="4986000"/>
          <a:ext cx="6300000" cy="1339200"/>
        </p:xfrm>
        <a:graphic>
          <a:graphicData uri="http://schemas.openxmlformats.org/drawingml/2006/table">
            <a:tbl>
              <a:tblPr firstRow="0" bandRow="0" firstCol="0" lastCol="0" bandCol="0" lastRow="0">
                <a:tableStyleId>{5940675A-B579-460E-94D1-54222C63F5DA}</a:tableStyleId>
              </a:tblPr>
              <a:tblGrid>
                <a:gridCol w="787500"/>
                <a:gridCol w="787500"/>
                <a:gridCol w="787500"/>
                <a:gridCol w="787500"/>
                <a:gridCol w="787500"/>
                <a:gridCol w="787500"/>
                <a:gridCol w="787500"/>
                <a:gridCol w="787500"/>
              </a:tblGrid>
              <a:tr h="2232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1" lang="ko-KR" altLang="en-US">
                          <a:solidFill>
                            <a:srgbClr val="12121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납입액</a:t>
                      </a:r>
                      <a:endParaRPr sz="90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E25"/>
                      </a:solidFill>
                    </a:lnT>
                    <a:lnB w="9525">
                      <a:solidFill>
                        <a:srgbClr val="1A1E2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1" lang="ko-KR" altLang="en-US">
                          <a:solidFill>
                            <a:srgbClr val="12121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원금</a:t>
                      </a:r>
                      <a:endParaRPr sz="90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E25"/>
                      </a:solidFill>
                    </a:lnT>
                    <a:lnB w="9525">
                      <a:solidFill>
                        <a:srgbClr val="1A1E2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1" lang="ko-KR" altLang="en-US">
                          <a:solidFill>
                            <a:srgbClr val="12121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Deneb</a:t>
                      </a:r>
                      <a:endParaRPr sz="90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E25"/>
                      </a:solidFill>
                    </a:lnT>
                    <a:lnB w="9525">
                      <a:solidFill>
                        <a:srgbClr val="1A1E2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1" lang="ko-KR" altLang="en-US">
                          <a:solidFill>
                            <a:srgbClr val="12121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QQQ 단독</a:t>
                      </a:r>
                      <a:endParaRPr sz="90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E25"/>
                      </a:solidFill>
                    </a:lnT>
                    <a:lnB w="9525">
                      <a:solidFill>
                        <a:srgbClr val="1A1E2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1" lang="ko-KR" altLang="en-US">
                          <a:solidFill>
                            <a:srgbClr val="12121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Polaris</a:t>
                      </a:r>
                      <a:endParaRPr sz="90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E25"/>
                      </a:solidFill>
                    </a:lnT>
                    <a:lnB w="9525">
                      <a:solidFill>
                        <a:srgbClr val="1A1E2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1" lang="ko-KR" altLang="en-US">
                          <a:solidFill>
                            <a:srgbClr val="12121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Deneb 이익</a:t>
                      </a:r>
                      <a:endParaRPr sz="90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E25"/>
                      </a:solidFill>
                    </a:lnT>
                    <a:lnB w="9525">
                      <a:solidFill>
                        <a:srgbClr val="1A1E2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1" lang="ko-KR" altLang="en-US">
                          <a:solidFill>
                            <a:srgbClr val="12121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QQQ 이익</a:t>
                      </a:r>
                      <a:endParaRPr sz="90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E25"/>
                      </a:solidFill>
                    </a:lnT>
                    <a:lnB w="9525">
                      <a:solidFill>
                        <a:srgbClr val="1A1E2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1" lang="ko-KR" altLang="en-US">
                          <a:solidFill>
                            <a:srgbClr val="12121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Polaris 이익</a:t>
                      </a:r>
                      <a:endParaRPr sz="90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E25"/>
                      </a:solidFill>
                    </a:lnT>
                    <a:lnB w="9525">
                      <a:solidFill>
                        <a:srgbClr val="1A1E25"/>
                      </a:solidFill>
                    </a:lnB>
                    <a:noFill/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1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10만 원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1,760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36,111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8,805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5,077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34,351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7,045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3,317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1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20만 원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3,520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72,222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17,609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10,153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68,702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14,089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6,633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1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30만 원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5,280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108,334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26,414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15,230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103,054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21,134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9,950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1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50만 원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8,800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180,556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44,023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25,384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171,756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35,223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16,584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1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100만 원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17,600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361,112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88,045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50,767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343,512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70,445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5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33,167</a:t>
                      </a:r>
                      <a:endParaRPr sz="95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816000" y="6570000"/>
            <a:ext cx="63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단위 만 원 · 이익 = 최종 금액 − 원금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00" y="7056000"/>
            <a:ext cx="9539999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8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출처: QQQ · TQQQ · SCHD · SPY · IEF · GLD 실제 ETF 수정 종가, 자체 계산 (비용 0.15%, 세전, 환율 고정, 소수 주)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표지 원"/>
          <p:cNvSpPr/>
          <p:nvPr/>
        </p:nvSpPr>
        <p:spPr>
          <a:xfrm>
            <a:off x="558000" y="270000"/>
            <a:ext cx="450000" cy="450000"/>
          </a:xfrm>
          <a:prstGeom prst="ellipse">
            <a:avLst/>
          </a:prstGeom>
          <a:noFill/>
          <a:ln w="7620">
            <a:solidFill>
              <a:srgbClr val="5C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0" lang="ko-KR" altLang="en-US">
                <a:solidFill>
                  <a:srgbClr val="5C6573"/>
                </a:solidFill>
                <a:latin typeface="Noto Sans KR"/>
                <a:ea typeface="Noto Sans KR"/>
                <a:cs typeface="Noto Sans KR"/>
              </a:rPr>
              <a:t>D·P</a:t>
            </a:r>
          </a:p>
        </p:txBody>
      </p:sp>
      <p:sp>
        <p:nvSpPr>
          <p:cNvPr id="3" name="목차 개요"/>
          <p:cNvSpPr txBox="1"/>
          <p:nvPr/>
        </p:nvSpPr>
        <p:spPr>
          <a:xfrm>
            <a:off x="3844800" y="367200"/>
            <a:ext cx="10482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900" b="0" lang="ko-KR" altLang="en-US">
                <a:solidFill>
                  <a:srgbClr val="5C6573"/>
                </a:solidFill>
                <a:latin typeface="Noto Sans KR"/>
                <a:ea typeface="Noto Sans KR"/>
                <a:cs typeface="Noto Sans KR"/>
              </a:rPr>
              <a:t>개요</a:t>
            </a:r>
          </a:p>
        </p:txBody>
      </p:sp>
      <p:sp>
        <p:nvSpPr>
          <p:cNvPr id="4" name="목차 Deneb"/>
          <p:cNvSpPr txBox="1"/>
          <p:nvPr/>
        </p:nvSpPr>
        <p:spPr>
          <a:xfrm>
            <a:off x="4893000" y="367200"/>
            <a:ext cx="10482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900" b="0" lang="ko-KR" altLang="en-US">
                <a:solidFill>
                  <a:srgbClr val="5C6573"/>
                </a:solidFill>
                <a:latin typeface="Noto Sans KR"/>
                <a:ea typeface="Noto Sans KR"/>
                <a:cs typeface="Noto Sans KR"/>
              </a:rPr>
              <a:t>Deneb</a:t>
            </a:r>
          </a:p>
        </p:txBody>
      </p:sp>
      <p:sp>
        <p:nvSpPr>
          <p:cNvPr id="5" name="목차 Polaris"/>
          <p:cNvSpPr txBox="1"/>
          <p:nvPr/>
        </p:nvSpPr>
        <p:spPr>
          <a:xfrm>
            <a:off x="5941200" y="367200"/>
            <a:ext cx="10482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900" b="0" lang="ko-KR" altLang="en-US">
                <a:solidFill>
                  <a:srgbClr val="5C6573"/>
                </a:solidFill>
                <a:latin typeface="Noto Sans KR"/>
                <a:ea typeface="Noto Sans KR"/>
                <a:cs typeface="Noto Sans KR"/>
              </a:rPr>
              <a:t>Polaris</a:t>
            </a:r>
          </a:p>
        </p:txBody>
      </p:sp>
      <p:sp>
        <p:nvSpPr>
          <p:cNvPr id="6" name="목차 비교"/>
          <p:cNvSpPr txBox="1"/>
          <p:nvPr/>
        </p:nvSpPr>
        <p:spPr>
          <a:xfrm>
            <a:off x="6989400" y="367200"/>
            <a:ext cx="10482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900" b="0" lang="ko-KR" altLang="en-US">
                <a:solidFill>
                  <a:srgbClr val="1A1E25"/>
                </a:solidFill>
                <a:latin typeface="Noto Sans KR"/>
                <a:ea typeface="Noto Sans KR"/>
                <a:cs typeface="Noto Sans KR"/>
              </a:rPr>
              <a:t>비교</a:t>
            </a:r>
          </a:p>
        </p:txBody>
      </p:sp>
      <p:sp>
        <p:nvSpPr>
          <p:cNvPr id="7" name="목차 적금"/>
          <p:cNvSpPr txBox="1"/>
          <p:nvPr/>
        </p:nvSpPr>
        <p:spPr>
          <a:xfrm>
            <a:off x="8037600" y="367200"/>
            <a:ext cx="10482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900" b="0" lang="ko-KR" altLang="en-US">
                <a:solidFill>
                  <a:srgbClr val="5C6573"/>
                </a:solidFill>
                <a:latin typeface="Noto Sans KR"/>
                <a:ea typeface="Noto Sans KR"/>
                <a:cs typeface="Noto Sans KR"/>
              </a:rPr>
              <a:t>적금</a:t>
            </a:r>
          </a:p>
        </p:txBody>
      </p:sp>
      <p:sp>
        <p:nvSpPr>
          <p:cNvPr id="8" name="목차 자료"/>
          <p:cNvSpPr txBox="1"/>
          <p:nvPr/>
        </p:nvSpPr>
        <p:spPr>
          <a:xfrm>
            <a:off x="9085800" y="367200"/>
            <a:ext cx="10482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900" b="0" lang="ko-KR" altLang="en-US">
                <a:solidFill>
                  <a:srgbClr val="5C6573"/>
                </a:solidFill>
                <a:latin typeface="Noto Sans KR"/>
                <a:ea typeface="Noto Sans KR"/>
                <a:cs typeface="Noto Sans KR"/>
              </a:rPr>
              <a:t>자료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44800" y="619200"/>
            <a:ext cx="6289200" cy="0"/>
          </a:xfrm>
          <a:prstGeom prst="line">
            <a:avLst/>
          </a:prstGeom>
          <a:ln w="6350">
            <a:solidFill>
              <a:srgbClr val="C9D0DA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6989400" y="619200"/>
            <a:ext cx="536399" cy="0"/>
          </a:xfrm>
          <a:prstGeom prst="line">
            <a:avLst/>
          </a:prstGeom>
          <a:ln w="25400">
            <a:solidFill>
              <a:srgbClr val="0B3D91"/>
            </a:solidFill>
          </a:ln>
        </p:spPr>
      </p:cxnSp>
      <p:sp>
        <p:nvSpPr>
          <p:cNvPr id="11" name="바닥 제목"/>
          <p:cNvSpPr txBox="1"/>
          <p:nvPr/>
        </p:nvSpPr>
        <p:spPr>
          <a:xfrm>
            <a:off x="558000" y="7182000"/>
            <a:ext cx="432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800" b="0" lang="ko-KR" altLang="en-US">
                <a:solidFill>
                  <a:srgbClr val="5C6573"/>
                </a:solidFill>
                <a:latin typeface="Noto Sans KR"/>
                <a:ea typeface="Noto Sans KR"/>
                <a:cs typeface="Noto Sans KR"/>
              </a:rPr>
              <a:t>Deneb · Polaris 투자 전략 설명서 — 시안</a:t>
            </a:r>
          </a:p>
        </p:txBody>
      </p:sp>
      <p:sp>
        <p:nvSpPr>
          <p:cNvPr id="12" name="쪽 번호"/>
          <p:cNvSpPr txBox="1"/>
          <p:nvPr/>
        </p:nvSpPr>
        <p:spPr>
          <a:xfrm>
            <a:off x="9414000" y="7182000"/>
            <a:ext cx="72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0">
              <a:lnSpc>
                <a:spcPct val="100000"/>
              </a:lnSpc>
              <a:spcAft>
                <a:spcPts val="0"/>
              </a:spcAft>
            </a:pPr>
            <a:r>
              <a:rPr sz="800" b="0" lang="ko-KR" altLang="en-US">
                <a:solidFill>
                  <a:srgbClr val="5C6573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000" y="827999"/>
            <a:ext cx="360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850" b="1" lang="ko-KR" altLang="en-US">
                <a:solidFill>
                  <a:srgbClr val="0B3D91"/>
                </a:solidFill>
                <a:latin typeface="Noto Sans KR"/>
                <a:ea typeface="Noto Sans KR"/>
                <a:cs typeface="Noto Sans KR"/>
              </a:rPr>
              <a:t>C · 지금 틀 + 큰 숫자 띠</a:t>
            </a:r>
          </a:p>
        </p:txBody>
      </p:sp>
      <p:sp>
        <p:nvSpPr>
          <p:cNvPr id="14" name="제목"/>
          <p:cNvSpPr txBox="1"/>
          <p:nvPr/>
        </p:nvSpPr>
        <p:spPr>
          <a:xfrm>
            <a:off x="558000" y="990000"/>
            <a:ext cx="3006000" cy="8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8000"/>
              </a:lnSpc>
              <a:spcAft>
                <a:spcPts val="0"/>
              </a:spcAft>
            </a:pPr>
            <a:r>
              <a:rPr sz="2700" b="0" lang="ko-KR" altLang="en-US">
                <a:solidFill>
                  <a:srgbClr val="1A1E25"/>
                </a:solidFill>
                <a:latin typeface="Malgun Gothic Semilight"/>
                <a:ea typeface="Malgun Gothic Semilight"/>
                <a:cs typeface="Malgun Gothic Semilight"/>
              </a:rPr>
              <a:t>다섯 납입액의 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000" y="1565999"/>
            <a:ext cx="3006000" cy="9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32000"/>
              </a:lnSpc>
              <a:spcAft>
                <a:spcPts val="0"/>
              </a:spcAft>
            </a:pPr>
            <a:r>
              <a:rPr sz="1050" b="0" lang="ko-KR" altLang="en-US">
                <a:solidFill>
                  <a:srgbClr val="1A1E25"/>
                </a:solidFill>
                <a:latin typeface="Noto Sans KR"/>
                <a:ea typeface="Noto Sans KR"/>
                <a:cs typeface="Noto Sans KR"/>
              </a:rPr>
              <a:t>오른쪽 띠는 월 10만 원을 14년 8개월 넣은 결과입니다. 막대 길이가 곧 금액입니다. 아래 표에서 다섯 납입액을 이어서 봅니다.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4800" y="990000"/>
            <a:ext cx="6289200" cy="0"/>
          </a:xfrm>
          <a:prstGeom prst="line">
            <a:avLst/>
          </a:prstGeom>
          <a:ln w="7620">
            <a:solidFill>
              <a:srgbClr val="1A1E25"/>
            </a:solidFill>
          </a:ln>
        </p:spPr>
      </p:cxnSp>
      <p:sp>
        <p:nvSpPr>
          <p:cNvPr id="17" name="그림 제목"/>
          <p:cNvSpPr txBox="1"/>
          <p:nvPr/>
        </p:nvSpPr>
        <p:spPr>
          <a:xfrm>
            <a:off x="3844800" y="1054800"/>
            <a:ext cx="62892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950" b="1" lang="ko-KR" altLang="en-US">
                <a:solidFill>
                  <a:srgbClr val="1A1E25"/>
                </a:solidFill>
                <a:latin typeface="Noto Sans KR"/>
                <a:ea typeface="Noto Sans KR"/>
                <a:cs typeface="Noto Sans KR"/>
              </a:rPr>
              <a:t>월 10만 원 · 14년 8개월 적립 후 최종 평가액</a:t>
            </a:r>
          </a:p>
        </p:txBody>
      </p:sp>
      <p:sp>
        <p:nvSpPr>
          <p:cNvPr id="18" name="그림 설명"/>
          <p:cNvSpPr txBox="1"/>
          <p:nvPr/>
        </p:nvSpPr>
        <p:spPr>
          <a:xfrm>
            <a:off x="3844800" y="1234800"/>
            <a:ext cx="62892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10000"/>
              </a:lnSpc>
              <a:spcAft>
                <a:spcPts val="0"/>
              </a:spcAft>
            </a:pPr>
            <a:r>
              <a:rPr sz="800" b="0" lang="ko-KR" altLang="en-US">
                <a:solidFill>
                  <a:srgbClr val="5C6573"/>
                </a:solidFill>
                <a:latin typeface="Noto Sans KR"/>
                <a:ea typeface="Noto Sans KR"/>
                <a:cs typeface="Noto Sans KR"/>
              </a:rPr>
              <a:t>2012년 1월 ~ 2026년 8월 31일 · 176회 · 세전 · 막대 길이 = 금액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4800" y="1602000"/>
            <a:ext cx="115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1100" b="1" lang="ko-KR" altLang="en-US">
                <a:solidFill>
                  <a:srgbClr val="1A1E25"/>
                </a:solidFill>
                <a:latin typeface="Noto Sans KR"/>
                <a:ea typeface="Noto Sans KR"/>
                <a:cs typeface="Noto Sans KR"/>
              </a:rPr>
              <a:t>Deneb</a:t>
            </a:r>
          </a:p>
        </p:txBody>
      </p:sp>
      <p:sp>
        <p:nvSpPr>
          <p:cNvPr id="20" name="띠 Deneb"/>
          <p:cNvSpPr/>
          <p:nvPr/>
        </p:nvSpPr>
        <p:spPr>
          <a:xfrm>
            <a:off x="5068800" y="1494000"/>
            <a:ext cx="5065199" cy="413999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800" y="1530000"/>
            <a:ext cx="4849199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2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3억 6,111만 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4800" y="2124000"/>
            <a:ext cx="115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1100" b="1" lang="ko-KR" altLang="en-US">
                <a:solidFill>
                  <a:srgbClr val="1A1E25"/>
                </a:solidFill>
                <a:latin typeface="Noto Sans KR"/>
                <a:ea typeface="Noto Sans KR"/>
                <a:cs typeface="Noto Sans KR"/>
              </a:rPr>
              <a:t>QQQ 단독 적립</a:t>
            </a:r>
          </a:p>
        </p:txBody>
      </p:sp>
      <p:sp>
        <p:nvSpPr>
          <p:cNvPr id="23" name="띠 QQQ 단독 적립"/>
          <p:cNvSpPr/>
          <p:nvPr/>
        </p:nvSpPr>
        <p:spPr>
          <a:xfrm>
            <a:off x="5068800" y="2016000"/>
            <a:ext cx="1234982" cy="413999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1782" y="2052000"/>
            <a:ext cx="288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2400" b="1" lang="ko-KR" altLang="en-US">
                <a:solidFill>
                  <a:srgbClr val="1A1E25"/>
                </a:solidFill>
                <a:latin typeface="Noto Sans KR"/>
                <a:ea typeface="Noto Sans KR"/>
                <a:cs typeface="Noto Sans KR"/>
              </a:rPr>
              <a:t>8,805만 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4800" y="2646000"/>
            <a:ext cx="115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1100" b="1" lang="ko-KR" altLang="en-US">
                <a:solidFill>
                  <a:srgbClr val="1A1E25"/>
                </a:solidFill>
                <a:latin typeface="Noto Sans KR"/>
                <a:ea typeface="Noto Sans KR"/>
                <a:cs typeface="Noto Sans KR"/>
              </a:rPr>
              <a:t>Polaris</a:t>
            </a:r>
          </a:p>
        </p:txBody>
      </p:sp>
      <p:sp>
        <p:nvSpPr>
          <p:cNvPr id="26" name="띠 Polaris"/>
          <p:cNvSpPr/>
          <p:nvPr/>
        </p:nvSpPr>
        <p:spPr>
          <a:xfrm>
            <a:off x="5068800" y="2538000"/>
            <a:ext cx="712097" cy="413999"/>
          </a:xfrm>
          <a:prstGeom prst="rect">
            <a:avLst/>
          </a:prstGeom>
          <a:solidFill>
            <a:srgbClr val="1E9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88897" y="2574000"/>
            <a:ext cx="288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2400" b="1" lang="ko-KR" altLang="en-US">
                <a:solidFill>
                  <a:srgbClr val="1A1E25"/>
                </a:solidFill>
                <a:latin typeface="Noto Sans KR"/>
                <a:ea typeface="Noto Sans KR"/>
                <a:cs typeface="Noto Sans KR"/>
              </a:rPr>
              <a:t>5,077만 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4800" y="3168000"/>
            <a:ext cx="115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1100" b="1" lang="ko-KR" altLang="en-US">
                <a:solidFill>
                  <a:srgbClr val="1A1E25"/>
                </a:solidFill>
                <a:latin typeface="Noto Sans KR"/>
                <a:ea typeface="Noto Sans KR"/>
                <a:cs typeface="Noto Sans KR"/>
              </a:rPr>
              <a:t>넣은 원금</a:t>
            </a:r>
          </a:p>
        </p:txBody>
      </p:sp>
      <p:sp>
        <p:nvSpPr>
          <p:cNvPr id="29" name="띠 넣은 원금"/>
          <p:cNvSpPr/>
          <p:nvPr/>
        </p:nvSpPr>
        <p:spPr>
          <a:xfrm>
            <a:off x="5068800" y="3060000"/>
            <a:ext cx="246869" cy="413999"/>
          </a:xfrm>
          <a:prstGeom prst="rect">
            <a:avLst/>
          </a:prstGeom>
          <a:solidFill>
            <a:srgbClr val="C9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23669" y="3096000"/>
            <a:ext cx="288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2400" b="1" lang="ko-KR" altLang="en-US">
                <a:solidFill>
                  <a:srgbClr val="1A1E25"/>
                </a:solidFill>
                <a:latin typeface="Noto Sans KR"/>
                <a:ea typeface="Noto Sans KR"/>
                <a:cs typeface="Noto Sans KR"/>
              </a:rPr>
              <a:t>1,760만 원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58000" y="3654000"/>
            <a:ext cx="9576000" cy="0"/>
          </a:xfrm>
          <a:prstGeom prst="line">
            <a:avLst/>
          </a:prstGeom>
          <a:ln w="7620">
            <a:solidFill>
              <a:srgbClr val="1A1E25"/>
            </a:solidFill>
          </a:ln>
        </p:spPr>
      </p:cxnSp>
      <p:sp>
        <p:nvSpPr>
          <p:cNvPr id="32" name="그림 제목"/>
          <p:cNvSpPr txBox="1"/>
          <p:nvPr/>
        </p:nvSpPr>
        <p:spPr>
          <a:xfrm>
            <a:off x="558000" y="3718800"/>
            <a:ext cx="957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00000"/>
              </a:lnSpc>
              <a:spcAft>
                <a:spcPts val="0"/>
              </a:spcAft>
            </a:pPr>
            <a:r>
              <a:rPr sz="950" b="1" lang="ko-KR" altLang="en-US">
                <a:solidFill>
                  <a:srgbClr val="1A1E25"/>
                </a:solidFill>
                <a:latin typeface="Noto Sans KR"/>
                <a:ea typeface="Noto Sans KR"/>
                <a:cs typeface="Noto Sans KR"/>
              </a:rPr>
              <a:t>14년 8개월 적립 후 납입액별 최종 평가액과 투자이익</a:t>
            </a:r>
          </a:p>
        </p:txBody>
      </p:sp>
      <p:sp>
        <p:nvSpPr>
          <p:cNvPr id="33" name="그림 설명"/>
          <p:cNvSpPr txBox="1"/>
          <p:nvPr/>
        </p:nvSpPr>
        <p:spPr>
          <a:xfrm>
            <a:off x="558000" y="3898800"/>
            <a:ext cx="957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10000"/>
              </a:lnSpc>
              <a:spcAft>
                <a:spcPts val="0"/>
              </a:spcAft>
            </a:pPr>
            <a:r>
              <a:rPr sz="800" b="0" lang="ko-KR" altLang="en-US">
                <a:solidFill>
                  <a:srgbClr val="5C6573"/>
                </a:solidFill>
                <a:latin typeface="Noto Sans KR"/>
                <a:ea typeface="Noto Sans KR"/>
                <a:cs typeface="Noto Sans KR"/>
              </a:rPr>
              <a:t>2012-01 ~ 2026-08 매달 첫 거래일 납입 176회 · 단위 만 원 · 세전 · 투자이익 = 최종 평가액 − 원금</a:t>
            </a:r>
          </a:p>
        </p:txBody>
      </p:sp>
      <p:graphicFrame>
        <p:nvGraphicFramePr>
          <p:cNvPr id="34" name="표"/>
          <p:cNvGraphicFramePr>
            <a:graphicFrameLocks noGrp="1"/>
          </p:cNvGraphicFramePr>
          <p:nvPr/>
        </p:nvGraphicFramePr>
        <p:xfrm>
          <a:off x="558000" y="4140000"/>
          <a:ext cx="9575992" cy="1512000"/>
        </p:xfrm>
        <a:graphic>
          <a:graphicData uri="http://schemas.openxmlformats.org/drawingml/2006/table">
            <a:tbl>
              <a:tblPr firstRow="0" bandRow="0" firstCol="0" lastCol="0" bandCol="0" lastRow="0">
                <a:tableStyleId>{5940675A-B579-460E-94D1-54222C63F5DA}</a:tableStyleId>
              </a:tblPr>
              <a:tblGrid>
                <a:gridCol w="929014"/>
                <a:gridCol w="821820"/>
                <a:gridCol w="982611"/>
                <a:gridCol w="982611"/>
                <a:gridCol w="982611"/>
                <a:gridCol w="982611"/>
                <a:gridCol w="982611"/>
                <a:gridCol w="982611"/>
                <a:gridCol w="964746"/>
                <a:gridCol w="964746"/>
              </a:tblGrid>
              <a:tr h="2160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50" b="1" lang="ko-KR" altLang="en-US">
                          <a:solidFill>
                            <a:srgbClr val="5C65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  <a:endParaRPr sz="85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E25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50" b="1" lang="ko-KR" altLang="en-US">
                          <a:solidFill>
                            <a:srgbClr val="5C65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원금</a:t>
                      </a:r>
                      <a:endParaRPr sz="85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E25"/>
                      </a:solidFill>
                    </a:lnT>
                    <a:lnB w="0">
                      <a:noFill/>
                    </a:lnB>
                    <a:noFill/>
                  </a:tcPr>
                </a:tc>
                <a:tc gridSpan="2"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50" b="1" lang="ko-KR" altLang="en-US">
                          <a:solidFill>
                            <a:srgbClr val="5C65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Deneb</a:t>
                      </a:r>
                      <a:endParaRPr sz="85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E25"/>
                      </a:solidFill>
                    </a:lnT>
                    <a:lnB w="0">
                      <a:noFill/>
                    </a:lnB>
                    <a:noFill/>
                  </a:tcPr>
                </a:tc>
                <a:tc hMerge="1"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50" b="1" lang="ko-KR" altLang="en-US">
                          <a:solidFill>
                            <a:srgbClr val="5C65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  <a:endParaRPr sz="85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E25"/>
                      </a:solidFill>
                    </a:lnT>
                    <a:lnB w="0">
                      <a:noFill/>
                    </a:lnB>
                    <a:noFill/>
                  </a:tcPr>
                </a:tc>
                <a:tc gridSpan="2"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50" b="1" lang="ko-KR" altLang="en-US">
                          <a:solidFill>
                            <a:srgbClr val="5C65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QQQ 단독 적립</a:t>
                      </a:r>
                      <a:endParaRPr sz="85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E25"/>
                      </a:solidFill>
                    </a:lnT>
                    <a:lnB w="0">
                      <a:noFill/>
                    </a:lnB>
                    <a:noFill/>
                  </a:tcPr>
                </a:tc>
                <a:tc hMerge="1"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50" b="1" lang="ko-KR" altLang="en-US">
                          <a:solidFill>
                            <a:srgbClr val="5C65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  <a:endParaRPr sz="85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E25"/>
                      </a:solidFill>
                    </a:lnT>
                    <a:lnB w="0">
                      <a:noFill/>
                    </a:lnB>
                    <a:noFill/>
                  </a:tcPr>
                </a:tc>
                <a:tc gridSpan="2"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50" b="1" lang="ko-KR" altLang="en-US">
                          <a:solidFill>
                            <a:srgbClr val="5C65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Polaris</a:t>
                      </a:r>
                      <a:endParaRPr sz="85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E25"/>
                      </a:solidFill>
                    </a:lnT>
                    <a:lnB w="0">
                      <a:noFill/>
                    </a:lnB>
                    <a:noFill/>
                  </a:tcPr>
                </a:tc>
                <a:tc hMerge="1"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50" b="1" lang="ko-KR" altLang="en-US">
                          <a:solidFill>
                            <a:srgbClr val="5C65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  <a:endParaRPr sz="85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E25"/>
                      </a:solidFill>
                    </a:lnT>
                    <a:lnB w="0">
                      <a:noFill/>
                    </a:lnB>
                    <a:noFill/>
                  </a:tcPr>
                </a:tc>
                <a:tc gridSpan="2"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50" b="1" lang="ko-KR" altLang="en-US">
                          <a:solidFill>
                            <a:srgbClr val="5C65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QQQ 단독 적립과 차이</a:t>
                      </a:r>
                      <a:endParaRPr sz="85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E25"/>
                      </a:solidFill>
                    </a:lnT>
                    <a:lnB w="0">
                      <a:noFill/>
                    </a:lnB>
                    <a:noFill/>
                  </a:tcPr>
                </a:tc>
                <a:tc hMerge="1"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50" b="1" lang="ko-KR" altLang="en-US">
                          <a:solidFill>
                            <a:srgbClr val="5C65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  <a:endParaRPr sz="85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E25"/>
                      </a:solidFill>
                    </a:lnT>
                    <a:lnB w="0">
                      <a:noFill/>
                    </a:lnB>
                    <a:noFill/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50" b="1" lang="ko-KR" altLang="en-US">
                          <a:solidFill>
                            <a:srgbClr val="5C65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납입액</a:t>
                      </a:r>
                      <a:endParaRPr sz="85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E2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50" b="1" lang="ko-KR" altLang="en-US">
                          <a:solidFill>
                            <a:srgbClr val="5C65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  <a:endParaRPr sz="85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E2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50" b="1" lang="ko-KR" altLang="en-US">
                          <a:solidFill>
                            <a:srgbClr val="5C65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 평가액</a:t>
                      </a:r>
                      <a:endParaRPr sz="85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E2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50" b="1" lang="ko-KR" altLang="en-US">
                          <a:solidFill>
                            <a:srgbClr val="5C65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투자이익</a:t>
                      </a:r>
                      <a:endParaRPr sz="85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E2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50" b="1" lang="ko-KR" altLang="en-US">
                          <a:solidFill>
                            <a:srgbClr val="5C65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 평가액</a:t>
                      </a:r>
                      <a:endParaRPr sz="85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E2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50" b="1" lang="ko-KR" altLang="en-US">
                          <a:solidFill>
                            <a:srgbClr val="5C65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투자이익</a:t>
                      </a:r>
                      <a:endParaRPr sz="85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E2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50" b="1" lang="ko-KR" altLang="en-US">
                          <a:solidFill>
                            <a:srgbClr val="5C65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 평가액</a:t>
                      </a:r>
                      <a:endParaRPr sz="85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E2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50" b="1" lang="ko-KR" altLang="en-US">
                          <a:solidFill>
                            <a:srgbClr val="5C65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투자이익</a:t>
                      </a:r>
                      <a:endParaRPr sz="85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E2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50" b="1" lang="ko-KR" altLang="en-US">
                          <a:solidFill>
                            <a:srgbClr val="5C65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Deneb</a:t>
                      </a:r>
                      <a:endParaRPr sz="85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E2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50" b="1" lang="ko-KR" altLang="en-US">
                          <a:solidFill>
                            <a:srgbClr val="5C65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Polaris</a:t>
                      </a:r>
                      <a:endParaRPr sz="850"/>
                    </a:p>
                  </a:txBody>
                  <a:tcPr marL="28800" marR="43200" marT="25200" marB="25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A1E25"/>
                      </a:solidFill>
                    </a:lnB>
                    <a:noFill/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1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10만 원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1,760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36,111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34,351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8,805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7,045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5,077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3,317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+27,307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−3,728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1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20만 원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3,520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72,222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68,702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17,609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14,089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10,153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6,633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+54,613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−7,456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1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30만 원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5,280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108,334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103,054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26,414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21,134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15,230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9,950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+81,920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−11,183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1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50만 원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8,800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180,556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171,756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44,023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35,223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25,384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16,584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+136,533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−18,639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1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100만 원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17,600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361,112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343,512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88,045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70,445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50,767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33,167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+273,067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eaLnBrk="0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0" lang="ko-KR" altLang="en-US">
                          <a:solidFill>
                            <a:srgbClr val="1A1E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−37,278</a:t>
                      </a:r>
                      <a:endParaRPr sz="900"/>
                    </a:p>
                  </a:txBody>
                  <a:tcPr marL="28800" marR="43200" marT="25200" marB="25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0DA"/>
                      </a:solidFill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35" name="Connector 34"/>
          <p:cNvCxnSpPr/>
          <p:nvPr/>
        </p:nvCxnSpPr>
        <p:spPr>
          <a:xfrm>
            <a:off x="558000" y="5886000"/>
            <a:ext cx="3006000" cy="0"/>
          </a:xfrm>
          <a:prstGeom prst="line">
            <a:avLst/>
          </a:prstGeom>
          <a:ln w="6350">
            <a:solidFill>
              <a:srgbClr val="C9D0DA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558000" y="5958000"/>
            <a:ext cx="300600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32000"/>
              </a:lnSpc>
              <a:spcAft>
                <a:spcPts val="0"/>
              </a:spcAft>
            </a:pPr>
            <a:r>
              <a:rPr sz="900" b="1" lang="ko-KR" altLang="en-US">
                <a:solidFill>
                  <a:srgbClr val="1A1E25"/>
                </a:solidFill>
                <a:latin typeface="Noto Sans KR"/>
                <a:ea typeface="Noto Sans KR"/>
                <a:cs typeface="Noto Sans KR"/>
              </a:rPr>
              <a:t>읽는 법  </a:t>
            </a:r>
            <a:r>
              <a:rPr sz="900" b="0" lang="ko-KR" altLang="en-US">
                <a:solidFill>
                  <a:srgbClr val="1A1E25"/>
                </a:solidFill>
                <a:latin typeface="Noto Sans KR"/>
                <a:ea typeface="Noto Sans KR"/>
                <a:cs typeface="Noto Sans KR"/>
              </a:rPr>
              <a:t>최종 평가액은 원금이 포함된 금액입니다. 원금을 뺀 투자이익을 따로 봅니다.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844800" y="5886000"/>
            <a:ext cx="3006000" cy="0"/>
          </a:xfrm>
          <a:prstGeom prst="line">
            <a:avLst/>
          </a:prstGeom>
          <a:ln w="6350">
            <a:solidFill>
              <a:srgbClr val="C9D0DA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3844800" y="5958000"/>
            <a:ext cx="300600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32000"/>
              </a:lnSpc>
              <a:spcAft>
                <a:spcPts val="0"/>
              </a:spcAft>
            </a:pPr>
            <a:r>
              <a:rPr sz="900" b="1" lang="ko-KR" altLang="en-US">
                <a:solidFill>
                  <a:srgbClr val="1A1E25"/>
                </a:solidFill>
                <a:latin typeface="Noto Sans KR"/>
                <a:ea typeface="Noto Sans KR"/>
                <a:cs typeface="Noto Sans KR"/>
              </a:rPr>
              <a:t>같은 비율  </a:t>
            </a:r>
            <a:r>
              <a:rPr sz="900" b="0" lang="ko-KR" altLang="en-US">
                <a:solidFill>
                  <a:srgbClr val="1A1E25"/>
                </a:solidFill>
                <a:latin typeface="Noto Sans KR"/>
                <a:ea typeface="Noto Sans KR"/>
                <a:cs typeface="Noto Sans KR"/>
              </a:rPr>
              <a:t>세전 · 소수 주 · 비율 비용 계산이라 연복리와 낙폭은 다섯 금액 모두 같습니다.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128000" y="5886000"/>
            <a:ext cx="3006000" cy="0"/>
          </a:xfrm>
          <a:prstGeom prst="line">
            <a:avLst/>
          </a:prstGeom>
          <a:ln w="6350">
            <a:solidFill>
              <a:srgbClr val="C9D0DA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7128000" y="5958000"/>
            <a:ext cx="300600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32000"/>
              </a:lnSpc>
              <a:spcAft>
                <a:spcPts val="0"/>
              </a:spcAft>
            </a:pPr>
            <a:r>
              <a:rPr sz="900" b="1" lang="ko-KR" altLang="en-US">
                <a:solidFill>
                  <a:srgbClr val="1A1E25"/>
                </a:solidFill>
                <a:latin typeface="Noto Sans KR"/>
                <a:ea typeface="Noto Sans KR"/>
                <a:cs typeface="Noto Sans KR"/>
              </a:rPr>
              <a:t>실제와 차이  </a:t>
            </a:r>
            <a:r>
              <a:rPr sz="900" b="0" lang="ko-KR" altLang="en-US">
                <a:solidFill>
                  <a:srgbClr val="1A1E25"/>
                </a:solidFill>
                <a:latin typeface="Noto Sans KR"/>
                <a:ea typeface="Noto Sans KR"/>
                <a:cs typeface="Noto Sans KR"/>
              </a:rPr>
              <a:t>정수 주, 최소 주문, 양도세, 환율 때문에 실제 계좌는 정확히 비례하지 않습니다.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