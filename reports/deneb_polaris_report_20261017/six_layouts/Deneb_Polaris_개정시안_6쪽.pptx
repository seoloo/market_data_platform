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5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6.xml" ContentType="application/vnd.openxmlformats-officedocument.drawingml.chart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62242d0ae5451b" /><Relationship Type="http://schemas.openxmlformats.org/officeDocument/2006/relationships/extended-properties" Target="/docProps/app.xml" Id="R2a4c604880bb4ea0" /><Relationship Type="http://schemas.openxmlformats.org/officeDocument/2006/relationships/officeDocument" Target="/ppt/presentation.xml" Id="R1f06058cd63e4e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2baa408425476b"/>
  </p:sldMasterIdLst>
  <p:notesMasterIdLst>
    <p:notesMasterId xmlns:r="http://schemas.openxmlformats.org/officeDocument/2006/relationships" r:id="R7fb4ee5a9ea34de5"/>
  </p:notesMasterIdLst>
  <p:sldIdLst>
    <p:sldId xmlns:r="http://schemas.openxmlformats.org/officeDocument/2006/relationships" id="256" r:id="R5aab6e8045a04811"/>
    <p:sldId xmlns:r="http://schemas.openxmlformats.org/officeDocument/2006/relationships" id="257" r:id="R559223e91c534179"/>
    <p:sldId xmlns:r="http://schemas.openxmlformats.org/officeDocument/2006/relationships" id="258" r:id="R379adfd6037c4fd9"/>
    <p:sldId xmlns:r="http://schemas.openxmlformats.org/officeDocument/2006/relationships" id="259" r:id="R39fd0e476901451c"/>
    <p:sldId xmlns:r="http://schemas.openxmlformats.org/officeDocument/2006/relationships" id="260" r:id="R5a05d9788af34c44"/>
    <p:sldId xmlns:r="http://schemas.openxmlformats.org/officeDocument/2006/relationships" id="261" r:id="Rb8adb629910747ce"/>
  </p:sldIdLst>
  <p:sldSz cx="15240000" cy="107727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6c57179721468a" /><Relationship Type="http://schemas.openxmlformats.org/officeDocument/2006/relationships/slideMaster" Target="/ppt/slideMasters/slideMaster1.xml" Id="Rb92baa408425476b" /><Relationship Type="http://schemas.openxmlformats.org/officeDocument/2006/relationships/notesMaster" Target="/ppt/notesMasters/notesMaster1.xml" Id="R7fb4ee5a9ea34de5" /><Relationship Type="http://schemas.openxmlformats.org/officeDocument/2006/relationships/presProps" Target="/ppt/presProps.xml" Id="R5b354864727442f8" /><Relationship Type="http://schemas.openxmlformats.org/officeDocument/2006/relationships/tableStyles" Target="/ppt/tableStyles.xml" Id="Rb5bbaf40e7114853" /><Relationship Type="http://schemas.openxmlformats.org/officeDocument/2006/relationships/slide" Target="/ppt/slides/slide1.xml" Id="R5aab6e8045a04811" /><Relationship Type="http://schemas.openxmlformats.org/officeDocument/2006/relationships/slide" Target="/ppt/slides/slide2.xml" Id="R559223e91c534179" /><Relationship Type="http://schemas.openxmlformats.org/officeDocument/2006/relationships/slide" Target="/ppt/slides/slide3.xml" Id="R379adfd6037c4fd9" /><Relationship Type="http://schemas.openxmlformats.org/officeDocument/2006/relationships/slide" Target="/ppt/slides/slide4.xml" Id="R39fd0e476901451c" /><Relationship Type="http://schemas.openxmlformats.org/officeDocument/2006/relationships/slide" Target="/ppt/slides/slide5.xml" Id="R5a05d9788af34c44" /><Relationship Type="http://schemas.openxmlformats.org/officeDocument/2006/relationships/slide" Target="/ppt/slides/slide6.xml" Id="Rb8adb629910747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49e083f67345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1a8cc251854069" /><Relationship Type="http://schemas.openxmlformats.org/officeDocument/2006/relationships/notesMaster" Target="/ppt/notesMasters/notesMaster1.xml" Id="R38ad0a4c4e3441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6ebb8a0c0445d2" /><Relationship Type="http://schemas.openxmlformats.org/officeDocument/2006/relationships/notesMaster" Target="/ppt/notesMasters/notesMaster1.xml" Id="R39f60d386dfd4e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31e2ef30884c19" /><Relationship Type="http://schemas.openxmlformats.org/officeDocument/2006/relationships/notesMaster" Target="/ppt/notesMasters/notesMaster1.xml" Id="Rcfb130a9c7da45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36a3cb949844d7" /><Relationship Type="http://schemas.openxmlformats.org/officeDocument/2006/relationships/notesMaster" Target="/ppt/notesMasters/notesMaster1.xml" Id="Rbea198b980b542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078d476f6f48eb" /><Relationship Type="http://schemas.openxmlformats.org/officeDocument/2006/relationships/notesMaster" Target="/ppt/notesMasters/notesMaster1.xml" Id="Rfb94b9792cd44a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58440ae1c640f6" /><Relationship Type="http://schemas.openxmlformats.org/officeDocument/2006/relationships/notesMaster" Target="/ppt/notesMasters/notesMaster1.xml" Id="Rdbf1f8e0536541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C:/Users/seolh/Documents/GitHub/Auto_Trading/data/research/div_mix_180/QQQ.csv</a:t>
            </a:r>
          </a:p>
          <a:p xmlns:a="http://schemas.openxmlformats.org/drawingml/2006/main">
            <a:r>
              <a:t>C:/Users/seolh/Documents/GitHub/Auto_Trading/data/research/div_mix_180/SPY.csv</a:t>
            </a:r>
          </a:p>
          <a:p xmlns:a="http://schemas.openxmlformats.org/drawingml/2006/main">
            <a:r>
              <a:t>C:/Users/seolh/Documents/GitHub/Auto_Trading/data/research/div_mix_180/SCHD.csv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C:/Users/seolh/Documents/GitHub/Auto_Trading/data/research/div_mix_180/QQQ.csv</a:t>
            </a:r>
          </a:p>
          <a:p xmlns:a="http://schemas.openxmlformats.org/drawingml/2006/main">
            <a:r>
              <a:t>C:/Users/seolh/Documents/GitHub/Auto_Trading/data/research/div_mix_180/SPY.csv</a:t>
            </a:r>
          </a:p>
          <a:p xmlns:a="http://schemas.openxmlformats.org/drawingml/2006/main">
            <a:r>
              <a:t>C:/Users/seolh/Documents/GitHub/Auto_Trading/data/research/div_mix_180/SCHD.csv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C:/Users/seolh/Documents/GitHub/Auto_Trading/reports/deneb_polaris_report_20261017/six_layouts/calculation_spec.json</a:t>
            </a:r>
          </a:p>
          <a:p xmlns:a="http://schemas.openxmlformats.org/drawingml/2006/main">
            <a:r>
              <a:t>비용 편도 0.15%, 세전·환율 고정, 소수 주, 기존 종가 기반 연구 모형. 신규 지정가 체결 인증 아님. 막대 값은 수익이 아닌 음의 최대 낙폭이며 0 아래로 표시했다.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C:/Users/seolh/Documents/GitHub/Auto_Trading/reports/deneb_polaris_report_20261017/six_layouts/calculation_spec.json</a:t>
            </a:r>
          </a:p>
          <a:p xmlns:a="http://schemas.openxmlformats.org/drawingml/2006/main">
            <a:r>
              <a:t>SPYM/QQQM/GLDM의 대리 자료는 SPY/QQQ/GLD. 배당 재투자 수정 종가. 세금·환전·환율·정수 주·미체결 제외. 기존 종가 모형의 지정가 실행 parity 미검증. 동일 원금 및 개월 수 검산 완료.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C:/Users/seolh/Documents/GitHub/Auto_Trading/reports/deneb_polaris_report_20261017/six_layouts/calculation_spec.json</a:t>
            </a:r>
          </a:p>
          <a:p xmlns:a="http://schemas.openxmlformats.org/drawingml/2006/main">
            <a:r>
              <a:t>동결 조건: 2012-01~2026-08 기존 고정 모형 월 수익률, 12개월 블록·복원추출·동일 경로·seed20261017, 10000경로, 5/10/15/20년. floor(q*(9999)) 분위수, 최소는 0분위 표본최저이며 확률적 손실 상한 아님. Deneb도 같은 조건의 산술값은 별도 보존하되 규칙 상태 재실행·위기 확대·세후 검증 전 정식 전망 사용 금지. 월10~100만원의 두 모형 80조건은 별도 산술 자료. 신규 채택/우위 검정/OOS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https://www.schwabassetmanagement.com/products/schd</a:t>
            </a:r>
          </a:p>
          <a:p xmlns:a="http://schemas.openxmlformats.org/drawingml/2006/main">
            <a:r>
              <a:t>공식 SCHD Distribution 표: 지급일2025-03-31 .2488 /06-30 .2602 /09-29 .2604 /12-15 .2782 USD/주. 세전 합계1.0476 USD/주×100=104.76 USD. 주가상승·원화환산·세후배당을 의미하지 않음. 배당 자체는 보장 수익/하락 방어가 아니다. 과거 주식분할 조정 필요.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708ea616534c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6b8f554a642f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cd580e3c6844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5a27afc93443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d1b14727941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24441a8f7841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336229-77E8-4B3E-A5DD-4439560943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069715"/>
            <a:ext cx="12192000" cy="1556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C98308A-AC51-43CB-BDBF-86D45EE934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5925026"/>
            <a:ext cx="10668000" cy="119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316175C-9312-415C-9725-AF202457F2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488656"/>
            <a:ext cx="12192000" cy="1795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E756A7-D488-4237-BAF8-2C6212F9C5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37883"/>
            <a:ext cx="13525500" cy="1316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92A02A8-DA16-4C18-BBBE-059D995298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992438"/>
            <a:ext cx="13525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9E36E3-D9B4-450F-99B4-C8C5D5B91F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37883"/>
            <a:ext cx="13525500" cy="1316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90A130-1692-47A3-9D95-8B6C9E8BB8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992438"/>
            <a:ext cx="6286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53CB14C-486F-4374-8EF8-983BF76924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992438"/>
            <a:ext cx="6286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C9506D-6310-4664-A29A-51747603A2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37883"/>
            <a:ext cx="13525500" cy="1316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EBB913-8E62-4218-B8B4-D4A47F713F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992438"/>
            <a:ext cx="6286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1b5924182f4ded" /><Relationship Type="http://schemas.openxmlformats.org/officeDocument/2006/relationships/slideLayout" Target="/ppt/slideLayouts/slideLayout1.xml" Id="R1dd7ed574ef54630" /><Relationship Type="http://schemas.openxmlformats.org/officeDocument/2006/relationships/slideLayout" Target="/ppt/slideLayouts/slideLayout2.xml" Id="R24d35f42614e447b" /><Relationship Type="http://schemas.openxmlformats.org/officeDocument/2006/relationships/slideLayout" Target="/ppt/slideLayouts/slideLayout3.xml" Id="R1e03835ee8ea4c02" /><Relationship Type="http://schemas.openxmlformats.org/officeDocument/2006/relationships/slideLayout" Target="/ppt/slideLayouts/slideLayout4.xml" Id="Rfaa3eca1aa82474e" /><Relationship Type="http://schemas.openxmlformats.org/officeDocument/2006/relationships/slideLayout" Target="/ppt/slideLayouts/slideLayout5.xml" Id="R2fa9731e21b14b9d" /><Relationship Type="http://schemas.openxmlformats.org/officeDocument/2006/relationships/slideLayout" Target="/ppt/slideLayouts/slideLayout6.xml" Id="Rd196d5adf43045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d7ed574ef54630"/>
    <p:sldLayoutId xmlns:r="http://schemas.openxmlformats.org/officeDocument/2006/relationships" id="2147483650" r:id="R24d35f42614e447b"/>
    <p:sldLayoutId xmlns:r="http://schemas.openxmlformats.org/officeDocument/2006/relationships" id="2147483651" r:id="R1e03835ee8ea4c02"/>
    <p:sldLayoutId xmlns:r="http://schemas.openxmlformats.org/officeDocument/2006/relationships" id="2147483652" r:id="Rfaa3eca1aa82474e"/>
    <p:sldLayoutId xmlns:r="http://schemas.openxmlformats.org/officeDocument/2006/relationships" id="2147483653" r:id="R2fa9731e21b14b9d"/>
    <p:sldLayoutId xmlns:r="http://schemas.openxmlformats.org/officeDocument/2006/relationships" id="2147483654" r:id="Rd196d5adf43045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b2f718d92a4273" /><Relationship Type="http://schemas.openxmlformats.org/officeDocument/2006/relationships/chart" Target="/ppt/slides/charts/chart1.xml" Id="R3785a7d1a2e247cf" /><Relationship Type="http://schemas.openxmlformats.org/officeDocument/2006/relationships/notesSlide" Target="/ppt/notesSlides/notesSlide1.xml" Id="R345711b5e12a4a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8c35f7f58640af" /><Relationship Type="http://schemas.openxmlformats.org/officeDocument/2006/relationships/chart" Target="/ppt/slides/charts/chart2.xml" Id="Rfdea490e238b4cf7" /><Relationship Type="http://schemas.openxmlformats.org/officeDocument/2006/relationships/notesSlide" Target="/ppt/notesSlides/notesSlide2.xml" Id="Rf9494a5c8af840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dbc575960d4e22" /><Relationship Type="http://schemas.openxmlformats.org/officeDocument/2006/relationships/chart" Target="/ppt/slides/charts/chart3.xml" Id="Racbe405cb4884c40" /><Relationship Type="http://schemas.openxmlformats.org/officeDocument/2006/relationships/notesSlide" Target="/ppt/notesSlides/notesSlide3.xml" Id="R44ebb5d4c0e148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7697fbb366441e" /><Relationship Type="http://schemas.openxmlformats.org/officeDocument/2006/relationships/chart" Target="/ppt/slides/charts/chart4.xml" Id="R2abdf71214624bfa" /><Relationship Type="http://schemas.openxmlformats.org/officeDocument/2006/relationships/notesSlide" Target="/ppt/notesSlides/notesSlide4.xml" Id="R9765d1cc172f46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47212409514fb4" /><Relationship Type="http://schemas.openxmlformats.org/officeDocument/2006/relationships/chart" Target="/ppt/slides/charts/chart5.xml" Id="R5a1704eba0c54a0a" /><Relationship Type="http://schemas.openxmlformats.org/officeDocument/2006/relationships/notesSlide" Target="/ppt/notesSlides/notesSlide5.xml" Id="R093e1cc356d243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186f46e3e41d2" /><Relationship Type="http://schemas.openxmlformats.org/officeDocument/2006/relationships/chart" Target="/ppt/slides/charts/chart6.xml" Id="Rd5591616bbfe4ad8" /><Relationship Type="http://schemas.openxmlformats.org/officeDocument/2006/relationships/notesSlide" Target="/ppt/notesSlides/notesSlide6.xml" Id="Rc84abbae7af54f9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나스닥 100 (QQQ)</c:v>
          </c:tx>
          <c:spPr>
            <a:ln xmlns:a="http://schemas.openxmlformats.org/drawingml/2006/main" w="23813">
              <a:solidFill>
                <a:srgbClr val="2864B7"/>
              </a:solidFill>
              <a:prstDash val="solid"/>
            </a:ln>
          </c:spPr>
          <c:marker>
            <c:symbol val="none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2015.99726027</c:v>
                </c:pt>
                <c:pt idx="1">
                  <c:v>2016.07650273</c:v>
                </c:pt>
                <c:pt idx="2">
                  <c:v>2016.16120219</c:v>
                </c:pt>
                <c:pt idx="3">
                  <c:v>2016.24590164</c:v>
                </c:pt>
                <c:pt idx="4">
                  <c:v>2016.32513661</c:v>
                </c:pt>
                <c:pt idx="5">
                  <c:v>2016.41256831</c:v>
                </c:pt>
                <c:pt idx="6">
                  <c:v>2016.49453552</c:v>
                </c:pt>
                <c:pt idx="7">
                  <c:v>2016.57377049</c:v>
                </c:pt>
                <c:pt idx="8">
                  <c:v>2016.66393443</c:v>
                </c:pt>
                <c:pt idx="9">
                  <c:v>2016.74590164</c:v>
                </c:pt>
                <c:pt idx="10">
                  <c:v>2016.83060109</c:v>
                </c:pt>
                <c:pt idx="11">
                  <c:v>2016.91256831</c:v>
                </c:pt>
                <c:pt idx="12">
                  <c:v>2016.99453552</c:v>
                </c:pt>
                <c:pt idx="13">
                  <c:v>2017.08219178</c:v>
                </c:pt>
                <c:pt idx="14">
                  <c:v>2017.15890411</c:v>
                </c:pt>
                <c:pt idx="15">
                  <c:v>2017.24383562</c:v>
                </c:pt>
                <c:pt idx="16">
                  <c:v>2017.32054795</c:v>
                </c:pt>
                <c:pt idx="17">
                  <c:v>2017.4109589</c:v>
                </c:pt>
                <c:pt idx="18">
                  <c:v>2017.49315068</c:v>
                </c:pt>
                <c:pt idx="19">
                  <c:v>2017.57808219</c:v>
                </c:pt>
                <c:pt idx="20">
                  <c:v>2017.6630137</c:v>
                </c:pt>
                <c:pt idx="21">
                  <c:v>2017.74246575</c:v>
                </c:pt>
                <c:pt idx="22">
                  <c:v>2017.83013699</c:v>
                </c:pt>
                <c:pt idx="23">
                  <c:v>2017.91232877</c:v>
                </c:pt>
                <c:pt idx="24">
                  <c:v>2017.99178082</c:v>
                </c:pt>
                <c:pt idx="25">
                  <c:v>2018.08219178</c:v>
                </c:pt>
                <c:pt idx="26">
                  <c:v>2018.15890411</c:v>
                </c:pt>
                <c:pt idx="27">
                  <c:v>2018.23835616</c:v>
                </c:pt>
                <c:pt idx="28">
                  <c:v>2018.3260274</c:v>
                </c:pt>
                <c:pt idx="29">
                  <c:v>2018.4109589</c:v>
                </c:pt>
                <c:pt idx="30">
                  <c:v>2018.49041096</c:v>
                </c:pt>
                <c:pt idx="31">
                  <c:v>2018.57808219</c:v>
                </c:pt>
                <c:pt idx="32">
                  <c:v>2018.6630137</c:v>
                </c:pt>
                <c:pt idx="33">
                  <c:v>2018.73972603</c:v>
                </c:pt>
                <c:pt idx="34">
                  <c:v>2018.83013699</c:v>
                </c:pt>
                <c:pt idx="35">
                  <c:v>2018.91232877</c:v>
                </c:pt>
                <c:pt idx="36">
                  <c:v>2018.99726027</c:v>
                </c:pt>
                <c:pt idx="37">
                  <c:v>2019.08219178</c:v>
                </c:pt>
                <c:pt idx="38">
                  <c:v>2019.15890411</c:v>
                </c:pt>
                <c:pt idx="39">
                  <c:v>2019.23835616</c:v>
                </c:pt>
                <c:pt idx="40">
                  <c:v>2019.3260274</c:v>
                </c:pt>
                <c:pt idx="41">
                  <c:v>2019.4109589</c:v>
                </c:pt>
                <c:pt idx="42">
                  <c:v>2019.48767123</c:v>
                </c:pt>
                <c:pt idx="43">
                  <c:v>2019.57808219</c:v>
                </c:pt>
                <c:pt idx="44">
                  <c:v>2019.66027397</c:v>
                </c:pt>
                <c:pt idx="45">
                  <c:v>2019.74520548</c:v>
                </c:pt>
                <c:pt idx="46">
                  <c:v>2019.83013699</c:v>
                </c:pt>
                <c:pt idx="47">
                  <c:v>2019.90958904</c:v>
                </c:pt>
                <c:pt idx="48">
                  <c:v>2019.99726027</c:v>
                </c:pt>
                <c:pt idx="49">
                  <c:v>2020.08196721</c:v>
                </c:pt>
                <c:pt idx="50">
                  <c:v>2020.15846995</c:v>
                </c:pt>
                <c:pt idx="51">
                  <c:v>2020.24590164</c:v>
                </c:pt>
                <c:pt idx="52">
                  <c:v>2020.32786885</c:v>
                </c:pt>
                <c:pt idx="53">
                  <c:v>2020.40710383</c:v>
                </c:pt>
                <c:pt idx="54">
                  <c:v>2020.49453552</c:v>
                </c:pt>
                <c:pt idx="55">
                  <c:v>2020.57923497</c:v>
                </c:pt>
                <c:pt idx="56">
                  <c:v>2020.66393443</c:v>
                </c:pt>
                <c:pt idx="57">
                  <c:v>2020.74590164</c:v>
                </c:pt>
                <c:pt idx="58">
                  <c:v>2020.82786885</c:v>
                </c:pt>
                <c:pt idx="59">
                  <c:v>2020.91256831</c:v>
                </c:pt>
                <c:pt idx="60">
                  <c:v>2020.99726776</c:v>
                </c:pt>
              </c:numCache>
            </c:numRef>
          </c:xVal>
          <c:yVal>
            <c:numRef>
              <c:f>'Chart Data'!$B$2:$B$62</c:f>
              <c:numCache>
                <c:formatCode>#,##0</c:formatCode>
                <c:ptCount val="61"/>
                <c:pt idx="0">
                  <c:v>100</c:v>
                </c:pt>
                <c:pt idx="1">
                  <c:v>93.0895942973</c:v>
                </c:pt>
                <c:pt idx="2">
                  <c:v>91.6324093289</c:v>
                </c:pt>
                <c:pt idx="3">
                  <c:v>97.9116176505</c:v>
                </c:pt>
                <c:pt idx="4">
                  <c:v>94.7913762528</c:v>
                </c:pt>
                <c:pt idx="5">
                  <c:v>98.9337714034</c:v>
                </c:pt>
                <c:pt idx="6">
                  <c:v>96.6800384886</c:v>
                </c:pt>
                <c:pt idx="7">
                  <c:v>103.593446284</c:v>
                </c:pt>
                <c:pt idx="8">
                  <c:v>104.681270818</c:v>
                </c:pt>
                <c:pt idx="9">
                  <c:v>106.998422945</c:v>
                </c:pt>
                <c:pt idx="10">
                  <c:v>105.439233042</c:v>
                </c:pt>
                <c:pt idx="11">
                  <c:v>105.89889172</c:v>
                </c:pt>
                <c:pt idx="12">
                  <c:v>107.097889345</c:v>
                </c:pt>
                <c:pt idx="13">
                  <c:v>112.602844674</c:v>
                </c:pt>
                <c:pt idx="14">
                  <c:v>117.529330558</c:v>
                </c:pt>
                <c:pt idx="15">
                  <c:v>119.911476523</c:v>
                </c:pt>
                <c:pt idx="16">
                  <c:v>123.181447302</c:v>
                </c:pt>
                <c:pt idx="17">
                  <c:v>127.982220547</c:v>
                </c:pt>
                <c:pt idx="18">
                  <c:v>125.015667172</c:v>
                </c:pt>
                <c:pt idx="19">
                  <c:v>130.092971431</c:v>
                </c:pt>
                <c:pt idx="20">
                  <c:v>132.790557888</c:v>
                </c:pt>
                <c:pt idx="21">
                  <c:v>132.398505164</c:v>
                </c:pt>
                <c:pt idx="22">
                  <c:v>138.497286233</c:v>
                </c:pt>
                <c:pt idx="23">
                  <c:v>141.228116454</c:v>
                </c:pt>
                <c:pt idx="24">
                  <c:v>142.079857289</c:v>
                </c:pt>
                <c:pt idx="25">
                  <c:v>154.521869253</c:v>
                </c:pt>
                <c:pt idx="26">
                  <c:v>152.524256064</c:v>
                </c:pt>
                <c:pt idx="27">
                  <c:v>146.30306613</c:v>
                </c:pt>
                <c:pt idx="28">
                  <c:v>147.043140884</c:v>
                </c:pt>
                <c:pt idx="29">
                  <c:v>155.384750207</c:v>
                </c:pt>
                <c:pt idx="30">
                  <c:v>157.163961141</c:v>
                </c:pt>
                <c:pt idx="31">
                  <c:v>161.558877921</c:v>
                </c:pt>
                <c:pt idx="32">
                  <c:v>170.898094473</c:v>
                </c:pt>
                <c:pt idx="33">
                  <c:v>170.416773635</c:v>
                </c:pt>
                <c:pt idx="34">
                  <c:v>155.768238137</c:v>
                </c:pt>
                <c:pt idx="35">
                  <c:v>155.355494518</c:v>
                </c:pt>
                <c:pt idx="36">
                  <c:v>141.900585254</c:v>
                </c:pt>
                <c:pt idx="37">
                  <c:v>154.686925496</c:v>
                </c:pt>
                <c:pt idx="38">
                  <c:v>159.313856962</c:v>
                </c:pt>
                <c:pt idx="39">
                  <c:v>165.566274548</c:v>
                </c:pt>
                <c:pt idx="40">
                  <c:v>174.671224844</c:v>
                </c:pt>
                <c:pt idx="41">
                  <c:v>160.304194417</c:v>
                </c:pt>
                <c:pt idx="42">
                  <c:v>172.471367723</c:v>
                </c:pt>
                <c:pt idx="43">
                  <c:v>176.498233805</c:v>
                </c:pt>
                <c:pt idx="44">
                  <c:v>173.145543596</c:v>
                </c:pt>
                <c:pt idx="45">
                  <c:v>174.734842724</c:v>
                </c:pt>
                <c:pt idx="46">
                  <c:v>182.388384138</c:v>
                </c:pt>
                <c:pt idx="47">
                  <c:v>189.810514227</c:v>
                </c:pt>
                <c:pt idx="48">
                  <c:v>197.18724502</c:v>
                </c:pt>
                <c:pt idx="49">
                  <c:v>203.178612973</c:v>
                </c:pt>
                <c:pt idx="50">
                  <c:v>190.871209554</c:v>
                </c:pt>
                <c:pt idx="51">
                  <c:v>176.964691341</c:v>
                </c:pt>
                <c:pt idx="52">
                  <c:v>203.462914109</c:v>
                </c:pt>
                <c:pt idx="53">
                  <c:v>216.893247418</c:v>
                </c:pt>
                <c:pt idx="54">
                  <c:v>230.528591292</c:v>
                </c:pt>
                <c:pt idx="55">
                  <c:v>247.464456655</c:v>
                </c:pt>
                <c:pt idx="56">
                  <c:v>274.548779189</c:v>
                </c:pt>
                <c:pt idx="57">
                  <c:v>258.683601414</c:v>
                </c:pt>
                <c:pt idx="58">
                  <c:v>250.806933863</c:v>
                </c:pt>
                <c:pt idx="59">
                  <c:v>278.96188512</c:v>
                </c:pt>
                <c:pt idx="60">
                  <c:v>292.637919126</c:v>
                </c:pt>
              </c:numCache>
            </c:numRef>
          </c:yVal>
        </c:ser>
        <c:ser>
          <c:idx val="1"/>
          <c:order val="1"/>
          <c:tx>
            <c:v>S&amp;P 500 (SPY)</c:v>
          </c:tx>
          <c:spPr>
            <a:ln xmlns:a="http://schemas.openxmlformats.org/drawingml/2006/main" w="23813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Data'!$C$2:$C$62</c:f>
              <c:numCache>
                <c:formatCode>General</c:formatCode>
                <c:ptCount val="61"/>
                <c:pt idx="0">
                  <c:v>2015.99726027</c:v>
                </c:pt>
                <c:pt idx="1">
                  <c:v>2016.07650273</c:v>
                </c:pt>
                <c:pt idx="2">
                  <c:v>2016.16120219</c:v>
                </c:pt>
                <c:pt idx="3">
                  <c:v>2016.24590164</c:v>
                </c:pt>
                <c:pt idx="4">
                  <c:v>2016.32513661</c:v>
                </c:pt>
                <c:pt idx="5">
                  <c:v>2016.41256831</c:v>
                </c:pt>
                <c:pt idx="6">
                  <c:v>2016.49453552</c:v>
                </c:pt>
                <c:pt idx="7">
                  <c:v>2016.57377049</c:v>
                </c:pt>
                <c:pt idx="8">
                  <c:v>2016.66393443</c:v>
                </c:pt>
                <c:pt idx="9">
                  <c:v>2016.74590164</c:v>
                </c:pt>
                <c:pt idx="10">
                  <c:v>2016.83060109</c:v>
                </c:pt>
                <c:pt idx="11">
                  <c:v>2016.91256831</c:v>
                </c:pt>
                <c:pt idx="12">
                  <c:v>2016.99453552</c:v>
                </c:pt>
                <c:pt idx="13">
                  <c:v>2017.08219178</c:v>
                </c:pt>
                <c:pt idx="14">
                  <c:v>2017.15890411</c:v>
                </c:pt>
                <c:pt idx="15">
                  <c:v>2017.24383562</c:v>
                </c:pt>
                <c:pt idx="16">
                  <c:v>2017.32054795</c:v>
                </c:pt>
                <c:pt idx="17">
                  <c:v>2017.4109589</c:v>
                </c:pt>
                <c:pt idx="18">
                  <c:v>2017.49315068</c:v>
                </c:pt>
                <c:pt idx="19">
                  <c:v>2017.57808219</c:v>
                </c:pt>
                <c:pt idx="20">
                  <c:v>2017.6630137</c:v>
                </c:pt>
                <c:pt idx="21">
                  <c:v>2017.74246575</c:v>
                </c:pt>
                <c:pt idx="22">
                  <c:v>2017.83013699</c:v>
                </c:pt>
                <c:pt idx="23">
                  <c:v>2017.91232877</c:v>
                </c:pt>
                <c:pt idx="24">
                  <c:v>2017.99178082</c:v>
                </c:pt>
                <c:pt idx="25">
                  <c:v>2018.08219178</c:v>
                </c:pt>
                <c:pt idx="26">
                  <c:v>2018.15890411</c:v>
                </c:pt>
                <c:pt idx="27">
                  <c:v>2018.23835616</c:v>
                </c:pt>
                <c:pt idx="28">
                  <c:v>2018.3260274</c:v>
                </c:pt>
                <c:pt idx="29">
                  <c:v>2018.4109589</c:v>
                </c:pt>
                <c:pt idx="30">
                  <c:v>2018.49041096</c:v>
                </c:pt>
                <c:pt idx="31">
                  <c:v>2018.57808219</c:v>
                </c:pt>
                <c:pt idx="32">
                  <c:v>2018.6630137</c:v>
                </c:pt>
                <c:pt idx="33">
                  <c:v>2018.73972603</c:v>
                </c:pt>
                <c:pt idx="34">
                  <c:v>2018.83013699</c:v>
                </c:pt>
                <c:pt idx="35">
                  <c:v>2018.91232877</c:v>
                </c:pt>
                <c:pt idx="36">
                  <c:v>2018.99726027</c:v>
                </c:pt>
                <c:pt idx="37">
                  <c:v>2019.08219178</c:v>
                </c:pt>
                <c:pt idx="38">
                  <c:v>2019.15890411</c:v>
                </c:pt>
                <c:pt idx="39">
                  <c:v>2019.23835616</c:v>
                </c:pt>
                <c:pt idx="40">
                  <c:v>2019.3260274</c:v>
                </c:pt>
                <c:pt idx="41">
                  <c:v>2019.4109589</c:v>
                </c:pt>
                <c:pt idx="42">
                  <c:v>2019.48767123</c:v>
                </c:pt>
                <c:pt idx="43">
                  <c:v>2019.57808219</c:v>
                </c:pt>
                <c:pt idx="44">
                  <c:v>2019.66027397</c:v>
                </c:pt>
                <c:pt idx="45">
                  <c:v>2019.74520548</c:v>
                </c:pt>
                <c:pt idx="46">
                  <c:v>2019.83013699</c:v>
                </c:pt>
                <c:pt idx="47">
                  <c:v>2019.90958904</c:v>
                </c:pt>
                <c:pt idx="48">
                  <c:v>2019.99726027</c:v>
                </c:pt>
                <c:pt idx="49">
                  <c:v>2020.08196721</c:v>
                </c:pt>
                <c:pt idx="50">
                  <c:v>2020.15846995</c:v>
                </c:pt>
                <c:pt idx="51">
                  <c:v>2020.24590164</c:v>
                </c:pt>
                <c:pt idx="52">
                  <c:v>2020.32786885</c:v>
                </c:pt>
                <c:pt idx="53">
                  <c:v>2020.40710383</c:v>
                </c:pt>
                <c:pt idx="54">
                  <c:v>2020.49453552</c:v>
                </c:pt>
                <c:pt idx="55">
                  <c:v>2020.57923497</c:v>
                </c:pt>
                <c:pt idx="56">
                  <c:v>2020.66393443</c:v>
                </c:pt>
                <c:pt idx="57">
                  <c:v>2020.74590164</c:v>
                </c:pt>
                <c:pt idx="58">
                  <c:v>2020.82786885</c:v>
                </c:pt>
                <c:pt idx="59">
                  <c:v>2020.91256831</c:v>
                </c:pt>
                <c:pt idx="60">
                  <c:v>2020.99726776</c:v>
                </c:pt>
              </c:numCache>
            </c:numRef>
          </c:xVal>
          <c:yVal>
            <c:numRef>
              <c:f>'Chart Data'!$D$2:$D$62</c:f>
              <c:numCache>
                <c:formatCode>#,##0</c:formatCode>
                <c:ptCount val="61"/>
                <c:pt idx="0">
                  <c:v>100</c:v>
                </c:pt>
                <c:pt idx="1">
                  <c:v>95.0213460265</c:v>
                </c:pt>
                <c:pt idx="2">
                  <c:v>94.9428842825</c:v>
                </c:pt>
                <c:pt idx="3">
                  <c:v>101.329283986</c:v>
                </c:pt>
                <c:pt idx="4">
                  <c:v>101.728659247</c:v>
                </c:pt>
                <c:pt idx="5">
                  <c:v>103.459231977</c:v>
                </c:pt>
                <c:pt idx="6">
                  <c:v>103.818833471</c:v>
                </c:pt>
                <c:pt idx="7">
                  <c:v>107.605217813</c:v>
                </c:pt>
                <c:pt idx="8">
                  <c:v>107.734115435</c:v>
                </c:pt>
                <c:pt idx="9">
                  <c:v>107.740354283</c:v>
                </c:pt>
                <c:pt idx="10">
                  <c:v>105.8724557</c:v>
                </c:pt>
                <c:pt idx="11">
                  <c:v>109.772643391</c:v>
                </c:pt>
                <c:pt idx="12">
                  <c:v>111.997909585</c:v>
                </c:pt>
                <c:pt idx="13">
                  <c:v>114.002074929</c:v>
                </c:pt>
                <c:pt idx="14">
                  <c:v>118.481398577</c:v>
                </c:pt>
                <c:pt idx="15">
                  <c:v>118.629475539</c:v>
                </c:pt>
                <c:pt idx="16">
                  <c:v>119.807024693</c:v>
                </c:pt>
                <c:pt idx="17">
                  <c:v>121.497859256</c:v>
                </c:pt>
                <c:pt idx="18">
                  <c:v>122.272384181</c:v>
                </c:pt>
                <c:pt idx="19">
                  <c:v>124.785616367</c:v>
                </c:pt>
                <c:pt idx="20">
                  <c:v>125.149685623</c:v>
                </c:pt>
                <c:pt idx="21">
                  <c:v>127.67138164</c:v>
                </c:pt>
                <c:pt idx="22">
                  <c:v>130.679823486</c:v>
                </c:pt>
                <c:pt idx="23">
                  <c:v>134.674181289</c:v>
                </c:pt>
                <c:pt idx="24">
                  <c:v>136.307504533</c:v>
                </c:pt>
                <c:pt idx="25">
                  <c:v>143.989706702</c:v>
                </c:pt>
                <c:pt idx="26">
                  <c:v>138.754174176</c:v>
                </c:pt>
                <c:pt idx="27">
                  <c:v>134.950835476</c:v>
                </c:pt>
                <c:pt idx="28">
                  <c:v>135.648269245</c:v>
                </c:pt>
                <c:pt idx="29">
                  <c:v>138.945771774</c:v>
                </c:pt>
                <c:pt idx="30">
                  <c:v>139.744860493</c:v>
                </c:pt>
                <c:pt idx="31">
                  <c:v>144.921876008</c:v>
                </c:pt>
                <c:pt idx="32">
                  <c:v>149.547817031</c:v>
                </c:pt>
                <c:pt idx="33">
                  <c:v>150.436901797</c:v>
                </c:pt>
                <c:pt idx="34">
                  <c:v>140.041076717</c:v>
                </c:pt>
                <c:pt idx="35">
                  <c:v>142.638751397</c:v>
                </c:pt>
                <c:pt idx="36">
                  <c:v>130.079612504</c:v>
                </c:pt>
                <c:pt idx="37">
                  <c:v>140.494527925</c:v>
                </c:pt>
                <c:pt idx="38">
                  <c:v>145.048780047</c:v>
                </c:pt>
                <c:pt idx="39">
                  <c:v>147.674284795</c:v>
                </c:pt>
                <c:pt idx="40">
                  <c:v>153.707126055</c:v>
                </c:pt>
                <c:pt idx="41">
                  <c:v>143.90499721</c:v>
                </c:pt>
                <c:pt idx="42">
                  <c:v>153.918855284</c:v>
                </c:pt>
                <c:pt idx="43">
                  <c:v>156.246025627</c:v>
                </c:pt>
                <c:pt idx="44">
                  <c:v>153.6299103</c:v>
                </c:pt>
                <c:pt idx="45">
                  <c:v>156.619217307</c:v>
                </c:pt>
                <c:pt idx="46">
                  <c:v>160.08127056</c:v>
                </c:pt>
                <c:pt idx="47">
                  <c:v>165.875923111</c:v>
                </c:pt>
                <c:pt idx="48">
                  <c:v>170.695464215</c:v>
                </c:pt>
                <c:pt idx="49">
                  <c:v>170.626543191</c:v>
                </c:pt>
                <c:pt idx="50">
                  <c:v>157.11882353</c:v>
                </c:pt>
                <c:pt idx="51">
                  <c:v>137.49915117</c:v>
                </c:pt>
                <c:pt idx="52">
                  <c:v>154.959292185</c:v>
                </c:pt>
                <c:pt idx="53">
                  <c:v>162.342403455</c:v>
                </c:pt>
                <c:pt idx="54">
                  <c:v>165.221369184</c:v>
                </c:pt>
                <c:pt idx="55">
                  <c:v>174.951693429</c:v>
                </c:pt>
                <c:pt idx="56">
                  <c:v>187.162729532</c:v>
                </c:pt>
                <c:pt idx="57">
                  <c:v>180.154714526</c:v>
                </c:pt>
                <c:pt idx="58">
                  <c:v>175.662761884</c:v>
                </c:pt>
                <c:pt idx="59">
                  <c:v>194.770830921</c:v>
                </c:pt>
                <c:pt idx="60">
                  <c:v>201.986730389</c:v>
                </c:pt>
              </c:numCache>
            </c:numRef>
          </c:yVal>
        </c:ser>
        <c:ser>
          <c:idx val="2"/>
          <c:order val="2"/>
          <c:tx>
            <c:v>미국 배당주 (SCHD)</c:v>
          </c:tx>
          <c:spPr>
            <a:ln xmlns:a="http://schemas.openxmlformats.org/drawingml/2006/main" w="23813">
              <a:solidFill>
                <a:srgbClr val="8050A8"/>
              </a:solidFill>
              <a:prstDash val="solid"/>
            </a:ln>
          </c:spPr>
          <c:marker>
            <c:symbol val="none"/>
          </c:marker>
          <c:xVal>
            <c:numRef>
              <c:f>'Chart Data'!$E$2:$E$62</c:f>
              <c:numCache>
                <c:formatCode>General</c:formatCode>
                <c:ptCount val="61"/>
                <c:pt idx="0">
                  <c:v>2015.99726027</c:v>
                </c:pt>
                <c:pt idx="1">
                  <c:v>2016.07650273</c:v>
                </c:pt>
                <c:pt idx="2">
                  <c:v>2016.16120219</c:v>
                </c:pt>
                <c:pt idx="3">
                  <c:v>2016.24590164</c:v>
                </c:pt>
                <c:pt idx="4">
                  <c:v>2016.32513661</c:v>
                </c:pt>
                <c:pt idx="5">
                  <c:v>2016.41256831</c:v>
                </c:pt>
                <c:pt idx="6">
                  <c:v>2016.49453552</c:v>
                </c:pt>
                <c:pt idx="7">
                  <c:v>2016.57377049</c:v>
                </c:pt>
                <c:pt idx="8">
                  <c:v>2016.66393443</c:v>
                </c:pt>
                <c:pt idx="9">
                  <c:v>2016.74590164</c:v>
                </c:pt>
                <c:pt idx="10">
                  <c:v>2016.83060109</c:v>
                </c:pt>
                <c:pt idx="11">
                  <c:v>2016.91256831</c:v>
                </c:pt>
                <c:pt idx="12">
                  <c:v>2016.99453552</c:v>
                </c:pt>
                <c:pt idx="13">
                  <c:v>2017.08219178</c:v>
                </c:pt>
                <c:pt idx="14">
                  <c:v>2017.15890411</c:v>
                </c:pt>
                <c:pt idx="15">
                  <c:v>2017.24383562</c:v>
                </c:pt>
                <c:pt idx="16">
                  <c:v>2017.32054795</c:v>
                </c:pt>
                <c:pt idx="17">
                  <c:v>2017.4109589</c:v>
                </c:pt>
                <c:pt idx="18">
                  <c:v>2017.49315068</c:v>
                </c:pt>
                <c:pt idx="19">
                  <c:v>2017.57808219</c:v>
                </c:pt>
                <c:pt idx="20">
                  <c:v>2017.6630137</c:v>
                </c:pt>
                <c:pt idx="21">
                  <c:v>2017.74246575</c:v>
                </c:pt>
                <c:pt idx="22">
                  <c:v>2017.83013699</c:v>
                </c:pt>
                <c:pt idx="23">
                  <c:v>2017.91232877</c:v>
                </c:pt>
                <c:pt idx="24">
                  <c:v>2017.99178082</c:v>
                </c:pt>
                <c:pt idx="25">
                  <c:v>2018.08219178</c:v>
                </c:pt>
                <c:pt idx="26">
                  <c:v>2018.15890411</c:v>
                </c:pt>
                <c:pt idx="27">
                  <c:v>2018.23835616</c:v>
                </c:pt>
                <c:pt idx="28">
                  <c:v>2018.3260274</c:v>
                </c:pt>
                <c:pt idx="29">
                  <c:v>2018.4109589</c:v>
                </c:pt>
                <c:pt idx="30">
                  <c:v>2018.49041096</c:v>
                </c:pt>
                <c:pt idx="31">
                  <c:v>2018.57808219</c:v>
                </c:pt>
                <c:pt idx="32">
                  <c:v>2018.6630137</c:v>
                </c:pt>
                <c:pt idx="33">
                  <c:v>2018.73972603</c:v>
                </c:pt>
                <c:pt idx="34">
                  <c:v>2018.83013699</c:v>
                </c:pt>
                <c:pt idx="35">
                  <c:v>2018.91232877</c:v>
                </c:pt>
                <c:pt idx="36">
                  <c:v>2018.99726027</c:v>
                </c:pt>
                <c:pt idx="37">
                  <c:v>2019.08219178</c:v>
                </c:pt>
                <c:pt idx="38">
                  <c:v>2019.15890411</c:v>
                </c:pt>
                <c:pt idx="39">
                  <c:v>2019.23835616</c:v>
                </c:pt>
                <c:pt idx="40">
                  <c:v>2019.3260274</c:v>
                </c:pt>
                <c:pt idx="41">
                  <c:v>2019.4109589</c:v>
                </c:pt>
                <c:pt idx="42">
                  <c:v>2019.48767123</c:v>
                </c:pt>
                <c:pt idx="43">
                  <c:v>2019.57808219</c:v>
                </c:pt>
                <c:pt idx="44">
                  <c:v>2019.66027397</c:v>
                </c:pt>
                <c:pt idx="45">
                  <c:v>2019.74520548</c:v>
                </c:pt>
                <c:pt idx="46">
                  <c:v>2019.83013699</c:v>
                </c:pt>
                <c:pt idx="47">
                  <c:v>2019.90958904</c:v>
                </c:pt>
                <c:pt idx="48">
                  <c:v>2019.99726027</c:v>
                </c:pt>
                <c:pt idx="49">
                  <c:v>2020.08196721</c:v>
                </c:pt>
                <c:pt idx="50">
                  <c:v>2020.15846995</c:v>
                </c:pt>
                <c:pt idx="51">
                  <c:v>2020.24590164</c:v>
                </c:pt>
                <c:pt idx="52">
                  <c:v>2020.32786885</c:v>
                </c:pt>
                <c:pt idx="53">
                  <c:v>2020.40710383</c:v>
                </c:pt>
                <c:pt idx="54">
                  <c:v>2020.49453552</c:v>
                </c:pt>
                <c:pt idx="55">
                  <c:v>2020.57923497</c:v>
                </c:pt>
                <c:pt idx="56">
                  <c:v>2020.66393443</c:v>
                </c:pt>
                <c:pt idx="57">
                  <c:v>2020.74590164</c:v>
                </c:pt>
                <c:pt idx="58">
                  <c:v>2020.82786885</c:v>
                </c:pt>
                <c:pt idx="59">
                  <c:v>2020.91256831</c:v>
                </c:pt>
                <c:pt idx="60">
                  <c:v>2020.99726776</c:v>
                </c:pt>
              </c:numCache>
            </c:numRef>
          </c:xVal>
          <c:yVal>
            <c:numRef>
              <c:f>'Chart Data'!$F$2:$F$62</c:f>
              <c:numCache>
                <c:formatCode>#,##0</c:formatCode>
                <c:ptCount val="61"/>
                <c:pt idx="0">
                  <c:v>100</c:v>
                </c:pt>
                <c:pt idx="1">
                  <c:v>97.7178505555</c:v>
                </c:pt>
                <c:pt idx="2">
                  <c:v>98.4439784062</c:v>
                </c:pt>
                <c:pt idx="3">
                  <c:v>104.743706415</c:v>
                </c:pt>
                <c:pt idx="4">
                  <c:v>104.56084038</c:v>
                </c:pt>
                <c:pt idx="5">
                  <c:v>106.023949011</c:v>
                </c:pt>
                <c:pt idx="6">
                  <c:v>109.116811263</c:v>
                </c:pt>
                <c:pt idx="7">
                  <c:v>112.223889474</c:v>
                </c:pt>
                <c:pt idx="8">
                  <c:v>111.855261167</c:v>
                </c:pt>
                <c:pt idx="9">
                  <c:v>112.060819692</c:v>
                </c:pt>
                <c:pt idx="10">
                  <c:v>110.31278717</c:v>
                </c:pt>
                <c:pt idx="11">
                  <c:v>113.914803545</c:v>
                </c:pt>
                <c:pt idx="12">
                  <c:v>116.448511812</c:v>
                </c:pt>
                <c:pt idx="13">
                  <c:v>115.887267869</c:v>
                </c:pt>
                <c:pt idx="14">
                  <c:v>119.84281605</c:v>
                </c:pt>
                <c:pt idx="15">
                  <c:v>120.013110509</c:v>
                </c:pt>
                <c:pt idx="16">
                  <c:v>120.309216206</c:v>
                </c:pt>
                <c:pt idx="17">
                  <c:v>122.409061889</c:v>
                </c:pt>
                <c:pt idx="18">
                  <c:v>122.291992405</c:v>
                </c:pt>
                <c:pt idx="19">
                  <c:v>124.325670224</c:v>
                </c:pt>
                <c:pt idx="20">
                  <c:v>124.298553813</c:v>
                </c:pt>
                <c:pt idx="21">
                  <c:v>127.838529196</c:v>
                </c:pt>
                <c:pt idx="22">
                  <c:v>132.454917905</c:v>
                </c:pt>
                <c:pt idx="23">
                  <c:v>138.027404126</c:v>
                </c:pt>
                <c:pt idx="24">
                  <c:v>140.724585313</c:v>
                </c:pt>
                <c:pt idx="25">
                  <c:v>147.132375828</c:v>
                </c:pt>
                <c:pt idx="26">
                  <c:v>138.85451833</c:v>
                </c:pt>
                <c:pt idx="27">
                  <c:v>135.543059185</c:v>
                </c:pt>
                <c:pt idx="28">
                  <c:v>134.022577489</c:v>
                </c:pt>
                <c:pt idx="29">
                  <c:v>136.42769498</c:v>
                </c:pt>
                <c:pt idx="30">
                  <c:v>137.378265241</c:v>
                </c:pt>
                <c:pt idx="31">
                  <c:v>143.621415854</c:v>
                </c:pt>
                <c:pt idx="32">
                  <c:v>146.910256772</c:v>
                </c:pt>
                <c:pt idx="33">
                  <c:v>148.734822077</c:v>
                </c:pt>
                <c:pt idx="34">
                  <c:v>139.951078005</c:v>
                </c:pt>
                <c:pt idx="35">
                  <c:v>144.665705357</c:v>
                </c:pt>
                <c:pt idx="36">
                  <c:v>132.902328086</c:v>
                </c:pt>
                <c:pt idx="37">
                  <c:v>140.93811114</c:v>
                </c:pt>
                <c:pt idx="38">
                  <c:v>146.653743582</c:v>
                </c:pt>
                <c:pt idx="39">
                  <c:v>148.926143425</c:v>
                </c:pt>
                <c:pt idx="40">
                  <c:v>153.711839963</c:v>
                </c:pt>
                <c:pt idx="41">
                  <c:v>142.032464158</c:v>
                </c:pt>
                <c:pt idx="42">
                  <c:v>152.383591982</c:v>
                </c:pt>
                <c:pt idx="43">
                  <c:v>154.91038323</c:v>
                </c:pt>
                <c:pt idx="44">
                  <c:v>152.900437576</c:v>
                </c:pt>
                <c:pt idx="45">
                  <c:v>158.705747258</c:v>
                </c:pt>
                <c:pt idx="46">
                  <c:v>160.849641196</c:v>
                </c:pt>
                <c:pt idx="47">
                  <c:v>165.398164614</c:v>
                </c:pt>
                <c:pt idx="48">
                  <c:v>169.175981479</c:v>
                </c:pt>
                <c:pt idx="49">
                  <c:v>166.19675142</c:v>
                </c:pt>
                <c:pt idx="50">
                  <c:v>150.657753331</c:v>
                </c:pt>
                <c:pt idx="51">
                  <c:v>132.755267172</c:v>
                </c:pt>
                <c:pt idx="52">
                  <c:v>149.489859247</c:v>
                </c:pt>
                <c:pt idx="53">
                  <c:v>155.009056839</c:v>
                </c:pt>
                <c:pt idx="54">
                  <c:v>154.026055095</c:v>
                </c:pt>
                <c:pt idx="55">
                  <c:v>162.181220379</c:v>
                </c:pt>
                <c:pt idx="56">
                  <c:v>170.485260703</c:v>
                </c:pt>
                <c:pt idx="57">
                  <c:v>166.229044987</c:v>
                </c:pt>
                <c:pt idx="58">
                  <c:v>166.860371486</c:v>
                </c:pt>
                <c:pt idx="59">
                  <c:v>188.833852145</c:v>
                </c:pt>
                <c:pt idx="60">
                  <c:v>194.599526884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5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FE4D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20.9972677595629"/>
          <c:min val="2016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FE4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25292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나스닥 100 (QQQ)</c:v>
          </c:tx>
          <c:spPr>
            <a:ln xmlns:a="http://schemas.openxmlformats.org/drawingml/2006/main" w="23813">
              <a:solidFill>
                <a:srgbClr val="2864B7"/>
              </a:solidFill>
              <a:prstDash val="solid"/>
            </a:ln>
          </c:spPr>
          <c:marker>
            <c:symbol val="none"/>
          </c:marker>
          <c:xVal>
            <c:numRef>
              <c:f>'Chart Data'!$A$2:$A$71</c:f>
              <c:numCache>
                <c:formatCode>General</c:formatCode>
                <c:ptCount val="70"/>
                <c:pt idx="0">
                  <c:v>2020.99726776</c:v>
                </c:pt>
                <c:pt idx="1">
                  <c:v>2021.07671233</c:v>
                </c:pt>
                <c:pt idx="2">
                  <c:v>2021.15342466</c:v>
                </c:pt>
                <c:pt idx="3">
                  <c:v>2021.24383562</c:v>
                </c:pt>
                <c:pt idx="4">
                  <c:v>2021.3260274</c:v>
                </c:pt>
                <c:pt idx="5">
                  <c:v>2021.40273973</c:v>
                </c:pt>
                <c:pt idx="6">
                  <c:v>2021.49315068</c:v>
                </c:pt>
                <c:pt idx="7">
                  <c:v>2021.57534247</c:v>
                </c:pt>
                <c:pt idx="8">
                  <c:v>2021.6630137</c:v>
                </c:pt>
                <c:pt idx="9">
                  <c:v>2021.74520548</c:v>
                </c:pt>
                <c:pt idx="10">
                  <c:v>2021.82465753</c:v>
                </c:pt>
                <c:pt idx="11">
                  <c:v>2021.91232877</c:v>
                </c:pt>
                <c:pt idx="12">
                  <c:v>2021.99726027</c:v>
                </c:pt>
                <c:pt idx="13">
                  <c:v>2022.08219178</c:v>
                </c:pt>
                <c:pt idx="14">
                  <c:v>2022.15890411</c:v>
                </c:pt>
                <c:pt idx="15">
                  <c:v>2022.24383562</c:v>
                </c:pt>
                <c:pt idx="16">
                  <c:v>2022.32328767</c:v>
                </c:pt>
                <c:pt idx="17">
                  <c:v>2022.4109589</c:v>
                </c:pt>
                <c:pt idx="18">
                  <c:v>2022.49315068</c:v>
                </c:pt>
                <c:pt idx="19">
                  <c:v>2022.57260274</c:v>
                </c:pt>
                <c:pt idx="20">
                  <c:v>2022.6630137</c:v>
                </c:pt>
                <c:pt idx="21">
                  <c:v>2022.74520548</c:v>
                </c:pt>
                <c:pt idx="22">
                  <c:v>2022.83013699</c:v>
                </c:pt>
                <c:pt idx="23">
                  <c:v>2022.91232877</c:v>
                </c:pt>
                <c:pt idx="24">
                  <c:v>2022.99452055</c:v>
                </c:pt>
                <c:pt idx="25">
                  <c:v>2023.08219178</c:v>
                </c:pt>
                <c:pt idx="26">
                  <c:v>2023.15890411</c:v>
                </c:pt>
                <c:pt idx="27">
                  <c:v>2023.24383562</c:v>
                </c:pt>
                <c:pt idx="28">
                  <c:v>2023.32054795</c:v>
                </c:pt>
                <c:pt idx="29">
                  <c:v>2023.4109589</c:v>
                </c:pt>
                <c:pt idx="30">
                  <c:v>2023.49315068</c:v>
                </c:pt>
                <c:pt idx="31">
                  <c:v>2023.57808219</c:v>
                </c:pt>
                <c:pt idx="32">
                  <c:v>2023.6630137</c:v>
                </c:pt>
                <c:pt idx="33">
                  <c:v>2023.74246575</c:v>
                </c:pt>
                <c:pt idx="34">
                  <c:v>2023.83013699</c:v>
                </c:pt>
                <c:pt idx="35">
                  <c:v>2023.91232877</c:v>
                </c:pt>
                <c:pt idx="36">
                  <c:v>2023.99178082</c:v>
                </c:pt>
                <c:pt idx="37">
                  <c:v>2024.08196721</c:v>
                </c:pt>
                <c:pt idx="38">
                  <c:v>2024.16120219</c:v>
                </c:pt>
                <c:pt idx="39">
                  <c:v>2024.23770492</c:v>
                </c:pt>
                <c:pt idx="40">
                  <c:v>2024.32786885</c:v>
                </c:pt>
                <c:pt idx="41">
                  <c:v>2024.41256831</c:v>
                </c:pt>
                <c:pt idx="42">
                  <c:v>2024.48907104</c:v>
                </c:pt>
                <c:pt idx="43">
                  <c:v>2024.57923497</c:v>
                </c:pt>
                <c:pt idx="44">
                  <c:v>2024.66120219</c:v>
                </c:pt>
                <c:pt idx="45">
                  <c:v>2024.74590164</c:v>
                </c:pt>
                <c:pt idx="46">
                  <c:v>2024.83060109</c:v>
                </c:pt>
                <c:pt idx="47">
                  <c:v>2024.90983607</c:v>
                </c:pt>
                <c:pt idx="48">
                  <c:v>2024.99726776</c:v>
                </c:pt>
                <c:pt idx="49">
                  <c:v>2025.08219178</c:v>
                </c:pt>
                <c:pt idx="50">
                  <c:v>2025.15890411</c:v>
                </c:pt>
                <c:pt idx="51">
                  <c:v>2025.24383562</c:v>
                </c:pt>
                <c:pt idx="52">
                  <c:v>2025.3260274</c:v>
                </c:pt>
                <c:pt idx="53">
                  <c:v>2025.40821918</c:v>
                </c:pt>
                <c:pt idx="54">
                  <c:v>2025.49315068</c:v>
                </c:pt>
                <c:pt idx="55">
                  <c:v>2025.57808219</c:v>
                </c:pt>
                <c:pt idx="56">
                  <c:v>2025.65753425</c:v>
                </c:pt>
                <c:pt idx="57">
                  <c:v>2025.74520548</c:v>
                </c:pt>
                <c:pt idx="58">
                  <c:v>2025.83013699</c:v>
                </c:pt>
                <c:pt idx="59">
                  <c:v>2025.90684932</c:v>
                </c:pt>
                <c:pt idx="60">
                  <c:v>2025.99726027</c:v>
                </c:pt>
                <c:pt idx="61">
                  <c:v>2026.07945205</c:v>
                </c:pt>
                <c:pt idx="62">
                  <c:v>2026.15616438</c:v>
                </c:pt>
                <c:pt idx="63">
                  <c:v>2026.24383562</c:v>
                </c:pt>
                <c:pt idx="64">
                  <c:v>2026.3260274</c:v>
                </c:pt>
                <c:pt idx="65">
                  <c:v>2026.40547945</c:v>
                </c:pt>
                <c:pt idx="66">
                  <c:v>2026.49315068</c:v>
                </c:pt>
                <c:pt idx="67">
                  <c:v>2026.57808219</c:v>
                </c:pt>
                <c:pt idx="68">
                  <c:v>2026.6630137</c:v>
                </c:pt>
                <c:pt idx="69">
                  <c:v>2026.74520548</c:v>
                </c:pt>
              </c:numCache>
            </c:numRef>
          </c:xVal>
          <c:yVal>
            <c:numRef>
              <c:f>'Chart Data'!$B$2:$B$71</c:f>
              <c:numCache>
                <c:formatCode>#,##0</c:formatCode>
                <c:ptCount val="70"/>
                <c:pt idx="0">
                  <c:v>100</c:v>
                </c:pt>
                <c:pt idx="1">
                  <c:v>100.261366243</c:v>
                </c:pt>
                <c:pt idx="2">
                  <c:v>100.127509956</c:v>
                </c:pt>
                <c:pt idx="3">
                  <c:v>101.846460432</c:v>
                </c:pt>
                <c:pt idx="4">
                  <c:v>107.865376923</c:v>
                </c:pt>
                <c:pt idx="5">
                  <c:v>106.569709617</c:v>
                </c:pt>
                <c:pt idx="6">
                  <c:v>113.243193309</c:v>
                </c:pt>
                <c:pt idx="7">
                  <c:v>116.483040462</c:v>
                </c:pt>
                <c:pt idx="8">
                  <c:v>121.397071817</c:v>
                </c:pt>
                <c:pt idx="9">
                  <c:v>114.497886048</c:v>
                </c:pt>
                <c:pt idx="10">
                  <c:v>123.502022025</c:v>
                </c:pt>
                <c:pt idx="11">
                  <c:v>125.968149868</c:v>
                </c:pt>
                <c:pt idx="12">
                  <c:v>127.419739784</c:v>
                </c:pt>
                <c:pt idx="13">
                  <c:v>116.274305517</c:v>
                </c:pt>
                <c:pt idx="14">
                  <c:v>111.069911925</c:v>
                </c:pt>
                <c:pt idx="15">
                  <c:v>116.254512206</c:v>
                </c:pt>
                <c:pt idx="16">
                  <c:v>100.448839471</c:v>
                </c:pt>
                <c:pt idx="17">
                  <c:v>98.855135997</c:v>
                </c:pt>
                <c:pt idx="18">
                  <c:v>90.0492247972</c:v>
                </c:pt>
                <c:pt idx="19">
                  <c:v>101.351979678</c:v>
                </c:pt>
                <c:pt idx="20">
                  <c:v>96.1503820924</c:v>
                </c:pt>
                <c:pt idx="21">
                  <c:v>86.0204412199</c:v>
                </c:pt>
                <c:pt idx="22">
                  <c:v>89.4611381777</c:v>
                </c:pt>
                <c:pt idx="23">
                  <c:v>94.4209918521</c:v>
                </c:pt>
                <c:pt idx="24">
                  <c:v>85.9101800075</c:v>
                </c:pt>
                <c:pt idx="25">
                  <c:v>95.0535731904</c:v>
                </c:pt>
                <c:pt idx="26">
                  <c:v>94.7115652979</c:v>
                </c:pt>
                <c:pt idx="27">
                  <c:v>103.702264353</c:v>
                </c:pt>
                <c:pt idx="28">
                  <c:v>104.22897964</c:v>
                </c:pt>
                <c:pt idx="29">
                  <c:v>112.44618065</c:v>
                </c:pt>
                <c:pt idx="30">
                  <c:v>119.534619838</c:v>
                </c:pt>
                <c:pt idx="31">
                  <c:v>124.148784547</c:v>
                </c:pt>
                <c:pt idx="32">
                  <c:v>122.30765463</c:v>
                </c:pt>
                <c:pt idx="33">
                  <c:v>116.094596738</c:v>
                </c:pt>
                <c:pt idx="34">
                  <c:v>113.696669323</c:v>
                </c:pt>
                <c:pt idx="35">
                  <c:v>125.997296725</c:v>
                </c:pt>
                <c:pt idx="36">
                  <c:v>133.036745457</c:v>
                </c:pt>
                <c:pt idx="37">
                  <c:v>135.456940346</c:v>
                </c:pt>
                <c:pt idx="38">
                  <c:v>142.613610134</c:v>
                </c:pt>
                <c:pt idx="39">
                  <c:v>144.431899294</c:v>
                </c:pt>
                <c:pt idx="40">
                  <c:v>138.114775656</c:v>
                </c:pt>
                <c:pt idx="41">
                  <c:v>146.611345972</c:v>
                </c:pt>
                <c:pt idx="42">
                  <c:v>156.097280099</c:v>
                </c:pt>
                <c:pt idx="43">
                  <c:v>153.477784272</c:v>
                </c:pt>
                <c:pt idx="44">
                  <c:v>155.171972994</c:v>
                </c:pt>
                <c:pt idx="45">
                  <c:v>159.239961005</c:v>
                </c:pt>
                <c:pt idx="46">
                  <c:v>157.863118997</c:v>
                </c:pt>
                <c:pt idx="47">
                  <c:v>166.310125576</c:v>
                </c:pt>
                <c:pt idx="48">
                  <c:v>167.065218255</c:v>
                </c:pt>
                <c:pt idx="49">
                  <c:v>170.6795291</c:v>
                </c:pt>
                <c:pt idx="50">
                  <c:v>166.065243701</c:v>
                </c:pt>
                <c:pt idx="51">
                  <c:v>153.467223816</c:v>
                </c:pt>
                <c:pt idx="52">
                  <c:v>155.610895695</c:v>
                </c:pt>
                <c:pt idx="53">
                  <c:v>169.893308222</c:v>
                </c:pt>
                <c:pt idx="54">
                  <c:v>180.74241611</c:v>
                </c:pt>
                <c:pt idx="55">
                  <c:v>185.123053947</c:v>
                </c:pt>
                <c:pt idx="56">
                  <c:v>186.889063824</c:v>
                </c:pt>
                <c:pt idx="57">
                  <c:v>196.936623086</c:v>
                </c:pt>
                <c:pt idx="58">
                  <c:v>206.350957325</c:v>
                </c:pt>
                <c:pt idx="59">
                  <c:v>203.129756919</c:v>
                </c:pt>
                <c:pt idx="60">
                  <c:v>201.768926574</c:v>
                </c:pt>
                <c:pt idx="61">
                  <c:v>204.251981317</c:v>
                </c:pt>
                <c:pt idx="62">
                  <c:v>199.463227136</c:v>
                </c:pt>
                <c:pt idx="63">
                  <c:v>189.812680653</c:v>
                </c:pt>
                <c:pt idx="64">
                  <c:v>219.594452361</c:v>
                </c:pt>
                <c:pt idx="65">
                  <c:v>242.802250041</c:v>
                </c:pt>
                <c:pt idx="66">
                  <c:v>242.440277859</c:v>
                </c:pt>
                <c:pt idx="67">
                  <c:v>226.502559201</c:v>
                </c:pt>
                <c:pt idx="68">
                  <c:v>235.974322202</c:v>
                </c:pt>
                <c:pt idx="69">
                  <c:v>243.803542138</c:v>
                </c:pt>
              </c:numCache>
            </c:numRef>
          </c:yVal>
        </c:ser>
        <c:ser>
          <c:idx val="1"/>
          <c:order val="1"/>
          <c:tx>
            <c:v>S&amp;P 500 (SPY)</c:v>
          </c:tx>
          <c:spPr>
            <a:ln xmlns:a="http://schemas.openxmlformats.org/drawingml/2006/main" w="23813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Data'!$C$2:$C$71</c:f>
              <c:numCache>
                <c:formatCode>General</c:formatCode>
                <c:ptCount val="70"/>
                <c:pt idx="0">
                  <c:v>2020.99726776</c:v>
                </c:pt>
                <c:pt idx="1">
                  <c:v>2021.07671233</c:v>
                </c:pt>
                <c:pt idx="2">
                  <c:v>2021.15342466</c:v>
                </c:pt>
                <c:pt idx="3">
                  <c:v>2021.24383562</c:v>
                </c:pt>
                <c:pt idx="4">
                  <c:v>2021.3260274</c:v>
                </c:pt>
                <c:pt idx="5">
                  <c:v>2021.40273973</c:v>
                </c:pt>
                <c:pt idx="6">
                  <c:v>2021.49315068</c:v>
                </c:pt>
                <c:pt idx="7">
                  <c:v>2021.57534247</c:v>
                </c:pt>
                <c:pt idx="8">
                  <c:v>2021.6630137</c:v>
                </c:pt>
                <c:pt idx="9">
                  <c:v>2021.74520548</c:v>
                </c:pt>
                <c:pt idx="10">
                  <c:v>2021.82465753</c:v>
                </c:pt>
                <c:pt idx="11">
                  <c:v>2021.91232877</c:v>
                </c:pt>
                <c:pt idx="12">
                  <c:v>2021.99726027</c:v>
                </c:pt>
                <c:pt idx="13">
                  <c:v>2022.08219178</c:v>
                </c:pt>
                <c:pt idx="14">
                  <c:v>2022.15890411</c:v>
                </c:pt>
                <c:pt idx="15">
                  <c:v>2022.24383562</c:v>
                </c:pt>
                <c:pt idx="16">
                  <c:v>2022.32328767</c:v>
                </c:pt>
                <c:pt idx="17">
                  <c:v>2022.4109589</c:v>
                </c:pt>
                <c:pt idx="18">
                  <c:v>2022.49315068</c:v>
                </c:pt>
                <c:pt idx="19">
                  <c:v>2022.57260274</c:v>
                </c:pt>
                <c:pt idx="20">
                  <c:v>2022.6630137</c:v>
                </c:pt>
                <c:pt idx="21">
                  <c:v>2022.74520548</c:v>
                </c:pt>
                <c:pt idx="22">
                  <c:v>2022.83013699</c:v>
                </c:pt>
                <c:pt idx="23">
                  <c:v>2022.91232877</c:v>
                </c:pt>
                <c:pt idx="24">
                  <c:v>2022.99452055</c:v>
                </c:pt>
                <c:pt idx="25">
                  <c:v>2023.08219178</c:v>
                </c:pt>
                <c:pt idx="26">
                  <c:v>2023.15890411</c:v>
                </c:pt>
                <c:pt idx="27">
                  <c:v>2023.24383562</c:v>
                </c:pt>
                <c:pt idx="28">
                  <c:v>2023.32054795</c:v>
                </c:pt>
                <c:pt idx="29">
                  <c:v>2023.4109589</c:v>
                </c:pt>
                <c:pt idx="30">
                  <c:v>2023.49315068</c:v>
                </c:pt>
                <c:pt idx="31">
                  <c:v>2023.57808219</c:v>
                </c:pt>
                <c:pt idx="32">
                  <c:v>2023.6630137</c:v>
                </c:pt>
                <c:pt idx="33">
                  <c:v>2023.74246575</c:v>
                </c:pt>
                <c:pt idx="34">
                  <c:v>2023.83013699</c:v>
                </c:pt>
                <c:pt idx="35">
                  <c:v>2023.91232877</c:v>
                </c:pt>
                <c:pt idx="36">
                  <c:v>2023.99178082</c:v>
                </c:pt>
                <c:pt idx="37">
                  <c:v>2024.08196721</c:v>
                </c:pt>
                <c:pt idx="38">
                  <c:v>2024.16120219</c:v>
                </c:pt>
                <c:pt idx="39">
                  <c:v>2024.23770492</c:v>
                </c:pt>
                <c:pt idx="40">
                  <c:v>2024.32786885</c:v>
                </c:pt>
                <c:pt idx="41">
                  <c:v>2024.41256831</c:v>
                </c:pt>
                <c:pt idx="42">
                  <c:v>2024.48907104</c:v>
                </c:pt>
                <c:pt idx="43">
                  <c:v>2024.57923497</c:v>
                </c:pt>
                <c:pt idx="44">
                  <c:v>2024.66120219</c:v>
                </c:pt>
                <c:pt idx="45">
                  <c:v>2024.74590164</c:v>
                </c:pt>
                <c:pt idx="46">
                  <c:v>2024.83060109</c:v>
                </c:pt>
                <c:pt idx="47">
                  <c:v>2024.90983607</c:v>
                </c:pt>
                <c:pt idx="48">
                  <c:v>2024.99726776</c:v>
                </c:pt>
                <c:pt idx="49">
                  <c:v>2025.08219178</c:v>
                </c:pt>
                <c:pt idx="50">
                  <c:v>2025.15890411</c:v>
                </c:pt>
                <c:pt idx="51">
                  <c:v>2025.24383562</c:v>
                </c:pt>
                <c:pt idx="52">
                  <c:v>2025.3260274</c:v>
                </c:pt>
                <c:pt idx="53">
                  <c:v>2025.40821918</c:v>
                </c:pt>
                <c:pt idx="54">
                  <c:v>2025.49315068</c:v>
                </c:pt>
                <c:pt idx="55">
                  <c:v>2025.57808219</c:v>
                </c:pt>
                <c:pt idx="56">
                  <c:v>2025.65753425</c:v>
                </c:pt>
                <c:pt idx="57">
                  <c:v>2025.74520548</c:v>
                </c:pt>
                <c:pt idx="58">
                  <c:v>2025.83013699</c:v>
                </c:pt>
                <c:pt idx="59">
                  <c:v>2025.90684932</c:v>
                </c:pt>
                <c:pt idx="60">
                  <c:v>2025.99726027</c:v>
                </c:pt>
                <c:pt idx="61">
                  <c:v>2026.07945205</c:v>
                </c:pt>
                <c:pt idx="62">
                  <c:v>2026.15616438</c:v>
                </c:pt>
                <c:pt idx="63">
                  <c:v>2026.24383562</c:v>
                </c:pt>
                <c:pt idx="64">
                  <c:v>2026.3260274</c:v>
                </c:pt>
                <c:pt idx="65">
                  <c:v>2026.40547945</c:v>
                </c:pt>
                <c:pt idx="66">
                  <c:v>2026.49315068</c:v>
                </c:pt>
                <c:pt idx="67">
                  <c:v>2026.57808219</c:v>
                </c:pt>
                <c:pt idx="68">
                  <c:v>2026.6630137</c:v>
                </c:pt>
                <c:pt idx="69">
                  <c:v>2026.74520548</c:v>
                </c:pt>
              </c:numCache>
            </c:numRef>
          </c:xVal>
          <c:yVal>
            <c:numRef>
              <c:f>'Chart Data'!$D$2:$D$71</c:f>
              <c:numCache>
                <c:formatCode>#,##0</c:formatCode>
                <c:ptCount val="70"/>
                <c:pt idx="0">
                  <c:v>100</c:v>
                </c:pt>
                <c:pt idx="1">
                  <c:v>98.9809973224</c:v>
                </c:pt>
                <c:pt idx="2">
                  <c:v>101.733202534</c:v>
                </c:pt>
                <c:pt idx="3">
                  <c:v>106.3518095</c:v>
                </c:pt>
                <c:pt idx="4">
                  <c:v>111.978923592</c:v>
                </c:pt>
                <c:pt idx="5">
                  <c:v>112.714176239</c:v>
                </c:pt>
                <c:pt idx="6">
                  <c:v>115.242070967</c:v>
                </c:pt>
                <c:pt idx="7">
                  <c:v>118.055407703</c:v>
                </c:pt>
                <c:pt idx="8">
                  <c:v>121.568729917</c:v>
                </c:pt>
                <c:pt idx="9">
                  <c:v>115.902955886</c:v>
                </c:pt>
                <c:pt idx="10">
                  <c:v>124.035131812</c:v>
                </c:pt>
                <c:pt idx="11">
                  <c:v>123.038512596</c:v>
                </c:pt>
                <c:pt idx="12">
                  <c:v>128.728785061</c:v>
                </c:pt>
                <c:pt idx="13">
                  <c:v>121.939467013</c:v>
                </c:pt>
                <c:pt idx="14">
                  <c:v>118.34017997</c:v>
                </c:pt>
                <c:pt idx="15">
                  <c:v>122.788628567</c:v>
                </c:pt>
                <c:pt idx="16">
                  <c:v>112.011591108</c:v>
                </c:pt>
                <c:pt idx="17">
                  <c:v>112.264400849</c:v>
                </c:pt>
                <c:pt idx="18">
                  <c:v>103.007050614</c:v>
                </c:pt>
                <c:pt idx="19">
                  <c:v>112.492712156</c:v>
                </c:pt>
                <c:pt idx="20">
                  <c:v>107.90279832</c:v>
                </c:pt>
                <c:pt idx="21">
                  <c:v>97.9276087131</c:v>
                </c:pt>
                <c:pt idx="22">
                  <c:v>105.88674462</c:v>
                </c:pt>
                <c:pt idx="23">
                  <c:v>111.773154369</c:v>
                </c:pt>
                <c:pt idx="24">
                  <c:v>105.331855085</c:v>
                </c:pt>
                <c:pt idx="25">
                  <c:v>111.955905638</c:v>
                </c:pt>
                <c:pt idx="26">
                  <c:v>109.141035547</c:v>
                </c:pt>
                <c:pt idx="27">
                  <c:v>113.187727448</c:v>
                </c:pt>
                <c:pt idx="28">
                  <c:v>114.995914578</c:v>
                </c:pt>
                <c:pt idx="29">
                  <c:v>115.526746298</c:v>
                </c:pt>
                <c:pt idx="30">
                  <c:v>123.012859739</c:v>
                </c:pt>
                <c:pt idx="31">
                  <c:v>127.039485836</c:v>
                </c:pt>
                <c:pt idx="32">
                  <c:v>124.974823012</c:v>
                </c:pt>
                <c:pt idx="33">
                  <c:v>119.046695426</c:v>
                </c:pt>
                <c:pt idx="34">
                  <c:v>116.462374987</c:v>
                </c:pt>
                <c:pt idx="35">
                  <c:v>127.100493987</c:v>
                </c:pt>
                <c:pt idx="36">
                  <c:v>132.903300626</c:v>
                </c:pt>
                <c:pt idx="37">
                  <c:v>135.019982967</c:v>
                </c:pt>
                <c:pt idx="38">
                  <c:v>142.066243766</c:v>
                </c:pt>
                <c:pt idx="39">
                  <c:v>146.712098631</c:v>
                </c:pt>
                <c:pt idx="40">
                  <c:v>140.796713755</c:v>
                </c:pt>
                <c:pt idx="41">
                  <c:v>147.91817946</c:v>
                </c:pt>
                <c:pt idx="42">
                  <c:v>153.136751317</c:v>
                </c:pt>
                <c:pt idx="43">
                  <c:v>154.991088915</c:v>
                </c:pt>
                <c:pt idx="44">
                  <c:v>158.612556734</c:v>
                </c:pt>
                <c:pt idx="45">
                  <c:v>161.94416754</c:v>
                </c:pt>
                <c:pt idx="46">
                  <c:v>160.499024293</c:v>
                </c:pt>
                <c:pt idx="47">
                  <c:v>170.070157171</c:v>
                </c:pt>
                <c:pt idx="48">
                  <c:v>165.978248915</c:v>
                </c:pt>
                <c:pt idx="49">
                  <c:v>170.435818332</c:v>
                </c:pt>
                <c:pt idx="50">
                  <c:v>168.272148347</c:v>
                </c:pt>
                <c:pt idx="51">
                  <c:v>158.896174578</c:v>
                </c:pt>
                <c:pt idx="52">
                  <c:v>157.518516586</c:v>
                </c:pt>
                <c:pt idx="53">
                  <c:v>167.41773461</c:v>
                </c:pt>
                <c:pt idx="54">
                  <c:v>176.020703468</c:v>
                </c:pt>
                <c:pt idx="55">
                  <c:v>180.074718462</c:v>
                </c:pt>
                <c:pt idx="56">
                  <c:v>183.769769708</c:v>
                </c:pt>
                <c:pt idx="57">
                  <c:v>190.315733705</c:v>
                </c:pt>
                <c:pt idx="58">
                  <c:v>194.852367853</c:v>
                </c:pt>
                <c:pt idx="59">
                  <c:v>195.232322705</c:v>
                </c:pt>
                <c:pt idx="60">
                  <c:v>195.388019948</c:v>
                </c:pt>
                <c:pt idx="61">
                  <c:v>198.267608206</c:v>
                </c:pt>
                <c:pt idx="62">
                  <c:v>196.554180667</c:v>
                </c:pt>
                <c:pt idx="63">
                  <c:v>186.848429774</c:v>
                </c:pt>
                <c:pt idx="64">
                  <c:v>206.477350757</c:v>
                </c:pt>
                <c:pt idx="65">
                  <c:v>217.343375694</c:v>
                </c:pt>
                <c:pt idx="66">
                  <c:v>215.106351404</c:v>
                </c:pt>
                <c:pt idx="67">
                  <c:v>215.181256689</c:v>
                </c:pt>
                <c:pt idx="68">
                  <c:v>220.947976606</c:v>
                </c:pt>
                <c:pt idx="69">
                  <c:v>220.22030261</c:v>
                </c:pt>
              </c:numCache>
            </c:numRef>
          </c:yVal>
        </c:ser>
        <c:ser>
          <c:idx val="2"/>
          <c:order val="2"/>
          <c:tx>
            <c:v>미국 배당주 (SCHD)</c:v>
          </c:tx>
          <c:spPr>
            <a:ln xmlns:a="http://schemas.openxmlformats.org/drawingml/2006/main" w="23813">
              <a:solidFill>
                <a:srgbClr val="8050A8"/>
              </a:solidFill>
              <a:prstDash val="solid"/>
            </a:ln>
          </c:spPr>
          <c:marker>
            <c:symbol val="none"/>
          </c:marker>
          <c:xVal>
            <c:numRef>
              <c:f>'Chart Data'!$E$2:$E$71</c:f>
              <c:numCache>
                <c:formatCode>General</c:formatCode>
                <c:ptCount val="70"/>
                <c:pt idx="0">
                  <c:v>2020.99726776</c:v>
                </c:pt>
                <c:pt idx="1">
                  <c:v>2021.07671233</c:v>
                </c:pt>
                <c:pt idx="2">
                  <c:v>2021.15342466</c:v>
                </c:pt>
                <c:pt idx="3">
                  <c:v>2021.24383562</c:v>
                </c:pt>
                <c:pt idx="4">
                  <c:v>2021.3260274</c:v>
                </c:pt>
                <c:pt idx="5">
                  <c:v>2021.40273973</c:v>
                </c:pt>
                <c:pt idx="6">
                  <c:v>2021.49315068</c:v>
                </c:pt>
                <c:pt idx="7">
                  <c:v>2021.57534247</c:v>
                </c:pt>
                <c:pt idx="8">
                  <c:v>2021.6630137</c:v>
                </c:pt>
                <c:pt idx="9">
                  <c:v>2021.74520548</c:v>
                </c:pt>
                <c:pt idx="10">
                  <c:v>2021.82465753</c:v>
                </c:pt>
                <c:pt idx="11">
                  <c:v>2021.91232877</c:v>
                </c:pt>
                <c:pt idx="12">
                  <c:v>2021.99726027</c:v>
                </c:pt>
                <c:pt idx="13">
                  <c:v>2022.08219178</c:v>
                </c:pt>
                <c:pt idx="14">
                  <c:v>2022.15890411</c:v>
                </c:pt>
                <c:pt idx="15">
                  <c:v>2022.24383562</c:v>
                </c:pt>
                <c:pt idx="16">
                  <c:v>2022.32328767</c:v>
                </c:pt>
                <c:pt idx="17">
                  <c:v>2022.4109589</c:v>
                </c:pt>
                <c:pt idx="18">
                  <c:v>2022.49315068</c:v>
                </c:pt>
                <c:pt idx="19">
                  <c:v>2022.57260274</c:v>
                </c:pt>
                <c:pt idx="20">
                  <c:v>2022.6630137</c:v>
                </c:pt>
                <c:pt idx="21">
                  <c:v>2022.74520548</c:v>
                </c:pt>
                <c:pt idx="22">
                  <c:v>2022.83013699</c:v>
                </c:pt>
                <c:pt idx="23">
                  <c:v>2022.91232877</c:v>
                </c:pt>
                <c:pt idx="24">
                  <c:v>2022.99452055</c:v>
                </c:pt>
                <c:pt idx="25">
                  <c:v>2023.08219178</c:v>
                </c:pt>
                <c:pt idx="26">
                  <c:v>2023.15890411</c:v>
                </c:pt>
                <c:pt idx="27">
                  <c:v>2023.24383562</c:v>
                </c:pt>
                <c:pt idx="28">
                  <c:v>2023.32054795</c:v>
                </c:pt>
                <c:pt idx="29">
                  <c:v>2023.4109589</c:v>
                </c:pt>
                <c:pt idx="30">
                  <c:v>2023.49315068</c:v>
                </c:pt>
                <c:pt idx="31">
                  <c:v>2023.57808219</c:v>
                </c:pt>
                <c:pt idx="32">
                  <c:v>2023.6630137</c:v>
                </c:pt>
                <c:pt idx="33">
                  <c:v>2023.74246575</c:v>
                </c:pt>
                <c:pt idx="34">
                  <c:v>2023.83013699</c:v>
                </c:pt>
                <c:pt idx="35">
                  <c:v>2023.91232877</c:v>
                </c:pt>
                <c:pt idx="36">
                  <c:v>2023.99178082</c:v>
                </c:pt>
                <c:pt idx="37">
                  <c:v>2024.08196721</c:v>
                </c:pt>
                <c:pt idx="38">
                  <c:v>2024.16120219</c:v>
                </c:pt>
                <c:pt idx="39">
                  <c:v>2024.23770492</c:v>
                </c:pt>
                <c:pt idx="40">
                  <c:v>2024.32786885</c:v>
                </c:pt>
                <c:pt idx="41">
                  <c:v>2024.41256831</c:v>
                </c:pt>
                <c:pt idx="42">
                  <c:v>2024.48907104</c:v>
                </c:pt>
                <c:pt idx="43">
                  <c:v>2024.57923497</c:v>
                </c:pt>
                <c:pt idx="44">
                  <c:v>2024.66120219</c:v>
                </c:pt>
                <c:pt idx="45">
                  <c:v>2024.74590164</c:v>
                </c:pt>
                <c:pt idx="46">
                  <c:v>2024.83060109</c:v>
                </c:pt>
                <c:pt idx="47">
                  <c:v>2024.90983607</c:v>
                </c:pt>
                <c:pt idx="48">
                  <c:v>2024.99726776</c:v>
                </c:pt>
                <c:pt idx="49">
                  <c:v>2025.08219178</c:v>
                </c:pt>
                <c:pt idx="50">
                  <c:v>2025.15890411</c:v>
                </c:pt>
                <c:pt idx="51">
                  <c:v>2025.24383562</c:v>
                </c:pt>
                <c:pt idx="52">
                  <c:v>2025.3260274</c:v>
                </c:pt>
                <c:pt idx="53">
                  <c:v>2025.40821918</c:v>
                </c:pt>
                <c:pt idx="54">
                  <c:v>2025.49315068</c:v>
                </c:pt>
                <c:pt idx="55">
                  <c:v>2025.57808219</c:v>
                </c:pt>
                <c:pt idx="56">
                  <c:v>2025.65753425</c:v>
                </c:pt>
                <c:pt idx="57">
                  <c:v>2025.74520548</c:v>
                </c:pt>
                <c:pt idx="58">
                  <c:v>2025.83013699</c:v>
                </c:pt>
                <c:pt idx="59">
                  <c:v>2025.90684932</c:v>
                </c:pt>
                <c:pt idx="60">
                  <c:v>2025.99726027</c:v>
                </c:pt>
                <c:pt idx="61">
                  <c:v>2026.07945205</c:v>
                </c:pt>
                <c:pt idx="62">
                  <c:v>2026.15616438</c:v>
                </c:pt>
                <c:pt idx="63">
                  <c:v>2026.24383562</c:v>
                </c:pt>
                <c:pt idx="64">
                  <c:v>2026.3260274</c:v>
                </c:pt>
                <c:pt idx="65">
                  <c:v>2026.40547945</c:v>
                </c:pt>
                <c:pt idx="66">
                  <c:v>2026.49315068</c:v>
                </c:pt>
                <c:pt idx="67">
                  <c:v>2026.57808219</c:v>
                </c:pt>
                <c:pt idx="68">
                  <c:v>2026.6630137</c:v>
                </c:pt>
                <c:pt idx="69">
                  <c:v>2026.74520548</c:v>
                </c:pt>
              </c:numCache>
            </c:numRef>
          </c:xVal>
          <c:yVal>
            <c:numRef>
              <c:f>'Chart Data'!$F$2:$F$71</c:f>
              <c:numCache>
                <c:formatCode>#,##0</c:formatCode>
                <c:ptCount val="70"/>
                <c:pt idx="0">
                  <c:v>100</c:v>
                </c:pt>
                <c:pt idx="1">
                  <c:v>99.0957423436</c:v>
                </c:pt>
                <c:pt idx="2">
                  <c:v>105.098271264</c:v>
                </c:pt>
                <c:pt idx="3">
                  <c:v>114.495108271</c:v>
                </c:pt>
                <c:pt idx="4">
                  <c:v>117.023036905</c:v>
                </c:pt>
                <c:pt idx="5">
                  <c:v>120.791362286</c:v>
                </c:pt>
                <c:pt idx="6">
                  <c:v>119.59084996</c:v>
                </c:pt>
                <c:pt idx="7">
                  <c:v>120.365772189</c:v>
                </c:pt>
                <c:pt idx="8">
                  <c:v>122.880300618</c:v>
                </c:pt>
                <c:pt idx="9">
                  <c:v>118.34427102</c:v>
                </c:pt>
                <c:pt idx="10">
                  <c:v>123.556907424</c:v>
                </c:pt>
                <c:pt idx="11">
                  <c:v>121.022316849</c:v>
                </c:pt>
                <c:pt idx="12">
                  <c:v>129.875927615</c:v>
                </c:pt>
                <c:pt idx="13">
                  <c:v>126.324938524</c:v>
                </c:pt>
                <c:pt idx="14">
                  <c:v>123.882644727</c:v>
                </c:pt>
                <c:pt idx="15">
                  <c:v>127.590729151</c:v>
                </c:pt>
                <c:pt idx="16">
                  <c:v>122.334446673</c:v>
                </c:pt>
                <c:pt idx="17">
                  <c:v>127.105541394</c:v>
                </c:pt>
                <c:pt idx="18">
                  <c:v>116.993390722</c:v>
                </c:pt>
                <c:pt idx="19">
                  <c:v>121.566622519</c:v>
                </c:pt>
                <c:pt idx="20">
                  <c:v>118.251047457</c:v>
                </c:pt>
                <c:pt idx="21">
                  <c:v>109.482330101</c:v>
                </c:pt>
                <c:pt idx="22">
                  <c:v>121.760549336</c:v>
                </c:pt>
                <c:pt idx="23">
                  <c:v>130.083407285</c:v>
                </c:pt>
                <c:pt idx="24">
                  <c:v>125.647721131</c:v>
                </c:pt>
                <c:pt idx="25">
                  <c:v>128.259158452</c:v>
                </c:pt>
                <c:pt idx="26">
                  <c:v>124.001044104</c:v>
                </c:pt>
                <c:pt idx="27">
                  <c:v>122.701747511</c:v>
                </c:pt>
                <c:pt idx="28">
                  <c:v>121.712225731</c:v>
                </c:pt>
                <c:pt idx="29">
                  <c:v>116.714254297</c:v>
                </c:pt>
                <c:pt idx="30">
                  <c:v>122.921384406</c:v>
                </c:pt>
                <c:pt idx="31">
                  <c:v>128.067117912</c:v>
                </c:pt>
                <c:pt idx="32">
                  <c:v>126.154388469</c:v>
                </c:pt>
                <c:pt idx="33">
                  <c:v>120.851025367</c:v>
                </c:pt>
                <c:pt idx="34">
                  <c:v>116.239719104</c:v>
                </c:pt>
                <c:pt idx="35">
                  <c:v>123.566622301</c:v>
                </c:pt>
                <c:pt idx="36">
                  <c:v>131.357451741</c:v>
                </c:pt>
                <c:pt idx="37">
                  <c:v>131.547278902</c:v>
                </c:pt>
                <c:pt idx="38">
                  <c:v>133.962859514</c:v>
                </c:pt>
                <c:pt idx="39">
                  <c:v>140.205338254</c:v>
                </c:pt>
                <c:pt idx="40">
                  <c:v>133.875829049</c:v>
                </c:pt>
                <c:pt idx="41">
                  <c:v>136.623241932</c:v>
                </c:pt>
                <c:pt idx="42">
                  <c:v>136.647687222</c:v>
                </c:pt>
                <c:pt idx="43">
                  <c:v>145.117860206</c:v>
                </c:pt>
                <c:pt idx="44">
                  <c:v>148.544583924</c:v>
                </c:pt>
                <c:pt idx="45">
                  <c:v>149.874889617</c:v>
                </c:pt>
                <c:pt idx="46">
                  <c:v>150.158583639</c:v>
                </c:pt>
                <c:pt idx="47">
                  <c:v>157.073438688</c:v>
                </c:pt>
                <c:pt idx="48">
                  <c:v>146.673428919</c:v>
                </c:pt>
                <c:pt idx="49">
                  <c:v>149.411486735</c:v>
                </c:pt>
                <c:pt idx="50">
                  <c:v>153.223272832</c:v>
                </c:pt>
                <c:pt idx="51">
                  <c:v>151.464106039</c:v>
                </c:pt>
                <c:pt idx="52">
                  <c:v>139.871368929</c:v>
                </c:pt>
                <c:pt idx="53">
                  <c:v>141.767361744</c:v>
                </c:pt>
                <c:pt idx="54">
                  <c:v>144.964548333</c:v>
                </c:pt>
                <c:pt idx="55">
                  <c:v>144.964548333</c:v>
                </c:pt>
                <c:pt idx="56">
                  <c:v>152.732469854</c:v>
                </c:pt>
                <c:pt idx="57">
                  <c:v>150.771525839</c:v>
                </c:pt>
                <c:pt idx="58">
                  <c:v>147.73400777</c:v>
                </c:pt>
                <c:pt idx="59">
                  <c:v>152.373139359</c:v>
                </c:pt>
                <c:pt idx="60">
                  <c:v>153.038821017</c:v>
                </c:pt>
                <c:pt idx="61">
                  <c:v>166.373225059</c:v>
                </c:pt>
                <c:pt idx="62">
                  <c:v>177.252763752</c:v>
                </c:pt>
                <c:pt idx="63">
                  <c:v>172.619280094</c:v>
                </c:pt>
                <c:pt idx="64">
                  <c:v>180.440028301</c:v>
                </c:pt>
                <c:pt idx="65">
                  <c:v>182.859403275</c:v>
                </c:pt>
                <c:pt idx="66">
                  <c:v>179.83543806</c:v>
                </c:pt>
                <c:pt idx="67">
                  <c:v>189.81686858</c:v>
                </c:pt>
                <c:pt idx="68">
                  <c:v>197.870032397</c:v>
                </c:pt>
                <c:pt idx="69">
                  <c:v>185.957434884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5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FE4D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26.7452054794521"/>
          <c:min val="2021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FE4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25292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하락 방어 사용</c:v>
          </c:tx>
          <c:spPr>
            <a:solidFill xmlns:a="http://schemas.openxmlformats.org/drawingml/2006/main">
              <a:srgbClr val="174D3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2018년 4분기</c:v>
                </c:pt>
                <c:pt idx="1">
                  <c:v>2020년 코로나</c:v>
                </c:pt>
                <c:pt idx="2">
                  <c:v>2022년 금리 인상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-0.3067</c:v>
                </c:pt>
                <c:pt idx="1">
                  <c:v>-0.312</c:v>
                </c:pt>
                <c:pt idx="2">
                  <c:v>-0.2764</c:v>
                </c:pt>
              </c:numCache>
            </c:numRef>
          </c:val>
        </c:ser>
        <c:ser>
          <c:idx val="1"/>
          <c:order val="1"/>
          <c:tx>
            <c:v>하락 방어 제외</c:v>
          </c:tx>
          <c:spPr>
            <a:solidFill xmlns:a="http://schemas.openxmlformats.org/drawingml/2006/main">
              <a:srgbClr val="C56822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2018년 4분기</c:v>
                </c:pt>
                <c:pt idx="1">
                  <c:v>2020년 코로나</c:v>
                </c:pt>
                <c:pt idx="2">
                  <c:v>2022년 금리 인상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-0.3799</c:v>
                </c:pt>
                <c:pt idx="1">
                  <c:v>-0.521</c:v>
                </c:pt>
                <c:pt idx="2">
                  <c:v>-0.5119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52925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t"/>
        <c:numFmt formatCode="General"/>
        <c:majorTickMark val="none"/>
        <c:minorTickMark val="none"/>
        <c:tickLblPos val="high"/>
        <c:spPr>
          <a:ln xmlns:a="http://schemas.openxmlformats.org/drawingml/2006/main" w="9525">
            <a:solidFill>
              <a:srgbClr val="DFE4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0"/>
          <c:min val="-0.6"/>
        </c:scaling>
        <c:delete val="0"/>
        <c:axPos val="l"/>
        <c:majorGridlines>
          <c:spPr>
            <a:ln xmlns:a="http://schemas.openxmlformats.org/drawingml/2006/main" w="5715">
              <a:solidFill>
                <a:srgbClr val="DFE4DF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5292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최종자산</c:v>
          </c:tx>
          <c:spPr>
            <a:solidFill xmlns:a="http://schemas.openxmlformats.org/drawingml/2006/main">
              <a:srgbClr val="174D3B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C5682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74D3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864B7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적금 연 4%</c:v>
                </c:pt>
                <c:pt idx="1">
                  <c:v>Deneb</c:v>
                </c:pt>
                <c:pt idx="2">
                  <c:v>Polaris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4767.18133377</c:v>
                </c:pt>
                <c:pt idx="1">
                  <c:v>72222.4515457</c:v>
                </c:pt>
                <c:pt idx="2">
                  <c:v>10153.4796372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52925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FE4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80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FE4D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200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5년 뒤 최종자산</c:v>
          </c:tx>
          <c:spPr>
            <a:solidFill xmlns:a="http://schemas.openxmlformats.org/drawingml/2006/main">
              <a:srgbClr val="2864B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A7424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56822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864B7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37B87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모의 최저</c:v>
                </c:pt>
                <c:pt idx="1">
                  <c:v>하위 10%</c:v>
                </c:pt>
                <c:pt idx="2">
                  <c:v>중간값</c:v>
                </c:pt>
                <c:pt idx="3">
                  <c:v>상위 10%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903.433012521</c:v>
                </c:pt>
                <c:pt idx="1">
                  <c:v>1373.40905236</c:v>
                </c:pt>
                <c:pt idx="2">
                  <c:v>1648.99044108</c:v>
                </c:pt>
                <c:pt idx="3">
                  <c:v>1913.76419951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52925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FE4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22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FE4D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10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100주 세전 배당</c:v>
          </c:tx>
          <c:spPr>
            <a:solidFill xmlns:a="http://schemas.openxmlformats.org/drawingml/2006/main">
              <a:srgbClr val="8050A8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3월</c:v>
                </c:pt>
                <c:pt idx="1">
                  <c:v>6월</c:v>
                </c:pt>
                <c:pt idx="2">
                  <c:v>9월</c:v>
                </c:pt>
                <c:pt idx="3">
                  <c:v>12월</c:v>
                </c:pt>
              </c:strCache>
            </c:strRef>
          </c:cat>
          <c:val>
            <c:numRef>
              <c:f>'Chart Data'!$B$2:$B$5</c:f>
              <c:numCache>
                <c:formatCode>"$"0.00</c:formatCode>
                <c:ptCount val="4"/>
                <c:pt idx="0">
                  <c:v>24.88</c:v>
                </c:pt>
                <c:pt idx="1">
                  <c:v>26.02</c:v>
                </c:pt>
                <c:pt idx="2">
                  <c:v>26.04</c:v>
                </c:pt>
                <c:pt idx="3">
                  <c:v>27.82</c:v>
                </c:pt>
              </c:numCache>
            </c:numRef>
          </c:val>
        </c:ser>
        <c:dLbls>
          <c:numFmt formatCode="&quot;$&quot;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52925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FE4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FE4DF"/>
              </a:solidFill>
            </a:ln>
          </c:spPr>
        </c:majorGridlines>
        <c:numFmt formatCode="&quot;$&quot;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2F45C488-B391-47C4-B5B7-20FF508D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27C59D82-5F3F-4126-B758-C581F75D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기초자산 비교 · 2016~2020년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445A2-80C3-4C77-B494-AFA02C39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25DAA2F9-872F-4AE9-AAAC-B6A66F28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10287000"/>
            <a:ext cx="438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2000"/>
              </a:lnSpc>
              <a:buNone/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5" name="2015년 말 = 100, 월말 기준 배당 ">
            <a:extLst xmlns:a="http://schemas.openxmlformats.org/drawingml/2006/main">
              <a:ext uri="{FF2B5EF4-FFF2-40B4-BE49-F238E27FC236}">
                <a16:creationId xmlns:a16="http://schemas.microsoft.com/office/drawing/2014/main" id="{54772B3A-A71E-4CDB-8B19-68751486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3716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95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rPr>
              <a:t>2015년 말 = 100, 월말 기준 배당 재투자 지수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93170E3-70F7-4583-B131-AE721D1EC3ED}"/>
              </a:ext>
            </a:extLst>
          </p:cNvPr>
          <p:cNvGraphicFramePr/>
          <p:nvPr/>
        </p:nvGraphicFramePr>
        <p:xfrm>
          <a:off xmlns:a="http://schemas.openxmlformats.org/drawingml/2006/main" x="523875" y="2857500"/>
          <a:ext xmlns:a="http://schemas.openxmlformats.org/drawingml/2006/main" cx="14192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85a7d1a2e247cf"/>
          </a:graphicData>
        </a:graphic>
      </p:graphicFrame>
      <p:sp>
        <p:nvSpPr>
          <p:cNvPr id="7" name="같은 출발점에서의 차이">
            <a:extLst xmlns:a="http://schemas.openxmlformats.org/drawingml/2006/main">
              <a:ext uri="{FF2B5EF4-FFF2-40B4-BE49-F238E27FC236}">
                <a16:creationId xmlns:a16="http://schemas.microsoft.com/office/drawing/2014/main" id="{032478A0-D5A8-4A17-AFF2-C02E220A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2475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같은 출발점에서의 차이</a:t>
            </a:r>
          </a:p>
        </p:txBody>
      </p:sp>
      <p:sp>
        <p:nvSpPr>
          <p:cNvPr id="8" name="세 자산을 모두 100에서 시작해 같은 기간">
            <a:extLst xmlns:a="http://schemas.openxmlformats.org/drawingml/2006/main">
              <a:ext uri="{FF2B5EF4-FFF2-40B4-BE49-F238E27FC236}">
                <a16:creationId xmlns:a16="http://schemas.microsoft.com/office/drawing/2014/main" id="{90D93581-9B36-402E-A89E-AF6B4A15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6572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세 자산을 모두 100에서 시작해 같은 기간의 변화를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비교한다. 나스닥 100은 성장주에 집중하고, S&amp;P 500은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미국 대형주 전반에 분산한다. SCHD는 배당주 중심이지만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주가 하락 위험은 남는다.</a:t>
            </a:r>
          </a:p>
        </p:txBody>
      </p:sp>
      <p:sp>
        <p:nvSpPr>
          <p:cNvPr id="9" name="월말 그래프의 범위">
            <a:extLst xmlns:a="http://schemas.openxmlformats.org/drawingml/2006/main">
              <a:ext uri="{FF2B5EF4-FFF2-40B4-BE49-F238E27FC236}">
                <a16:creationId xmlns:a16="http://schemas.microsoft.com/office/drawing/2014/main" id="{7A0915E1-E518-4D88-86F6-A49F5E73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52475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월말 그래프의 범위</a:t>
            </a:r>
          </a:p>
        </p:txBody>
      </p:sp>
      <p:sp>
        <p:nvSpPr>
          <p:cNvPr id="10" name="일별 선을 한 장에 겹치지 않고 월말 값만 ">
            <a:extLst xmlns:a="http://schemas.openxmlformats.org/drawingml/2006/main">
              <a:ext uri="{FF2B5EF4-FFF2-40B4-BE49-F238E27FC236}">
                <a16:creationId xmlns:a16="http://schemas.microsoft.com/office/drawing/2014/main" id="{8265D8B9-98F2-4C7F-85C3-DF3C2321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096250"/>
            <a:ext cx="65722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일별 선을 한 장에 겹치지 않고 월말 값만 연결했다. 이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그래프에서는 성장 경로를 읽고, 2018년과 코로나 당시의 더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깊은 하락은 별도의 낙폭 그래프에서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360276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F38F5B44-EAF7-4700-B5C0-DC9AB8F5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7281F657-E90A-4D18-BD4E-F229CE85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기초자산 비교 · 2021~2026년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21748-D717-4364-8864-FEAA75FE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2">
            <a:extLst xmlns:a="http://schemas.openxmlformats.org/drawingml/2006/main">
              <a:ext uri="{FF2B5EF4-FFF2-40B4-BE49-F238E27FC236}">
                <a16:creationId xmlns:a16="http://schemas.microsoft.com/office/drawing/2014/main" id="{40082E1A-31E9-4F02-9DF7-87307B27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10287000"/>
            <a:ext cx="438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2000"/>
              </a:lnSpc>
              <a:buNone/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5" name="2020년 말 = 100, 월말 기준 배당 ">
            <a:extLst xmlns:a="http://schemas.openxmlformats.org/drawingml/2006/main">
              <a:ext uri="{FF2B5EF4-FFF2-40B4-BE49-F238E27FC236}">
                <a16:creationId xmlns:a16="http://schemas.microsoft.com/office/drawing/2014/main" id="{42698449-F02E-4B79-8C23-1C74FE1C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3716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95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rPr>
              <a:t>2020년 말 = 100, 월말 기준 배당 재투자 지수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BE14AB2-CA41-4515-B01F-F557D7C7585B}"/>
              </a:ext>
            </a:extLst>
          </p:cNvPr>
          <p:cNvGraphicFramePr/>
          <p:nvPr/>
        </p:nvGraphicFramePr>
        <p:xfrm>
          <a:off xmlns:a="http://schemas.openxmlformats.org/drawingml/2006/main" x="523875" y="2857500"/>
          <a:ext xmlns:a="http://schemas.openxmlformats.org/drawingml/2006/main" cx="14192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ea490e238b4cf7"/>
          </a:graphicData>
        </a:graphic>
      </p:graphicFrame>
      <p:sp>
        <p:nvSpPr>
          <p:cNvPr id="7" name="금리 상승과 이후 회복">
            <a:extLst xmlns:a="http://schemas.openxmlformats.org/drawingml/2006/main">
              <a:ext uri="{FF2B5EF4-FFF2-40B4-BE49-F238E27FC236}">
                <a16:creationId xmlns:a16="http://schemas.microsoft.com/office/drawing/2014/main" id="{B28B490A-6FAC-46CA-BA8D-C020771D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2475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금리 상승과 이후 회복</a:t>
            </a:r>
          </a:p>
        </p:txBody>
      </p:sp>
      <p:sp>
        <p:nvSpPr>
          <p:cNvPr id="8" name="두 번째 기간은 다시 100에서 시작한다. ">
            <a:extLst xmlns:a="http://schemas.openxmlformats.org/drawingml/2006/main">
              <a:ext uri="{FF2B5EF4-FFF2-40B4-BE49-F238E27FC236}">
                <a16:creationId xmlns:a16="http://schemas.microsoft.com/office/drawing/2014/main" id="{7A540BAE-2B91-4BDF-AE63-C1A520C6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65722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두 번째 기간은 다시 100에서 시작한다. 2022년의 하락과 그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뒤 회복을 앞쪽 기간의 높은 누적값에 가리지 않고 볼 수 있다.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두 페이지는 같은 세로축 범위를 사용한다.</a:t>
            </a:r>
          </a:p>
        </p:txBody>
      </p:sp>
      <p:sp>
        <p:nvSpPr>
          <p:cNvPr id="9" name="수익과 분산의 구분">
            <a:extLst xmlns:a="http://schemas.openxmlformats.org/drawingml/2006/main">
              <a:ext uri="{FF2B5EF4-FFF2-40B4-BE49-F238E27FC236}">
                <a16:creationId xmlns:a16="http://schemas.microsoft.com/office/drawing/2014/main" id="{A9D54798-90FD-4F87-8992-6D08A5B3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52475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수익과 분산의 구분</a:t>
            </a:r>
          </a:p>
        </p:txBody>
      </p:sp>
      <p:sp>
        <p:nvSpPr>
          <p:cNvPr id="10" name="이 기간의 승자가 앞으로도 같다는 뜻은 아니">
            <a:extLst xmlns:a="http://schemas.openxmlformats.org/drawingml/2006/main">
              <a:ext uri="{FF2B5EF4-FFF2-40B4-BE49-F238E27FC236}">
                <a16:creationId xmlns:a16="http://schemas.microsoft.com/office/drawing/2014/main" id="{565AFB34-9D6E-4D33-9BDC-775152A2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096250"/>
            <a:ext cx="65722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이 기간의 승자가 앞으로도 같다는 뜻은 아니다. Deneb의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배당주 배분과 Polaris의 채권·금은 상승장 수익뿐 아니라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하락폭과 회복 과정을 함께 보고 평가해야 한다.</a:t>
            </a:r>
          </a:p>
        </p:txBody>
      </p:sp>
    </p:spTree>
    <p:extLst>
      <p:ext uri="{BB962C8B-B14F-4D97-AF65-F5344CB8AC3E}">
        <p14:creationId xmlns:p14="http://schemas.microsoft.com/office/powerpoint/2010/main" val="1522431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2694DD03-5ED3-4E05-8E2C-6C44FB44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2E2F73FE-3AC3-4DDF-9BF7-CEE647DA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Deneb의 하락 방어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A523E-DAA0-4936-BFB9-7E1CD17E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3">
            <a:extLst xmlns:a="http://schemas.openxmlformats.org/drawingml/2006/main">
              <a:ext uri="{FF2B5EF4-FFF2-40B4-BE49-F238E27FC236}">
                <a16:creationId xmlns:a16="http://schemas.microsoft.com/office/drawing/2014/main" id="{5DAE656B-2AD9-4959-B85A-8BE0FAA7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10287000"/>
            <a:ext cx="438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2000"/>
              </a:lnSpc>
              <a:buNone/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5" name="같은 TQQQ·SCHD 구성에서 하락 시 매">
            <a:extLst xmlns:a="http://schemas.openxmlformats.org/drawingml/2006/main">
              <a:ext uri="{FF2B5EF4-FFF2-40B4-BE49-F238E27FC236}">
                <a16:creationId xmlns:a16="http://schemas.microsoft.com/office/drawing/2014/main" id="{EF1E1351-3C22-45B8-81C4-6952F706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3716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95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같은 TQQQ·SCHD 구성에서 하락 시 매도·현금 대기 규칙만 다르게 비교</a:t>
            </a:r>
          </a:p>
        </p:txBody>
      </p:sp>
      <p:sp>
        <p:nvSpPr>
          <p:cNvPr id="6" name="구간 내 고점 대비 최대 하락률 (%)">
            <a:extLst xmlns:a="http://schemas.openxmlformats.org/drawingml/2006/main">
              <a:ext uri="{FF2B5EF4-FFF2-40B4-BE49-F238E27FC236}">
                <a16:creationId xmlns:a16="http://schemas.microsoft.com/office/drawing/2014/main" id="{B7809127-A2C6-438B-8D8E-B1E01F7A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3716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구간 내 고점 대비 최대 하락률 (%)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F1F2AD08-E903-457D-9004-F2D7F6158D60}"/>
              </a:ext>
            </a:extLst>
          </p:cNvPr>
          <p:cNvGraphicFramePr/>
          <p:nvPr/>
        </p:nvGraphicFramePr>
        <p:xfrm>
          <a:off xmlns:a="http://schemas.openxmlformats.org/drawingml/2006/main" x="523875" y="3495675"/>
          <a:ext xmlns:a="http://schemas.openxmlformats.org/drawingml/2006/main" cx="9620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be405cb4884c40"/>
          </a:graphicData>
        </a:graphic>
      </p:graphicFrame>
      <p:sp>
        <p:nvSpPr>
          <p:cNvPr id="8" name="두 비교군의 차이">
            <a:extLst xmlns:a="http://schemas.openxmlformats.org/drawingml/2006/main">
              <a:ext uri="{FF2B5EF4-FFF2-40B4-BE49-F238E27FC236}">
                <a16:creationId xmlns:a16="http://schemas.microsoft.com/office/drawing/2014/main" id="{19D1CB06-0DC8-4016-B7B8-28A6E64F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76625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두 비교군의 차이</a:t>
            </a:r>
          </a:p>
        </p:txBody>
      </p:sp>
      <p:sp>
        <p:nvSpPr>
          <p:cNvPr id="9" name="둘 다 시장 변동성이 커지면 TQQQ 비중을">
            <a:extLst xmlns:a="http://schemas.openxmlformats.org/drawingml/2006/main">
              <a:ext uri="{FF2B5EF4-FFF2-40B4-BE49-F238E27FC236}">
                <a16:creationId xmlns:a16="http://schemas.microsoft.com/office/drawing/2014/main" id="{EFFAC846-54E1-4E6D-8A40-D5392E05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67175"/>
            <a:ext cx="39052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둘 다 시장 변동성이 커지면 TQQQ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비중을 줄인다. 녹색에만 하락 시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매도와 현금 대기, 추세 회복 후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재매수를 추가했다.</a:t>
            </a:r>
          </a:p>
        </p:txBody>
      </p:sp>
      <p:sp>
        <p:nvSpPr>
          <p:cNvPr id="10" name="하락 방어 사용">
            <a:extLst xmlns:a="http://schemas.openxmlformats.org/drawingml/2006/main">
              <a:ext uri="{FF2B5EF4-FFF2-40B4-BE49-F238E27FC236}">
                <a16:creationId xmlns:a16="http://schemas.microsoft.com/office/drawing/2014/main" id="{5CDBB76B-1083-4DFE-AC23-B4D29EC3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하락 방어 사용</a:t>
            </a:r>
          </a:p>
        </p:txBody>
      </p:sp>
      <p:sp>
        <p:nvSpPr>
          <p:cNvPr id="11" name="TQQQ 고점에서 15% 하락하면 절반, 3">
            <a:extLst xmlns:a="http://schemas.openxmlformats.org/drawingml/2006/main">
              <a:ext uri="{FF2B5EF4-FFF2-40B4-BE49-F238E27FC236}">
                <a16:creationId xmlns:a16="http://schemas.microsoft.com/office/drawing/2014/main" id="{D3456BDA-FD23-4352-BBF6-DBE8187D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477250"/>
            <a:ext cx="6572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TQQQ 고점에서 15% 하락하면 절반, 30% 하락하면 나머지를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판다. 매도한 돈은 현금으로 두고, 추세가 꺼졌다 다시 켜질 때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재매수한다.</a:t>
            </a:r>
          </a:p>
        </p:txBody>
      </p:sp>
      <p:sp>
        <p:nvSpPr>
          <p:cNvPr id="12" name="하락 방어 제외">
            <a:extLst xmlns:a="http://schemas.openxmlformats.org/drawingml/2006/main">
              <a:ext uri="{FF2B5EF4-FFF2-40B4-BE49-F238E27FC236}">
                <a16:creationId xmlns:a16="http://schemas.microsoft.com/office/drawing/2014/main" id="{0A894C9A-1EB2-4FA3-BA8D-35084EA9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90575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C56822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250" b="1">
                <a:solidFill>
                  <a:srgbClr val="C56822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C56822"/>
                </a:solidFill>
                <a:latin typeface="Noto Sans KR"/>
                <a:ea typeface="Noto Sans KR"/>
                <a:cs typeface="Noto Sans KR"/>
              </a:rPr>
              <a:t>하락 방어 제외</a:t>
            </a:r>
          </a:p>
        </p:txBody>
      </p:sp>
      <p:sp>
        <p:nvSpPr>
          <p:cNvPr id="13" name="위의 단계 매도와 현금 대기를 생략한다. 매">
            <a:extLst xmlns:a="http://schemas.openxmlformats.org/drawingml/2006/main">
              <a:ext uri="{FF2B5EF4-FFF2-40B4-BE49-F238E27FC236}">
                <a16:creationId xmlns:a16="http://schemas.microsoft.com/office/drawing/2014/main" id="{791D59C4-ADB3-4F6B-96C2-D42A4DD8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477250"/>
            <a:ext cx="6572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위의 단계 매도와 현금 대기를 생략한다. 매달 TQQQ·SCHD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비중을 맞추는 규칙은 유지한다. 지수 하나만 계속 사는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적립식과는 다른 비교군이다.</a:t>
            </a:r>
          </a:p>
        </p:txBody>
      </p:sp>
    </p:spTree>
    <p:extLst>
      <p:ext uri="{BB962C8B-B14F-4D97-AF65-F5344CB8AC3E}">
        <p14:creationId xmlns:p14="http://schemas.microsoft.com/office/powerpoint/2010/main" val="2433184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A07CBFF7-9438-48EB-98D7-DBF8B16C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2B9E86DF-9DDF-4674-A24A-F6844E6E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적금·Deneb·Polaris의 적립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4230E-01ED-46BC-B556-AB74BF83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4">
            <a:extLst xmlns:a="http://schemas.openxmlformats.org/drawingml/2006/main">
              <a:ext uri="{FF2B5EF4-FFF2-40B4-BE49-F238E27FC236}">
                <a16:creationId xmlns:a16="http://schemas.microsoft.com/office/drawing/2014/main" id="{404B2F70-6F97-4CC9-A455-0E664DD6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10287000"/>
            <a:ext cx="438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2000"/>
              </a:lnSpc>
              <a:buNone/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" name="2012년 1월~2026년 8월, 매달 20">
            <a:extLst xmlns:a="http://schemas.openxmlformats.org/drawingml/2006/main">
              <a:ext uri="{FF2B5EF4-FFF2-40B4-BE49-F238E27FC236}">
                <a16:creationId xmlns:a16="http://schemas.microsoft.com/office/drawing/2014/main" id="{A9B91CF4-7A2C-4F88-B47A-8AC3DC26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2012년 1월~2026년 8월, 매달 20만원 × 176개월, 납입 원금 3,520만원</a:t>
            </a:r>
          </a:p>
        </p:txBody>
      </p:sp>
      <p:sp>
        <p:nvSpPr>
          <p:cNvPr id="6" name="최종자산  (만원)">
            <a:extLst xmlns:a="http://schemas.openxmlformats.org/drawingml/2006/main">
              <a:ext uri="{FF2B5EF4-FFF2-40B4-BE49-F238E27FC236}">
                <a16:creationId xmlns:a16="http://schemas.microsoft.com/office/drawing/2014/main" id="{B404E076-5DB3-4DD9-A19A-D61CFA1F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최종자산  (만원)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E349F03E-6464-47D4-89D0-A2FC38E4C75B}"/>
              </a:ext>
            </a:extLst>
          </p:cNvPr>
          <p:cNvGraphicFramePr/>
          <p:nvPr/>
        </p:nvGraphicFramePr>
        <p:xfrm>
          <a:off xmlns:a="http://schemas.openxmlformats.org/drawingml/2006/main" x="523875" y="3571875"/>
          <a:ext xmlns:a="http://schemas.openxmlformats.org/drawingml/2006/main" cx="6810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bdf71214624bfa"/>
          </a:graphicData>
        </a:graphic>
      </p:graphicFrame>
      <p:sp>
        <p:nvSpPr>
          <p:cNvPr id="8" name="최종자산과 적금 대비 차이  (만원)">
            <a:extLst xmlns:a="http://schemas.openxmlformats.org/drawingml/2006/main">
              <a:ext uri="{FF2B5EF4-FFF2-40B4-BE49-F238E27FC236}">
                <a16:creationId xmlns:a16="http://schemas.microsoft.com/office/drawing/2014/main" id="{35493E79-1924-4C0A-96CD-F4C40EDC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666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최종자산과 적금 대비 차이  (만원)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689C1-7F3D-461D-97A1-916389F7F2BC}"/>
              </a:ext>
            </a:extLst>
          </p:cNvPr>
          <p:cNvGraphicFramePr/>
          <p:nvPr/>
        </p:nvGraphicFramePr>
        <p:xfrm>
          <a:off xmlns:a="http://schemas.openxmlformats.org/drawingml/2006/main" x="7810500" y="3571875"/>
          <a:ext xmlns:a="http://schemas.openxmlformats.org/drawingml/2006/main" cx="6667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571625"/>
                <a:gridCol w="1571625"/>
                <a:gridCol w="1809750"/>
              </a:tblGrid>
              <a:tr h="666750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 대상</a:t>
                      </a:r>
                    </a:p>
                  </a:txBody>
                  <a:tcPr marL="114300" marR="114300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최종자산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이익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4% 적금 대비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적금 연 3%</a:t>
                      </a:r>
                    </a:p>
                  </a:txBody>
                  <a:tcPr marL="114300" marR="114300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4,413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893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-355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적금 연 4%</a:t>
                      </a:r>
                    </a:p>
                  </a:txBody>
                  <a:tcPr marL="114300" marR="114300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4,767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1,247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+0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적금 연 5%</a:t>
                      </a:r>
                    </a:p>
                  </a:txBody>
                  <a:tcPr marL="114300" marR="114300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5,155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1,635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+388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</a:t>
                      </a:r>
                    </a:p>
                  </a:txBody>
                  <a:tcPr marL="114300" marR="114300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72,222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68,702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+67,455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</a:t>
                      </a:r>
                    </a:p>
                  </a:txBody>
                  <a:tcPr marL="114300" marR="114300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10,153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6,633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+5,386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C6E9D-B155-43EC-A442-BB5098D9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11" name="같은 납입 조건의 비교">
            <a:extLst xmlns:a="http://schemas.openxmlformats.org/drawingml/2006/main">
              <a:ext uri="{FF2B5EF4-FFF2-40B4-BE49-F238E27FC236}">
                <a16:creationId xmlns:a16="http://schemas.microsoft.com/office/drawing/2014/main" id="{2901F14D-97DD-46C1-823E-A454A4FF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같은 납입 조건의 비교</a:t>
            </a:r>
          </a:p>
        </p:txBody>
      </p:sp>
      <p:sp>
        <p:nvSpPr>
          <p:cNvPr id="12" name="Deneb는 하락 방어를 포함하고, Pola">
            <a:extLst xmlns:a="http://schemas.openxmlformats.org/drawingml/2006/main">
              <a:ext uri="{FF2B5EF4-FFF2-40B4-BE49-F238E27FC236}">
                <a16:creationId xmlns:a16="http://schemas.microsoft.com/office/drawing/2014/main" id="{102CEF57-E43D-4588-8FCE-BFE05E3E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82000"/>
            <a:ext cx="6572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Deneb는 하락 방어를 포함하고, Polaris는 매달 납입하며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12월에 비중을 맞춘다. 두 전략의 매매 비용은 편도 0.15%로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통일했다. 모든 금액은 세전·환율 고정·소수 주 가정이다.</a:t>
            </a:r>
          </a:p>
        </p:txBody>
      </p:sp>
      <p:sp>
        <p:nvSpPr>
          <p:cNvPr id="13" name="결과를 읽는 범위">
            <a:extLst xmlns:a="http://schemas.openxmlformats.org/drawingml/2006/main">
              <a:ext uri="{FF2B5EF4-FFF2-40B4-BE49-F238E27FC236}">
                <a16:creationId xmlns:a16="http://schemas.microsoft.com/office/drawing/2014/main" id="{B9A880D4-0853-41DE-90EA-49EF7C44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81050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결과를 읽는 범위</a:t>
            </a:r>
          </a:p>
        </p:txBody>
      </p:sp>
      <p:sp>
        <p:nvSpPr>
          <p:cNvPr id="14" name="과거 가격을 기존 연구 모형에 넣은 설명용 ">
            <a:extLst xmlns:a="http://schemas.openxmlformats.org/drawingml/2006/main">
              <a:ext uri="{FF2B5EF4-FFF2-40B4-BE49-F238E27FC236}">
                <a16:creationId xmlns:a16="http://schemas.microsoft.com/office/drawing/2014/main" id="{C2A6D4BF-A72C-4DEA-9C80-DFC08745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382000"/>
            <a:ext cx="65722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과거 가격을 기존 연구 모형에 넣은 설명용 계산이다. 실제 계좌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성과나 미래 수익 약속이 아니다. 적금은 12개월 만기 뒤 같은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금리의 예금에 재예치하는 가정이며 미래 금리는 달라질 수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있다.</a:t>
            </a:r>
          </a:p>
        </p:txBody>
      </p:sp>
    </p:spTree>
    <p:extLst>
      <p:ext uri="{BB962C8B-B14F-4D97-AF65-F5344CB8AC3E}">
        <p14:creationId xmlns:p14="http://schemas.microsoft.com/office/powerpoint/2010/main" val="20282467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1F2D43FC-D147-4349-8486-194DB8CC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C20C4CDC-324C-4E1E-8733-A5416658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적립 기간별 결과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54009-2062-4FC2-A0BE-A053E2F3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5">
            <a:extLst xmlns:a="http://schemas.openxmlformats.org/drawingml/2006/main">
              <a:ext uri="{FF2B5EF4-FFF2-40B4-BE49-F238E27FC236}">
                <a16:creationId xmlns:a16="http://schemas.microsoft.com/office/drawing/2014/main" id="{682BCAC6-0B61-4825-A1F1-ADBB8D53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10287000"/>
            <a:ext cx="438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2000"/>
              </a:lnSpc>
              <a:buNone/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5" name="Polaris, 매달 20만원 지속 납입 ·">
            <a:extLst xmlns:a="http://schemas.openxmlformats.org/drawingml/2006/main">
              <a:ext uri="{FF2B5EF4-FFF2-40B4-BE49-F238E27FC236}">
                <a16:creationId xmlns:a16="http://schemas.microsoft.com/office/drawing/2014/main" id="{187CDBF4-430B-4256-A8DC-5E7230D5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3716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Polaris, 매달 20만원 지속 납입 · 최종자산 단위: 만원</a:t>
            </a:r>
          </a:p>
        </p:txBody>
      </p:sp>
      <p:sp>
        <p:nvSpPr>
          <p:cNvPr id="6" name="과거 수익률을 재배열한 10,000개 모의 ">
            <a:extLst xmlns:a="http://schemas.openxmlformats.org/drawingml/2006/main">
              <a:ext uri="{FF2B5EF4-FFF2-40B4-BE49-F238E27FC236}">
                <a16:creationId xmlns:a16="http://schemas.microsoft.com/office/drawing/2014/main" id="{5579CB27-7A50-4AAA-BAD9-80C7A1E0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57475"/>
            <a:ext cx="1371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과거 수익률을 재배열한 10,000개 모의 경로의 예시다. 세전·환율 고정이며 미래 예측치가 아니다.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AF6E5-350B-4613-972C-4F840AD1D51C}"/>
              </a:ext>
            </a:extLst>
          </p:cNvPr>
          <p:cNvGraphicFramePr/>
          <p:nvPr/>
        </p:nvGraphicFramePr>
        <p:xfrm>
          <a:off xmlns:a="http://schemas.openxmlformats.org/drawingml/2006/main" x="762000" y="3381375"/>
          <a:ext xmlns:a="http://schemas.openxmlformats.org/drawingml/2006/main" cx="137160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1952625"/>
                <a:gridCol w="2524125"/>
                <a:gridCol w="2524125"/>
                <a:gridCol w="2524125"/>
                <a:gridCol w="2524125"/>
              </a:tblGrid>
              <a:tr h="83820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 기간</a:t>
                      </a:r>
                    </a:p>
                  </a:txBody>
                  <a:tcPr marL="114300" marR="114300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 원금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모의 최저</a:t>
                      </a:r>
                    </a:p>
                    <a:p>
                      <a:pPr algn="r"/>
                      <a:r>
                        <a:rPr sz="187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(최악)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하위 10%</a:t>
                      </a:r>
                    </a:p>
                    <a:p>
                      <a:pPr algn="r"/>
                      <a:r>
                        <a:rPr sz="187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지점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중간값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상위 10%</a:t>
                      </a:r>
                    </a:p>
                    <a:p>
                      <a:pPr algn="r"/>
                      <a:r>
                        <a:rPr sz="187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지점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5년</a:t>
                      </a:r>
                    </a:p>
                  </a:txBody>
                  <a:tcPr marL="114300" marR="114300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1,200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903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1,373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1,649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1,914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10년</a:t>
                      </a:r>
                    </a:p>
                  </a:txBody>
                  <a:tcPr marL="114300" marR="114300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2,400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1,780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3,491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4,559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5,787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15년</a:t>
                      </a:r>
                    </a:p>
                  </a:txBody>
                  <a:tcPr marL="114300" marR="114300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3,600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3,187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6,900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9,711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13,324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20년</a:t>
                      </a:r>
                    </a:p>
                  </a:txBody>
                  <a:tcPr marL="114300" marR="114300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4,800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4,682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12,496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18,832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27,655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8F0C9-C7C2-4DF5-87FC-3915F9A6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9" name="월 20만원을 5년 넣은 뒤의 최종자산  (">
            <a:extLst xmlns:a="http://schemas.openxmlformats.org/drawingml/2006/main">
              <a:ext uri="{FF2B5EF4-FFF2-40B4-BE49-F238E27FC236}">
                <a16:creationId xmlns:a16="http://schemas.microsoft.com/office/drawing/2014/main" id="{E207583A-12EE-463E-9345-31BBF514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월 20만원을 5년 넣은 뒤의 최종자산  (만원)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AC442443-3DAE-4321-927D-5DC372F76C21}"/>
              </a:ext>
            </a:extLst>
          </p:cNvPr>
          <p:cNvGraphicFramePr/>
          <p:nvPr/>
        </p:nvGraphicFramePr>
        <p:xfrm>
          <a:off xmlns:a="http://schemas.openxmlformats.org/drawingml/2006/main" x="523875" y="7753350"/>
          <a:ext xmlns:a="http://schemas.openxmlformats.org/drawingml/2006/main" cx="7620000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1704eba0c54a0a"/>
          </a:graphicData>
        </a:graphic>
      </p:graphicFrame>
      <p:sp>
        <p:nvSpPr>
          <p:cNvPr id="11" name="최악의 정의와 원금 손실">
            <a:extLst xmlns:a="http://schemas.openxmlformats.org/drawingml/2006/main">
              <a:ext uri="{FF2B5EF4-FFF2-40B4-BE49-F238E27FC236}">
                <a16:creationId xmlns:a16="http://schemas.microsoft.com/office/drawing/2014/main" id="{0F031C8E-6ABB-42FD-AF42-8D4B6CD2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162800"/>
            <a:ext cx="5810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최악의 정의와 원금 손실</a:t>
            </a:r>
          </a:p>
        </p:txBody>
      </p:sp>
      <p:sp>
        <p:nvSpPr>
          <p:cNvPr id="12" name="모의 최저는 이번 10,000개 경로 중 가">
            <a:extLst xmlns:a="http://schemas.openxmlformats.org/drawingml/2006/main">
              <a:ext uri="{FF2B5EF4-FFF2-40B4-BE49-F238E27FC236}">
                <a16:creationId xmlns:a16="http://schemas.microsoft.com/office/drawing/2014/main" id="{63AA3ACC-C56C-4BEF-A1D6-7EF56C13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743825"/>
            <a:ext cx="5810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모의 최저는 이번 10,000개 경로 중 가장 낮은 값이다.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미래에 더 나쁜 결과가 나올 수 있다. 5년 납입 원금은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1,200만원으로, 최저 경로는 원금을 밑돈다.</a:t>
            </a:r>
          </a:p>
        </p:txBody>
      </p:sp>
      <p:sp>
        <p:nvSpPr>
          <p:cNvPr id="13" name="수익률 블록을 이은 뒤 전략 상태를 재계산하">
            <a:extLst xmlns:a="http://schemas.openxmlformats.org/drawingml/2006/main">
              <a:ext uri="{FF2B5EF4-FFF2-40B4-BE49-F238E27FC236}">
                <a16:creationId xmlns:a16="http://schemas.microsoft.com/office/drawing/2014/main" id="{6AEFEB80-241C-424F-875B-2FB4C396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305925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8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수익률 블록을 이은 뒤 전략 상태를 재계산하지 않은 단순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8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모형이므로 장기 전망으로 바로 사용할 수 없다.</a:t>
            </a:r>
          </a:p>
        </p:txBody>
      </p:sp>
    </p:spTree>
    <p:extLst>
      <p:ext uri="{BB962C8B-B14F-4D97-AF65-F5344CB8AC3E}">
        <p14:creationId xmlns:p14="http://schemas.microsoft.com/office/powerpoint/2010/main" val="13911273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1F1465AF-2947-40DB-B56A-572399AA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8E471486-C8BD-4397-8E2B-5BC3403C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36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SCHD의 배당 수입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4A9FE-FD72-44F7-AED5-55A64E03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4" name="6">
            <a:extLst xmlns:a="http://schemas.openxmlformats.org/drawingml/2006/main">
              <a:ext uri="{FF2B5EF4-FFF2-40B4-BE49-F238E27FC236}">
                <a16:creationId xmlns:a16="http://schemas.microsoft.com/office/drawing/2014/main" id="{BB3C7ED9-FDC6-4429-A3AB-B324A911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10287000"/>
            <a:ext cx="438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2000"/>
              </a:lnSpc>
              <a:buNone/>
              <a:def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57064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5" name="2025년 공식 지급 내역, SCHD 100">
            <a:extLst xmlns:a="http://schemas.openxmlformats.org/drawingml/2006/main">
              <a:ext uri="{FF2B5EF4-FFF2-40B4-BE49-F238E27FC236}">
                <a16:creationId xmlns:a16="http://schemas.microsoft.com/office/drawing/2014/main" id="{CE55D681-0A46-49C6-A137-B8609F7F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2025년 공식 지급 내역, SCHD 100주를 계속 보유한 세전 달러 예시</a:t>
            </a:r>
          </a:p>
        </p:txBody>
      </p:sp>
      <p:sp>
        <p:nvSpPr>
          <p:cNvPr id="6" name="지급일별 배당  (미국 달러)">
            <a:extLst xmlns:a="http://schemas.openxmlformats.org/drawingml/2006/main">
              <a:ext uri="{FF2B5EF4-FFF2-40B4-BE49-F238E27FC236}">
                <a16:creationId xmlns:a16="http://schemas.microsoft.com/office/drawing/2014/main" id="{531C658B-6E4A-4DAD-8B40-A0136FE9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지급일별 배당  (미국 달러)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E214C-FFD5-415D-AF3E-694069260311}"/>
              </a:ext>
            </a:extLst>
          </p:cNvPr>
          <p:cNvGraphicFramePr/>
          <p:nvPr/>
        </p:nvGraphicFramePr>
        <p:xfrm>
          <a:off xmlns:a="http://schemas.openxmlformats.org/drawingml/2006/main" x="762000" y="3571875"/>
          <a:ext xmlns:a="http://schemas.openxmlformats.org/drawingml/2006/main" cx="752475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905000"/>
                <a:gridCol w="1619250"/>
                <a:gridCol w="1905000"/>
              </a:tblGrid>
              <a:tr h="66675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지급일</a:t>
                      </a:r>
                    </a:p>
                  </a:txBody>
                  <a:tcPr marL="114300" marR="114300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주당 배당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보유 주수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65706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세전 배당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2025-03-31</a:t>
                      </a:r>
                    </a:p>
                  </a:txBody>
                  <a:tcPr marL="114300" marR="114300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$0.2488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100주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$24.88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2025-06-30</a:t>
                      </a:r>
                    </a:p>
                  </a:txBody>
                  <a:tcPr marL="114300" marR="114300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$0.2602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100주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$26.02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2025-09-29</a:t>
                      </a:r>
                    </a:p>
                  </a:txBody>
                  <a:tcPr marL="114300" marR="114300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$0.2604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100주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$26.04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2025-12-15</a:t>
                      </a:r>
                    </a:p>
                  </a:txBody>
                  <a:tcPr marL="114300" marR="114300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$0.2782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100주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$27.82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/>
                      <a:r>
                        <a:rPr sz="1875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연간 합계</a:t>
                      </a:r>
                    </a:p>
                  </a:txBody>
                  <a:tcPr marL="114300" marR="114300" marT="76200" marB="762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$1.0476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100주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$104.76</a:t>
                      </a:r>
                    </a:p>
                  </a:txBody>
                  <a:tcPr marL="114300" marR="114300" marT="76200" marB="762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5C4CA-CDC5-4222-AC82-1788BE44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4D3B"/>
            </a:solidFill>
            <a:prstDash val="solid"/>
          </a:ln>
        </p:spPr>
      </p:sp>
      <p:sp>
        <p:nvSpPr>
          <p:cNvPr id="9" name="분기별 수령액  (미국 달러)">
            <a:extLst xmlns:a="http://schemas.openxmlformats.org/drawingml/2006/main">
              <a:ext uri="{FF2B5EF4-FFF2-40B4-BE49-F238E27FC236}">
                <a16:creationId xmlns:a16="http://schemas.microsoft.com/office/drawing/2014/main" id="{C426B65D-BD55-4021-ADC1-B56CCA64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5619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분기별 수령액  (미국 달러)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B5C2112B-4E9F-4A18-878D-94231298D7E6}"/>
              </a:ext>
            </a:extLst>
          </p:cNvPr>
          <p:cNvGraphicFramePr/>
          <p:nvPr/>
        </p:nvGraphicFramePr>
        <p:xfrm>
          <a:off xmlns:a="http://schemas.openxmlformats.org/drawingml/2006/main" x="8572500" y="3667125"/>
          <a:ext xmlns:a="http://schemas.openxmlformats.org/drawingml/2006/main" cx="6143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591616bbfe4ad8"/>
          </a:graphicData>
        </a:graphic>
      </p:graphicFrame>
      <p:sp>
        <p:nvSpPr>
          <p:cNvPr id="11" name="Deneb에서 분리해 볼 항목">
            <a:extLst xmlns:a="http://schemas.openxmlformats.org/drawingml/2006/main">
              <a:ext uri="{FF2B5EF4-FFF2-40B4-BE49-F238E27FC236}">
                <a16:creationId xmlns:a16="http://schemas.microsoft.com/office/drawing/2014/main" id="{77BB13FB-CE62-49BB-B682-053350EE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Deneb에서 분리해 볼 항목</a:t>
            </a:r>
          </a:p>
        </p:txBody>
      </p:sp>
      <p:sp>
        <p:nvSpPr>
          <p:cNvPr id="12" name="배당락일의 SCHD 보유 주수에 주당 배당을">
            <a:extLst xmlns:a="http://schemas.openxmlformats.org/drawingml/2006/main">
              <a:ext uri="{FF2B5EF4-FFF2-40B4-BE49-F238E27FC236}">
                <a16:creationId xmlns:a16="http://schemas.microsoft.com/office/drawing/2014/main" id="{A7FFDD46-FFE8-4474-B9C9-5FE8BF02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429625"/>
            <a:ext cx="65722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배당락일의 SCHD 보유 주수에 주당 배당을 곱해 연간 배당을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집계한다. 매수·매도로 주수가 바뀌므로 위의 100주 예시는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Deneb의 실제 수령액과 다르다. 원천징수 전후 금액과 재투자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내역도 구분한다.</a:t>
            </a:r>
          </a:p>
        </p:txBody>
      </p:sp>
      <p:sp>
        <p:nvSpPr>
          <p:cNvPr id="13" name="배당과 총수익의 관계">
            <a:extLst xmlns:a="http://schemas.openxmlformats.org/drawingml/2006/main">
              <a:ext uri="{FF2B5EF4-FFF2-40B4-BE49-F238E27FC236}">
                <a16:creationId xmlns:a16="http://schemas.microsoft.com/office/drawing/2014/main" id="{9A39D3AD-C729-42FD-926D-D3468FC6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858125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4D3B"/>
                </a:solidFill>
                <a:latin typeface="Noto Sans KR"/>
                <a:ea typeface="Noto Sans KR"/>
                <a:cs typeface="Noto Sans KR"/>
              </a:rPr>
              <a:t>배당과 총수익의 관계</a:t>
            </a:r>
          </a:p>
        </p:txBody>
      </p:sp>
      <p:sp>
        <p:nvSpPr>
          <p:cNvPr id="14" name="총수익 그래프에는 이미 배당 재투자가 포함되">
            <a:extLst xmlns:a="http://schemas.openxmlformats.org/drawingml/2006/main">
              <a:ext uri="{FF2B5EF4-FFF2-40B4-BE49-F238E27FC236}">
                <a16:creationId xmlns:a16="http://schemas.microsoft.com/office/drawing/2014/main" id="{F5DD392D-9B05-4F34-A922-D0F2F88C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429625"/>
            <a:ext cx="65722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총수익 그래프에는 이미 배당 재투자가 포함되어 있다. 배당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수입을 별도 표로 보여주되 총수익에 다시 더하지 않는다.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현금으로 받은 경우와 재투자한 경우의 차이는 같은 원금으로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별도 비교한다.</a:t>
            </a:r>
          </a:p>
        </p:txBody>
      </p:sp>
    </p:spTree>
    <p:extLst>
      <p:ext uri="{BB962C8B-B14F-4D97-AF65-F5344CB8AC3E}">
        <p14:creationId xmlns:p14="http://schemas.microsoft.com/office/powerpoint/2010/main" val="13328232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2026-10-17T12:32:41.5550000Z</dcterms:created>
  <dcterms:modified xsi:type="dcterms:W3CDTF">2026-10-17T12:32:41.5550000Z</dcterms:modified>
</coreProperties>
</file>