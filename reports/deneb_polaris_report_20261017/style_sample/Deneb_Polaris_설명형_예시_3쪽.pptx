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8ddb236294a57" /><Relationship Type="http://schemas.openxmlformats.org/officeDocument/2006/relationships/extended-properties" Target="/docProps/app.xml" Id="Rcdfdf1aec07942a1" /><Relationship Type="http://schemas.openxmlformats.org/officeDocument/2006/relationships/officeDocument" Target="/ppt/presentation.xml" Id="R26eac1481719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b0cca8dcc54242"/>
  </p:sldMasterIdLst>
  <p:notesMasterIdLst>
    <p:notesMasterId xmlns:r="http://schemas.openxmlformats.org/officeDocument/2006/relationships" r:id="Rd8ea032769ae4b7e"/>
  </p:notesMasterIdLst>
  <p:sldIdLst>
    <p:sldId xmlns:r="http://schemas.openxmlformats.org/officeDocument/2006/relationships" id="256" r:id="R9d00556b02dd46d2"/>
    <p:sldId xmlns:r="http://schemas.openxmlformats.org/officeDocument/2006/relationships" id="257" r:id="Raf8146cfed55469d"/>
    <p:sldId xmlns:r="http://schemas.openxmlformats.org/officeDocument/2006/relationships" id="258" r:id="Re302968664fc4fd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47db9c547466b" /><Relationship Type="http://schemas.openxmlformats.org/officeDocument/2006/relationships/slideMaster" Target="/ppt/slideMasters/slideMaster1.xml" Id="R31b0cca8dcc54242" /><Relationship Type="http://schemas.openxmlformats.org/officeDocument/2006/relationships/notesMaster" Target="/ppt/notesMasters/notesMaster1.xml" Id="Rd8ea032769ae4b7e" /><Relationship Type="http://schemas.openxmlformats.org/officeDocument/2006/relationships/presProps" Target="/ppt/presProps.xml" Id="R2d8a2f48e8574b61" /><Relationship Type="http://schemas.openxmlformats.org/officeDocument/2006/relationships/tableStyles" Target="/ppt/tableStyles.xml" Id="Rde3412ec620445e2" /><Relationship Type="http://schemas.openxmlformats.org/officeDocument/2006/relationships/slide" Target="/ppt/slides/slide1.xml" Id="R9d00556b02dd46d2" /><Relationship Type="http://schemas.openxmlformats.org/officeDocument/2006/relationships/slide" Target="/ppt/slides/slide2.xml" Id="Raf8146cfed55469d" /><Relationship Type="http://schemas.openxmlformats.org/officeDocument/2006/relationships/slide" Target="/ppt/slides/slide3.xml" Id="Re302968664fc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8eb3d1f174b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37cd7fe365498d" /><Relationship Type="http://schemas.openxmlformats.org/officeDocument/2006/relationships/notesMaster" Target="/ppt/notesMasters/notesMaster1.xml" Id="R528752a268b749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833c062cb416a" /><Relationship Type="http://schemas.openxmlformats.org/officeDocument/2006/relationships/notesMaster" Target="/ppt/notesMasters/notesMaster1.xml" Id="R36f720e9775d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450ad556a64845" /><Relationship Type="http://schemas.openxmlformats.org/officeDocument/2006/relationships/notesMaster" Target="/ppt/notesMasters/notesMaster1.xml" Id="R63f703126c6e40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연구 기록의 설명. 실제 계좌 성과·새 OOS·새 판정 아님.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디자인 참고: https://www.ubs.com/content/dam/assets/wm/static/noindex/gwr-2025-digital-updated.pdf</a:t>
            </a:r>
          </a:p>
          <a:p xmlns:a="http://schemas.openxmlformats.org/drawingml/2006/main">
            <a:r>
              <a:t>도표 구조 참고: https://cdn.jpmorganfunds.com/content/dam/jpm-am-aem/global/en/insights/market-insights/guide-to-the-markets/mi-guide-to-the-markets-us.pdf</a:t>
            </a:r>
          </a:p>
          <a:p xmlns:a="http://schemas.openxmlformats.org/drawingml/2006/main">
            <a:r>
              <a:t>상품 일일 목표와 장기 보유 위험: https://www.proshares.com/our-etfs/leveraged-and-inverse/tqqq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연구 기록의 설명. 실제 계좌 성과·새 OOS·새 판정 아님.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디자인 참고: https://www.ubs.com/content/dam/assets/wm/static/noindex/gwr-2025-digital-updated.pdf</a:t>
            </a:r>
          </a:p>
          <a:p xmlns:a="http://schemas.openxmlformats.org/drawingml/2006/main">
            <a:r>
              <a:t>도표 구조 참고: https://cdn.jpmorganfunds.com/content/dam/jpm-am-aem/global/en/insights/market-insights/guide-to-the-markets/mi-guide-to-the-markets-us.pdf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연구 기록의 설명. 실제 계좌 성과·새 OOS·새 판정 아님.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디자인 참고: https://www.ubs.com/content/dam/assets/wm/static/noindex/gwr-2025-digital-updated.pdf</a:t>
            </a:r>
          </a:p>
          <a:p xmlns:a="http://schemas.openxmlformats.org/drawingml/2006/main">
            <a:r>
              <a:t>도표 구조 참고: https://cdn.jpmorganfunds.com/content/dam/jpm-am-aem/global/en/insights/market-insights/guide-to-the-markets/mi-guide-to-the-markets-us.pdf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a7b4e266844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73565da0248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bf759e11844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e34c4f5ec4e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a971f0acc4a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7724c10084f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D7C97D-CCCD-4F94-9CBB-4A2DA9D64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E1DB43-0FD8-4981-A22C-36E8C4BD82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346707-6EF9-4E17-B018-1D1773D94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510E59-3656-4967-A1D2-A9ECB1964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66BDB1-DD15-4521-B5F6-3FF7B22C4F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93F912-728B-4B7E-B6DB-3CAFFE3435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6BACA6-88F4-46BF-83A4-628526589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D1A988-8682-497D-AAB4-B166D3C08B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E56E57-59CF-4EEB-826F-412061383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5DEA28-FBFF-4958-8343-EABBAA072D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95d508c8594831" /><Relationship Type="http://schemas.openxmlformats.org/officeDocument/2006/relationships/slideLayout" Target="/ppt/slideLayouts/slideLayout1.xml" Id="Rb154a55ea5934010" /><Relationship Type="http://schemas.openxmlformats.org/officeDocument/2006/relationships/slideLayout" Target="/ppt/slideLayouts/slideLayout2.xml" Id="Rbe899c479c9a4914" /><Relationship Type="http://schemas.openxmlformats.org/officeDocument/2006/relationships/slideLayout" Target="/ppt/slideLayouts/slideLayout3.xml" Id="Re5624c396da5482e" /><Relationship Type="http://schemas.openxmlformats.org/officeDocument/2006/relationships/slideLayout" Target="/ppt/slideLayouts/slideLayout4.xml" Id="Rc8c3c9ce2949461f" /><Relationship Type="http://schemas.openxmlformats.org/officeDocument/2006/relationships/slideLayout" Target="/ppt/slideLayouts/slideLayout5.xml" Id="Rcd22342941034c45" /><Relationship Type="http://schemas.openxmlformats.org/officeDocument/2006/relationships/slideLayout" Target="/ppt/slideLayouts/slideLayout6.xml" Id="Rf2f588bcefd4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4a55ea5934010"/>
    <p:sldLayoutId xmlns:r="http://schemas.openxmlformats.org/officeDocument/2006/relationships" id="2147483650" r:id="Rbe899c479c9a4914"/>
    <p:sldLayoutId xmlns:r="http://schemas.openxmlformats.org/officeDocument/2006/relationships" id="2147483651" r:id="Re5624c396da5482e"/>
    <p:sldLayoutId xmlns:r="http://schemas.openxmlformats.org/officeDocument/2006/relationships" id="2147483652" r:id="Rc8c3c9ce2949461f"/>
    <p:sldLayoutId xmlns:r="http://schemas.openxmlformats.org/officeDocument/2006/relationships" id="2147483653" r:id="Rcd22342941034c45"/>
    <p:sldLayoutId xmlns:r="http://schemas.openxmlformats.org/officeDocument/2006/relationships" id="2147483654" r:id="Rf2f588bcefd4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60846a6164e96" /><Relationship Type="http://schemas.openxmlformats.org/officeDocument/2006/relationships/chart" Target="/ppt/slides/charts/chart1.xml" Id="Rb65ef6e27cae415e" /><Relationship Type="http://schemas.openxmlformats.org/officeDocument/2006/relationships/notesSlide" Target="/ppt/notesSlides/notesSlide1.xml" Id="R6707dc72d08e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93468097f430f" /><Relationship Type="http://schemas.openxmlformats.org/officeDocument/2006/relationships/chart" Target="/ppt/slides/charts/chart2.xml" Id="R7ed3a4422a54402c" /><Relationship Type="http://schemas.openxmlformats.org/officeDocument/2006/relationships/notesSlide" Target="/ppt/notesSlides/notesSlide2.xml" Id="Ra63ec9c7153c4d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cdb4592de48be" /><Relationship Type="http://schemas.openxmlformats.org/officeDocument/2006/relationships/chart" Target="/ppt/slides/charts/chart3.xml" Id="R23509af3f6664537" /><Relationship Type="http://schemas.openxmlformats.org/officeDocument/2006/relationships/notesSlide" Target="/ppt/notesSlides/notesSlide3.xml" Id="R551daf245f0945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연복리 수익률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QQQ</c:v>
                </c:pt>
                <c:pt idx="1">
                  <c:v>QLD</c:v>
                </c:pt>
                <c:pt idx="2">
                  <c:v>TQQQ</c:v>
                </c:pt>
                <c:pt idx="3">
                  <c:v>TQQQ 60%
SCHD 40%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0.2006</c:v>
                </c:pt>
                <c:pt idx="1">
                  <c:v>0.3205</c:v>
                </c:pt>
                <c:pt idx="2">
                  <c:v>0.3903</c:v>
                </c:pt>
                <c:pt idx="3">
                  <c:v>0.317</c:v>
                </c:pt>
              </c:numCache>
            </c:numRef>
          </c:val>
        </c:ser>
        <c:ser>
          <c:idx val="1"/>
          <c:order val="1"/>
          <c:tx>
            <c:v>최대 낙폭</c:v>
          </c:tx>
          <c:spPr>
            <a:solidFill xmlns:a="http://schemas.openxmlformats.org/drawingml/2006/main">
              <a:srgbClr val="B64545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QQQ</c:v>
                </c:pt>
                <c:pt idx="1">
                  <c:v>QLD</c:v>
                </c:pt>
                <c:pt idx="2">
                  <c:v>TQQQ</c:v>
                </c:pt>
                <c:pt idx="3">
                  <c:v>TQQQ 60%
SCHD 40%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-0.3258</c:v>
                </c:pt>
                <c:pt idx="1">
                  <c:v>-0.6052</c:v>
                </c:pt>
                <c:pt idx="2">
                  <c:v>-0.7909</c:v>
                </c:pt>
                <c:pt idx="3">
                  <c:v>-0.585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방어 없음</c:v>
          </c:tx>
          <c:spPr>
            <a:solidFill xmlns:a="http://schemas.openxmlformats.org/drawingml/2006/main">
              <a:srgbClr val="7B879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2018년 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-0.3799</c:v>
                </c:pt>
                <c:pt idx="1">
                  <c:v>-0.521</c:v>
                </c:pt>
                <c:pt idx="2">
                  <c:v>-0.5119</c:v>
                </c:pt>
              </c:numCache>
            </c:numRef>
          </c:val>
        </c:ser>
        <c:ser>
          <c:idx val="1"/>
          <c:order val="1"/>
          <c:tx>
            <c:v>T형 방어·복귀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2018년 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-0.3067</c:v>
                </c:pt>
                <c:pt idx="1">
                  <c:v>-0.3121</c:v>
                </c:pt>
                <c:pt idx="2">
                  <c:v>-0.2763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SPYM</c:v>
          </c:tx>
          <c:spPr>
            <a:solidFill xmlns:a="http://schemas.openxmlformats.org/drawingml/2006/main">
              <a:srgbClr val="172B45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목표 비중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0.3</c:v>
                </c:pt>
              </c:numCache>
            </c:numRef>
          </c:val>
        </c:ser>
        <c:ser>
          <c:idx val="1"/>
          <c:order val="1"/>
          <c:tx>
            <c:v>QQQM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목표 비중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0.3</c:v>
                </c:pt>
              </c:numCache>
            </c:numRef>
          </c:val>
        </c:ser>
        <c:ser>
          <c:idx val="2"/>
          <c:order val="2"/>
          <c:tx>
            <c:v>IEF</c:v>
          </c:tx>
          <c:spPr>
            <a:solidFill xmlns:a="http://schemas.openxmlformats.org/drawingml/2006/main">
              <a:srgbClr val="7B8794"/>
            </a:solidFill>
          </c:spPr>
          <c:invertIfNegative val="0"/>
          <c:cat>
            <c:strRef>
              <c:f>'Chart Data'!$E$2:$E$2</c:f>
              <c:strCache>
                <c:ptCount val="1"/>
                <c:pt idx="0">
                  <c:v>목표 비중</c:v>
                </c:pt>
              </c:strCache>
            </c:strRef>
          </c:cat>
          <c:val>
            <c:numRef>
              <c:f>'Chart Data'!$F$2:$F$2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ser>
          <c:idx val="3"/>
          <c:order val="3"/>
          <c:tx>
            <c:v>GLDM</c:v>
          </c:tx>
          <c:spPr>
            <a:solidFill xmlns:a="http://schemas.openxmlformats.org/drawingml/2006/main">
              <a:srgbClr val="087F78"/>
            </a:solidFill>
          </c:spPr>
          <c:invertIfNegative val="0"/>
          <c:cat>
            <c:strRef>
              <c:f>'Chart Data'!$G$2:$G$2</c:f>
              <c:strCache>
                <c:ptCount val="1"/>
                <c:pt idx="0">
                  <c:v>목표 비중</c:v>
                </c:pt>
              </c:strCache>
            </c:strRef>
          </c:cat>
          <c:val>
            <c:numRef>
              <c:f>'Chart Data'!$H$2:$H$2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DENEB  /  자산 구성의 근거">
            <a:extLst xmlns:a="http://schemas.openxmlformats.org/drawingml/2006/main">
              <a:ext uri="{FF2B5EF4-FFF2-40B4-BE49-F238E27FC236}">
                <a16:creationId xmlns:a16="http://schemas.microsoft.com/office/drawing/2014/main" id="{B976815C-86AF-4137-A3F6-FA54A1CD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DENEB  /  자산 구성의 근거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E004764-4A19-4E37-AD97-90AE907E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5825"/>
            <a:ext cx="13563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왜 TQQQ에 SCHD를 더했는가</a:t>
            </a:r>
          </a:p>
        </p:txBody>
      </p:sp>
      <p:sp>
        <p:nvSpPr>
          <p:cNvPr id="3" name="높은 성장 노출을 유지하면서, 레버리지 단독 ">
            <a:extLst xmlns:a="http://schemas.openxmlformats.org/drawingml/2006/main">
              <a:ext uri="{FF2B5EF4-FFF2-40B4-BE49-F238E27FC236}">
                <a16:creationId xmlns:a16="http://schemas.microsoft.com/office/drawing/2014/main" id="{350091D2-C7C9-4B21-B06D-F57897E9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356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높은 성장 노출을 유지하면서, 레버리지 단독 보유의 손실을 줄이려는 선택이다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5C39-0727-486A-83E5-4BE98DEA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2B45"/>
            </a:solidFill>
            <a:prstDash val="solid"/>
          </a:ln>
        </p:spPr>
      </p:sp>
      <p:sp>
        <p:nvSpPr>
          <p:cNvPr id="5" name="조합의 출발점">
            <a:extLst xmlns:a="http://schemas.openxmlformats.org/drawingml/2006/main">
              <a:ext uri="{FF2B5EF4-FFF2-40B4-BE49-F238E27FC236}">
                <a16:creationId xmlns:a16="http://schemas.microsoft.com/office/drawing/2014/main" id="{2398A117-A8D3-43F4-AD09-A67EAA6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566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조합의 출발점</a:t>
            </a:r>
          </a:p>
        </p:txBody>
      </p:sp>
      <p:sp>
        <p:nvSpPr>
          <p:cNvPr id="6" name="TQQQ는 나스닥 100 일일 수익률의 3배 ">
            <a:extLst xmlns:a="http://schemas.openxmlformats.org/drawingml/2006/main">
              <a:ext uri="{FF2B5EF4-FFF2-40B4-BE49-F238E27FC236}">
                <a16:creationId xmlns:a16="http://schemas.microsoft.com/office/drawing/2014/main" id="{B45A7984-E1C1-4DA3-B9DF-5DBCAE0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566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TQQQ는 나스닥 100 일일 수익률의 3배 추종을 목표로 한다.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상승기에는 수익이 빠르게 커지지만, 하락과 반등이 반복되면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회복도 어려워진다. SCHD를 함께 둔 출발점은 성장주와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레버리지에 집중된 노출을 배당주로 나누는 것이었다.</a:t>
            </a:r>
          </a:p>
        </p:txBody>
      </p:sp>
      <p:sp>
        <p:nvSpPr>
          <p:cNvPr id="7" name="실제 ETF 비교에서 TQQQ 60%·SCHD">
            <a:extLst xmlns:a="http://schemas.openxmlformats.org/drawingml/2006/main">
              <a:ext uri="{FF2B5EF4-FFF2-40B4-BE49-F238E27FC236}">
                <a16:creationId xmlns:a16="http://schemas.microsoft.com/office/drawing/2014/main" id="{404FCEEA-30A7-4EBD-8AE7-D3BBD4F9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66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실제 ETF 비교에서 TQQQ 60%·SCHD 40%는 TQQQ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단독보다 최대 낙폭이 20.6%p 작았다. 그 대신 연복리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수익률은 7.3%p 낮았다. 손실 완화에 비용이 따랐다는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뜻이다.</a:t>
            </a:r>
          </a:p>
        </p:txBody>
      </p:sp>
      <p:sp>
        <p:nvSpPr>
          <p:cNvPr id="8" name="다만 60:40의 최적성을 입증한 것은 아니다">
            <a:extLst xmlns:a="http://schemas.openxmlformats.org/drawingml/2006/main">
              <a:ext uri="{FF2B5EF4-FFF2-40B4-BE49-F238E27FC236}">
                <a16:creationId xmlns:a16="http://schemas.microsoft.com/office/drawing/2014/main" id="{4CDAAEC2-CF8D-4071-806B-EF0A2AA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5667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다만 60:40의 최적성을 입증한 것은 아니다. 장기 합성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자료에서는 이 조합도 크게 손실을 냈다. 이후 변동성 조절과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방어·복귀 연구를 추가했다.</a:t>
            </a:r>
          </a:p>
        </p:txBody>
      </p:sp>
      <p:sp>
        <p:nvSpPr>
          <p:cNvPr id="9" name="20.6%p">
            <a:extLst xmlns:a="http://schemas.openxmlformats.org/drawingml/2006/main">
              <a:ext uri="{FF2B5EF4-FFF2-40B4-BE49-F238E27FC236}">
                <a16:creationId xmlns:a16="http://schemas.microsoft.com/office/drawing/2014/main" id="{54C8A5BA-BED4-40BA-BA46-8048B78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76525"/>
            <a:ext cx="347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5400" b="0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5400" b="0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0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20.6%p</a:t>
            </a:r>
          </a:p>
        </p:txBody>
      </p:sp>
      <p:sp>
        <p:nvSpPr>
          <p:cNvPr id="10" name="최대 낙폭 감소">
            <a:extLst xmlns:a="http://schemas.openxmlformats.org/drawingml/2006/main">
              <a:ext uri="{FF2B5EF4-FFF2-40B4-BE49-F238E27FC236}">
                <a16:creationId xmlns:a16="http://schemas.microsoft.com/office/drawing/2014/main" id="{BF148178-9A26-4A6E-8FB1-0531170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71875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최대 낙폭 감소</a:t>
            </a:r>
          </a:p>
        </p:txBody>
      </p:sp>
      <p:sp>
        <p:nvSpPr>
          <p:cNvPr id="11" name="7.3%p">
            <a:extLst xmlns:a="http://schemas.openxmlformats.org/drawingml/2006/main">
              <a:ext uri="{FF2B5EF4-FFF2-40B4-BE49-F238E27FC236}">
                <a16:creationId xmlns:a16="http://schemas.microsoft.com/office/drawing/2014/main" id="{57A52B3B-186C-4BFA-8070-40865C59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76525"/>
            <a:ext cx="323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54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54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7.3%p</a:t>
            </a:r>
          </a:p>
        </p:txBody>
      </p:sp>
      <p:sp>
        <p:nvSpPr>
          <p:cNvPr id="12" name="연복리 수익률 감소">
            <a:extLst xmlns:a="http://schemas.openxmlformats.org/drawingml/2006/main">
              <a:ext uri="{FF2B5EF4-FFF2-40B4-BE49-F238E27FC236}">
                <a16:creationId xmlns:a16="http://schemas.microsoft.com/office/drawing/2014/main" id="{321698B7-3C25-485A-8B10-26CCF1DE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71875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연복리 수익률 감소</a:t>
            </a:r>
          </a:p>
        </p:txBody>
      </p:sp>
      <p:sp>
        <p:nvSpPr>
          <p:cNvPr id="13" name="나스닥 배수와 배당주 혼합의 수익·위험">
            <a:extLst xmlns:a="http://schemas.openxmlformats.org/drawingml/2006/main">
              <a:ext uri="{FF2B5EF4-FFF2-40B4-BE49-F238E27FC236}">
                <a16:creationId xmlns:a16="http://schemas.microsoft.com/office/drawing/2014/main" id="{3DCB2324-13FF-4CE7-9F16-3F02659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3862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나스닥 배수와 배당주 혼합의 수익·위험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660F716B-7CED-4509-8640-8E2E5D9E9FE7}"/>
              </a:ext>
            </a:extLst>
          </p:cNvPr>
          <p:cNvGraphicFramePr/>
          <p:nvPr/>
        </p:nvGraphicFramePr>
        <p:xfrm>
          <a:off xmlns:a="http://schemas.openxmlformats.org/drawingml/2006/main" x="7086600" y="4657725"/>
          <a:ext xmlns:a="http://schemas.openxmlformats.org/drawingml/2006/main" cx="7524750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5ef6e27cae415e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4B948-9446-4CC7-86B0-BFB8461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819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A"/>
            </a:solidFill>
            <a:prstDash val="solid"/>
          </a:ln>
        </p:spPr>
      </p:sp>
      <p:sp>
        <p:nvSpPr>
          <p:cNvPr id="16" name="연구 180·181. 2016.01~2026.">
            <a:extLst xmlns:a="http://schemas.openxmlformats.org/drawingml/2006/main">
              <a:ext uri="{FF2B5EF4-FFF2-40B4-BE49-F238E27FC236}">
                <a16:creationId xmlns:a16="http://schemas.microsoft.com/office/drawing/2014/main" id="{6E0E5C43-0394-4ABA-AD5E-F667737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15300"/>
            <a:ext cx="1295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연구 180·181. 2016.01~2026.09 실제 ETF, 월별 관측·월간 재조정, 편도 비용 0.15%, 세전. 현재 Deneb 전체 성과와 구분한다.</a:t>
            </a:r>
          </a:p>
        </p:txBody>
      </p:sp>
      <p:sp>
        <p:nvSpPr>
          <p:cNvPr id="17" name="01">
            <a:extLst xmlns:a="http://schemas.openxmlformats.org/drawingml/2006/main">
              <a:ext uri="{FF2B5EF4-FFF2-40B4-BE49-F238E27FC236}">
                <a16:creationId xmlns:a16="http://schemas.microsoft.com/office/drawing/2014/main" id="{48AADA9C-954E-4831-A58C-34AC90FD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96250"/>
            <a:ext cx="44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6411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ENEB  /  방어와 복귀의 근거">
            <a:extLst xmlns:a="http://schemas.openxmlformats.org/drawingml/2006/main">
              <a:ext uri="{FF2B5EF4-FFF2-40B4-BE49-F238E27FC236}">
                <a16:creationId xmlns:a16="http://schemas.microsoft.com/office/drawing/2014/main" id="{3E469C8D-4655-4348-B9E9-82EE7E5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DENEB  /  방어와 복귀의 근거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480A23F-2F7F-4735-AFEE-19B69CD3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5825"/>
            <a:ext cx="13563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방어의 효과는 복귀 규칙까지 봐야 한다</a:t>
            </a:r>
          </a:p>
        </p:txBody>
      </p:sp>
      <p:sp>
        <p:nvSpPr>
          <p:cNvPr id="3" name="피한 손실과 놓친 반등을 함께 계산해야 현금 ">
            <a:extLst xmlns:a="http://schemas.openxmlformats.org/drawingml/2006/main">
              <a:ext uri="{FF2B5EF4-FFF2-40B4-BE49-F238E27FC236}">
                <a16:creationId xmlns:a16="http://schemas.microsoft.com/office/drawing/2014/main" id="{50CCEFAB-C647-4679-8137-76B8C1F0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356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피한 손실과 놓친 반등을 함께 계산해야 현금 대기의 실제 가치를 알 수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8CD30-FB95-4404-AFBE-2F0A09B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2B45"/>
            </a:solidFill>
            <a:prstDash val="solid"/>
          </a:ln>
        </p:spPr>
      </p:sp>
      <p:sp>
        <p:nvSpPr>
          <p:cNvPr id="5" name="팔고 난 다음이 중요하다">
            <a:extLst xmlns:a="http://schemas.openxmlformats.org/drawingml/2006/main">
              <a:ext uri="{FF2B5EF4-FFF2-40B4-BE49-F238E27FC236}">
                <a16:creationId xmlns:a16="http://schemas.microsoft.com/office/drawing/2014/main" id="{478A6A83-CA7C-4EB2-82A0-6CF06248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566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팔고 난 다음이 중요하다</a:t>
            </a:r>
          </a:p>
        </p:txBody>
      </p:sp>
      <p:sp>
        <p:nvSpPr>
          <p:cNvPr id="6" name="현재 Deneb의 T형 규칙은 TQQQ 고점 ">
            <a:extLst xmlns:a="http://schemas.openxmlformats.org/drawingml/2006/main">
              <a:ext uri="{FF2B5EF4-FFF2-40B4-BE49-F238E27FC236}">
                <a16:creationId xmlns:a16="http://schemas.microsoft.com/office/drawing/2014/main" id="{81EB5BA6-E871-4916-A2ED-6A1C758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566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현재 Deneb의 T형 규칙은 TQQQ 고점 대비 하락을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감시한다. 15% 하락 시 절반, 30% 하락 시 나머지를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매도한다. 매도 대금은 달러 현금으로 따로 보관하고, QQQ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추세가 꺼졌다가 다시 켜질 때 재진입한다.</a:t>
            </a:r>
          </a:p>
        </p:txBody>
      </p:sp>
      <p:sp>
        <p:nvSpPr>
          <p:cNvPr id="7" name="이 구조는 반등을 미리 맞히는 대신 확인된 추">
            <a:extLst xmlns:a="http://schemas.openxmlformats.org/drawingml/2006/main">
              <a:ext uri="{FF2B5EF4-FFF2-40B4-BE49-F238E27FC236}">
                <a16:creationId xmlns:a16="http://schemas.microsoft.com/office/drawing/2014/main" id="{2012225C-7B21-4E61-A314-5167E205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66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이 구조는 반등을 미리 맞히는 대신 확인된 추세에 다시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참여한다. 가격이 빠르게 회복하면 현금 대기 중 상승을 놓칠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수 있다. 매도 뒤 손실이 줄었는지만 보면 방어 효과를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과대평가할 수 있다.</a:t>
            </a:r>
          </a:p>
        </p:txBody>
      </p:sp>
      <p:sp>
        <p:nvSpPr>
          <p:cNvPr id="8" name="연구 184의 T형 재매수는 34회였고, 그중">
            <a:extLst xmlns:a="http://schemas.openxmlformats.org/drawingml/2006/main">
              <a:ext uri="{FF2B5EF4-FFF2-40B4-BE49-F238E27FC236}">
                <a16:creationId xmlns:a16="http://schemas.microsoft.com/office/drawing/2014/main" id="{AD6EF9A8-3B6B-45D1-A64E-9DC5F6B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5667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연구 184의 T형 재매수는 34회였고, 그중 절반은 손실로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이어졌다. 방어 신호가 항상 맞았다는 뜻은 아니다. 낙폭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완화와 반복 매매의 손실을 함께 받아들여야 한다.</a:t>
            </a:r>
          </a:p>
        </p:txBody>
      </p:sp>
      <p:sp>
        <p:nvSpPr>
          <p:cNvPr id="9" name="위기 구간에서 관측한 최대 낙폭">
            <a:extLst xmlns:a="http://schemas.openxmlformats.org/drawingml/2006/main">
              <a:ext uri="{FF2B5EF4-FFF2-40B4-BE49-F238E27FC236}">
                <a16:creationId xmlns:a16="http://schemas.microsoft.com/office/drawing/2014/main" id="{1D104AEF-A12D-46B2-9DA0-03FB7271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52725"/>
            <a:ext cx="704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위기 구간에서 관측한 최대 낙폭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FFE26489-AAC6-4724-ACE1-014DE38BDC79}"/>
              </a:ext>
            </a:extLst>
          </p:cNvPr>
          <p:cNvGraphicFramePr/>
          <p:nvPr/>
        </p:nvGraphicFramePr>
        <p:xfrm>
          <a:off xmlns:a="http://schemas.openxmlformats.org/drawingml/2006/main" x="7086600" y="3295650"/>
          <a:ext xmlns:a="http://schemas.openxmlformats.org/drawingml/2006/main" cx="7524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d3a4422a54402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40334-C3E3-4FED-BC08-27F197D1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80085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B45"/>
            </a:solidFill>
            <a:prstDash val="solid"/>
          </a:ln>
        </p:spPr>
      </p:sp>
      <p:sp>
        <p:nvSpPr>
          <p:cNvPr id="12" name="코로나 구간  −52.1% / −31.2%">
            <a:extLst xmlns:a="http://schemas.openxmlformats.org/drawingml/2006/main">
              <a:ext uri="{FF2B5EF4-FFF2-40B4-BE49-F238E27FC236}">
                <a16:creationId xmlns:a16="http://schemas.microsoft.com/office/drawing/2014/main" id="{6106B51E-E308-4E99-8379-C324B27A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972300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코로나 구간  −52.1% / −31.2%</a:t>
            </a:r>
          </a:p>
        </p:txBody>
      </p:sp>
      <p:sp>
        <p:nvSpPr>
          <p:cNvPr id="13" name="급락·미체결 때 실제 손실은 연구 모형보다 커">
            <a:extLst xmlns:a="http://schemas.openxmlformats.org/drawingml/2006/main">
              <a:ext uri="{FF2B5EF4-FFF2-40B4-BE49-F238E27FC236}">
                <a16:creationId xmlns:a16="http://schemas.microsoft.com/office/drawing/2014/main" id="{1C6A5B90-09BB-4DDF-BD35-F20F5DC5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477125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급락·미체결 때 실제 손실은 연구 모형보다 커질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32FDC-C925-4A1E-9811-AA48B1B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819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A"/>
            </a:solidFill>
            <a:prstDash val="solid"/>
          </a:ln>
        </p:spPr>
      </p:sp>
      <p:sp>
        <p:nvSpPr>
          <p:cNvPr id="15" name="연구 184의 기존 결과. 분석 전체 기간 2">
            <a:extLst xmlns:a="http://schemas.openxmlformats.org/drawingml/2006/main">
              <a:ext uri="{FF2B5EF4-FFF2-40B4-BE49-F238E27FC236}">
                <a16:creationId xmlns:a16="http://schemas.microsoft.com/office/drawing/2014/main" id="{9A0397A0-EBFA-415D-970D-37492B5A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15300"/>
            <a:ext cx="1295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연구 184의 기존 결과. 분석 전체 기간 2012.01~2026.08, 편도 비용 0.15%, 일별 모형. 위기 구간은 전체 성과·손실 상한을 뜻하지 않는다.</a:t>
            </a:r>
          </a:p>
        </p:txBody>
      </p:sp>
      <p:sp>
        <p:nvSpPr>
          <p:cNvPr id="16" name="02">
            <a:extLst xmlns:a="http://schemas.openxmlformats.org/drawingml/2006/main">
              <a:ext uri="{FF2B5EF4-FFF2-40B4-BE49-F238E27FC236}">
                <a16:creationId xmlns:a16="http://schemas.microsoft.com/office/drawing/2014/main" id="{046692CC-E651-417F-BA0C-DAC3011D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96250"/>
            <a:ext cx="44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9753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OLARIS  /  배분 비율의 근거">
            <a:extLst xmlns:a="http://schemas.openxmlformats.org/drawingml/2006/main">
              <a:ext uri="{FF2B5EF4-FFF2-40B4-BE49-F238E27FC236}">
                <a16:creationId xmlns:a16="http://schemas.microsoft.com/office/drawing/2014/main" id="{D637EA20-AB01-48F3-9518-F00C97F5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POLARIS  /  배분 비율의 근거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3D494AD-468B-4C56-A5B9-3355C1C4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5825"/>
            <a:ext cx="13563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주식 60%를 두 지수에 나눈 이유</a:t>
            </a:r>
          </a:p>
        </p:txBody>
      </p:sp>
      <p:sp>
        <p:nvSpPr>
          <p:cNvPr id="3" name="S&amp;P 500과 나스닥을 절반씩 보유하고, 나">
            <a:extLst xmlns:a="http://schemas.openxmlformats.org/drawingml/2006/main">
              <a:ext uri="{FF2B5EF4-FFF2-40B4-BE49-F238E27FC236}">
                <a16:creationId xmlns:a16="http://schemas.microsoft.com/office/drawing/2014/main" id="{60A98A94-29F8-4FE2-95C4-49DEDCBD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356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S&amp;P 500과 나스닥을 절반씩 보유하고, 나머지 40%는 미국채와 금에 배분한다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54E99-5492-47AA-9ED5-2339D03E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2B45"/>
            </a:solidFill>
            <a:prstDash val="solid"/>
          </a:ln>
        </p:spPr>
      </p:sp>
      <p:sp>
        <p:nvSpPr>
          <p:cNvPr id="5" name="성장성과 분산 사이의 절충">
            <a:extLst xmlns:a="http://schemas.openxmlformats.org/drawingml/2006/main">
              <a:ext uri="{FF2B5EF4-FFF2-40B4-BE49-F238E27FC236}">
                <a16:creationId xmlns:a16="http://schemas.microsoft.com/office/drawing/2014/main" id="{D2E5E997-8433-485C-92B0-7EE8661B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566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rPr>
              <a:t>성장성과 분산 사이의 절충</a:t>
            </a:r>
          </a:p>
        </p:txBody>
      </p:sp>
      <p:sp>
        <p:nvSpPr>
          <p:cNvPr id="6" name="Polaris는 SPYM 30%, QQQM 3">
            <a:extLst xmlns:a="http://schemas.openxmlformats.org/drawingml/2006/main">
              <a:ext uri="{FF2B5EF4-FFF2-40B4-BE49-F238E27FC236}">
                <a16:creationId xmlns:a16="http://schemas.microsoft.com/office/drawing/2014/main" id="{ADEC71A1-5624-4C45-9021-C54DEDE7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566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Polaris는 SPYM 30%, QQQM 30%, IEF 20%, GLDM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20%를 목표로 한다. 주식 60%를 S&amp;P 500과 나스닥으로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나눈 이유는 미국 주식 전반에 투자하면서도 성장주 비중을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일부 더하기 위해서다.</a:t>
            </a:r>
          </a:p>
        </p:txBody>
      </p:sp>
      <p:sp>
        <p:nvSpPr>
          <p:cNvPr id="7" name="기존 비교에서 주식 몫을 전부 나스닥에 두면 ">
            <a:extLst xmlns:a="http://schemas.openxmlformats.org/drawingml/2006/main">
              <a:ext uri="{FF2B5EF4-FFF2-40B4-BE49-F238E27FC236}">
                <a16:creationId xmlns:a16="http://schemas.microsoft.com/office/drawing/2014/main" id="{DFE156C8-FC94-4841-A30B-98F6FC8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66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기존 비교에서 주식 몫을 전부 나스닥에 두면 연복리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수익률이 높았지만 최대 낙폭도 커졌다. 반대로 S&amp;P 500에만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두면 수익과 낙폭이 함께 낮아졌다. 30%·30%는 이 둘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사이의 선택이었다.</a:t>
            </a:r>
          </a:p>
        </p:txBody>
      </p:sp>
      <p:sp>
        <p:nvSpPr>
          <p:cNvPr id="8" name="두 지수에는 같은 대형주가 겹친다. 채권과 금">
            <a:extLst xmlns:a="http://schemas.openxmlformats.org/drawingml/2006/main">
              <a:ext uri="{FF2B5EF4-FFF2-40B4-BE49-F238E27FC236}">
                <a16:creationId xmlns:a16="http://schemas.microsoft.com/office/drawing/2014/main" id="{9B6CAE25-9DCF-492F-8FC7-5506B6C8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5667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두 지수에는 같은 대형주가 겹친다. 채권과 금도 항상 손실을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막지는 않는다. 네 ETF의 분산 효과와 이 비율의 최적성에는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추가 검증이 필요하다.</a:t>
            </a:r>
          </a:p>
        </p:txBody>
      </p:sp>
      <p:sp>
        <p:nvSpPr>
          <p:cNvPr id="9" name="현재 목표 비중">
            <a:extLst xmlns:a="http://schemas.openxmlformats.org/drawingml/2006/main">
              <a:ext uri="{FF2B5EF4-FFF2-40B4-BE49-F238E27FC236}">
                <a16:creationId xmlns:a16="http://schemas.microsoft.com/office/drawing/2014/main" id="{D08949AF-8AF7-4D21-A360-61EE3BC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52725"/>
            <a:ext cx="704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현재 목표 비중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F503CD7-6B41-4742-85D5-9001CDF39892}"/>
              </a:ext>
            </a:extLst>
          </p:cNvPr>
          <p:cNvGraphicFramePr/>
          <p:nvPr/>
        </p:nvGraphicFramePr>
        <p:xfrm>
          <a:off xmlns:a="http://schemas.openxmlformats.org/drawingml/2006/main" x="7124700" y="3286125"/>
          <a:ext xmlns:a="http://schemas.openxmlformats.org/drawingml/2006/main" cx="7486650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509af3f6664537"/>
          </a:graphicData>
        </a:graphic>
      </p:graphicFrame>
      <p:sp>
        <p:nvSpPr>
          <p:cNvPr id="11" name="주식 구성 비교  (미국채 20%·금 20% ">
            <a:extLst xmlns:a="http://schemas.openxmlformats.org/drawingml/2006/main">
              <a:ext uri="{FF2B5EF4-FFF2-40B4-BE49-F238E27FC236}">
                <a16:creationId xmlns:a16="http://schemas.microsoft.com/office/drawing/2014/main" id="{031115C4-5887-4630-A47E-3657595B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6727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주식 구성 비교  (미국채 20%·금 20% 공통)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A0783-1C2A-4320-9F86-12524DB7EC3A}"/>
              </a:ext>
            </a:extLst>
          </p:cNvPr>
          <p:cNvGraphicFramePr/>
          <p:nvPr/>
        </p:nvGraphicFramePr>
        <p:xfrm>
          <a:off xmlns:a="http://schemas.openxmlformats.org/drawingml/2006/main" x="7334250" y="5381625"/>
          <a:ext xmlns:a="http://schemas.openxmlformats.org/drawingml/2006/main" cx="7200900" cy="227323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1790700"/>
                <a:gridCol w="1600200"/>
              </a:tblGrid>
              <a:tr h="501586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7B879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주식 60%의 구성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7B879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연복리 수익률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7B879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05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 500 60%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10.8%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-20.4%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0550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087F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 500 30% + 나스닥 30%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087F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12.3%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087F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-23.2%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05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60%</a:t>
                      </a:r>
                    </a:p>
                  </a:txBody>
                  <a:tcPr marL="114300" marR="11430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13.7%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-27.0%</a:t>
                      </a:r>
                    </a:p>
                  </a:txBody>
                  <a:tcPr marL="114300" marR="11430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5A3DD-544E-41E0-BA72-B64ED154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819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A"/>
            </a:solidFill>
            <a:prstDash val="solid"/>
          </a:ln>
        </p:spPr>
      </p:sp>
      <p:sp>
        <p:nvSpPr>
          <p:cNvPr id="14" name="2011.11~2026.09, SPY·QQQ·">
            <a:extLst xmlns:a="http://schemas.openxmlformats.org/drawingml/2006/main">
              <a:ext uri="{FF2B5EF4-FFF2-40B4-BE49-F238E27FC236}">
                <a16:creationId xmlns:a16="http://schemas.microsoft.com/office/drawing/2014/main" id="{A1E1D035-E01D-4CAA-9D12-13B6A89B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15300"/>
            <a:ext cx="1295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2011.11~2026.09, SPY·QQQ·IEF·GLD 대리 ETF, 월간 재조정·편도 0.09%, 세전·환율 고정. 현재 Polaris는 4회 매수 후 연간 승인 재조정이다.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827C87F1-EFF4-4C5A-8919-91E76220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096250"/>
            <a:ext cx="44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1569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2026-10-17T11:05:33.0000000Z</dcterms:created>
  <dcterms:modified xsi:type="dcterms:W3CDTF">2026-10-17T11:05:33.0000000Z</dcterms:modified>
</coreProperties>
</file>